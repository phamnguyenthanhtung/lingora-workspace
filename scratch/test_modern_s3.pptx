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16"/>
  </p:sldIdLst>
  <p:sldSz cx="12192000" cy="6858000"/>
  <p:notesSz cx="6858000" cy="9144000"/>
  <p:embeddedFontLst>
    <p:embeddedFont>
      <p:font typeface="Calibri" panose="020F0502020204030204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16F4F7D-73C1-67D0-64F8-21A110678158}" name="NGUYỄN THU HƯƠNG" initials="NH" userId="S::huong221230872@lms.utc.edu.vn::e66aaea9-0883-446e-870a-cc2e76c0dd2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Relationship Id="rId8" Type="http://schemas.microsoft.com/office/2018/10/relationships/authors" Target="authors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customXml" Target="../customXml/item1.xml"/><Relationship Id="rId14" Type="http://schemas.openxmlformats.org/officeDocument/2006/relationships/customXml" Target="../customXml/item2.xml"/><Relationship Id="rId15" Type="http://schemas.openxmlformats.org/officeDocument/2006/relationships/customXml" Target="../customXml/item3.xml"/><Relationship Id="rId1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 (</a:t>
            </a:r>
            <a:r>
              <a:rPr lang="en-US" err="1"/>
              <a:t>áp</a:t>
            </a:r>
            <a:r>
              <a:rPr lang="en-US" baseline="0"/>
              <a:t> </a:t>
            </a:r>
            <a:r>
              <a:rPr lang="en-US" baseline="0" err="1"/>
              <a:t>dụng</a:t>
            </a:r>
            <a:r>
              <a:rPr lang="en-US" baseline="0"/>
              <a:t> </a:t>
            </a:r>
            <a:r>
              <a:rPr lang="en-US" baseline="0" err="1"/>
              <a:t>cho</a:t>
            </a:r>
            <a:r>
              <a:rPr lang="en-US" baseline="0"/>
              <a:t> </a:t>
            </a:r>
            <a:r>
              <a:rPr lang="en-US" baseline="0" err="1"/>
              <a:t>bài</a:t>
            </a:r>
            <a:r>
              <a:rPr lang="en-US" baseline="0"/>
              <a:t> </a:t>
            </a:r>
            <a:r>
              <a:rPr lang="en-US" baseline="0" err="1"/>
              <a:t>trình</a:t>
            </a:r>
            <a:r>
              <a:rPr lang="en-US" baseline="0"/>
              <a:t> </a:t>
            </a:r>
            <a:r>
              <a:rPr lang="en-US" baseline="0" err="1"/>
              <a:t>bày</a:t>
            </a:r>
            <a:r>
              <a:rPr lang="en-US" baseline="0"/>
              <a:t> Slide </a:t>
            </a:r>
            <a:r>
              <a:rPr lang="en-US" baseline="0" err="1"/>
              <a:t>của</a:t>
            </a:r>
            <a:r>
              <a:rPr lang="en-US" baseline="0"/>
              <a:t> SV, </a:t>
            </a:r>
            <a:r>
              <a:rPr lang="en-US" baseline="0" err="1"/>
              <a:t>tuỳ</a:t>
            </a:r>
            <a:r>
              <a:rPr lang="en-US" baseline="0"/>
              <a:t> </a:t>
            </a:r>
            <a:r>
              <a:rPr lang="en-US" baseline="0" err="1"/>
              <a:t>theo</a:t>
            </a:r>
            <a:r>
              <a:rPr lang="en-US" baseline="0"/>
              <a:t> y/c </a:t>
            </a:r>
            <a:r>
              <a:rPr lang="en-US" baseline="0" err="1"/>
              <a:t>đưa</a:t>
            </a:r>
            <a:r>
              <a:rPr lang="en-US" baseline="0"/>
              <a:t> </a:t>
            </a:r>
            <a:r>
              <a:rPr lang="en-US" baseline="0" err="1"/>
              <a:t>ra</a:t>
            </a:r>
            <a:r>
              <a:rPr lang="en-US" baseline="0"/>
              <a:t> </a:t>
            </a:r>
            <a:r>
              <a:rPr lang="en-US" baseline="0" err="1"/>
              <a:t>Tiếng</a:t>
            </a:r>
            <a:r>
              <a:rPr lang="en-US" baseline="0"/>
              <a:t> </a:t>
            </a:r>
            <a:r>
              <a:rPr lang="en-US" baseline="0" err="1"/>
              <a:t>Anh</a:t>
            </a:r>
            <a:r>
              <a:rPr lang="en-US" baseline="0"/>
              <a:t> hay </a:t>
            </a:r>
            <a:r>
              <a:rPr lang="en-US" baseline="0" err="1"/>
              <a:t>Tiếng</a:t>
            </a:r>
            <a:r>
              <a:rPr lang="en-US" baseline="0"/>
              <a:t> </a:t>
            </a:r>
            <a:r>
              <a:rPr lang="en-US" baseline="0" err="1"/>
              <a:t>Việt</a:t>
            </a:r>
            <a:r>
              <a:rPr lang="en-US" baseline="0"/>
              <a:t> </a:t>
            </a:r>
            <a:r>
              <a:rPr lang="en-US" baseline="0" err="1"/>
              <a:t>để</a:t>
            </a:r>
            <a:r>
              <a:rPr lang="en-US" baseline="0"/>
              <a:t> </a:t>
            </a:r>
            <a:r>
              <a:rPr lang="en-US" baseline="0" err="1"/>
              <a:t>chọn</a:t>
            </a:r>
            <a:r>
              <a:rPr lang="en-US" baseline="0"/>
              <a:t> </a:t>
            </a:r>
            <a:r>
              <a:rPr lang="en-US" baseline="0" err="1"/>
              <a:t>ngôn</a:t>
            </a:r>
            <a:r>
              <a:rPr lang="en-US" baseline="0"/>
              <a:t> </a:t>
            </a:r>
            <a:r>
              <a:rPr lang="en-US" baseline="0" err="1"/>
              <a:t>ngữ</a:t>
            </a:r>
            <a:r>
              <a:rPr lang="en-US" baseline="0"/>
              <a:t> </a:t>
            </a:r>
            <a:r>
              <a:rPr lang="en-US" baseline="0" err="1"/>
              <a:t>trình</a:t>
            </a:r>
            <a:r>
              <a:rPr lang="en-US" baseline="0"/>
              <a:t> </a:t>
            </a:r>
            <a:r>
              <a:rPr lang="en-US" baseline="0" err="1"/>
              <a:t>bày</a:t>
            </a:r>
            <a:r>
              <a:rPr lang="en-US" baseline="0"/>
              <a:t> </a:t>
            </a:r>
            <a:r>
              <a:rPr lang="en-US" baseline="0" err="1"/>
              <a:t>theo</a:t>
            </a:r>
            <a:r>
              <a:rPr lang="en-US" baseline="0"/>
              <a:t> </a:t>
            </a:r>
            <a:r>
              <a:rPr lang="en-US" baseline="0" err="1"/>
              <a:t>đúng</a:t>
            </a:r>
            <a:r>
              <a:rPr lang="en-US" baseline="0"/>
              <a:t> y/c </a:t>
            </a:r>
            <a:r>
              <a:rPr lang="en-US" baseline="0" err="1"/>
              <a:t>của</a:t>
            </a:r>
            <a:r>
              <a:rPr lang="en-US" baseline="0"/>
              <a:t> </a:t>
            </a:r>
            <a:r>
              <a:rPr lang="en-US" baseline="0" err="1"/>
              <a:t>giảng</a:t>
            </a:r>
            <a:r>
              <a:rPr lang="en-US" baseline="0"/>
              <a:t> </a:t>
            </a:r>
            <a:r>
              <a:rPr lang="en-US" baseline="0" err="1"/>
              <a:t>viên</a:t>
            </a:r>
            <a:r>
              <a:rPr lang="en-US" baseline="0"/>
              <a:t>)</a:t>
            </a:r>
            <a:endParaRPr lang="en-US" baseline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aseline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/>
              <a:t>Font </a:t>
            </a:r>
            <a:r>
              <a:rPr lang="en-US" baseline="0" err="1"/>
              <a:t>chữ</a:t>
            </a:r>
            <a:r>
              <a:rPr lang="en-US" baseline="0"/>
              <a:t> (</a:t>
            </a:r>
            <a:r>
              <a:rPr lang="en-US" baseline="0" err="1"/>
              <a:t>áp</a:t>
            </a:r>
            <a:r>
              <a:rPr lang="en-US" baseline="0"/>
              <a:t> </a:t>
            </a:r>
            <a:r>
              <a:rPr lang="en-US" baseline="0" err="1"/>
              <a:t>dụng</a:t>
            </a:r>
            <a:r>
              <a:rPr lang="en-US" baseline="0"/>
              <a:t> </a:t>
            </a:r>
            <a:r>
              <a:rPr lang="en-US" baseline="0" err="1"/>
              <a:t>cho</a:t>
            </a:r>
            <a:r>
              <a:rPr lang="en-US" baseline="0"/>
              <a:t> </a:t>
            </a:r>
            <a:r>
              <a:rPr lang="en-US" baseline="0" err="1"/>
              <a:t>tất</a:t>
            </a:r>
            <a:r>
              <a:rPr lang="en-US" baseline="0"/>
              <a:t> </a:t>
            </a:r>
            <a:r>
              <a:rPr lang="en-US" baseline="0" err="1"/>
              <a:t>cả</a:t>
            </a:r>
            <a:r>
              <a:rPr lang="en-US" baseline="0"/>
              <a:t> </a:t>
            </a:r>
            <a:r>
              <a:rPr lang="en-US" baseline="0" err="1"/>
              <a:t>các</a:t>
            </a:r>
            <a:r>
              <a:rPr lang="en-US" baseline="0"/>
              <a:t> slide): Times New Roman</a:t>
            </a:r>
            <a:endParaRPr lang="en-US" baseline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baseline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aseline="0" err="1"/>
              <a:t>Trong</a:t>
            </a:r>
            <a:r>
              <a:rPr lang="en-US" baseline="0"/>
              <a:t> slide </a:t>
            </a:r>
            <a:r>
              <a:rPr lang="en-US" baseline="0" err="1"/>
              <a:t>này</a:t>
            </a:r>
            <a:r>
              <a:rPr lang="en-US" baseline="0"/>
              <a:t>: </a:t>
            </a:r>
            <a:r>
              <a:rPr lang="en-US" baseline="0" err="1"/>
              <a:t>Cỡ</a:t>
            </a:r>
            <a:r>
              <a:rPr lang="en-US" baseline="0"/>
              <a:t> </a:t>
            </a:r>
            <a:r>
              <a:rPr lang="en-US" baseline="0" err="1"/>
              <a:t>chữ</a:t>
            </a:r>
            <a:r>
              <a:rPr lang="en-US" baseline="0"/>
              <a:t>, font </a:t>
            </a:r>
            <a:r>
              <a:rPr lang="en-US" baseline="0" err="1"/>
              <a:t>chữ</a:t>
            </a:r>
            <a:r>
              <a:rPr lang="en-US" baseline="0"/>
              <a:t>, </a:t>
            </a:r>
            <a:r>
              <a:rPr lang="en-US" baseline="0" err="1"/>
              <a:t>hình</a:t>
            </a:r>
            <a:r>
              <a:rPr lang="en-US" baseline="0"/>
              <a:t> </a:t>
            </a:r>
            <a:r>
              <a:rPr lang="en-US" baseline="0" err="1"/>
              <a:t>thức</a:t>
            </a:r>
            <a:r>
              <a:rPr lang="en-US" baseline="0"/>
              <a:t> </a:t>
            </a:r>
            <a:r>
              <a:rPr lang="en-US" baseline="0" err="1"/>
              <a:t>giữ</a:t>
            </a:r>
            <a:r>
              <a:rPr lang="en-US" baseline="0"/>
              <a:t> </a:t>
            </a:r>
            <a:r>
              <a:rPr lang="en-US" baseline="0" err="1"/>
              <a:t>nguyên</a:t>
            </a:r>
            <a:r>
              <a:rPr lang="en-US" baseline="0"/>
              <a:t>, </a:t>
            </a:r>
            <a:r>
              <a:rPr lang="en-US" baseline="0" err="1"/>
              <a:t>nội</a:t>
            </a:r>
            <a:r>
              <a:rPr lang="en-US" baseline="0"/>
              <a:t> dung </a:t>
            </a:r>
            <a:r>
              <a:rPr lang="en-US" baseline="0" err="1"/>
              <a:t>thay</a:t>
            </a:r>
            <a:r>
              <a:rPr lang="en-US" baseline="0"/>
              <a:t> </a:t>
            </a:r>
            <a:r>
              <a:rPr lang="en-US" baseline="0" err="1"/>
              <a:t>đổi</a:t>
            </a:r>
            <a:r>
              <a:rPr lang="en-US" baseline="0"/>
              <a:t> </a:t>
            </a:r>
            <a:r>
              <a:rPr lang="en-US" baseline="0" err="1"/>
              <a:t>cho</a:t>
            </a:r>
            <a:r>
              <a:rPr lang="en-US" baseline="0"/>
              <a:t> </a:t>
            </a:r>
            <a:r>
              <a:rPr lang="en-US" baseline="0" err="1"/>
              <a:t>phù</a:t>
            </a:r>
            <a:r>
              <a:rPr lang="en-US" baseline="0"/>
              <a:t> </a:t>
            </a:r>
            <a:r>
              <a:rPr lang="en-US" baseline="0" err="1"/>
              <a:t>hợp</a:t>
            </a:r>
            <a:r>
              <a:rPr lang="en-US" baseline="0"/>
              <a:t> </a:t>
            </a:r>
            <a:r>
              <a:rPr lang="en-US" baseline="0" err="1"/>
              <a:t>với</a:t>
            </a:r>
            <a:r>
              <a:rPr lang="en-US" baseline="0"/>
              <a:t> </a:t>
            </a:r>
            <a:r>
              <a:rPr lang="en-US" baseline="0" err="1"/>
              <a:t>bài</a:t>
            </a:r>
            <a:r>
              <a:rPr lang="en-US" baseline="0"/>
              <a:t> </a:t>
            </a:r>
            <a:r>
              <a:rPr lang="en-US" baseline="0" err="1"/>
              <a:t>tập</a:t>
            </a:r>
            <a:r>
              <a:rPr lang="en-US" baseline="0"/>
              <a:t> </a:t>
            </a:r>
            <a:r>
              <a:rPr lang="en-US" baseline="0" err="1"/>
              <a:t>được</a:t>
            </a:r>
            <a:r>
              <a:rPr lang="en-US" baseline="0"/>
              <a:t> </a:t>
            </a:r>
            <a:r>
              <a:rPr lang="en-US" baseline="0" err="1"/>
              <a:t>giao</a:t>
            </a:r>
            <a:r>
              <a:rPr lang="en-US" baseline="0"/>
              <a:t>.</a:t>
            </a:r>
            <a:endParaRPr lang="en-US" baseline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êu đề và Nội dung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19" name="Google Shape;1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20" name="Google Shape;20;p6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êu đề Bản chiếu">
  <p:cSld name="Tiêu đề Bản chiếu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7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-1379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7"/>
          <p:cNvSpPr txBox="1"/>
          <p:nvPr/>
        </p:nvSpPr>
        <p:spPr>
          <a:xfrm>
            <a:off x="1154545" y="558741"/>
            <a:ext cx="11037454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Times New Roman" panose="02020603050405020304"/>
              <a:buNone/>
            </a:pPr>
            <a:r>
              <a:rPr lang="vi-VN" sz="240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UNIVERSITY OF TRANSPORT AND COMMUNICATIONS</a:t>
            </a:r>
            <a:endParaRPr lang="vi-VN" sz="240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4" name="Google Shape;24;p7"/>
          <p:cNvSpPr txBox="1"/>
          <p:nvPr/>
        </p:nvSpPr>
        <p:spPr>
          <a:xfrm>
            <a:off x="1154546" y="59846"/>
            <a:ext cx="11037454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Times New Roman" panose="02020603050405020304"/>
              <a:buNone/>
            </a:pPr>
            <a:r>
              <a:rPr lang="vi-VN" sz="2800" b="1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TRƯỜNG ĐẠI HỌC GIAO THÔNG VẬN TẢI</a:t>
            </a:r>
            <a:endParaRPr lang="vi-VN" sz="28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" name="Google Shape;25;p7"/>
          <p:cNvSpPr txBox="1"/>
          <p:nvPr/>
        </p:nvSpPr>
        <p:spPr>
          <a:xfrm>
            <a:off x="0" y="1478154"/>
            <a:ext cx="12192000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</a:pPr>
            <a:r>
              <a:rPr lang="vi-VN" sz="20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LUẬN VĂN THẠC SĨ</a:t>
            </a:r>
            <a:endParaRPr lang="vi-VN" sz="20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-1" y="1978448"/>
            <a:ext cx="12192000" cy="16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vi-VN" sz="3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NGHIÊN CỨU PHƯƠNG PHÁP ĐO ĐẠC HIỆN TRƯỜNG</a:t>
            </a:r>
            <a:endParaRPr lang="vi-VN" sz="32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vi-VN" sz="3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RUNG ĐỘNG ĐẤT NỀN KHI THI CÔNG TUYẾN ĐƯỜNG SẮT</a:t>
            </a:r>
            <a:endParaRPr lang="vi-VN" sz="32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</a:pPr>
            <a:r>
              <a:rPr lang="vi-VN" sz="3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ĐÔ THỊ THÍ ĐIỂM THÀNH PHỐ HÀ NỘI</a:t>
            </a:r>
            <a:endParaRPr lang="vi-VN" sz="32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0" y="3729627"/>
            <a:ext cx="12192000" cy="1397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vi-VN" sz="18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NGÀNH: KỸ THUẬT XÂY DỰNG CÔNG TRÌNH GIAO THÔNG</a:t>
            </a:r>
            <a:endParaRPr lang="vi-VN" sz="1800" i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vi-VN" sz="18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MÃ SỐ: 60.58.02.05</a:t>
            </a:r>
            <a:endParaRPr lang="vi-VN" sz="1800" i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r>
              <a:rPr lang="vi-VN" sz="18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CHUYÊN NGÀNH: XÂY DỰNG CẦU HẦM</a:t>
            </a:r>
            <a:endParaRPr lang="vi-VN" sz="1800" i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8" name="Google Shape;28;p7"/>
          <p:cNvSpPr txBox="1"/>
          <p:nvPr/>
        </p:nvSpPr>
        <p:spPr>
          <a:xfrm>
            <a:off x="0" y="5202948"/>
            <a:ext cx="12192000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vi-VN" sz="24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TRẦN THẢO LINH</a:t>
            </a:r>
            <a:endParaRPr lang="vi-VN" sz="24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vi-VN" sz="2400" b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HƯỚNG DẪN KHOA HỌC: TS. NGUYỄN THỊ CẨM NHUNG</a:t>
            </a:r>
            <a:endParaRPr lang="vi-VN" sz="2400" b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Google Shape;29;p7"/>
          <p:cNvSpPr txBox="1"/>
          <p:nvPr/>
        </p:nvSpPr>
        <p:spPr>
          <a:xfrm>
            <a:off x="-1" y="6468481"/>
            <a:ext cx="12192000" cy="521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</a:pPr>
            <a:r>
              <a:rPr lang="vi-VN" sz="2400" i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Hà Nội – 2020</a:t>
            </a:r>
            <a:endParaRPr lang="vi-VN" sz="2400" i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Đầu trang của Phần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imes New Roman" panose="020206030504050203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35" name="Google Shape;3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Hai Nội dung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42" name="Google Shape;4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Phép so sánh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7" name="Google Shape;47;p1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9" name="Google Shape;49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51" name="Google Shape;5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Chỉ Tiêu đề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Trống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60" name="Google Shape;6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Nội dung với Chú thích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 panose="020206030504050203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67" name="Google Shape;6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68" name="Google Shape;68;p13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Ảnh với Chú thích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 panose="020206030504050203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74" name="Google Shape;7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75" name="Google Shape;75;p14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êu đề và Văn bản Dọc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80" name="Google Shape;8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81" name="Google Shape;81;p15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Tiêu đề Dọc và Văn bản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86" name="Google Shape;8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87" name="Google Shape;87;p16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1_Tiêu đề Bản chiếu">
  <p:cSld name="TITLE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imes New Roman" panose="020206030504050203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image" Target="../media/image1.png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5"/>
          <p:cNvPicPr preferRelativeResize="0"/>
          <p:nvPr/>
        </p:nvPicPr>
        <p:blipFill rotWithShape="1">
          <a:blip r:embed="rId13"/>
          <a:srcRect/>
          <a:stretch>
            <a:fillRect/>
          </a:stretch>
        </p:blipFill>
        <p:spPr>
          <a:xfrm>
            <a:off x="-2" y="-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5"/>
          <p:cNvSpPr txBox="1">
            <a:spLocks noGrp="1"/>
          </p:cNvSpPr>
          <p:nvPr>
            <p:ph type="title"/>
          </p:nvPr>
        </p:nvSpPr>
        <p:spPr>
          <a:xfrm>
            <a:off x="1200727" y="1"/>
            <a:ext cx="10991273" cy="1072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 panose="02020603050405020304"/>
              <a:buNone/>
              <a:defRPr sz="3600" b="0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/>
        </p:txBody>
      </p:sp>
      <p:sp>
        <p:nvSpPr>
          <p:cNvPr id="13" name="Google Shape;13;p5"/>
          <p:cNvSpPr txBox="1">
            <a:spLocks noGrp="1"/>
          </p:cNvSpPr>
          <p:nvPr>
            <p:ph type="sldNum" idx="12"/>
          </p:nvPr>
        </p:nvSpPr>
        <p:spPr>
          <a:xfrm>
            <a:off x="9340273" y="64210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-VN"/>
            </a:fld>
            <a:endParaRPr lang="vi-V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Bảng 4"/>
          <p:cNvGraphicFramePr>
            <a:graphicFrameLocks noGrp="1"/>
          </p:cNvGraphicFramePr>
          <p:nvPr/>
        </p:nvGraphicFramePr>
        <p:xfrm>
          <a:off x="2501660" y="4068792"/>
          <a:ext cx="7179945" cy="2444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63240"/>
                <a:gridCol w="1971739"/>
                <a:gridCol w="2144915"/>
              </a:tblGrid>
              <a:tr h="5480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en-US" sz="2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vi-VN" sz="2000" b="1" i="0" u="none" strike="noStrike" noProof="0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vi-VN" sz="2000" b="1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</a:tr>
              <a:tr h="5480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vi-VN" sz="2000" b="0" i="0" u="none" strike="noStrike" noProof="0" err="1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vi-VN" sz="2000" b="0" i="0" u="none" strike="noStrike" noProof="0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vi-VN" sz="2000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</a:tr>
              <a:tr h="54803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vi-VN" sz="2000" b="0" i="0" u="none" strike="noStrike" noProof="0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vi-VN" sz="2000" b="0" i="0" u="none" strike="noStrike" noProof="0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vi-VN" sz="2000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</a:tr>
              <a:tr h="799841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endParaRPr lang="vi-VN" sz="2000" b="0" i="0" u="none" strike="noStrike" noProof="0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vi-VN" sz="2000" b="0" i="0" u="none" strike="noStrike" noProof="0">
                        <a:latin typeface="Times New Roman" panose="020206030504050203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vi-VN" sz="200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08760" y="320040"/>
            <a:ext cx="2011680" cy="2743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BỐI CẢNH THỰC TẾ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8760" y="640080"/>
            <a:ext cx="1005840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200" b="1">
                <a:solidFill>
                  <a:srgbClr val="0A2540"/>
                </a:solidFill>
                <a:latin typeface="Segoe UI"/>
              </a:defRPr>
            </a:pPr>
            <a:r>
              <a:t>Vấn đề không chỉ là học, mà là học đều và nhớ lâu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11887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Khoảng trống giữa mong muốn học ngoại ngữ và thói quen duy trì kỷ luật học tập hàng ngày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029200" cy="102412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000">
                <a:solidFill>
                  <a:srgbClr val="DC2626"/>
                </a:solidFill>
              </a:defRPr>
            </a:pPr>
            <a:r>
              <a:t>⚠ RÀO CẢN: HỌC DỒN &amp; DỄ NẢN LÒNG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Học viên học 30–45 phút ban đầu rồi đuối sức, bỏ dở sau 1–2 tuần.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833872" y="2057400"/>
            <a:ext cx="411480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09360" y="1691640"/>
            <a:ext cx="5029200" cy="102412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000">
                <a:solidFill>
                  <a:srgbClr val="059669"/>
                </a:solidFill>
              </a:defRPr>
            </a:pPr>
            <a:r>
              <a:t>✓ GIẢI PHÁP LINGORA: BÀI HỌC VI MÔ (MICRO-LEARNING)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5–10 phút/bài, chỉ 8–10 từ vựng cốt lõi, dễ duy trì đều đặn mỗi ngày.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5029200" cy="102412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000">
                <a:solidFill>
                  <a:srgbClr val="DC2626"/>
                </a:solidFill>
              </a:defRPr>
            </a:pPr>
            <a:r>
              <a:t>⚠ RÀO CẢN: QUÊN TỪ VỰNG (EBBINGHAUS)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100% người học đối mặt với việc quên từ vựng nhanh chóng sau khi học.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33872" y="3200400"/>
            <a:ext cx="411480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09360" y="2834640"/>
            <a:ext cx="5029200" cy="102412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000">
                <a:solidFill>
                  <a:srgbClr val="059669"/>
                </a:solidFill>
              </a:defRPr>
            </a:pPr>
            <a:r>
              <a:t>✓ GIẢI PHÁP LINGORA: ÔN TẬP NGẮT QUÃNG (SRS)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Tự động tính chu kỳ 1 → 3 → 7 → 14 → 30 ngày, gom từ đến hạn cần ôn.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77639"/>
            <a:ext cx="5029200" cy="102412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000">
                <a:solidFill>
                  <a:srgbClr val="DC2626"/>
                </a:solidFill>
              </a:defRPr>
            </a:pPr>
            <a:r>
              <a:t>⚠ RÀO CẢN: LÀM SAI KHÔNG CÓ GIẢI THÍCH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Bực bội vì sai chỉ thấy dấu X đỏ, không biết vì sao sai và cách sửa.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33872" y="4343399"/>
            <a:ext cx="411480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3977639"/>
            <a:ext cx="5029200" cy="102412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000">
                <a:solidFill>
                  <a:srgbClr val="059669"/>
                </a:solidFill>
              </a:defRPr>
            </a:pPr>
            <a:r>
              <a:t>✓ GIẢI PHÁP LINGORA: PHẢN HỒI TỨC THÌ &amp; RETRY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Giải thích ngữ pháp/nghĩa từ ngay khi sai; làm lại câu sai cuối bài (~10%).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5029200" cy="102412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000">
                <a:solidFill>
                  <a:srgbClr val="DC2626"/>
                </a:solidFill>
              </a:defRPr>
            </a:pPr>
            <a:r>
              <a:t>⚠ RÀO CẢN: KHỦNG HOẢNG CHẤT LƯỢNG HỌC LIỆU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Học liệu lỗi ngữ pháp, audio sai, nguy cơ tự duyệt bài thiếu minh bạch.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833872" y="5486400"/>
            <a:ext cx="411480" cy="25603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5120640"/>
            <a:ext cx="5029200" cy="1024128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b="1" sz="1000">
                <a:solidFill>
                  <a:srgbClr val="059669"/>
                </a:solidFill>
              </a:defRPr>
            </a:pPr>
            <a:r>
              <a:t>✓ GIẢI PHÁP LINGORA: MÔ HÌNH QUẢN TRỊ SOD 4 MẮT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Creator soạn bài != Moderator duyệt != Manager xuất bản; Audit Log bất biến.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ủ đề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ài liệu" ma:contentTypeID="0x01010060811C320DB09146B949355C1F67BBAE" ma:contentTypeVersion="7" ma:contentTypeDescription="Tạo tài liệu mới." ma:contentTypeScope="" ma:versionID="ca2d4ab66a161cc7c4457210eee4cb1a">
  <xsd:schema xmlns:xsd="http://www.w3.org/2001/XMLSchema" xmlns:xs="http://www.w3.org/2001/XMLSchema" xmlns:p="http://schemas.microsoft.com/office/2006/metadata/properties" xmlns:ns2="fd63efce-8fbd-4040-94f1-ea540616c8b8" targetNamespace="http://schemas.microsoft.com/office/2006/metadata/properties" ma:root="true" ma:fieldsID="1c7eaee93ad99eb446dcbd3c704fa23a" ns2:_="">
    <xsd:import namespace="fd63efce-8fbd-4040-94f1-ea540616c8b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63efce-8fbd-4040-94f1-ea540616c8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Loại Nội dung"/>
        <xsd:element ref="dc:title" minOccurs="0" maxOccurs="1" ma:index="4" ma:displayName="Tiêu đề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9C4D521-0D26-4840-9D47-26175F4F494F}">
  <ds:schemaRefs/>
</ds:datastoreItem>
</file>

<file path=customXml/itemProps2.xml><?xml version="1.0" encoding="utf-8"?>
<ds:datastoreItem xmlns:ds="http://schemas.openxmlformats.org/officeDocument/2006/customXml" ds:itemID="{B0F4B562-84E9-4060-9761-9EDF48B0D71C}">
  <ds:schemaRefs/>
</ds:datastoreItem>
</file>

<file path=customXml/itemProps3.xml><?xml version="1.0" encoding="utf-8"?>
<ds:datastoreItem xmlns:ds="http://schemas.openxmlformats.org/officeDocument/2006/customXml" ds:itemID="{73E56004-A989-4E15-9184-F5E96785329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Màn hình rộng</PresentationFormat>
  <Paragraphs>0</Paragraphs>
  <Slides>1</Slides>
  <Notes>43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SimSun</vt:lpstr>
      <vt:lpstr>Wingdings</vt:lpstr>
      <vt:lpstr>Arial</vt:lpstr>
      <vt:lpstr>Times New Roman</vt:lpstr>
      <vt:lpstr>Calibri</vt:lpstr>
      <vt:lpstr>Microsoft YaHei</vt:lpstr>
      <vt:lpstr>Arial Unicode MS</vt:lpstr>
      <vt:lpstr>Theme1</vt:lpstr>
      <vt:lpstr>TRƯỜNG ĐẠI HỌC GIAO THÔNG VẬN TẢI UNIVERSITY OF TRANSPOST AND COMMUNICATIONS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GIAO THÔNG VẬN TẢI UNIVERSITY OF TRANSPOST AND COMMUNICATIONS</dc:title>
  <dc:creator>NGUYEN QUANG  HUAN</dc:creator>
  <cp:lastModifiedBy>tungt</cp:lastModifiedBy>
  <cp:revision>6</cp:revision>
  <dcterms:created xsi:type="dcterms:W3CDTF">2022-12-05T13:13:00Z</dcterms:created>
  <dcterms:modified xsi:type="dcterms:W3CDTF">2026-09-21T01:27:59Z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ContentTypeId">
    <vt:lpwstr>0x01010060811C320DB09146B949355C1F67BBAE</vt:lpwstr>
  </property>
  <property fmtid="{D5CDD505-2E9C-101B-9397-08002B2CF9AE}" pid="4" name="ICV">
    <vt:lpwstr>6C58EB0633564694A65888EF796954F7_12</vt:lpwstr>
  </property>
</Properties>
</file>