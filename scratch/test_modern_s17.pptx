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embeddedFontLst>
    <p:embeddedFont>
      <p:font typeface="Calibri" panose="020F0502020204030204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6F4F7D-73C1-67D0-64F8-21A110678158}" name="NGUYỄN THU HƯƠNG" initials="NH" userId="S::huong221230872@lms.utc.edu.vn::e66aaea9-0883-446e-870a-cc2e76c0dd2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microsoft.com/office/2018/10/relationships/authors" Target="author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customXml" Target="../customXml/item1.xml"/><Relationship Id="rId14" Type="http://schemas.openxmlformats.org/officeDocument/2006/relationships/customXml" Target="../customXml/item2.xml"/><Relationship Id="rId15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êu đề và Nội dung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ề Bản chiếu">
  <p:cSld name="Tiêu đề Bản chiếu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379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7"/>
          <p:cNvSpPr txBox="1"/>
          <p:nvPr/>
        </p:nvSpPr>
        <p:spPr>
          <a:xfrm>
            <a:off x="1154545" y="558741"/>
            <a:ext cx="11037454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 panose="02020603050405020304"/>
              <a:buNone/>
            </a:pPr>
            <a:r>
              <a:rPr lang="vi-VN" sz="240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UNIVERSITY OF TRANSPORT AND COMMUNICATIONS</a:t>
            </a:r>
            <a:endParaRPr lang="vi-VN" sz="240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" name="Google Shape;24;p7"/>
          <p:cNvSpPr txBox="1"/>
          <p:nvPr/>
        </p:nvSpPr>
        <p:spPr>
          <a:xfrm>
            <a:off x="1154546" y="59846"/>
            <a:ext cx="11037454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 panose="02020603050405020304"/>
              <a:buNone/>
            </a:pPr>
            <a:r>
              <a:rPr lang="vi-VN" sz="28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TRƯỜNG ĐẠI HỌC GIAO THÔNG VẬN TẢI</a:t>
            </a:r>
            <a:endParaRPr lang="vi-VN" sz="28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" name="Google Shape;25;p7"/>
          <p:cNvSpPr txBox="1"/>
          <p:nvPr/>
        </p:nvSpPr>
        <p:spPr>
          <a:xfrm>
            <a:off x="0" y="1478154"/>
            <a:ext cx="12192000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LUẬN VĂN THẠC SĨ</a:t>
            </a:r>
            <a:endParaRPr lang="vi-VN" sz="2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-1" y="1978448"/>
            <a:ext cx="12192000" cy="16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vi-VN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NGHIÊN CỨU PHƯƠNG PHÁP ĐO ĐẠC HIỆN TRƯỜNG</a:t>
            </a:r>
            <a:endParaRPr lang="vi-VN" sz="3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vi-VN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RUNG ĐỘNG ĐẤT NỀN KHI THI CÔNG TUYẾN ĐƯỜNG SẮT</a:t>
            </a:r>
            <a:endParaRPr lang="vi-VN" sz="3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vi-VN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ĐÔ THỊ THÍ ĐIỂM THÀNH PHỐ HÀ NỘI</a:t>
            </a:r>
            <a:endParaRPr lang="vi-VN" sz="3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0" y="3729627"/>
            <a:ext cx="12192000" cy="1397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vi-VN" sz="18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NGÀNH: KỸ THUẬT XÂY DỰNG CÔNG TRÌNH GIAO THÔNG</a:t>
            </a:r>
            <a:endParaRPr lang="vi-VN" sz="18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vi-VN" sz="18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MÃ SỐ: 60.58.02.05</a:t>
            </a:r>
            <a:endParaRPr lang="vi-VN" sz="18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vi-VN" sz="18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CHUYÊN NGÀNH: XÂY DỰNG CẦU HẦM</a:t>
            </a:r>
            <a:endParaRPr lang="vi-VN" sz="18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" name="Google Shape;28;p7"/>
          <p:cNvSpPr txBox="1"/>
          <p:nvPr/>
        </p:nvSpPr>
        <p:spPr>
          <a:xfrm>
            <a:off x="0" y="5202948"/>
            <a:ext cx="12192000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vi-VN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TRẦN THẢO LINH</a:t>
            </a:r>
            <a:endParaRPr lang="vi-VN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vi-VN" sz="2400" b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HƯỚNG DẪN KHOA HỌC: TS. NGUYỄN THỊ CẨM NHUNG</a:t>
            </a:r>
            <a:endParaRPr lang="vi-VN" sz="2400" b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7"/>
          <p:cNvSpPr txBox="1"/>
          <p:nvPr/>
        </p:nvSpPr>
        <p:spPr>
          <a:xfrm>
            <a:off x="-1" y="6468481"/>
            <a:ext cx="12192000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vi-VN" sz="24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Hà Nội – 2020</a:t>
            </a:r>
            <a:endParaRPr lang="vi-VN" sz="24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Đầu trang của Phần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imes New Roman" panose="020206030504050203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35" name="Google Shape;3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Hai Nội dung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42" name="Google Shape;4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Phép so sánh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1" name="Google Shape;5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Chỉ Tiêu đề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Trống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0" name="Google Shape;6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Nội dung với Chú thích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 panose="020206030504050203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7" name="Google Shape;6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Ảnh với Chú thích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 panose="020206030504050203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74" name="Google Shape;7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êu đề và Văn bản Dọc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0" name="Google Shape;8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iêu đề Dọc và Văn bản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1_Tiêu đề Bản chiếu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imes New Roman" panose="020206030504050203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1.pn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-2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5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 panose="02020603050405020304"/>
              <a:buNone/>
              <a:defRPr sz="3600" b="0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320040"/>
            <a:ext cx="219456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HIỆN TRẠNG &amp; ĐỊNH HƯỚNG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640080"/>
            <a:ext cx="1005840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Kết quả nghiên cứu, hiện trạng hệ thống và định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Tổng kết kết quả đặc tả, hiện trạng triển khai kỹ thuật và ranh giới liêm chính học thuật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91640"/>
            <a:ext cx="288036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892808"/>
            <a:ext cx="438912" cy="43891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56232"/>
            <a:ext cx="26060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1. KẾT QUẢ ĐẶC TẢ YÊU CẦU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41448"/>
            <a:ext cx="3063240" cy="25603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✓ 100% TRACEABLE (ĐA NGUỒN)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3063240" cy="3429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Cơ sở thực nghiệm đa nguồn:
</a:t>
            </a:r>
            <a:r>
              <a:rPr sz="900">
                <a:solidFill>
                  <a:srgbClr val="334155"/>
                </a:solidFill>
                <a:latin typeface="Segoe UI"/>
              </a:rPr>
              <a:t>Xây dựng từ N=15 khảo sát gốc, N=35 khảo sát bổ sung, N=3 phỏng vấn định tính, 7 chuyên gia và 3 Nghị định pháp lý.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Mô hình quản trị chặt chẽ:
</a:t>
            </a:r>
            <a:r>
              <a:rPr sz="900">
                <a:solidFill>
                  <a:srgbClr val="334155"/>
                </a:solidFill>
                <a:latin typeface="Segoe UI"/>
              </a:rPr>
              <a:t>Chuẩn hóa 6 vai trò độc lập, ma trận SoD chống gian lận học liệu, quy trình kiểm soát 6 trạng thái và cơ chế Clone-to-Draft.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Đặc tả chức năng toàn diện:
</a:t>
            </a:r>
            <a:r>
              <a:rPr sz="900">
                <a:solidFill>
                  <a:srgbClr val="334155"/>
                </a:solidFill>
                <a:latin typeface="Segoe UI"/>
              </a:rPr>
              <a:t>12 Yêu cầu cốt lõi (Must) + 8 Mở rộng (Should/Could) ánh xạ nhất quán sang 15 Canonical Use Cases và 19 chức năng MVP.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916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691640"/>
            <a:ext cx="2880360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1892808"/>
            <a:ext cx="438912" cy="43891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C3AED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1856232"/>
            <a:ext cx="26060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2. HIỆN TRẠNG KỸ THUẬT LINGORA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441448"/>
            <a:ext cx="3063240" cy="25603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7C3AED"/>
                </a:solidFill>
                <a:latin typeface="Segoe UI"/>
              </a:defRPr>
            </a:pPr>
            <a:r>
              <a:t>✓ PHASE 0: HOÀN TẤT (VERIFIED)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807208"/>
            <a:ext cx="3063240" cy="3429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7C3AED"/>
                </a:solidFill>
                <a:latin typeface="Segoe UI"/>
              </a:rPr>
              <a:t>Phase 0 — Đặc tả &amp; Phân tích:
</a:t>
            </a:r>
            <a:r>
              <a:rPr sz="900">
                <a:solidFill>
                  <a:srgbClr val="334155"/>
                </a:solidFill>
                <a:latin typeface="Segoe UI"/>
              </a:rPr>
              <a:t>ĐÃ HOÀN TẤT và được kiểm chứng độc lập (Pass toàn bộ Verification Gates về bằng chứng và ma trận truy vết).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7C3AED"/>
                </a:solidFill>
                <a:latin typeface="Segoe UI"/>
              </a:rPr>
              <a:t>Milestone M1 — Nền tảng Core:
</a:t>
            </a:r>
            <a:r>
              <a:rPr sz="900">
                <a:solidFill>
                  <a:srgbClr val="334155"/>
                </a:solidFill>
                <a:latin typeface="Segoe UI"/>
              </a:rPr>
              <a:t>ĐÃ HOÀN TẤT xác thực an toàn (Next.js 15 SSR Auth, Supabase GoTrue, PostgreSQL RLS, Prisma ORM và API Skeleton).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7C3AED"/>
                </a:solidFill>
                <a:latin typeface="Segoe UI"/>
              </a:rPr>
              <a:t>Milestone M2 — Kế hoạch tiếp theo:
</a:t>
            </a:r>
            <a:r>
              <a:rPr sz="900">
                <a:solidFill>
                  <a:srgbClr val="334155"/>
                </a:solidFill>
                <a:latin typeface="Segoe UI"/>
              </a:rPr>
              <a:t>Sẵn sàng triển khai Web Core Lesson Flow và công cụ bài tập tương tác 5 dạng chuẩn.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6916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691640"/>
            <a:ext cx="2880360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0" y="1892808"/>
            <a:ext cx="438912" cy="438912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948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1856232"/>
            <a:ext cx="26060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3. GIỚI HẠN &amp; LIÊM CHÍNH KHOA HỌC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441448"/>
            <a:ext cx="3063240" cy="25603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D9488"/>
                </a:solidFill>
                <a:latin typeface="Segoe UI"/>
              </a:defRPr>
            </a:pPr>
            <a:r>
              <a:t>✓ NGHIÊN CỨU TRUNG THỰC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07208"/>
            <a:ext cx="3063240" cy="3429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0D9488"/>
                </a:solidFill>
                <a:latin typeface="Segoe UI"/>
              </a:rPr>
              <a:t>Quy mô mẫu nghiên cứu:
</a:t>
            </a:r>
            <a:r>
              <a:rPr sz="900">
                <a:solidFill>
                  <a:srgbClr val="334155"/>
                </a:solidFill>
                <a:latin typeface="Segoe UI"/>
              </a:rPr>
              <a:t>Khảo sát N=15 và N=35 là mẫu sơ bộ thuận tiện; phỏng vấn N=3 là nghiên cứu định tính khám phá; nhóm cam kết không suy rộng thống kê sai lệch.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D9488"/>
                </a:solidFill>
                <a:latin typeface="Segoe UI"/>
              </a:rPr>
              <a:t>Chỉ số phi chức năng NFR:
</a:t>
            </a:r>
            <a:r>
              <a:rPr sz="900">
                <a:solidFill>
                  <a:srgbClr val="334155"/>
                </a:solidFill>
                <a:latin typeface="Segoe UI"/>
              </a:rPr>
              <a:t>Các mục tiêu (&lt;1s, ≤3s, 99.5%) là ngưỡng kỹ thuật đề xuất, sẽ được đo kiểm chính xác bằng công cụ chuyên dụng khi nghiệm thu.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D9488"/>
                </a:solidFill>
                <a:latin typeface="Segoe UI"/>
              </a:rPr>
              <a:t>Thông điệp cốt lõi:
</a:t>
            </a:r>
            <a:r>
              <a:rPr sz="900">
                <a:solidFill>
                  <a:srgbClr val="334155"/>
                </a:solidFill>
                <a:latin typeface="Segoe UI"/>
              </a:rPr>
              <a:t>Lingora là nền tảng vận hành học liệu có kiểm soát, giải quyết thực chất bài toán duy trì kỷ luật và ghi nhớ từ vựng.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60811C320DB09146B949355C1F67BBAE" ma:contentTypeVersion="7" ma:contentTypeDescription="Tạo tài liệu mới." ma:contentTypeScope="" ma:versionID="ca2d4ab66a161cc7c4457210eee4cb1a">
  <xsd:schema xmlns:xsd="http://www.w3.org/2001/XMLSchema" xmlns:xs="http://www.w3.org/2001/XMLSchema" xmlns:p="http://schemas.microsoft.com/office/2006/metadata/properties" xmlns:ns2="fd63efce-8fbd-4040-94f1-ea540616c8b8" targetNamespace="http://schemas.microsoft.com/office/2006/metadata/properties" ma:root="true" ma:fieldsID="1c7eaee93ad99eb446dcbd3c704fa23a" ns2:_="">
    <xsd:import namespace="fd63efce-8fbd-4040-94f1-ea540616c8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63efce-8fbd-4040-94f1-ea540616c8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C4D521-0D26-4840-9D47-26175F4F494F}">
  <ds:schemaRefs/>
</ds:datastoreItem>
</file>

<file path=customXml/itemProps2.xml><?xml version="1.0" encoding="utf-8"?>
<ds:datastoreItem xmlns:ds="http://schemas.openxmlformats.org/officeDocument/2006/customXml" ds:itemID="{B0F4B562-84E9-4060-9761-9EDF48B0D71C}">
  <ds:schemaRefs/>
</ds:datastoreItem>
</file>

<file path=customXml/itemProps3.xml><?xml version="1.0" encoding="utf-8"?>
<ds:datastoreItem xmlns:ds="http://schemas.openxmlformats.org/officeDocument/2006/customXml" ds:itemID="{73E56004-A989-4E15-9184-F5E96785329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Màn hình rộng</PresentationFormat>
  <Paragraphs>0</Paragraphs>
  <Slides>1</Slides>
  <Notes>43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Arial Unicode MS</vt:lpstr>
      <vt:lpstr>Theme1</vt:lpstr>
      <vt:lpstr>TRƯỜNG ĐẠI HỌC GIAO THÔNG VẬN TẢI UNIVERSITY OF TRANSPOST AND COMMUNICATIONS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GIAO THÔNG VẬN TẢI UNIVERSITY OF TRANSPOST AND COMMUNICATIONS</dc:title>
  <dc:creator>NGUYEN QUANG  HUAN</dc:creator>
  <cp:lastModifiedBy>tungt</cp:lastModifiedBy>
  <cp:revision>6</cp:revision>
  <dcterms:created xsi:type="dcterms:W3CDTF">2022-12-05T13:13:00Z</dcterms:created>
  <dcterms:modified xsi:type="dcterms:W3CDTF">2026-09-21T01:27:59Z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ContentTypeId">
    <vt:lpwstr>0x01010060811C320DB09146B949355C1F67BBAE</vt:lpwstr>
  </property>
  <property fmtid="{D5CDD505-2E9C-101B-9397-08002B2CF9AE}" pid="4" name="ICV">
    <vt:lpwstr>6C58EB0633564694A65888EF796954F7_12</vt:lpwstr>
  </property>
</Properties>
</file>