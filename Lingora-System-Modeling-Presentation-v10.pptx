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phân tích và mô hình hóa hệ thống học ngoại ngữ Lingora. Nội dung bao gồm biểu đồ ca sử dụng, biểu đồ hoạt động, biểu đồ lớp và ma trận truy vết yêu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phân chia thành 3 phân hệ độc lập: Learning, Content và Admin/Ops. 6 vai trò bảo đảm nguyên tắc phân tách trách nhiệm.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ca sử dụng tổng quan định hình kiến trúc toàn hệ thống Lingora. Tác nhân Authenticated User chuẩn hóa đăng nhập, và phân hệ được chia tách mạch lạc.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học viên bao quát chu trình từ chẩn đoán xếp lớp, học lý thuyết qua Viewer, làm bài tập tương tác, đến ôn tập ngắt quãng và tích lũy Streak.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phê duyệt nội dung tuân thủ nguyên tắc phân tách nhiệm vụ (SoD). Moderator độc lập thẩm định và Org Manager độc quyền xuất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Đánh giá xếp lớp tuyến tính gồm 30 câu hỏi theo ma trận phân tầng. Điểm số thô được ánh xạ qua Mapping A để xác định đơn vị học xuất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Nhánh bỏ qua không sinh dữ liệu năng lực giả định. Nhánh thi lại bảo lưu toàn vẹn lịch sử bài thi trước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 trình học bài bắt buộc học viên tiếp thu lý thuyết qua Viewer trước khi trả lời câu hỏi. Hoàn thành bài học cập nhật nguyên tử tiến độ, Streak và SRS.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chế làm lại có kiểm soát giới hạn số lượt thử, cung cấp phản hồi giải thích và khống chế trần điểm công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thách nhảy cấp cho phép bỏ qua nội dung đã nắm vững. Quy mô bài thi tương ứng với số lượng bài học cần vượt qua và áp dụng thời gian chờ 24h nếu trượt.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Xử lý kết quả nhảy cấp: ngưỡng đạt 95% mở khóa bài học tiếp theo; trường hợp thi trượt áp dụng thời gian chờ 24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quản trị học liệu phân định thẩm quyền: Moderator thẩm định chất lượng sư phạm và Org Manager độc quyền phát hành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chế nhân bản bản nháp bảo toàn phiên bản đang phát hành cho học viên. Administrator can thiệp khẩn cấp luôn phải lưu vết kiểm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lớp nội dung thể hiện cấu trúc bài học và cơ chế quản lý phiên bản. Nét vẽ phân định trực quan giữa bảng dữ liệu hiện tại và thực thể mục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học viên bảo đảm nguyên tắc phân tách giữa tiến độ hoàn thành và hồ sơ năng lực. Dữ liệu ôn tập từ vựng tuân thủ thuật toán chu kỳ ngày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truy vết bảo đảm liên kết chặt chẽ giữa 15 ca sử dụng, sơ đồ hoạt động, mô hình thực thể và phạm vi bàn giao. Toàn bộ tính năng trọng tâm đều thuộc Core Phase 2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kết toàn bộ mô hình hóa hệ thống Lingora. Hệ thống sẵn sàng cho giai đoạn phát triển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9"/>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D9488"/>
          </a:solidFill>
          <a:ln w="12700">
            <a:solidFill>
              <a:srgbClr val="333333"/>
            </a:solidFill>
            <a:prstDash val="solid"/>
          </a:ln>
        </p:spPr>
      </p:sp>
      <p:sp>
        <p:nvSpPr>
          <p:cNvPr id="3" name="Shape 1"/>
          <p:cNvSpPr/>
          <p:nvPr/>
        </p:nvSpPr>
        <p:spPr>
          <a:xfrm>
            <a:off x="274320" y="0"/>
            <a:ext cx="73152" cy="6858000"/>
          </a:xfrm>
          <a:prstGeom prst="rect">
            <a:avLst/>
          </a:prstGeom>
          <a:solidFill>
            <a:srgbClr val="D97706"/>
          </a:solidFill>
          <a:ln w="12700">
            <a:solidFill>
              <a:srgbClr val="333333"/>
            </a:solidFill>
            <a:prstDash val="solid"/>
          </a:ln>
        </p:spPr>
      </p:sp>
      <p:sp>
        <p:nvSpPr>
          <p:cNvPr id="4" name="Text 2"/>
          <p:cNvSpPr/>
          <p:nvPr/>
        </p:nvSpPr>
        <p:spPr>
          <a:xfrm>
            <a:off x="1097280" y="1645920"/>
            <a:ext cx="82296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LINGORA ARCHITECTURE SPECIFICATION</a:t>
            </a:r>
            <a:endParaRPr lang="en-US" sz="1300" dirty="0"/>
          </a:p>
        </p:txBody>
      </p:sp>
      <p:sp>
        <p:nvSpPr>
          <p:cNvPr id="5" name="Text 3"/>
          <p:cNvSpPr/>
          <p:nvPr/>
        </p:nvSpPr>
        <p:spPr>
          <a:xfrm>
            <a:off x="1097280" y="2057400"/>
            <a:ext cx="9601200" cy="10972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Phân Tích &amp; Mô Hình Hóa Hệ Thống</a:t>
            </a:r>
            <a:endParaRPr lang="en-US" sz="3800" dirty="0"/>
          </a:p>
        </p:txBody>
      </p:sp>
      <p:sp>
        <p:nvSpPr>
          <p:cNvPr id="6" name="Text 4"/>
          <p:cNvSpPr/>
          <p:nvPr/>
        </p:nvSpPr>
        <p:spPr>
          <a:xfrm>
            <a:off x="1097280" y="3246120"/>
            <a:ext cx="960120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Use Case Diagram  ·  Activity Flow  ·  Domain Class Model  ·  Traceability Matrix</a:t>
            </a:r>
            <a:endParaRPr lang="en-US" sz="1600" dirty="0"/>
          </a:p>
        </p:txBody>
      </p:sp>
      <p:sp>
        <p:nvSpPr>
          <p:cNvPr id="7" name="Shape 5"/>
          <p:cNvSpPr/>
          <p:nvPr/>
        </p:nvSpPr>
        <p:spPr>
          <a:xfrm>
            <a:off x="1097280" y="3931920"/>
            <a:ext cx="2743200" cy="18288"/>
          </a:xfrm>
          <a:prstGeom prst="rect">
            <a:avLst/>
          </a:prstGeom>
          <a:solidFill>
            <a:srgbClr val="D97706"/>
          </a:solidFill>
          <a:ln w="12700">
            <a:solidFill>
              <a:srgbClr val="333333"/>
            </a:solidFill>
            <a:prstDash val="solid"/>
          </a:ln>
        </p:spPr>
      </p:sp>
      <p:sp>
        <p:nvSpPr>
          <p:cNvPr id="8" name="Text 6"/>
          <p:cNvSpPr/>
          <p:nvPr/>
        </p:nvSpPr>
        <p:spPr>
          <a:xfrm>
            <a:off x="1097280" y="4160520"/>
            <a:ext cx="8686800" cy="731520"/>
          </a:xfrm>
          <a:prstGeom prst="rect">
            <a:avLst/>
          </a:prstGeom>
          <a:noFill/>
          <a:ln/>
        </p:spPr>
        <p:txBody>
          <a:bodyPr wrap="square" lIns="0" tIns="0" rIns="0" bIns="0" rtlCol="0" anchor="ctr"/>
          <a:lstStyle/>
          <a:p>
            <a:pPr indent="0" marL="0">
              <a:lnSpc>
                <a:spcPct val="120000"/>
              </a:lnSpc>
              <a:buNone/>
            </a:pPr>
            <a:r>
              <a:rPr lang="en-US" sz="1300" dirty="0">
                <a:solidFill>
                  <a:srgbClr val="64748B"/>
                </a:solidFill>
                <a:latin typeface="Calibri" pitchFamily="34" charset="0"/>
                <a:ea typeface="Calibri" pitchFamily="34" charset="-122"/>
                <a:cs typeface="Calibri" pitchFamily="34" charset="-120"/>
              </a:rPr>
              <a:t>Báo cáo Kỹ thuật Phần mềm — Phase 1 Locked Baseline Specification</a:t>
            </a:r>
            <a:endParaRPr lang="en-US" sz="1300" dirty="0"/>
          </a:p>
          <a:p>
            <a:pPr indent="0" marL="0">
              <a:lnSpc>
                <a:spcPct val="120000"/>
              </a:lnSpc>
              <a:buNone/>
            </a:pPr>
            <a:r>
              <a:rPr lang="en-US" sz="1300" dirty="0">
                <a:solidFill>
                  <a:srgbClr val="64748B"/>
                </a:solidFill>
                <a:latin typeface="Calibri" pitchFamily="34" charset="0"/>
                <a:ea typeface="Calibri" pitchFamily="34" charset="-122"/>
                <a:cs typeface="Calibri" pitchFamily="34" charset="-120"/>
              </a:rPr>
              <a:t>Nền tảng Học ngoại ngữ Trực tuyến Lingora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KIẾN TRÚC HỆ THỐNG</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Tổng Quan Phân Hệ &amp; Ranh Giới Nghiệp Vụ</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02 / 17</a:t>
            </a:r>
            <a:endParaRPr lang="en-US" sz="1200" dirty="0"/>
          </a:p>
        </p:txBody>
      </p:sp>
      <p:sp>
        <p:nvSpPr>
          <p:cNvPr id="5" name="Shape 3"/>
          <p:cNvSpPr/>
          <p:nvPr/>
        </p:nvSpPr>
        <p:spPr>
          <a:xfrm>
            <a:off x="731520" y="1143000"/>
            <a:ext cx="3337560" cy="3749040"/>
          </a:xfrm>
          <a:prstGeom prst="rect">
            <a:avLst/>
          </a:prstGeom>
          <a:solidFill>
            <a:srgbClr val="FFFFFF"/>
          </a:solidFill>
          <a:ln w="12700">
            <a:solidFill>
              <a:srgbClr val="E2E8F0"/>
            </a:solidFill>
            <a:prstDash val="solid"/>
          </a:ln>
        </p:spPr>
      </p:sp>
      <p:sp>
        <p:nvSpPr>
          <p:cNvPr id="6" name="Shape 4"/>
          <p:cNvSpPr/>
          <p:nvPr/>
        </p:nvSpPr>
        <p:spPr>
          <a:xfrm>
            <a:off x="731520" y="1143000"/>
            <a:ext cx="3337560" cy="45720"/>
          </a:xfrm>
          <a:prstGeom prst="rect">
            <a:avLst/>
          </a:prstGeom>
          <a:solidFill>
            <a:srgbClr val="0D9488"/>
          </a:solidFill>
          <a:ln w="12700">
            <a:solidFill>
              <a:srgbClr val="333333"/>
            </a:solidFill>
            <a:prstDash val="solid"/>
          </a:ln>
        </p:spPr>
      </p:sp>
      <p:sp>
        <p:nvSpPr>
          <p:cNvPr id="7" name="Text 5"/>
          <p:cNvSpPr/>
          <p:nvPr/>
        </p:nvSpPr>
        <p:spPr>
          <a:xfrm>
            <a:off x="960120" y="1325880"/>
            <a:ext cx="457200" cy="27432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325880"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LEARNING SUBSYSTEM</a:t>
            </a:r>
            <a:endParaRPr lang="en-US" sz="1300" dirty="0"/>
          </a:p>
        </p:txBody>
      </p:sp>
      <p:sp>
        <p:nvSpPr>
          <p:cNvPr id="9" name="Text 7"/>
          <p:cNvSpPr/>
          <p:nvPr/>
        </p:nvSpPr>
        <p:spPr>
          <a:xfrm>
            <a:off x="960120" y="1645920"/>
            <a:ext cx="28803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Trải nghiệm học tập &amp; củng cố năng lực</a:t>
            </a:r>
            <a:endParaRPr lang="en-US" sz="1100" dirty="0"/>
          </a:p>
        </p:txBody>
      </p:sp>
      <p:sp>
        <p:nvSpPr>
          <p:cNvPr id="10" name="Text 8"/>
          <p:cNvSpPr/>
          <p:nvPr/>
        </p:nvSpPr>
        <p:spPr>
          <a:xfrm>
            <a:off x="868680" y="1965960"/>
            <a:ext cx="3017520" cy="2880360"/>
          </a:xfrm>
          <a:prstGeom prst="rect">
            <a:avLst/>
          </a:prstGeom>
          <a:noFill/>
          <a:ln/>
        </p:spPr>
        <p:txBody>
          <a:bodyPr wrap="square" lIns="0" tIns="25400" rIns="25400" bIns="0" rtlCol="0" anchor="t"/>
          <a:lstStyle/>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[UC-01] Xác thực phiên &amp; phân quyền người dùng</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[UC-02] Cài đặt mục tiêu học tập hằng ngày</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[UC-03] Kiểm tra chẩn đoán xếp lớp đầu vào</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[UC-04] Duyệt lộ trình học &amp; thử thách Jump</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[UC-05] Xem bài học (Viewer) &amp; làm bài tập tương tác</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[UC-06] Ôn tập từ vựng ngắt quãng theo SRS Policy B</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[UC-07] Theo dõi tiến độ học tập &amp; chuỗi ngày Streak</a:t>
            </a:r>
            <a:endParaRPr lang="en-US" sz="1150" dirty="0"/>
          </a:p>
        </p:txBody>
      </p:sp>
      <p:sp>
        <p:nvSpPr>
          <p:cNvPr id="11" name="Shape 9"/>
          <p:cNvSpPr/>
          <p:nvPr/>
        </p:nvSpPr>
        <p:spPr>
          <a:xfrm>
            <a:off x="4425696" y="1143000"/>
            <a:ext cx="3337560" cy="3749040"/>
          </a:xfrm>
          <a:prstGeom prst="rect">
            <a:avLst/>
          </a:prstGeom>
          <a:solidFill>
            <a:srgbClr val="FFFFFF"/>
          </a:solidFill>
          <a:ln w="12700">
            <a:solidFill>
              <a:srgbClr val="E2E8F0"/>
            </a:solidFill>
            <a:prstDash val="solid"/>
          </a:ln>
        </p:spPr>
      </p:sp>
      <p:sp>
        <p:nvSpPr>
          <p:cNvPr id="12" name="Shape 10"/>
          <p:cNvSpPr/>
          <p:nvPr/>
        </p:nvSpPr>
        <p:spPr>
          <a:xfrm>
            <a:off x="4425696" y="1143000"/>
            <a:ext cx="3337560" cy="45720"/>
          </a:xfrm>
          <a:prstGeom prst="rect">
            <a:avLst/>
          </a:prstGeom>
          <a:solidFill>
            <a:srgbClr val="2563EB"/>
          </a:solidFill>
          <a:ln w="12700">
            <a:solidFill>
              <a:srgbClr val="333333"/>
            </a:solidFill>
            <a:prstDash val="solid"/>
          </a:ln>
        </p:spPr>
      </p:sp>
      <p:sp>
        <p:nvSpPr>
          <p:cNvPr id="13" name="Text 11"/>
          <p:cNvSpPr/>
          <p:nvPr/>
        </p:nvSpPr>
        <p:spPr>
          <a:xfrm>
            <a:off x="4654296" y="1325880"/>
            <a:ext cx="457200" cy="274320"/>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5020056"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CONTENT SUBSYSTEM</a:t>
            </a:r>
            <a:endParaRPr lang="en-US" sz="1300" dirty="0"/>
          </a:p>
        </p:txBody>
      </p:sp>
      <p:sp>
        <p:nvSpPr>
          <p:cNvPr id="15" name="Text 13"/>
          <p:cNvSpPr/>
          <p:nvPr/>
        </p:nvSpPr>
        <p:spPr>
          <a:xfrm>
            <a:off x="4654296" y="1645920"/>
            <a:ext cx="28803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Biên soạn, kiểm duyệt &amp; quản lý phiên bản</a:t>
            </a:r>
            <a:endParaRPr lang="en-US" sz="1100" dirty="0"/>
          </a:p>
        </p:txBody>
      </p:sp>
      <p:sp>
        <p:nvSpPr>
          <p:cNvPr id="16" name="Text 14"/>
          <p:cNvSpPr/>
          <p:nvPr/>
        </p:nvSpPr>
        <p:spPr>
          <a:xfrm>
            <a:off x="4562856" y="1965960"/>
            <a:ext cx="3017520" cy="2880360"/>
          </a:xfrm>
          <a:prstGeom prst="rect">
            <a:avLst/>
          </a:prstGeom>
          <a:noFill/>
          <a:ln/>
        </p:spPr>
        <p:txBody>
          <a:bodyPr wrap="square" lIns="0" tIns="25400" rIns="25400" bIns="0" rtlCol="0" anchor="t"/>
          <a:lstStyle/>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[UC-08] Soạn thảo bài học, bài tập &amp; từ vựng đi kèm</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[UC-09] Kiểm duyệt độc lập &amp; yêu cầu chỉnh sửa</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[UC-10] Xuất bản bài học đã duyệt ra hệ thống</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Biên soạn &amp; cập nhật qua LessonRevision</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Kiểm soát vòng đời 6 trạng thái học liệu</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Phân định rõ thẩm quyền Moderator và Org Manager</a:t>
            </a:r>
            <a:endParaRPr lang="en-US" sz="1150" dirty="0"/>
          </a:p>
        </p:txBody>
      </p:sp>
      <p:sp>
        <p:nvSpPr>
          <p:cNvPr id="17" name="Shape 15"/>
          <p:cNvSpPr/>
          <p:nvPr/>
        </p:nvSpPr>
        <p:spPr>
          <a:xfrm>
            <a:off x="8119872" y="1143000"/>
            <a:ext cx="3337560" cy="3749040"/>
          </a:xfrm>
          <a:prstGeom prst="rect">
            <a:avLst/>
          </a:prstGeom>
          <a:solidFill>
            <a:srgbClr val="FFFFFF"/>
          </a:solidFill>
          <a:ln w="12700">
            <a:solidFill>
              <a:srgbClr val="E2E8F0"/>
            </a:solidFill>
            <a:prstDash val="solid"/>
          </a:ln>
        </p:spPr>
      </p:sp>
      <p:sp>
        <p:nvSpPr>
          <p:cNvPr id="18" name="Shape 16"/>
          <p:cNvSpPr/>
          <p:nvPr/>
        </p:nvSpPr>
        <p:spPr>
          <a:xfrm>
            <a:off x="8119872" y="1143000"/>
            <a:ext cx="3337560" cy="45720"/>
          </a:xfrm>
          <a:prstGeom prst="rect">
            <a:avLst/>
          </a:prstGeom>
          <a:solidFill>
            <a:srgbClr val="D97706"/>
          </a:solidFill>
          <a:ln w="12700">
            <a:solidFill>
              <a:srgbClr val="333333"/>
            </a:solidFill>
            <a:prstDash val="solid"/>
          </a:ln>
        </p:spPr>
      </p:sp>
      <p:sp>
        <p:nvSpPr>
          <p:cNvPr id="19" name="Text 17"/>
          <p:cNvSpPr/>
          <p:nvPr/>
        </p:nvSpPr>
        <p:spPr>
          <a:xfrm>
            <a:off x="8348472" y="1325880"/>
            <a:ext cx="457200" cy="274320"/>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03</a:t>
            </a:r>
            <a:endParaRPr lang="en-US" sz="1300" dirty="0"/>
          </a:p>
        </p:txBody>
      </p:sp>
      <p:sp>
        <p:nvSpPr>
          <p:cNvPr id="20" name="Text 18"/>
          <p:cNvSpPr/>
          <p:nvPr/>
        </p:nvSpPr>
        <p:spPr>
          <a:xfrm>
            <a:off x="8714232"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ADMIN &amp; OPERATIONS</a:t>
            </a:r>
            <a:endParaRPr lang="en-US" sz="1300" dirty="0"/>
          </a:p>
        </p:txBody>
      </p:sp>
      <p:sp>
        <p:nvSpPr>
          <p:cNvPr id="21" name="Text 19"/>
          <p:cNvSpPr/>
          <p:nvPr/>
        </p:nvSpPr>
        <p:spPr>
          <a:xfrm>
            <a:off x="8348472" y="1645920"/>
            <a:ext cx="28803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Vận hành, kiểm toán &amp; điều phối hỗ trợ</a:t>
            </a:r>
            <a:endParaRPr lang="en-US" sz="1100" dirty="0"/>
          </a:p>
        </p:txBody>
      </p:sp>
      <p:sp>
        <p:nvSpPr>
          <p:cNvPr id="22" name="Text 20"/>
          <p:cNvSpPr/>
          <p:nvPr/>
        </p:nvSpPr>
        <p:spPr>
          <a:xfrm>
            <a:off x="8257032" y="1965960"/>
            <a:ext cx="3017520" cy="2880360"/>
          </a:xfrm>
          <a:prstGeom prst="rect">
            <a:avLst/>
          </a:prstGeom>
          <a:noFill/>
          <a:ln/>
        </p:spPr>
        <p:txBody>
          <a:bodyPr wrap="square" lIns="0" tIns="25400" rIns="25400" bIns="0" rtlCol="0" anchor="t"/>
          <a:lstStyle/>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[UC-11] Quản trị tài khoản &amp; 6 vai trò hệ thống</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[UC-12] Xem báo cáo &amp; thống kê vận hành</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[UC-13] Tra cứu nhật ký kiểm toán an ninh AuditLog</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[UC-14] Tiếp nhận &amp; điều phối xử lý phiếu hỗ trợ</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[UC-15] Quản lý nhóm học viên &amp; tiến độ lớp học</a:t>
            </a:r>
            <a:endParaRPr lang="en-US" sz="1150" dirty="0"/>
          </a:p>
          <a:p>
            <a:pPr marL="342900" indent="-342900">
              <a:spcAft>
                <a:spcPts val="300"/>
              </a:spcAft>
              <a:buSzPct val="100000"/>
              <a:buChar char="•"/>
            </a:pPr>
            <a:r>
              <a:rPr lang="en-US" sz="1150" dirty="0">
                <a:solidFill>
                  <a:srgbClr val="334155"/>
                </a:solidFill>
                <a:latin typeface="Calibri" pitchFamily="34" charset="0"/>
                <a:ea typeface="Calibri" pitchFamily="34" charset="-122"/>
                <a:cs typeface="Calibri" pitchFamily="34" charset="-120"/>
              </a:rPr>
              <a:t>Kiểm soát phân quyền chặt chẽ trên toàn nền tảng</a:t>
            </a:r>
            <a:endParaRPr lang="en-US" sz="1150" dirty="0"/>
          </a:p>
        </p:txBody>
      </p:sp>
      <p:sp>
        <p:nvSpPr>
          <p:cNvPr id="23" name="Shape 21"/>
          <p:cNvSpPr/>
          <p:nvPr/>
        </p:nvSpPr>
        <p:spPr>
          <a:xfrm>
            <a:off x="731520" y="5010912"/>
            <a:ext cx="10728655" cy="1417320"/>
          </a:xfrm>
          <a:prstGeom prst="rect">
            <a:avLst/>
          </a:prstGeom>
          <a:solidFill>
            <a:srgbClr val="F1F5F9"/>
          </a:solidFill>
          <a:ln w="12700">
            <a:solidFill>
              <a:srgbClr val="E2E8F0"/>
            </a:solidFill>
            <a:prstDash val="solid"/>
          </a:ln>
        </p:spPr>
      </p:sp>
      <p:sp>
        <p:nvSpPr>
          <p:cNvPr id="24" name="Text 22"/>
          <p:cNvSpPr/>
          <p:nvPr/>
        </p:nvSpPr>
        <p:spPr>
          <a:xfrm>
            <a:off x="960120" y="5120640"/>
            <a:ext cx="6400800" cy="22860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QUY TẮC NGHIỆP VỤ CHÍNH &amp; PHÂN ĐỊNH PHẠM VI</a:t>
            </a:r>
            <a:endParaRPr lang="en-US" sz="1200" dirty="0"/>
          </a:p>
        </p:txBody>
      </p:sp>
      <p:sp>
        <p:nvSpPr>
          <p:cNvPr id="25" name="Text 23"/>
          <p:cNvSpPr/>
          <p:nvPr/>
        </p:nvSpPr>
        <p:spPr>
          <a:xfrm>
            <a:off x="960120" y="5376672"/>
            <a:ext cx="10241280" cy="960120"/>
          </a:xfrm>
          <a:prstGeom prst="rect">
            <a:avLst/>
          </a:prstGeom>
          <a:noFill/>
          <a:ln/>
        </p:spPr>
        <p:txBody>
          <a:bodyPr wrap="square" lIns="0" tIns="0" rIns="0" bIns="0" rtlCol="0" anchor="t"/>
          <a:lstStyle/>
          <a:p>
            <a:pPr indent="0" marL="0">
              <a:spcAft>
                <a:spcPts val="300"/>
              </a:spcAft>
              <a:buNone/>
            </a:pPr>
            <a:r>
              <a:rPr lang="en-US" sz="1150" dirty="0">
                <a:solidFill>
                  <a:srgbClr val="334155"/>
                </a:solidFill>
                <a:latin typeface="Calibri" pitchFamily="34" charset="0"/>
                <a:ea typeface="Calibri" pitchFamily="34" charset="-122"/>
                <a:cs typeface="Calibri" pitchFamily="34" charset="-120"/>
              </a:rPr>
              <a:t>• [SoD &amp; Xuất bản] Phân tách nhiệm vụ SoD: Creator không tự duyệt bài; chỉ Org Manager có quyền Publish. Admin xuất bản khẩn cấp có AuditLog.</a:t>
            </a:r>
            <a:endParaRPr lang="en-US" sz="1150" dirty="0"/>
          </a:p>
          <a:p>
            <a:pPr indent="0" marL="0">
              <a:spcAft>
                <a:spcPts val="300"/>
              </a:spcAft>
              <a:buNone/>
            </a:pPr>
            <a:r>
              <a:rPr lang="en-US" sz="1150" dirty="0">
                <a:solidFill>
                  <a:srgbClr val="334155"/>
                </a:solidFill>
                <a:latin typeface="Calibri" pitchFamily="34" charset="0"/>
                <a:ea typeface="Calibri" pitchFamily="34" charset="-122"/>
                <a:cs typeface="Calibri" pitchFamily="34" charset="-120"/>
              </a:rPr>
              <a:t>• [Nội dung &amp; Học tập] Unit chỉ mở khi đủ 4/4 Lesson Published; học viên bắt buộc xem Viewer trước bài tập. Clone-to-Draft v2 bảo toàn bài đang phát hành.</a:t>
            </a:r>
            <a:endParaRPr lang="en-US" sz="1150" dirty="0"/>
          </a:p>
          <a:p>
            <a:pPr indent="0" marL="0">
              <a:spcAft>
                <a:spcPts val="300"/>
              </a:spcAft>
              <a:buNone/>
            </a:pPr>
            <a:r>
              <a:rPr lang="en-US" sz="1150" dirty="0">
                <a:solidFill>
                  <a:srgbClr val="334155"/>
                </a:solidFill>
                <a:latin typeface="Calibri" pitchFamily="34" charset="0"/>
                <a:ea typeface="Calibri" pitchFamily="34" charset="-122"/>
                <a:cs typeface="Calibri" pitchFamily="34" charset="-120"/>
              </a:rPr>
              <a:t>• [Tiến độ &amp; Phạm vi] UserProgress (tiến độ tuyến tính) tách biệt SkillProfile (năng lực). UC-14 thuộc MVP điều phối; UC-15 thuộc Future Extension.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CA SỬ DỤNG HỆ THỐNG</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Ca Sử Dụng Tổng Quan (Overall Use Case Diagram)</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03 / 17</a:t>
            </a:r>
            <a:endParaRPr lang="en-US" sz="1200" dirty="0"/>
          </a:p>
        </p:txBody>
      </p:sp>
      <p:sp>
        <p:nvSpPr>
          <p:cNvPr id="5" name="Shape 3"/>
          <p:cNvSpPr/>
          <p:nvPr/>
        </p:nvSpPr>
        <p:spPr>
          <a:xfrm>
            <a:off x="731520" y="1143000"/>
            <a:ext cx="77724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7589520" cy="5074920"/>
          </a:xfrm>
          <a:prstGeom prst="rect">
            <a:avLst/>
          </a:prstGeom>
        </p:spPr>
      </p:pic>
      <p:sp>
        <p:nvSpPr>
          <p:cNvPr id="7" name="Shape 4"/>
          <p:cNvSpPr/>
          <p:nvPr/>
        </p:nvSpPr>
        <p:spPr>
          <a:xfrm>
            <a:off x="8686800" y="1143000"/>
            <a:ext cx="2773375" cy="5257800"/>
          </a:xfrm>
          <a:prstGeom prst="rect">
            <a:avLst/>
          </a:prstGeom>
          <a:solidFill>
            <a:srgbClr val="FFFFFF"/>
          </a:solidFill>
          <a:ln w="12700">
            <a:solidFill>
              <a:srgbClr val="E2E8F0"/>
            </a:solidFill>
            <a:prstDash val="solid"/>
          </a:ln>
        </p:spPr>
      </p:sp>
      <p:sp>
        <p:nvSpPr>
          <p:cNvPr id="8" name="Text 5"/>
          <p:cNvSpPr/>
          <p:nvPr/>
        </p:nvSpPr>
        <p:spPr>
          <a:xfrm>
            <a:off x="8915400" y="1325880"/>
            <a:ext cx="228600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Ý CHÍNH KIẾN TRÚC</a:t>
            </a:r>
            <a:endParaRPr lang="en-US" sz="1200" dirty="0"/>
          </a:p>
        </p:txBody>
      </p:sp>
      <p:sp>
        <p:nvSpPr>
          <p:cNvPr id="9" name="Text 6"/>
          <p:cNvSpPr/>
          <p:nvPr/>
        </p:nvSpPr>
        <p:spPr>
          <a:xfrm>
            <a:off x="8915400" y="1783080"/>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Kế thừa Authenticated User</a:t>
            </a:r>
            <a:endParaRPr lang="en-US" sz="1200" dirty="0"/>
          </a:p>
        </p:txBody>
      </p:sp>
      <p:sp>
        <p:nvSpPr>
          <p:cNvPr id="10" name="Text 7"/>
          <p:cNvSpPr/>
          <p:nvPr/>
        </p:nvSpPr>
        <p:spPr>
          <a:xfrm>
            <a:off x="9098280" y="2075688"/>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6 vai trò cùng kế thừa để dùng chung cơ chế phiên &amp; xác thực [UC-01].</a:t>
            </a:r>
            <a:endParaRPr lang="en-US" sz="1100" dirty="0"/>
          </a:p>
        </p:txBody>
      </p:sp>
      <p:sp>
        <p:nvSpPr>
          <p:cNvPr id="11" name="Text 8"/>
          <p:cNvSpPr/>
          <p:nvPr/>
        </p:nvSpPr>
        <p:spPr>
          <a:xfrm>
            <a:off x="8915400" y="2734056"/>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Tách riêng 3 phân hệ</a:t>
            </a:r>
            <a:endParaRPr lang="en-US" sz="1200" dirty="0"/>
          </a:p>
        </p:txBody>
      </p:sp>
      <p:sp>
        <p:nvSpPr>
          <p:cNvPr id="12" name="Text 9"/>
          <p:cNvSpPr/>
          <p:nvPr/>
        </p:nvSpPr>
        <p:spPr>
          <a:xfrm>
            <a:off x="9098280" y="3026664"/>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Phân ranh giới rõ ràng: Học tập (Learner), Nội dung (Content) và Vận hành (Admin/Ops).</a:t>
            </a:r>
            <a:endParaRPr lang="en-US" sz="1100" dirty="0"/>
          </a:p>
        </p:txBody>
      </p:sp>
      <p:sp>
        <p:nvSpPr>
          <p:cNvPr id="13" name="Text 10"/>
          <p:cNvSpPr/>
          <p:nvPr/>
        </p:nvSpPr>
        <p:spPr>
          <a:xfrm>
            <a:off x="8915400" y="3685032"/>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Quyền xuất bản chính thức</a:t>
            </a:r>
            <a:endParaRPr lang="en-US" sz="1200" dirty="0"/>
          </a:p>
        </p:txBody>
      </p:sp>
      <p:sp>
        <p:nvSpPr>
          <p:cNvPr id="14" name="Text 11"/>
          <p:cNvSpPr/>
          <p:nvPr/>
        </p:nvSpPr>
        <p:spPr>
          <a:xfrm>
            <a:off x="9098280" y="3977640"/>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Org Manager xuất bản [UC-10]. Admin chỉ xuất bản khẩn cấp khi có lý do &amp; lưu AuditLog.</a:t>
            </a:r>
            <a:endParaRPr lang="en-US" sz="1100" dirty="0"/>
          </a:p>
        </p:txBody>
      </p:sp>
      <p:sp>
        <p:nvSpPr>
          <p:cNvPr id="15" name="Text 12"/>
          <p:cNvSpPr/>
          <p:nvPr/>
        </p:nvSpPr>
        <p:spPr>
          <a:xfrm>
            <a:off x="8915400" y="4636008"/>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Ranh giới phạm vi (Scope)</a:t>
            </a:r>
            <a:endParaRPr lang="en-US" sz="1200" dirty="0"/>
          </a:p>
        </p:txBody>
      </p:sp>
      <p:sp>
        <p:nvSpPr>
          <p:cNvPr id="16" name="Text 13"/>
          <p:cNvSpPr/>
          <p:nvPr/>
        </p:nvSpPr>
        <p:spPr>
          <a:xfrm>
            <a:off x="9098280" y="4928616"/>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UC-14 (Phiếu hỗ trợ) thuộc MVP điều phối. UC-15 (Quản lý nhóm) thuộc Future Extension.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PHÂN HỆ HỌC VIÊN</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Ca Sử Dụng Chi Tiết — Phân Hệ Học Viên (Learner)</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04 / 17</a:t>
            </a:r>
            <a:endParaRPr lang="en-US" sz="1200" dirty="0"/>
          </a:p>
        </p:txBody>
      </p:sp>
      <p:sp>
        <p:nvSpPr>
          <p:cNvPr id="5" name="Shape 3"/>
          <p:cNvSpPr/>
          <p:nvPr/>
        </p:nvSpPr>
        <p:spPr>
          <a:xfrm>
            <a:off x="731520" y="1143000"/>
            <a:ext cx="77724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7589520" cy="5074920"/>
          </a:xfrm>
          <a:prstGeom prst="rect">
            <a:avLst/>
          </a:prstGeom>
        </p:spPr>
      </p:pic>
      <p:sp>
        <p:nvSpPr>
          <p:cNvPr id="7" name="Shape 4"/>
          <p:cNvSpPr/>
          <p:nvPr/>
        </p:nvSpPr>
        <p:spPr>
          <a:xfrm>
            <a:off x="8686800" y="1143000"/>
            <a:ext cx="2773375" cy="5257800"/>
          </a:xfrm>
          <a:prstGeom prst="rect">
            <a:avLst/>
          </a:prstGeom>
          <a:solidFill>
            <a:srgbClr val="FFFFFF"/>
          </a:solidFill>
          <a:ln w="12700">
            <a:solidFill>
              <a:srgbClr val="E2E8F0"/>
            </a:solidFill>
            <a:prstDash val="solid"/>
          </a:ln>
        </p:spPr>
      </p:sp>
      <p:sp>
        <p:nvSpPr>
          <p:cNvPr id="8" name="Text 5"/>
          <p:cNvSpPr/>
          <p:nvPr/>
        </p:nvSpPr>
        <p:spPr>
          <a:xfrm>
            <a:off x="8915400" y="1325880"/>
            <a:ext cx="228600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QUY TẮC HỌC VIÊN</a:t>
            </a:r>
            <a:endParaRPr lang="en-US" sz="1200" dirty="0"/>
          </a:p>
        </p:txBody>
      </p:sp>
      <p:sp>
        <p:nvSpPr>
          <p:cNvPr id="9" name="Text 6"/>
          <p:cNvSpPr/>
          <p:nvPr/>
        </p:nvSpPr>
        <p:spPr>
          <a:xfrm>
            <a:off x="8915400" y="1783080"/>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Bắt buộc xem lý thuyết</a:t>
            </a:r>
            <a:endParaRPr lang="en-US" sz="1200" dirty="0"/>
          </a:p>
        </p:txBody>
      </p:sp>
      <p:sp>
        <p:nvSpPr>
          <p:cNvPr id="10" name="Text 7"/>
          <p:cNvSpPr/>
          <p:nvPr/>
        </p:nvSpPr>
        <p:spPr>
          <a:xfrm>
            <a:off x="9098280" y="2075688"/>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Lesson Content Viewer được include vào UC-05; học viên phải xem lý thuyết trước khi làm bài tập.</a:t>
            </a:r>
            <a:endParaRPr lang="en-US" sz="1100" dirty="0"/>
          </a:p>
        </p:txBody>
      </p:sp>
      <p:sp>
        <p:nvSpPr>
          <p:cNvPr id="11" name="Text 8"/>
          <p:cNvSpPr/>
          <p:nvPr/>
        </p:nvSpPr>
        <p:spPr>
          <a:xfrm>
            <a:off x="8915400" y="2734056"/>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Làm lại có kiểm soát (Retry)</a:t>
            </a:r>
            <a:endParaRPr lang="en-US" sz="1200" dirty="0"/>
          </a:p>
        </p:txBody>
      </p:sp>
      <p:sp>
        <p:nvSpPr>
          <p:cNvPr id="12" name="Text 9"/>
          <p:cNvSpPr/>
          <p:nvPr/>
        </p:nvSpPr>
        <p:spPr>
          <a:xfrm>
            <a:off x="9098280" y="3026664"/>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Luồng extend từ UC-05 có hạn mức max(1, floor(N*0.10)), điểm công nhận tối đa 70% credit.</a:t>
            </a:r>
            <a:endParaRPr lang="en-US" sz="1100" dirty="0"/>
          </a:p>
        </p:txBody>
      </p:sp>
      <p:sp>
        <p:nvSpPr>
          <p:cNvPr id="13" name="Text 10"/>
          <p:cNvSpPr/>
          <p:nvPr/>
        </p:nvSpPr>
        <p:spPr>
          <a:xfrm>
            <a:off x="8915400" y="3685032"/>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Thử thách nhảy cấp (Jump)</a:t>
            </a:r>
            <a:endParaRPr lang="en-US" sz="1200" dirty="0"/>
          </a:p>
        </p:txBody>
      </p:sp>
      <p:sp>
        <p:nvSpPr>
          <p:cNvPr id="14" name="Text 11"/>
          <p:cNvSpPr/>
          <p:nvPr/>
        </p:nvSpPr>
        <p:spPr>
          <a:xfrm>
            <a:off x="9098280" y="3977640"/>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Mở rộng từ UC-04, yêu cầu đạt &gt;= 95% và áp dụng thời gian chờ Cooldown 24h khi thi trượt.</a:t>
            </a:r>
            <a:endParaRPr lang="en-US" sz="1100" dirty="0"/>
          </a:p>
        </p:txBody>
      </p:sp>
      <p:sp>
        <p:nvSpPr>
          <p:cNvPr id="15" name="Text 12"/>
          <p:cNvSpPr/>
          <p:nvPr/>
        </p:nvSpPr>
        <p:spPr>
          <a:xfrm>
            <a:off x="8915400" y="4636008"/>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Chu trình học khép kín</a:t>
            </a:r>
            <a:endParaRPr lang="en-US" sz="1200" dirty="0"/>
          </a:p>
        </p:txBody>
      </p:sp>
      <p:sp>
        <p:nvSpPr>
          <p:cNvPr id="16" name="Text 13"/>
          <p:cNvSpPr/>
          <p:nvPr/>
        </p:nvSpPr>
        <p:spPr>
          <a:xfrm>
            <a:off x="9098280" y="4928616"/>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Xếp lớp (UC-03) -&gt; học bài (UC-05) -&gt; ôn tập SRS độc lập (UC-06) -&gt; tích lũy Streak (UC-07).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QUẢN TRỊ &amp; KIỂM DUYỆT</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Ca Sử Dụng Chi Tiết — Quản Trị &amp; Kiểm Duyệt</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05 / 17</a:t>
            </a:r>
            <a:endParaRPr lang="en-US" sz="1200" dirty="0"/>
          </a:p>
        </p:txBody>
      </p:sp>
      <p:sp>
        <p:nvSpPr>
          <p:cNvPr id="5" name="Shape 3"/>
          <p:cNvSpPr/>
          <p:nvPr/>
        </p:nvSpPr>
        <p:spPr>
          <a:xfrm>
            <a:off x="731520" y="1143000"/>
            <a:ext cx="77724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7589520" cy="5074920"/>
          </a:xfrm>
          <a:prstGeom prst="rect">
            <a:avLst/>
          </a:prstGeom>
        </p:spPr>
      </p:pic>
      <p:sp>
        <p:nvSpPr>
          <p:cNvPr id="7" name="Shape 4"/>
          <p:cNvSpPr/>
          <p:nvPr/>
        </p:nvSpPr>
        <p:spPr>
          <a:xfrm>
            <a:off x="8686800" y="1143000"/>
            <a:ext cx="2773375" cy="5257800"/>
          </a:xfrm>
          <a:prstGeom prst="rect">
            <a:avLst/>
          </a:prstGeom>
          <a:solidFill>
            <a:srgbClr val="FFFFFF"/>
          </a:solidFill>
          <a:ln w="12700">
            <a:solidFill>
              <a:srgbClr val="E2E8F0"/>
            </a:solidFill>
            <a:prstDash val="solid"/>
          </a:ln>
        </p:spPr>
      </p:sp>
      <p:sp>
        <p:nvSpPr>
          <p:cNvPr id="8" name="Text 5"/>
          <p:cNvSpPr/>
          <p:nvPr/>
        </p:nvSpPr>
        <p:spPr>
          <a:xfrm>
            <a:off x="8915400" y="1325880"/>
            <a:ext cx="228600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QUẢN TRỊ &amp; SOD</a:t>
            </a:r>
            <a:endParaRPr lang="en-US" sz="1200" dirty="0"/>
          </a:p>
        </p:txBody>
      </p:sp>
      <p:sp>
        <p:nvSpPr>
          <p:cNvPr id="9" name="Text 6"/>
          <p:cNvSpPr/>
          <p:nvPr/>
        </p:nvSpPr>
        <p:spPr>
          <a:xfrm>
            <a:off x="8915400" y="1783080"/>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Phân tách nhiệm vụ (SoD)</a:t>
            </a:r>
            <a:endParaRPr lang="en-US" sz="1200" dirty="0"/>
          </a:p>
        </p:txBody>
      </p:sp>
      <p:sp>
        <p:nvSpPr>
          <p:cNvPr id="10" name="Text 7"/>
          <p:cNvSpPr/>
          <p:nvPr/>
        </p:nvSpPr>
        <p:spPr>
          <a:xfrm>
            <a:off x="9098280" y="2075688"/>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Creator soạn bài, Moderator thẩm định, Org Manager xuất bản. Creator không tự duyệt nội dung của mình.</a:t>
            </a:r>
            <a:endParaRPr lang="en-US" sz="1100" dirty="0"/>
          </a:p>
        </p:txBody>
      </p:sp>
      <p:sp>
        <p:nvSpPr>
          <p:cNvPr id="11" name="Text 8"/>
          <p:cNvSpPr/>
          <p:nvPr/>
        </p:nvSpPr>
        <p:spPr>
          <a:xfrm>
            <a:off x="8915400" y="2734056"/>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Quyết định thẩm định</a:t>
            </a:r>
            <a:endParaRPr lang="en-US" sz="1200" dirty="0"/>
          </a:p>
        </p:txBody>
      </p:sp>
      <p:sp>
        <p:nvSpPr>
          <p:cNvPr id="12" name="Text 9"/>
          <p:cNvSpPr/>
          <p:nvPr/>
        </p:nvSpPr>
        <p:spPr>
          <a:xfrm>
            <a:off x="9098280" y="3026664"/>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Moderator chỉ chuyển APPROVED hoặc CHANGES_REQUESTED kèm góp ý, không có quyền xuất bản.</a:t>
            </a:r>
            <a:endParaRPr lang="en-US" sz="1100" dirty="0"/>
          </a:p>
        </p:txBody>
      </p:sp>
      <p:sp>
        <p:nvSpPr>
          <p:cNvPr id="13" name="Text 10"/>
          <p:cNvSpPr/>
          <p:nvPr/>
        </p:nvSpPr>
        <p:spPr>
          <a:xfrm>
            <a:off x="8915400" y="3685032"/>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Quyền xuất bản chính thức</a:t>
            </a:r>
            <a:endParaRPr lang="en-US" sz="1200" dirty="0"/>
          </a:p>
        </p:txBody>
      </p:sp>
      <p:sp>
        <p:nvSpPr>
          <p:cNvPr id="14" name="Text 11"/>
          <p:cNvSpPr/>
          <p:nvPr/>
        </p:nvSpPr>
        <p:spPr>
          <a:xfrm>
            <a:off x="9098280" y="3977640"/>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Org Manager là vai trò duy nhất có thẩm quyền Publish bài học đạt trạng thái APPROVED.</a:t>
            </a:r>
            <a:endParaRPr lang="en-US" sz="1100" dirty="0"/>
          </a:p>
        </p:txBody>
      </p:sp>
      <p:sp>
        <p:nvSpPr>
          <p:cNvPr id="15" name="Text 12"/>
          <p:cNvSpPr/>
          <p:nvPr/>
        </p:nvSpPr>
        <p:spPr>
          <a:xfrm>
            <a:off x="8915400" y="4636008"/>
            <a:ext cx="2331720" cy="256032"/>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 Xuất bản khẩn cấp</a:t>
            </a:r>
            <a:endParaRPr lang="en-US" sz="1200" dirty="0"/>
          </a:p>
        </p:txBody>
      </p:sp>
      <p:sp>
        <p:nvSpPr>
          <p:cNvPr id="16" name="Text 13"/>
          <p:cNvSpPr/>
          <p:nvPr/>
        </p:nvSpPr>
        <p:spPr>
          <a:xfrm>
            <a:off x="9098280" y="4928616"/>
            <a:ext cx="214884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Admin chỉ xuất bản khẩn cấp bài Approved; bắt buộc nhập lý do giải trình và lưu AuditLog.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ĐÁNH GIÁ</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Đánh Giá Xếp Lớp Tuyến Tính</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06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6675120" cy="507492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46720" y="1371600"/>
            <a:ext cx="320040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QUY CHẾ XẾP LỚP 30 CÂU</a:t>
            </a:r>
            <a:endParaRPr lang="en-US" sz="1200" dirty="0"/>
          </a:p>
        </p:txBody>
      </p:sp>
      <p:sp>
        <p:nvSpPr>
          <p:cNvPr id="9" name="Text 6"/>
          <p:cNvSpPr/>
          <p:nvPr/>
        </p:nvSpPr>
        <p:spPr>
          <a:xfrm>
            <a:off x="8046720" y="182880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Đề thi 30 câu chuẩn tắc</a:t>
            </a:r>
            <a:endParaRPr lang="en-US" sz="1300" dirty="0"/>
          </a:p>
        </p:txBody>
      </p:sp>
      <p:sp>
        <p:nvSpPr>
          <p:cNvPr id="10" name="Text 7"/>
          <p:cNvSpPr/>
          <p:nvPr/>
        </p:nvSpPr>
        <p:spPr>
          <a:xfrm>
            <a:off x="8275320" y="214884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Ma trận kiến thức phân tầng từ Unit 1 đến Unit 6, đo lường toàn diện các kỹ năng từ vựng và ngữ pháp.</a:t>
            </a:r>
            <a:endParaRPr lang="en-US" sz="1200" dirty="0"/>
          </a:p>
        </p:txBody>
      </p:sp>
      <p:sp>
        <p:nvSpPr>
          <p:cNvPr id="11" name="Text 8"/>
          <p:cNvSpPr/>
          <p:nvPr/>
        </p:nvSpPr>
        <p:spPr>
          <a:xfrm>
            <a:off x="8046720" y="292608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Ánh xạ Starting Unit (Mapping A)</a:t>
            </a:r>
            <a:endParaRPr lang="en-US" sz="1300" dirty="0"/>
          </a:p>
        </p:txBody>
      </p:sp>
      <p:sp>
        <p:nvSpPr>
          <p:cNvPr id="12" name="Text 9"/>
          <p:cNvSpPr/>
          <p:nvPr/>
        </p:nvSpPr>
        <p:spPr>
          <a:xfrm>
            <a:off x="8275320" y="324612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Điểm số thô (0–30) được ánh xạ trực tiếp sang Starting Unit xuất phát từ 1 đến 6 theo dải điểm chuẩn.</a:t>
            </a:r>
            <a:endParaRPr lang="en-US" sz="1200" dirty="0"/>
          </a:p>
        </p:txBody>
      </p:sp>
      <p:sp>
        <p:nvSpPr>
          <p:cNvPr id="13" name="Text 10"/>
          <p:cNvSpPr/>
          <p:nvPr/>
        </p:nvSpPr>
        <p:spPr>
          <a:xfrm>
            <a:off x="8046720" y="402336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Lưu kết quả &amp; Hồ sơ năng lực</a:t>
            </a:r>
            <a:endParaRPr lang="en-US" sz="1300" dirty="0"/>
          </a:p>
        </p:txBody>
      </p:sp>
      <p:sp>
        <p:nvSpPr>
          <p:cNvPr id="14" name="Text 11"/>
          <p:cNvSpPr/>
          <p:nvPr/>
        </p:nvSpPr>
        <p:spPr>
          <a:xfrm>
            <a:off x="8275320" y="434340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Tạo bản ghi AssessmentResult (DIAGNOSTIC), khởi tạo SkillProfile 4 chiều và cập nhật Starting Unit vào Profile.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ĐÁNH GIÁ</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Nhánh Bỏ Qua (Skip) &amp; Thi Lại (Retake)</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07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10545775" cy="429768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79008"/>
            <a:ext cx="10241280" cy="5486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 Nhánh Bỏ qua (Skip): Gán mặc định Unit 1 với trạng thái UNVERIFIED; tuyệt đối không tạo AssessmentResult hoặc SkillProfile giả định.</a:t>
            </a:r>
            <a:endParaRPr lang="en-US" sz="1250" dirty="0"/>
          </a:p>
          <a:p>
            <a:pPr indent="0" marL="0">
              <a:buNone/>
            </a:pPr>
            <a:r>
              <a:rPr lang="en-US" sz="1250" dirty="0">
                <a:solidFill>
                  <a:srgbClr val="0F172A"/>
                </a:solidFill>
                <a:latin typeface="Calibri" pitchFamily="34" charset="0"/>
                <a:ea typeface="Calibri" pitchFamily="34" charset="-122"/>
                <a:cs typeface="Calibri" pitchFamily="34" charset="-120"/>
              </a:rPr>
              <a:t>• Nhánh Thi lại (Retake): Kích hoạt từ Profile; lưu bản ghi AssessmentResult mới độc lập mà không ghi đè lịch sử bài thi trước đó.</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HỌC BÀI</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Chu Trình Học Bài &amp; Cập Nhật Tiến Độ</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08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6675120" cy="507492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46720" y="1371600"/>
            <a:ext cx="320040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ĐIỀU KIỆN &amp; CHU TRÌNH HỌC</a:t>
            </a:r>
            <a:endParaRPr lang="en-US" sz="1200" dirty="0"/>
          </a:p>
        </p:txBody>
      </p:sp>
      <p:sp>
        <p:nvSpPr>
          <p:cNvPr id="9" name="Text 6"/>
          <p:cNvSpPr/>
          <p:nvPr/>
        </p:nvSpPr>
        <p:spPr>
          <a:xfrm>
            <a:off x="8046720" y="182880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Điều kiện mở Unit (4/4 Published)</a:t>
            </a:r>
            <a:endParaRPr lang="en-US" sz="1300" dirty="0"/>
          </a:p>
        </p:txBody>
      </p:sp>
      <p:sp>
        <p:nvSpPr>
          <p:cNvPr id="10" name="Text 7"/>
          <p:cNvSpPr/>
          <p:nvPr/>
        </p:nvSpPr>
        <p:spPr>
          <a:xfrm>
            <a:off x="8275320" y="214884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Học viên chỉ có thể mở học Unit khi Unit đó có đủ 4/4 bài học ở trạng thái PUBLISHED.</a:t>
            </a:r>
            <a:endParaRPr lang="en-US" sz="1200" dirty="0"/>
          </a:p>
        </p:txBody>
      </p:sp>
      <p:sp>
        <p:nvSpPr>
          <p:cNvPr id="11" name="Text 8"/>
          <p:cNvSpPr/>
          <p:nvPr/>
        </p:nvSpPr>
        <p:spPr>
          <a:xfrm>
            <a:off x="8046720" y="292608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Viewer bắt buộc trước bài tập</a:t>
            </a:r>
            <a:endParaRPr lang="en-US" sz="1300" dirty="0"/>
          </a:p>
        </p:txBody>
      </p:sp>
      <p:sp>
        <p:nvSpPr>
          <p:cNvPr id="12" name="Text 9"/>
          <p:cNvSpPr/>
          <p:nvPr/>
        </p:nvSpPr>
        <p:spPr>
          <a:xfrm>
            <a:off x="8275320" y="324612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Học viên bắt buộc xem nội dung lý thuyết qua Lesson Content Viewer trước khi trả lời bài tập.</a:t>
            </a:r>
            <a:endParaRPr lang="en-US" sz="1200" dirty="0"/>
          </a:p>
        </p:txBody>
      </p:sp>
      <p:sp>
        <p:nvSpPr>
          <p:cNvPr id="13" name="Text 10"/>
          <p:cNvSpPr/>
          <p:nvPr/>
        </p:nvSpPr>
        <p:spPr>
          <a:xfrm>
            <a:off x="8046720" y="402336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Cập nhật tiến độ &amp; Streak [UC-07]</a:t>
            </a:r>
            <a:endParaRPr lang="en-US" sz="1300" dirty="0"/>
          </a:p>
        </p:txBody>
      </p:sp>
      <p:sp>
        <p:nvSpPr>
          <p:cNvPr id="14" name="Text 11"/>
          <p:cNvSpPr/>
          <p:nvPr/>
        </p:nvSpPr>
        <p:spPr>
          <a:xfrm>
            <a:off x="8275320" y="434340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Hoàn thành bài ghi nhận UserProgress, tăng chuỗi Streak [UC-07] và kích hoạt thẻ ôn tập SRS (1, 3, 7, 14, 30 ngày).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HỌC BÀI</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Làm Lại Có Kiểm Soát (Controlled Retry)</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09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6675120" cy="507492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46720" y="1371600"/>
            <a:ext cx="320040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QUY CHẾ RETRY CÓ HẠN MỨC</a:t>
            </a:r>
            <a:endParaRPr lang="en-US" sz="1200" dirty="0"/>
          </a:p>
        </p:txBody>
      </p:sp>
      <p:sp>
        <p:nvSpPr>
          <p:cNvPr id="9" name="Text 6"/>
          <p:cNvSpPr/>
          <p:nvPr/>
        </p:nvSpPr>
        <p:spPr>
          <a:xfrm>
            <a:off x="8046720" y="182880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Xem giải thích (Show Explanation)</a:t>
            </a:r>
            <a:endParaRPr lang="en-US" sz="1300" dirty="0"/>
          </a:p>
        </p:txBody>
      </p:sp>
      <p:sp>
        <p:nvSpPr>
          <p:cNvPr id="10" name="Text 7"/>
          <p:cNvSpPr/>
          <p:nvPr/>
        </p:nvSpPr>
        <p:spPr>
          <a:xfrm>
            <a:off x="8275320" y="214884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Khi trả lời sai, hệ thống hiển thị giải thích chi tiết đáp án để củng cố kiến thức trước khi retry.</a:t>
            </a:r>
            <a:endParaRPr lang="en-US" sz="1200" dirty="0"/>
          </a:p>
        </p:txBody>
      </p:sp>
      <p:sp>
        <p:nvSpPr>
          <p:cNvPr id="11" name="Text 8"/>
          <p:cNvSpPr/>
          <p:nvPr/>
        </p:nvSpPr>
        <p:spPr>
          <a:xfrm>
            <a:off x="8046720" y="292608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Hạn mức làm lại có kiểm soát</a:t>
            </a:r>
            <a:endParaRPr lang="en-US" sz="1300" dirty="0"/>
          </a:p>
        </p:txBody>
      </p:sp>
      <p:sp>
        <p:nvSpPr>
          <p:cNvPr id="12" name="Text 9"/>
          <p:cNvSpPr/>
          <p:nvPr/>
        </p:nvSpPr>
        <p:spPr>
          <a:xfrm>
            <a:off x="8275320" y="324612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Số lượt retry tối đa tính theo công thức: max(1, floor(N * 0.10)). Hết lượt sẽ báo 'No quota' và nhận 0 điểm.</a:t>
            </a:r>
            <a:endParaRPr lang="en-US" sz="1200" dirty="0"/>
          </a:p>
        </p:txBody>
      </p:sp>
      <p:sp>
        <p:nvSpPr>
          <p:cNvPr id="13" name="Text 10"/>
          <p:cNvSpPr/>
          <p:nvPr/>
        </p:nvSpPr>
        <p:spPr>
          <a:xfrm>
            <a:off x="8046720" y="402336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Khống chế trần điểm (&lt;= 70% credit)</a:t>
            </a:r>
            <a:endParaRPr lang="en-US" sz="1300" dirty="0"/>
          </a:p>
        </p:txBody>
      </p:sp>
      <p:sp>
        <p:nvSpPr>
          <p:cNvPr id="14" name="Text 11"/>
          <p:cNvSpPr/>
          <p:nvPr/>
        </p:nvSpPr>
        <p:spPr>
          <a:xfrm>
            <a:off x="8275320" y="434340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Làm lại đúng chỉ được công nhận tối đa 70% số điểm chuẩn của câu hỏi, đảm bảo tính công bằng đánh giá.</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NHẢY CẤP</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Kiểm Tra Cooldown 24h &amp; Thi Nhảy Cấp</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10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6675120" cy="507492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46720" y="1371600"/>
            <a:ext cx="320040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ĐIỀU KIỆN THỬ THÁCH JUMP</a:t>
            </a:r>
            <a:endParaRPr lang="en-US" sz="1200" dirty="0"/>
          </a:p>
        </p:txBody>
      </p:sp>
      <p:sp>
        <p:nvSpPr>
          <p:cNvPr id="9" name="Text 6"/>
          <p:cNvSpPr/>
          <p:nvPr/>
        </p:nvSpPr>
        <p:spPr>
          <a:xfrm>
            <a:off x="8046720" y="182880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Kiểm tra Cooldown 24 giờ</a:t>
            </a:r>
            <a:endParaRPr lang="en-US" sz="1300" dirty="0"/>
          </a:p>
        </p:txBody>
      </p:sp>
      <p:sp>
        <p:nvSpPr>
          <p:cNvPr id="10" name="Text 7"/>
          <p:cNvSpPr/>
          <p:nvPr/>
        </p:nvSpPr>
        <p:spPr>
          <a:xfrm>
            <a:off x="8275320" y="214884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Chặn làm bài nếu học viên đang trong thời gian phạt Cooldown 24h sau lần thi trượt trước đó; hiển thị đếm ngược.</a:t>
            </a:r>
            <a:endParaRPr lang="en-US" sz="1200" dirty="0"/>
          </a:p>
        </p:txBody>
      </p:sp>
      <p:sp>
        <p:nvSpPr>
          <p:cNvPr id="11" name="Text 8"/>
          <p:cNvSpPr/>
          <p:nvPr/>
        </p:nvSpPr>
        <p:spPr>
          <a:xfrm>
            <a:off x="8046720" y="292608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Quy mô đề Jump phân tầng</a:t>
            </a:r>
            <a:endParaRPr lang="en-US" sz="1300" dirty="0"/>
          </a:p>
        </p:txBody>
      </p:sp>
      <p:sp>
        <p:nvSpPr>
          <p:cNvPr id="12" name="Text 9"/>
          <p:cNvSpPr/>
          <p:nvPr/>
        </p:nvSpPr>
        <p:spPr>
          <a:xfrm>
            <a:off x="8275320" y="324612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Nhảy 1 Unit: 20 câu; nhảy 2–3 Units: 25–30 câu; nhảy trên 3 Units: 40 câu hỏi tổng hợp kiến thức.</a:t>
            </a:r>
            <a:endParaRPr lang="en-US" sz="1200" dirty="0"/>
          </a:p>
        </p:txBody>
      </p:sp>
      <p:sp>
        <p:nvSpPr>
          <p:cNvPr id="13" name="Text 10"/>
          <p:cNvSpPr/>
          <p:nvPr/>
        </p:nvSpPr>
        <p:spPr>
          <a:xfrm>
            <a:off x="8046720" y="402336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 Chấm điểm tự động &amp; lưu kết quả</a:t>
            </a:r>
            <a:endParaRPr lang="en-US" sz="1300" dirty="0"/>
          </a:p>
        </p:txBody>
      </p:sp>
      <p:sp>
        <p:nvSpPr>
          <p:cNvPr id="14" name="Text 11"/>
          <p:cNvSpPr/>
          <p:nvPr/>
        </p:nvSpPr>
        <p:spPr>
          <a:xfrm>
            <a:off x="8275320" y="4343400"/>
            <a:ext cx="297180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Nộp bài kiểm tra Jump được chấm điểm tự động và lưu kết quả phục vụ thẩm định tỷ lệ đạt.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NHẢY CẤP</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Xử Lý Kết Quả Nhảy Cấp (Jump Result)</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11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10545775" cy="429768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79008"/>
            <a:ext cx="10241280" cy="5486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 Nhánh Đỗ (Đạt &gt;= 95%): Gán nhãn SKIPPED_BY_JUMP (by_jump = true) cho nội dung vượt qua; mở khóa Unit mục tiêu ngay lập tức.</a:t>
            </a:r>
            <a:endParaRPr lang="en-US" sz="1250" dirty="0"/>
          </a:p>
          <a:p>
            <a:pPr indent="0" marL="0">
              <a:buNone/>
            </a:pPr>
            <a:r>
              <a:rPr lang="en-US" sz="1250" dirty="0">
                <a:solidFill>
                  <a:srgbClr val="0F172A"/>
                </a:solidFill>
                <a:latin typeface="Calibri" pitchFamily="34" charset="0"/>
                <a:ea typeface="Calibri" pitchFamily="34" charset="-122"/>
                <a:cs typeface="Calibri" pitchFamily="34" charset="-120"/>
              </a:rPr>
              <a:t>• Nhánh Trượt (Dưới 95%): Kích hoạt thời gian phạt Cooldown khóa 24 giờ; giữ nguyên vị trí học tập hiện tại và tiếp tục học tuyến tính.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NỘI DUNG</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Thẩm Định &amp; Xuất Bản Học Liệu</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12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10545775" cy="429768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79008"/>
            <a:ext cx="10241280" cy="5486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 Phê duyệt độc lập: Moderator thẩm định và chuyển APPROVED hoặc CHANGES_REQUESTED kèm góp ý chi tiết; không dùng trạng thái REJECTED.</a:t>
            </a:r>
            <a:endParaRPr lang="en-US" sz="1250" dirty="0"/>
          </a:p>
          <a:p>
            <a:pPr indent="0" marL="0">
              <a:buNone/>
            </a:pPr>
            <a:r>
              <a:rPr lang="en-US" sz="1250" dirty="0">
                <a:solidFill>
                  <a:srgbClr val="0F172A"/>
                </a:solidFill>
                <a:latin typeface="Calibri" pitchFamily="34" charset="0"/>
                <a:ea typeface="Calibri" pitchFamily="34" charset="-122"/>
                <a:cs typeface="Calibri" pitchFamily="34" charset="-120"/>
              </a:rPr>
              <a:t>• Quyền xuất bản chính thức: Org Manager là tác nhân duy nhất có thẩm quyền Publish bài học đạt trạng thái APPROVED ra toàn hệ thống.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NỘI DUNG</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Clone-to-Draft v2 &amp; Xuất Bản Khẩn Cấp</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13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10545775" cy="429768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79008"/>
            <a:ext cx="10241280" cy="5486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 Cơ chế Clone-to-Draft v2: Sửa bài PUBLISHED tạo bản nháp v2; bản v1 vẫn phục vụ học viên; bắt buộc Archive v1 ngay khi v2 được Publish.</a:t>
            </a:r>
            <a:endParaRPr lang="en-US" sz="1250" dirty="0"/>
          </a:p>
          <a:p>
            <a:pPr indent="0" marL="0">
              <a:buNone/>
            </a:pPr>
            <a:r>
              <a:rPr lang="en-US" sz="1250" dirty="0">
                <a:solidFill>
                  <a:srgbClr val="0F172A"/>
                </a:solidFill>
                <a:latin typeface="Calibri" pitchFamily="34" charset="0"/>
                <a:ea typeface="Calibri" pitchFamily="34" charset="-122"/>
                <a:cs typeface="Calibri" pitchFamily="34" charset="-120"/>
              </a:rPr>
              <a:t>• Xuất bản khẩn cấp (Emergency): Administrator chỉ xuất bản cho bài đã APPROVED; bắt buộc giải trình lý do và ghi nhận AuditLog an ninh.</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MÔ HÌNH CẤU TRÚC</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Lớp — Cấu Trúc Nội Dung &amp; Khóa Học</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14 / 17</a:t>
            </a:r>
            <a:endParaRPr lang="en-US" sz="1200" dirty="0"/>
          </a:p>
        </p:txBody>
      </p:sp>
      <p:sp>
        <p:nvSpPr>
          <p:cNvPr id="5" name="Shape 3"/>
          <p:cNvSpPr/>
          <p:nvPr/>
        </p:nvSpPr>
        <p:spPr>
          <a:xfrm>
            <a:off x="731520" y="1143000"/>
            <a:ext cx="10728655"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10545775" cy="4206240"/>
          </a:xfrm>
          <a:prstGeom prst="rect">
            <a:avLst/>
          </a:prstGeom>
        </p:spPr>
      </p:pic>
      <p:sp>
        <p:nvSpPr>
          <p:cNvPr id="7" name="Shape 4"/>
          <p:cNvSpPr/>
          <p:nvPr/>
        </p:nvSpPr>
        <p:spPr>
          <a:xfrm>
            <a:off x="731520" y="5623560"/>
            <a:ext cx="10728655" cy="777240"/>
          </a:xfrm>
          <a:prstGeom prst="rect">
            <a:avLst/>
          </a:prstGeom>
          <a:solidFill>
            <a:srgbClr val="F1F5F9"/>
          </a:solidFill>
          <a:ln w="12700">
            <a:solidFill>
              <a:srgbClr val="E2E8F0"/>
            </a:solidFill>
            <a:prstDash val="solid"/>
          </a:ln>
        </p:spPr>
      </p:sp>
      <p:sp>
        <p:nvSpPr>
          <p:cNvPr id="8" name="Text 5"/>
          <p:cNvSpPr/>
          <p:nvPr/>
        </p:nvSpPr>
        <p:spPr>
          <a:xfrm>
            <a:off x="960120" y="5669280"/>
            <a:ext cx="10241280" cy="6858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CHÚ GIẢI KÝ HIỆU &amp; RÀNG BUỘC:  </a:t>
            </a:r>
            <a:pPr indent="0" marL="0">
              <a:buNone/>
            </a:pPr>
            <a:r>
              <a:rPr lang="en-US" sz="1100" b="1" dirty="0">
                <a:solidFill>
                  <a:srgbClr val="0F172A"/>
                </a:solidFill>
                <a:latin typeface="Calibri" pitchFamily="34" charset="0"/>
                <a:ea typeface="Calibri" pitchFamily="34" charset="-122"/>
                <a:cs typeface="Calibri" pitchFamily="34" charset="-120"/>
              </a:rPr>
              <a:t>CURRENT = Nét liền (schema.prisma hiện hành)   ·   &lt;&lt;TARGET&gt;&gt; = Nét đứt (mục tiêu Phase 2)
</a:t>
            </a:r>
            <a:pPr indent="0" marL="0">
              <a:buNone/>
            </a:pPr>
            <a:r>
              <a:rPr lang="en-US" sz="1050" dirty="0">
                <a:solidFill>
                  <a:srgbClr val="334155"/>
                </a:solidFill>
                <a:latin typeface="Calibri" pitchFamily="34" charset="0"/>
                <a:ea typeface="Calibri" pitchFamily="34" charset="-122"/>
                <a:cs typeface="Calibri" pitchFamily="34" charset="-120"/>
              </a:rPr>
              <a:t>• Vòng đời 6 trạng thái: DRAFT, IN_REVIEW, CHANGES_REQUESTED, APPROVED, PUBLISHED, ARCHIVED trong LessonRevision.</a:t>
            </a:r>
            <a:endParaRPr lang="en-US" sz="1100" dirty="0"/>
          </a:p>
          <a:p>
            <a:pPr indent="0" marL="0">
              <a:buNone/>
            </a:pPr>
            <a:r>
              <a:rPr lang="en-US" sz="1050" dirty="0">
                <a:solidFill>
                  <a:srgbClr val="334155"/>
                </a:solidFill>
                <a:latin typeface="Calibri" pitchFamily="34" charset="0"/>
                <a:ea typeface="Calibri" pitchFamily="34" charset="-122"/>
                <a:cs typeface="Calibri" pitchFamily="34" charset="-120"/>
              </a:rPr>
              <a:t>• Ràng buộc: Exercise liên kết LessonRevision; Unit chỉ mở hiển thị cho học viên khi có đủ 4/4 Lesson Published.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MÔ HÌNH HỌC VIÊN</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Lớp — Học Viên, Đánh Giá &amp; Tiến Độ</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15 / 17</a:t>
            </a:r>
            <a:endParaRPr lang="en-US" sz="1200" dirty="0"/>
          </a:p>
        </p:txBody>
      </p:sp>
      <p:sp>
        <p:nvSpPr>
          <p:cNvPr id="5" name="Shape 3"/>
          <p:cNvSpPr/>
          <p:nvPr/>
        </p:nvSpPr>
        <p:spPr>
          <a:xfrm>
            <a:off x="731520" y="1143000"/>
            <a:ext cx="10728655"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10545775" cy="4206240"/>
          </a:xfrm>
          <a:prstGeom prst="rect">
            <a:avLst/>
          </a:prstGeom>
        </p:spPr>
      </p:pic>
      <p:sp>
        <p:nvSpPr>
          <p:cNvPr id="7" name="Shape 4"/>
          <p:cNvSpPr/>
          <p:nvPr/>
        </p:nvSpPr>
        <p:spPr>
          <a:xfrm>
            <a:off x="731520" y="5623560"/>
            <a:ext cx="10728655" cy="777240"/>
          </a:xfrm>
          <a:prstGeom prst="rect">
            <a:avLst/>
          </a:prstGeom>
          <a:solidFill>
            <a:srgbClr val="F1F5F9"/>
          </a:solidFill>
          <a:ln w="12700">
            <a:solidFill>
              <a:srgbClr val="E2E8F0"/>
            </a:solidFill>
            <a:prstDash val="solid"/>
          </a:ln>
        </p:spPr>
      </p:sp>
      <p:sp>
        <p:nvSpPr>
          <p:cNvPr id="8" name="Text 5"/>
          <p:cNvSpPr/>
          <p:nvPr/>
        </p:nvSpPr>
        <p:spPr>
          <a:xfrm>
            <a:off x="960120" y="5669280"/>
            <a:ext cx="10241280" cy="6858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CHÚ GIẢI KÝ HIỆU &amp; RÀNG BUỘC:  </a:t>
            </a:r>
            <a:pPr indent="0" marL="0">
              <a:buNone/>
            </a:pPr>
            <a:r>
              <a:rPr lang="en-US" sz="1100" b="1" dirty="0">
                <a:solidFill>
                  <a:srgbClr val="0F172A"/>
                </a:solidFill>
                <a:latin typeface="Calibri" pitchFamily="34" charset="0"/>
                <a:ea typeface="Calibri" pitchFamily="34" charset="-122"/>
                <a:cs typeface="Calibri" pitchFamily="34" charset="-120"/>
              </a:rPr>
              <a:t>CURRENT = Nét liền (schema.prisma hiện hành)   ·   &lt;&lt;TARGET&gt;&gt; = Nét đứt (mục tiêu Phase 2)
</a:t>
            </a:r>
            <a:pPr indent="0" marL="0">
              <a:buNone/>
            </a:pPr>
            <a:r>
              <a:rPr lang="en-US" sz="1050" dirty="0">
                <a:solidFill>
                  <a:srgbClr val="334155"/>
                </a:solidFill>
                <a:latin typeface="Calibri" pitchFamily="34" charset="0"/>
                <a:ea typeface="Calibri" pitchFamily="34" charset="-122"/>
                <a:cs typeface="Calibri" pitchFamily="34" charset="-120"/>
              </a:rPr>
              <a:t>• Tiến độ tách rời Năng lực: Tách riêng UserProgress (tiến độ tuyến tính) khỏi SkillProfile (năng lực qua AssessmentResult).</a:t>
            </a:r>
            <a:endParaRPr lang="en-US" sz="1100" dirty="0"/>
          </a:p>
          <a:p>
            <a:pPr indent="0" marL="0">
              <a:buNone/>
            </a:pPr>
            <a:r>
              <a:rPr lang="en-US" sz="1050" dirty="0">
                <a:solidFill>
                  <a:srgbClr val="334155"/>
                </a:solidFill>
                <a:latin typeface="Calibri" pitchFamily="34" charset="0"/>
                <a:ea typeface="Calibri" pitchFamily="34" charset="-122"/>
                <a:cs typeface="Calibri" pitchFamily="34" charset="-120"/>
              </a:rPr>
              <a:t>• SRS Policy B: Chu kỳ ôn tập cố định 1, 3, 7, 14, 30 ngày; sai reset về 1 ngày. Trạng thái Retry quota &amp; Jump cooldown gắn UserProgress.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TRUY VẾT YÊU CẦU</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Ma Trận Truy Vết Nghiệp Vụ Toàn Diện (Traceability Matrix)</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16 / 17</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143000"/>
          <a:ext cx="10728655" cy="914400"/>
        </p:xfrm>
        <a:graphic>
          <a:graphicData uri="http://schemas.openxmlformats.org/drawingml/2006/table">
            <a:tbl>
              <a:tblPr/>
              <a:tblGrid>
                <a:gridCol w="868680"/>
                <a:gridCol w="3200400"/>
                <a:gridCol w="2103120"/>
                <a:gridCol w="2377440"/>
                <a:gridCol w="2179015"/>
              </a:tblGrid>
              <a:tr h="28346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UC ID</a:t>
                      </a:r>
                      <a:endParaRPr lang="en-US" sz="1100" dirty="0">
                        <a:latin typeface="Calibri" charset="0"/>
                        <a:ea typeface="Calibri" charset="0"/>
                        <a:cs typeface="Calibri" charset="0"/>
                      </a:endParaRPr>
                    </a:p>
                  </a:txBody>
                  <a:tcPr marL="76200" marR="76200" marT="50800" marB="508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Tên Ca Sử Dụng Chuẩn Tắc</a:t>
                      </a:r>
                      <a:endParaRPr lang="en-US" sz="1100" dirty="0">
                        <a:latin typeface="Calibri" charset="0"/>
                        <a:ea typeface="Calibri" charset="0"/>
                        <a:cs typeface="Calibri" charset="0"/>
                      </a:endParaRPr>
                    </a:p>
                  </a:txBody>
                  <a:tcPr marL="76200" marR="76200" marT="50800" marB="508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Sơ Đồ Hoạt Động (Slide Mới)</a:t>
                      </a:r>
                      <a:endParaRPr lang="en-US" sz="1100" dirty="0">
                        <a:latin typeface="Calibri" charset="0"/>
                        <a:ea typeface="Calibri" charset="0"/>
                        <a:cs typeface="Calibri" charset="0"/>
                      </a:endParaRPr>
                    </a:p>
                  </a:txBody>
                  <a:tcPr marL="76200" marR="76200" marT="50800" marB="508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Lớp Dữ Liệu</a:t>
                      </a:r>
                      <a:endParaRPr lang="en-US" sz="1100" dirty="0">
                        <a:latin typeface="Calibri" charset="0"/>
                        <a:ea typeface="Calibri" charset="0"/>
                        <a:cs typeface="Calibri" charset="0"/>
                      </a:endParaRPr>
                    </a:p>
                  </a:txBody>
                  <a:tcPr marL="76200" marR="76200" marT="50800" marB="508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Phạm Vi Triển Khai</a:t>
                      </a:r>
                      <a:endParaRPr lang="en-US" sz="1100" dirty="0">
                        <a:latin typeface="Calibri" charset="0"/>
                        <a:ea typeface="Calibri" charset="0"/>
                        <a:cs typeface="Calibri" charset="0"/>
                      </a:endParaRPr>
                    </a:p>
                  </a:txBody>
                  <a:tcPr marL="76200" marR="76200" marT="50800" marB="508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UC-01</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Authenticate &amp; Manage Session</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Profile, Role</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UC-02</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Configure Goals &amp; Study Time</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Profile</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UC-03</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Take Placement Test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Slide 6, 7 (Placement)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AssessmentResult, SkillProfile</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UC-04</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Browse Learning Path &amp; Conditional Jump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Slide 10, 11 (Jump)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Course, Unit, Lesson, UserProgress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UC-05</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Complete Lesson Exercises &amp; Controlled Retry</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Slide 8, 9 (Learning &amp; Retry)</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Lesson, Exercise, UserProgress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UC-06</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Spaced Repetition Review (SRS)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Vocabulary, UserVocabSrs, ReviewLog</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UC-07</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Track Progress, Mastery &amp; Streak</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Slide 8 (Streak Update)</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Profile, UserProgress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UC-08</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Create &amp; Edit Lesson Draft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Slide 12, 13 (Governance)</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Lesson, LessonRevision, Exercise</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UC-09</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Review &amp; Moderate Content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Slide 12 (Moderator Review)</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LessonRevision, AuditLog</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UC-10</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Publish Approved Content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Slide 12, 13 (Publication)</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Unit, Lesson, LessonRevision, AuditLog</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UC-11</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Manage Accounts &amp; Roles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Profile, Role, AuditLog</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UC-12</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View System Reports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UserProgress, AuditLog</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UC-13</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View &amp; Audit Security Logs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AuditLog</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CORE (Phase 2 MVP)</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UC-14</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Handle Support Tickets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0369A1"/>
                          </a:solidFill>
                          <a:latin typeface="Calibri" pitchFamily="34" charset="0"/>
                          <a:ea typeface="Calibri" pitchFamily="34" charset="-122"/>
                          <a:cs typeface="Calibri" pitchFamily="34" charset="-120"/>
                        </a:rPr>
                        <a:t>MVP (Điều phối hỗ trợ)</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r>
              <a:tr h="283464">
                <a:tc>
                  <a:txBody>
                    <a:bodyPr/>
                    <a:lstStyle/>
                    <a:p>
                      <a:pPr algn="ctr" indent="0" marL="0">
                        <a:buNone/>
                      </a:pPr>
                      <a:r>
                        <a:rPr lang="en-US" sz="1000" b="1" dirty="0">
                          <a:solidFill>
                            <a:srgbClr val="0D9488"/>
                          </a:solidFill>
                          <a:latin typeface="Calibri" pitchFamily="34" charset="0"/>
                          <a:ea typeface="Calibri" pitchFamily="34" charset="-122"/>
                          <a:cs typeface="Calibri" pitchFamily="34" charset="-120"/>
                        </a:rPr>
                        <a:t>UC-15</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Manage Cohorts &amp; Group Progress</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75569"/>
                          </a:solidFill>
                          <a:latin typeface="Calibri" pitchFamily="34" charset="0"/>
                          <a:ea typeface="Calibri" pitchFamily="34" charset="-122"/>
                          <a:cs typeface="Calibri" pitchFamily="34" charset="-120"/>
                        </a:rPr>
                        <a:t>FUTURE EXTENSION</a:t>
                      </a:r>
                      <a:endParaRPr lang="en-US" sz="100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Text 3"/>
          <p:cNvSpPr/>
          <p:nvPr/>
        </p:nvSpPr>
        <p:spPr>
          <a:xfrm>
            <a:off x="731520" y="6199632"/>
            <a:ext cx="10728655"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Ghi chú: Cột Sơ đồ hoạt động dẫn chiếu chính xác số slide sau khi tách biểu đồ; các Use Case còn lại đánh dấu '—'. UC-14 và UC-15 không ánh xạ lớp thực thể nội bộ.</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329"/>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D9488"/>
          </a:solidFill>
          <a:ln w="12700">
            <a:solidFill>
              <a:srgbClr val="333333"/>
            </a:solidFill>
            <a:prstDash val="solid"/>
          </a:ln>
        </p:spPr>
      </p:sp>
      <p:sp>
        <p:nvSpPr>
          <p:cNvPr id="3" name="Shape 1"/>
          <p:cNvSpPr/>
          <p:nvPr/>
        </p:nvSpPr>
        <p:spPr>
          <a:xfrm>
            <a:off x="274320" y="0"/>
            <a:ext cx="73152" cy="6858000"/>
          </a:xfrm>
          <a:prstGeom prst="rect">
            <a:avLst/>
          </a:prstGeom>
          <a:solidFill>
            <a:srgbClr val="D97706"/>
          </a:solidFill>
          <a:ln w="12700">
            <a:solidFill>
              <a:srgbClr val="333333"/>
            </a:solidFill>
            <a:prstDash val="solid"/>
          </a:ln>
        </p:spPr>
      </p:sp>
      <p:sp>
        <p:nvSpPr>
          <p:cNvPr id="4" name="Text 2"/>
          <p:cNvSpPr/>
          <p:nvPr/>
        </p:nvSpPr>
        <p:spPr>
          <a:xfrm>
            <a:off x="1097280" y="1097280"/>
            <a:ext cx="7315200" cy="274320"/>
          </a:xfrm>
          <a:prstGeom prst="rect">
            <a:avLst/>
          </a:prstGeom>
          <a:noFill/>
          <a:ln/>
        </p:spPr>
        <p:txBody>
          <a:bodyPr wrap="square" lIns="0" tIns="0" rIns="0" bIns="0" rtlCol="0" anchor="ctr"/>
          <a:lstStyle/>
          <a:p>
            <a:pPr indent="0" marL="0">
              <a:buNone/>
            </a:pPr>
            <a:r>
              <a:rPr lang="en-US" sz="1300" b="1" spc="150" kern="0" dirty="0">
                <a:solidFill>
                  <a:srgbClr val="0D9488"/>
                </a:solidFill>
                <a:latin typeface="Calibri" pitchFamily="34" charset="0"/>
                <a:ea typeface="Calibri" pitchFamily="34" charset="-122"/>
                <a:cs typeface="Calibri" pitchFamily="34" charset="-120"/>
              </a:rPr>
              <a:t>TỔNG KẾT MÔ HÌNH HÓA</a:t>
            </a:r>
            <a:endParaRPr lang="en-US" sz="1300" dirty="0"/>
          </a:p>
        </p:txBody>
      </p:sp>
      <p:sp>
        <p:nvSpPr>
          <p:cNvPr id="5" name="Text 3"/>
          <p:cNvSpPr/>
          <p:nvPr/>
        </p:nvSpPr>
        <p:spPr>
          <a:xfrm>
            <a:off x="1097280" y="1463040"/>
            <a:ext cx="96012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Tổng Kết Kiến Trúc &amp; Giá Trị Triển Khai</a:t>
            </a:r>
            <a:endParaRPr lang="en-US" sz="3400" dirty="0"/>
          </a:p>
        </p:txBody>
      </p:sp>
      <p:sp>
        <p:nvSpPr>
          <p:cNvPr id="6" name="Shape 4"/>
          <p:cNvSpPr/>
          <p:nvPr/>
        </p:nvSpPr>
        <p:spPr>
          <a:xfrm>
            <a:off x="1097280" y="2468880"/>
            <a:ext cx="3291840" cy="2926080"/>
          </a:xfrm>
          <a:prstGeom prst="rect">
            <a:avLst/>
          </a:prstGeom>
          <a:solidFill>
            <a:srgbClr val="111827"/>
          </a:solidFill>
          <a:ln w="12700">
            <a:solidFill>
              <a:srgbClr val="1E293B"/>
            </a:solidFill>
            <a:prstDash val="solid"/>
          </a:ln>
        </p:spPr>
      </p:sp>
      <p:sp>
        <p:nvSpPr>
          <p:cNvPr id="7" name="Text 5"/>
          <p:cNvSpPr/>
          <p:nvPr/>
        </p:nvSpPr>
        <p:spPr>
          <a:xfrm>
            <a:off x="137160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137160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Tính Toàn Vẹn &amp; Kỷ Luật</a:t>
            </a:r>
            <a:endParaRPr lang="en-US" sz="1500" dirty="0"/>
          </a:p>
        </p:txBody>
      </p:sp>
      <p:sp>
        <p:nvSpPr>
          <p:cNvPr id="9" name="Text 7"/>
          <p:cNvSpPr/>
          <p:nvPr/>
        </p:nvSpPr>
        <p:spPr>
          <a:xfrm>
            <a:off x="137160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Toàn bộ 15 Use Case, 8 luồng hoạt động chi tiết và mô hình dữ liệu ánh xạ 1:1, không mâu thuẫn chính sách nghiệp vụ.</a:t>
            </a:r>
            <a:endParaRPr lang="en-US" sz="1250" dirty="0"/>
          </a:p>
        </p:txBody>
      </p:sp>
      <p:sp>
        <p:nvSpPr>
          <p:cNvPr id="10" name="Shape 8"/>
          <p:cNvSpPr/>
          <p:nvPr/>
        </p:nvSpPr>
        <p:spPr>
          <a:xfrm>
            <a:off x="4800600" y="2468880"/>
            <a:ext cx="3291840" cy="2926080"/>
          </a:xfrm>
          <a:prstGeom prst="rect">
            <a:avLst/>
          </a:prstGeom>
          <a:solidFill>
            <a:srgbClr val="111827"/>
          </a:solidFill>
          <a:ln w="12700">
            <a:solidFill>
              <a:srgbClr val="1E293B"/>
            </a:solidFill>
            <a:prstDash val="solid"/>
          </a:ln>
        </p:spPr>
      </p:sp>
      <p:sp>
        <p:nvSpPr>
          <p:cNvPr id="11" name="Text 9"/>
          <p:cNvSpPr/>
          <p:nvPr/>
        </p:nvSpPr>
        <p:spPr>
          <a:xfrm>
            <a:off x="507492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507492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Trải Nghiệm Học Khoa Học</a:t>
            </a:r>
            <a:endParaRPr lang="en-US" sz="1500" dirty="0"/>
          </a:p>
        </p:txBody>
      </p:sp>
      <p:sp>
        <p:nvSpPr>
          <p:cNvPr id="13" name="Text 11"/>
          <p:cNvSpPr/>
          <p:nvPr/>
        </p:nvSpPr>
        <p:spPr>
          <a:xfrm>
            <a:off x="507492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Viewer lý thuyết bắt buộc, Controlled Retry khống chế 70% credit, Conditional Jump Cooldown 24h và SRS tất định Policy B.</a:t>
            </a:r>
            <a:endParaRPr lang="en-US" sz="1250" dirty="0"/>
          </a:p>
        </p:txBody>
      </p:sp>
      <p:sp>
        <p:nvSpPr>
          <p:cNvPr id="14" name="Shape 12"/>
          <p:cNvSpPr/>
          <p:nvPr/>
        </p:nvSpPr>
        <p:spPr>
          <a:xfrm>
            <a:off x="8503920" y="2468880"/>
            <a:ext cx="3291840" cy="2926080"/>
          </a:xfrm>
          <a:prstGeom prst="rect">
            <a:avLst/>
          </a:prstGeom>
          <a:solidFill>
            <a:srgbClr val="111827"/>
          </a:solidFill>
          <a:ln w="12700">
            <a:solidFill>
              <a:srgbClr val="1E293B"/>
            </a:solidFill>
            <a:prstDash val="solid"/>
          </a:ln>
        </p:spPr>
      </p:sp>
      <p:sp>
        <p:nvSpPr>
          <p:cNvPr id="15" name="Text 13"/>
          <p:cNvSpPr/>
          <p:nvPr/>
        </p:nvSpPr>
        <p:spPr>
          <a:xfrm>
            <a:off x="877824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03</a:t>
            </a:r>
            <a:endParaRPr lang="en-US" sz="2000" dirty="0"/>
          </a:p>
        </p:txBody>
      </p:sp>
      <p:sp>
        <p:nvSpPr>
          <p:cNvPr id="16" name="Text 14"/>
          <p:cNvSpPr/>
          <p:nvPr/>
        </p:nvSpPr>
        <p:spPr>
          <a:xfrm>
            <a:off x="877824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Quản Trị Nghiêm Ngặt (SoD)</a:t>
            </a:r>
            <a:endParaRPr lang="en-US" sz="1500" dirty="0"/>
          </a:p>
        </p:txBody>
      </p:sp>
      <p:sp>
        <p:nvSpPr>
          <p:cNvPr id="17" name="Text 15"/>
          <p:cNvSpPr/>
          <p:nvPr/>
        </p:nvSpPr>
        <p:spPr>
          <a:xfrm>
            <a:off x="877824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Phân tách Creator - Moderator - Org Manager, cơ chế Clone-to-Draft v2 bảo toàn phiên bản và AuditLog bất biến.</a:t>
            </a:r>
            <a:endParaRPr lang="en-US" sz="1250" dirty="0"/>
          </a:p>
        </p:txBody>
      </p:sp>
      <p:sp>
        <p:nvSpPr>
          <p:cNvPr id="18" name="Text 16"/>
          <p:cNvSpPr/>
          <p:nvPr/>
        </p:nvSpPr>
        <p:spPr>
          <a:xfrm>
            <a:off x="1097280" y="5852160"/>
            <a:ext cx="9144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Lingora Platform Architecture  ·  Phase 1 Baseline Complete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Lingora — Phân Tích &amp; Mô Hình Hóa Hệ Thống (v10)</dc:title>
  <dc:subject>PptxGenJS Presentation</dc:subject>
  <dc:creator>Lingora Engineering Architecture</dc:creator>
  <cp:lastModifiedBy>Lingora Engineering Architecture</cp:lastModifiedBy>
  <cp:revision>1</cp:revision>
  <dcterms:created xsi:type="dcterms:W3CDTF">2026-10-04T16:16:15Z</dcterms:created>
  <dcterms:modified xsi:type="dcterms:W3CDTF">2026-10-04T16:16:15Z</dcterms:modified>
</cp:coreProperties>
</file>