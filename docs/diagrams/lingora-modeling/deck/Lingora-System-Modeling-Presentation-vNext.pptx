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phân tích và mô hình hóa hệ thống học ngoại ngữ Lingora. Nội dung bao gồm biểu đồ ca sử dụng, biểu đồ hoạt động, biểu đồ lớp và ma trận truy vết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phân chia thành 3 phân hệ độc lập: Learning, Content và Admin/Ops. Cấu trúc học tập gồm 4 tầng phân định rõ giữa CEFR Level và Unit nội 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ca sử dụng tổng quan định hình kiến trúc toàn hệ thống Lingora. Tác nhân Authenticated User chuẩn hóa đăng nhập, và phân hệ được chia tách mạch lạc.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học viên phân biệt rõ giữa Placement (xếp lớp), Learning (học theo Unit), Jump (vượt Unit trong Course), và Level Advancement (chuyển CEFR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phê duyệt nội dung tuân thủ nguyên tắc phân tách nhiệm vụ (SoD). Moderator độc lập thẩm định và Org Manager độc quyền xuất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Đánh giá xếp lớp ban đầu nhằm phân loại trình độ khởi điểm của người học tương tự logic trung tâm ngoại ngữ. Điểm số xác định Level và Course trước khi trỏ tới Starting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Nhánh bỏ qua không sinh dữ liệu năng lực giả định. Nhánh thi lại bảo lưu toàn vẹn lịch sử bài thi trước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 trình học bài bắt buộc học viên tiếp thu lý thuyết qua Viewer trước khi trả lời câu hỏi. Hoàn thành bài học cập nhật nguyên tử tiến độ, Streak và SRS.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làm lại có kiểm soát giới hạn số lượt thử, cung cấp phản hồi giải thích và khống chế trần điểm công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thách Jump là cơ chế bỏ qua đơn vị nội dung (Unit-level bypass) trong cùng khóa học. Bài thi không làm thay đổi CEFR level của học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Xử lý kết quả Jump: đạt &gt;=95% mở khóa Unit mục tiêu, cấm gán COMPLETED_BY_JUMP; thi trượt áp dụng Cooldown 24 giờ. CEFR Level không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quản trị học liệu phân định thẩm quyền: Moderator thẩm định chất lượng sư phạm và Org Manager độc quyền phát hành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nhân bản bản nháp bảo toàn phiên bản đang phát hành cho học viên. Administrator can thiệp khẩn cấp luôn phải lưu vết kiểm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lớp nội dung thể hiện rõ Course.cefr quản lý trình độ và chứa 1..N Units. Số lượng Unit giữa các Level/Course là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học viên phân định rõ ràng giữa tiến độ bài học tuyến tính và hồ sơ năng lực CEFR. Ba mục đích đánh giá được mô hình hóa rõ ràng ở tầng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truy vết bảo đảm liên kết chặt chẽ giữa 15 ca sử dụng, sơ đồ hoạt động, mô hình thực thể và phạm vi bàn giao. Toàn bộ tính năng trọng tâm đều thuộc Core Phase 2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kết toàn bộ mô hình hóa hệ thống Lingora. Hệ thống sẵn sàng cho giai đoạn phát triển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9"/>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2563EB"/>
          </a:solidFill>
          <a:ln w="12700">
            <a:solidFill>
              <a:srgbClr val="333333"/>
            </a:solidFill>
            <a:prstDash val="solid"/>
          </a:ln>
        </p:spPr>
      </p:sp>
      <p:sp>
        <p:nvSpPr>
          <p:cNvPr id="3" name="Shape 1"/>
          <p:cNvSpPr/>
          <p:nvPr/>
        </p:nvSpPr>
        <p:spPr>
          <a:xfrm>
            <a:off x="274320" y="0"/>
            <a:ext cx="73152" cy="6858000"/>
          </a:xfrm>
          <a:prstGeom prst="rect">
            <a:avLst/>
          </a:prstGeom>
          <a:solidFill>
            <a:srgbClr val="D97706"/>
          </a:solidFill>
          <a:ln w="12700">
            <a:solidFill>
              <a:srgbClr val="333333"/>
            </a:solidFill>
            <a:prstDash val="solid"/>
          </a:ln>
        </p:spPr>
      </p:sp>
      <p:sp>
        <p:nvSpPr>
          <p:cNvPr id="4" name="Text 2"/>
          <p:cNvSpPr/>
          <p:nvPr/>
        </p:nvSpPr>
        <p:spPr>
          <a:xfrm>
            <a:off x="1097280" y="1645920"/>
            <a:ext cx="8229600" cy="320040"/>
          </a:xfrm>
          <a:prstGeom prst="rect">
            <a:avLst/>
          </a:prstGeom>
          <a:noFill/>
          <a:ln/>
        </p:spPr>
        <p:txBody>
          <a:bodyPr wrap="square" lIns="0" tIns="0" rIns="0" bIns="0" rtlCol="0" anchor="ctr"/>
          <a:lstStyle/>
          <a:p>
            <a:pPr indent="0" marL="0">
              <a:buNone/>
            </a:pPr>
            <a:r>
              <a:rPr lang="en-US" sz="1300" b="1" spc="200" kern="0" dirty="0">
                <a:solidFill>
                  <a:srgbClr val="2563EB"/>
                </a:solidFill>
                <a:latin typeface="Calibri" pitchFamily="34" charset="0"/>
                <a:ea typeface="Calibri" pitchFamily="34" charset="-122"/>
                <a:cs typeface="Calibri" pitchFamily="34" charset="-120"/>
              </a:rPr>
              <a:t>LINGORA ARCHITECTURE SPECIFICATION</a:t>
            </a:r>
            <a:endParaRPr lang="en-US" sz="1300" dirty="0"/>
          </a:p>
        </p:txBody>
      </p:sp>
      <p:sp>
        <p:nvSpPr>
          <p:cNvPr id="5" name="Text 3"/>
          <p:cNvSpPr/>
          <p:nvPr/>
        </p:nvSpPr>
        <p:spPr>
          <a:xfrm>
            <a:off x="1097280" y="2057400"/>
            <a:ext cx="9601200" cy="10972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Phân Tích &amp; Mô Hình Hóa Hệ Thống</a:t>
            </a:r>
            <a:endParaRPr lang="en-US" sz="3800" dirty="0"/>
          </a:p>
        </p:txBody>
      </p:sp>
      <p:sp>
        <p:nvSpPr>
          <p:cNvPr id="6" name="Text 4"/>
          <p:cNvSpPr/>
          <p:nvPr/>
        </p:nvSpPr>
        <p:spPr>
          <a:xfrm>
            <a:off x="1097280" y="3246120"/>
            <a:ext cx="960120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Use Case Diagram  ·  Activity Flow  ·  Domain Class Model  ·  Traceability Matrix</a:t>
            </a:r>
            <a:endParaRPr lang="en-US" sz="1600" dirty="0"/>
          </a:p>
        </p:txBody>
      </p:sp>
      <p:sp>
        <p:nvSpPr>
          <p:cNvPr id="7" name="Shape 5"/>
          <p:cNvSpPr/>
          <p:nvPr/>
        </p:nvSpPr>
        <p:spPr>
          <a:xfrm>
            <a:off x="1097280" y="3931920"/>
            <a:ext cx="2743200" cy="18288"/>
          </a:xfrm>
          <a:prstGeom prst="rect">
            <a:avLst/>
          </a:prstGeom>
          <a:solidFill>
            <a:srgbClr val="D97706"/>
          </a:solidFill>
          <a:ln w="12700">
            <a:solidFill>
              <a:srgbClr val="333333"/>
            </a:solidFill>
            <a:prstDash val="solid"/>
          </a:ln>
        </p:spPr>
      </p:sp>
      <p:sp>
        <p:nvSpPr>
          <p:cNvPr id="8" name="Text 6"/>
          <p:cNvSpPr/>
          <p:nvPr/>
        </p:nvSpPr>
        <p:spPr>
          <a:xfrm>
            <a:off x="1097280" y="4160520"/>
            <a:ext cx="8686800" cy="731520"/>
          </a:xfrm>
          <a:prstGeom prst="rect">
            <a:avLst/>
          </a:prstGeom>
          <a:noFill/>
          <a:ln/>
        </p:spPr>
        <p:txBody>
          <a:bodyPr wrap="square" lIns="0" tIns="0" rIns="0" bIns="0" rtlCol="0" anchor="ctr"/>
          <a:lstStyle/>
          <a:p>
            <a:pPr indent="0" marL="0">
              <a:lnSpc>
                <a:spcPct val="120000"/>
              </a:lnSpc>
              <a:buNone/>
            </a:pPr>
            <a:r>
              <a:rPr lang="en-US" sz="1300" dirty="0">
                <a:solidFill>
                  <a:srgbClr val="64748B"/>
                </a:solidFill>
                <a:latin typeface="Calibri" pitchFamily="34" charset="0"/>
                <a:ea typeface="Calibri" pitchFamily="34" charset="-122"/>
                <a:cs typeface="Calibri" pitchFamily="34" charset="-120"/>
              </a:rPr>
              <a:t>Báo cáo Kỹ thuật Phần mềm — Phase 1 Locked Baseline Specification</a:t>
            </a:r>
            <a:endParaRPr lang="en-US" sz="1300" dirty="0"/>
          </a:p>
          <a:p>
            <a:pPr indent="0" marL="0">
              <a:lnSpc>
                <a:spcPct val="120000"/>
              </a:lnSpc>
              <a:buNone/>
            </a:pPr>
            <a:r>
              <a:rPr lang="en-US" sz="1300" dirty="0">
                <a:solidFill>
                  <a:srgbClr val="64748B"/>
                </a:solidFill>
                <a:latin typeface="Calibri" pitchFamily="34" charset="0"/>
                <a:ea typeface="Calibri" pitchFamily="34" charset="-122"/>
                <a:cs typeface="Calibri" pitchFamily="34" charset="-120"/>
              </a:rPr>
              <a:t>Nền tảng Học ngoại ngữ Trực tuyến Lingora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KIẾN TRÚC HỆ THỐNG</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Tổng Quan Phân Hệ &amp; Ranh Giới Nghiệp Vụ</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02 / 17</a:t>
            </a:r>
            <a:endParaRPr lang="en-US" sz="1200" dirty="0"/>
          </a:p>
        </p:txBody>
      </p:sp>
      <p:sp>
        <p:nvSpPr>
          <p:cNvPr id="5" name="Shape 3"/>
          <p:cNvSpPr/>
          <p:nvPr/>
        </p:nvSpPr>
        <p:spPr>
          <a:xfrm>
            <a:off x="731520" y="1143000"/>
            <a:ext cx="3337560" cy="3749040"/>
          </a:xfrm>
          <a:prstGeom prst="rect">
            <a:avLst/>
          </a:prstGeom>
          <a:solidFill>
            <a:srgbClr val="FFFFFF"/>
          </a:solidFill>
          <a:ln w="12700">
            <a:solidFill>
              <a:srgbClr val="E2E8F0"/>
            </a:solidFill>
            <a:prstDash val="solid"/>
          </a:ln>
        </p:spPr>
      </p:sp>
      <p:sp>
        <p:nvSpPr>
          <p:cNvPr id="6" name="Shape 4"/>
          <p:cNvSpPr/>
          <p:nvPr/>
        </p:nvSpPr>
        <p:spPr>
          <a:xfrm>
            <a:off x="731520" y="1143000"/>
            <a:ext cx="3337560" cy="45720"/>
          </a:xfrm>
          <a:prstGeom prst="rect">
            <a:avLst/>
          </a:prstGeom>
          <a:solidFill>
            <a:srgbClr val="2563EB"/>
          </a:solidFill>
          <a:ln w="12700">
            <a:solidFill>
              <a:srgbClr val="333333"/>
            </a:solidFill>
            <a:prstDash val="solid"/>
          </a:ln>
        </p:spPr>
      </p:sp>
      <p:sp>
        <p:nvSpPr>
          <p:cNvPr id="7" name="Text 5"/>
          <p:cNvSpPr/>
          <p:nvPr/>
        </p:nvSpPr>
        <p:spPr>
          <a:xfrm>
            <a:off x="960120" y="1325880"/>
            <a:ext cx="457200" cy="27432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325880"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LEARNING SUBSYSTEM</a:t>
            </a:r>
            <a:endParaRPr lang="en-US" sz="1300" dirty="0"/>
          </a:p>
        </p:txBody>
      </p:sp>
      <p:sp>
        <p:nvSpPr>
          <p:cNvPr id="9" name="Text 7"/>
          <p:cNvSpPr/>
          <p:nvPr/>
        </p:nvSpPr>
        <p:spPr>
          <a:xfrm>
            <a:off x="960120"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Trải nghiệm học tập &amp; củng cố năng lực</a:t>
            </a:r>
            <a:endParaRPr lang="en-US" sz="1200" dirty="0"/>
          </a:p>
        </p:txBody>
      </p:sp>
      <p:sp>
        <p:nvSpPr>
          <p:cNvPr id="10" name="Text 8"/>
          <p:cNvSpPr/>
          <p:nvPr/>
        </p:nvSpPr>
        <p:spPr>
          <a:xfrm>
            <a:off x="868680"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[UC-01] Xác thực phiên &amp; phân quyền người dùng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[UC-02] Cài đặt mục tiêu học tập hằng ngày</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[UC-03] Kiểm tra chẩn đoán xếp lớp đầu vào</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[UC-04] Duyệt lộ trình học &amp; thử thách Jump</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[UC-05] Xem bài học (Viewer) &amp; làm bài tập</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[UC-06] Ôn tập từ vựng ngắt quãng theo SRS Policy B</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[UC-07] Theo dõi tiến độ học tập &amp; chuỗi Streak</a:t>
            </a:r>
            <a:endParaRPr lang="en-US" sz="1200" dirty="0"/>
          </a:p>
        </p:txBody>
      </p:sp>
      <p:sp>
        <p:nvSpPr>
          <p:cNvPr id="11" name="Shape 9"/>
          <p:cNvSpPr/>
          <p:nvPr/>
        </p:nvSpPr>
        <p:spPr>
          <a:xfrm>
            <a:off x="4425696" y="1143000"/>
            <a:ext cx="3337560" cy="3749040"/>
          </a:xfrm>
          <a:prstGeom prst="rect">
            <a:avLst/>
          </a:prstGeom>
          <a:solidFill>
            <a:srgbClr val="FFFFFF"/>
          </a:solidFill>
          <a:ln w="12700">
            <a:solidFill>
              <a:srgbClr val="E2E8F0"/>
            </a:solidFill>
            <a:prstDash val="solid"/>
          </a:ln>
        </p:spPr>
      </p:sp>
      <p:sp>
        <p:nvSpPr>
          <p:cNvPr id="12" name="Shape 10"/>
          <p:cNvSpPr/>
          <p:nvPr/>
        </p:nvSpPr>
        <p:spPr>
          <a:xfrm>
            <a:off x="4425696" y="1143000"/>
            <a:ext cx="3337560" cy="45720"/>
          </a:xfrm>
          <a:prstGeom prst="rect">
            <a:avLst/>
          </a:prstGeom>
          <a:solidFill>
            <a:srgbClr val="0D9488"/>
          </a:solidFill>
          <a:ln w="12700">
            <a:solidFill>
              <a:srgbClr val="333333"/>
            </a:solidFill>
            <a:prstDash val="solid"/>
          </a:ln>
        </p:spPr>
      </p:sp>
      <p:sp>
        <p:nvSpPr>
          <p:cNvPr id="13" name="Text 11"/>
          <p:cNvSpPr/>
          <p:nvPr/>
        </p:nvSpPr>
        <p:spPr>
          <a:xfrm>
            <a:off x="4654296" y="1325880"/>
            <a:ext cx="457200" cy="27432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5020056"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CONTENT SUBSYSTEM</a:t>
            </a:r>
            <a:endParaRPr lang="en-US" sz="1300" dirty="0"/>
          </a:p>
        </p:txBody>
      </p:sp>
      <p:sp>
        <p:nvSpPr>
          <p:cNvPr id="15" name="Text 13"/>
          <p:cNvSpPr/>
          <p:nvPr/>
        </p:nvSpPr>
        <p:spPr>
          <a:xfrm>
            <a:off x="4654296"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Biên soạn, kiểm duyệt &amp; quản lý phiên bản</a:t>
            </a:r>
            <a:endParaRPr lang="en-US" sz="1200" dirty="0"/>
          </a:p>
        </p:txBody>
      </p:sp>
      <p:sp>
        <p:nvSpPr>
          <p:cNvPr id="16" name="Text 14"/>
          <p:cNvSpPr/>
          <p:nvPr/>
        </p:nvSpPr>
        <p:spPr>
          <a:xfrm>
            <a:off x="4562856"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[UC-08] Soạn thảo bài học, bài tập &amp; từ vựng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[UC-09] Kiểm duyệt độc lập &amp; yêu cầu chỉnh sửa</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[UC-10] Xuất bản bài học đã duyệt ra hệ thống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Biên soạn &amp; cập nhật qua LessonRevision</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Kiểm soát vòng đời 6 trạng thái học liệu</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Phân định rõ thẩm quyền Moderator &amp; Org Manager</a:t>
            </a:r>
            <a:endParaRPr lang="en-US" sz="1200" dirty="0"/>
          </a:p>
        </p:txBody>
      </p:sp>
      <p:sp>
        <p:nvSpPr>
          <p:cNvPr id="17" name="Shape 15"/>
          <p:cNvSpPr/>
          <p:nvPr/>
        </p:nvSpPr>
        <p:spPr>
          <a:xfrm>
            <a:off x="8119872" y="1143000"/>
            <a:ext cx="3337560" cy="3749040"/>
          </a:xfrm>
          <a:prstGeom prst="rect">
            <a:avLst/>
          </a:prstGeom>
          <a:solidFill>
            <a:srgbClr val="FFFFFF"/>
          </a:solidFill>
          <a:ln w="12700">
            <a:solidFill>
              <a:srgbClr val="E2E8F0"/>
            </a:solidFill>
            <a:prstDash val="solid"/>
          </a:ln>
        </p:spPr>
      </p:sp>
      <p:sp>
        <p:nvSpPr>
          <p:cNvPr id="18" name="Shape 16"/>
          <p:cNvSpPr/>
          <p:nvPr/>
        </p:nvSpPr>
        <p:spPr>
          <a:xfrm>
            <a:off x="8119872" y="1143000"/>
            <a:ext cx="3337560" cy="45720"/>
          </a:xfrm>
          <a:prstGeom prst="rect">
            <a:avLst/>
          </a:prstGeom>
          <a:solidFill>
            <a:srgbClr val="D97706"/>
          </a:solidFill>
          <a:ln w="12700">
            <a:solidFill>
              <a:srgbClr val="333333"/>
            </a:solidFill>
            <a:prstDash val="solid"/>
          </a:ln>
        </p:spPr>
      </p:sp>
      <p:sp>
        <p:nvSpPr>
          <p:cNvPr id="19" name="Text 17"/>
          <p:cNvSpPr/>
          <p:nvPr/>
        </p:nvSpPr>
        <p:spPr>
          <a:xfrm>
            <a:off x="8348472" y="1325880"/>
            <a:ext cx="457200" cy="27432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8714232"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ADMIN &amp; OPERATIONS</a:t>
            </a:r>
            <a:endParaRPr lang="en-US" sz="1300" dirty="0"/>
          </a:p>
        </p:txBody>
      </p:sp>
      <p:sp>
        <p:nvSpPr>
          <p:cNvPr id="21" name="Text 19"/>
          <p:cNvSpPr/>
          <p:nvPr/>
        </p:nvSpPr>
        <p:spPr>
          <a:xfrm>
            <a:off x="8348472"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Vận hành, kiểm toán &amp; điều phối hỗ trợ</a:t>
            </a:r>
            <a:endParaRPr lang="en-US" sz="1200" dirty="0"/>
          </a:p>
        </p:txBody>
      </p:sp>
      <p:sp>
        <p:nvSpPr>
          <p:cNvPr id="22" name="Text 20"/>
          <p:cNvSpPr/>
          <p:nvPr/>
        </p:nvSpPr>
        <p:spPr>
          <a:xfrm>
            <a:off x="8257032"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[UC-11] Quản trị tài khoản &amp; 6 vai trò hệ thống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[UC-12] Xem báo cáo &amp; thống kê vận hành</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[UC-13] Tra cứu nhật ký kiểm toán an ninh AuditLog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[UC-14] Tiếp nhận &amp; điều phối xử lý phiếu hỗ trợ</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[UC-15] Quản lý nhóm học viên &amp; tiến độ lớp học</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Kiểm soát phân quyền chặt chẽ trên toàn nền tảng</a:t>
            </a:r>
            <a:endParaRPr lang="en-US" sz="1200" dirty="0"/>
          </a:p>
        </p:txBody>
      </p:sp>
      <p:sp>
        <p:nvSpPr>
          <p:cNvPr id="23" name="Shape 21"/>
          <p:cNvSpPr/>
          <p:nvPr/>
        </p:nvSpPr>
        <p:spPr>
          <a:xfrm>
            <a:off x="731520" y="5010912"/>
            <a:ext cx="10728655" cy="1417320"/>
          </a:xfrm>
          <a:prstGeom prst="rect">
            <a:avLst/>
          </a:prstGeom>
          <a:solidFill>
            <a:srgbClr val="F1F5F9"/>
          </a:solidFill>
          <a:ln w="12700">
            <a:solidFill>
              <a:srgbClr val="E2E8F0"/>
            </a:solidFill>
            <a:prstDash val="solid"/>
          </a:ln>
        </p:spPr>
      </p:sp>
      <p:sp>
        <p:nvSpPr>
          <p:cNvPr id="24" name="Text 22"/>
          <p:cNvSpPr/>
          <p:nvPr/>
        </p:nvSpPr>
        <p:spPr>
          <a:xfrm>
            <a:off x="960120" y="5102352"/>
            <a:ext cx="6400800" cy="22860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CẤU TRÚC MIỀN HỌC TẬP &amp; PHÂN ĐỊNH PHẠM VI</a:t>
            </a:r>
            <a:endParaRPr lang="en-US" sz="1200" dirty="0"/>
          </a:p>
        </p:txBody>
      </p:sp>
      <p:sp>
        <p:nvSpPr>
          <p:cNvPr id="25" name="Text 23"/>
          <p:cNvSpPr/>
          <p:nvPr/>
        </p:nvSpPr>
        <p:spPr>
          <a:xfrm>
            <a:off x="960120" y="5358384"/>
            <a:ext cx="10241280" cy="1005840"/>
          </a:xfrm>
          <a:prstGeom prst="rect">
            <a:avLst/>
          </a:prstGeom>
          <a:noFill/>
          <a:ln/>
        </p:spPr>
        <p:txBody>
          <a:bodyPr wrap="square" lIns="0" tIns="0" rIns="0" bIns="0" rtlCol="0" anchor="t"/>
          <a:lstStyle/>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[Cấu trúc 4 tầng] Phân tầng rõ rệt: Course (CEFR Level) -&gt; Unit (Cụm nội dung 1..N) -&gt; Lesson -&gt; Exercise. Pilot English A1 hiện có 6 Units.</a:t>
            </a:r>
            <a:endParaRPr lang="en-US" sz="1200" dirty="0"/>
          </a:p>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[Năng lực vs Tiến độ] Tách rời Năng lực (Proficiency Level A1..C2) khỏi Tiến độ học bài (UserProgress) và Đơn vị cấu trúc bài học (Unit).</a:t>
            </a:r>
            <a:endParaRPr lang="en-US" sz="1200" dirty="0"/>
          </a:p>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[SoD &amp; Quản trị] Creator soạn bài, Moderator thẩm định, Org Manager xuất bản. Unit chỉ mở khi đủ 4/4 Lesson Published. Clone-to-Draft bảo toàn phiên bản.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CA SỬ DỤNG HỆ THỐNG</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Ca Sử Dụng Tổng Quan (Overall Use Case Diagram)</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03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50867" y="1143000"/>
            <a:ext cx="3584667" cy="5257800"/>
          </a:xfrm>
          <a:prstGeom prst="rect">
            <a:avLst/>
          </a:prstGeom>
        </p:spPr>
      </p:pic>
      <p:sp>
        <p:nvSpPr>
          <p:cNvPr id="7" name="Shape 4"/>
          <p:cNvSpPr/>
          <p:nvPr/>
        </p:nvSpPr>
        <p:spPr>
          <a:xfrm>
            <a:off x="4983480" y="1143000"/>
            <a:ext cx="6476695" cy="1188720"/>
          </a:xfrm>
          <a:prstGeom prst="rect">
            <a:avLst/>
          </a:prstGeom>
          <a:solidFill>
            <a:srgbClr val="FFFFFF"/>
          </a:solidFill>
          <a:ln w="12700">
            <a:solidFill>
              <a:srgbClr val="E2E8F0"/>
            </a:solidFill>
            <a:prstDash val="solid"/>
          </a:ln>
        </p:spPr>
      </p:sp>
      <p:sp>
        <p:nvSpPr>
          <p:cNvPr id="8" name="Shape 5"/>
          <p:cNvSpPr/>
          <p:nvPr/>
        </p:nvSpPr>
        <p:spPr>
          <a:xfrm>
            <a:off x="4983480" y="1143000"/>
            <a:ext cx="73152" cy="1188720"/>
          </a:xfrm>
          <a:prstGeom prst="rect">
            <a:avLst/>
          </a:prstGeom>
          <a:solidFill>
            <a:srgbClr val="2563EB"/>
          </a:solidFill>
          <a:ln w="12700">
            <a:solidFill>
              <a:srgbClr val="333333"/>
            </a:solidFill>
            <a:prstDash val="solid"/>
          </a:ln>
        </p:spPr>
      </p:sp>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[UC-01]  Kế thừa Authenticated User</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Toàn bộ 6 vai trò hệ thống đều kế thừa Authenticated User để dùng chung cơ chế phiên làm việc và xác thực JWT tập trung.</a:t>
            </a:r>
            <a:endParaRPr lang="en-US" sz="1250" dirty="0"/>
          </a:p>
        </p:txBody>
      </p:sp>
      <p:sp>
        <p:nvSpPr>
          <p:cNvPr id="11" name="Shape 8"/>
          <p:cNvSpPr/>
          <p:nvPr/>
        </p:nvSpPr>
        <p:spPr>
          <a:xfrm>
            <a:off x="4983480" y="2496312"/>
            <a:ext cx="6476695" cy="1188720"/>
          </a:xfrm>
          <a:prstGeom prst="rect">
            <a:avLst/>
          </a:prstGeom>
          <a:solidFill>
            <a:srgbClr val="FFFFFF"/>
          </a:solidFill>
          <a:ln w="12700">
            <a:solidFill>
              <a:srgbClr val="E2E8F0"/>
            </a:solidFill>
            <a:prstDash val="solid"/>
          </a:ln>
        </p:spPr>
      </p:sp>
      <p:sp>
        <p:nvSpPr>
          <p:cNvPr id="12" name="Shape 9"/>
          <p:cNvSpPr/>
          <p:nvPr/>
        </p:nvSpPr>
        <p:spPr>
          <a:xfrm>
            <a:off x="4983480" y="2496312"/>
            <a:ext cx="73152" cy="1188720"/>
          </a:xfrm>
          <a:prstGeom prst="rect">
            <a:avLst/>
          </a:prstGeom>
          <a:solidFill>
            <a:srgbClr val="0D9488"/>
          </a:solidFill>
          <a:ln w="12700">
            <a:solidFill>
              <a:srgbClr val="333333"/>
            </a:solidFill>
            <a:prstDash val="solid"/>
          </a:ln>
        </p:spPr>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[KIẾN TRÚC]  Phân tách 3 phân hệ độc lập</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Học tập (Learning Subsystem), Quản lý nội dung (Content Subsystem) và Vận hành quản trị (Admin &amp; Ops) phân lập ranh giới rõ ràng.</a:t>
            </a:r>
            <a:endParaRPr lang="en-US" sz="1250" dirty="0"/>
          </a:p>
        </p:txBody>
      </p:sp>
      <p:sp>
        <p:nvSpPr>
          <p:cNvPr id="15" name="Shape 12"/>
          <p:cNvSpPr/>
          <p:nvPr/>
        </p:nvSpPr>
        <p:spPr>
          <a:xfrm>
            <a:off x="4983480" y="3849624"/>
            <a:ext cx="6476695" cy="1188720"/>
          </a:xfrm>
          <a:prstGeom prst="rect">
            <a:avLst/>
          </a:prstGeom>
          <a:solidFill>
            <a:srgbClr val="FFFFFF"/>
          </a:solidFill>
          <a:ln w="12700">
            <a:solidFill>
              <a:srgbClr val="E2E8F0"/>
            </a:solidFill>
            <a:prstDash val="solid"/>
          </a:ln>
        </p:spPr>
      </p:sp>
      <p:sp>
        <p:nvSpPr>
          <p:cNvPr id="16" name="Shape 13"/>
          <p:cNvSpPr/>
          <p:nvPr/>
        </p:nvSpPr>
        <p:spPr>
          <a:xfrm>
            <a:off x="4983480" y="3849624"/>
            <a:ext cx="73152" cy="1188720"/>
          </a:xfrm>
          <a:prstGeom prst="rect">
            <a:avLst/>
          </a:prstGeom>
          <a:solidFill>
            <a:srgbClr val="D97706"/>
          </a:solidFill>
          <a:ln w="12700">
            <a:solidFill>
              <a:srgbClr val="333333"/>
            </a:solidFill>
            <a:prstDash val="solid"/>
          </a:ln>
        </p:spPr>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[UC-10]  Quyền xuất bản chính thức &amp; Khẩn cấp</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Org Manager giữ độc quyền Publish [UC-10]. Administrator chỉ xuất bản khẩn cấp với điều kiện nhập lý do và ghi nhận AuditLog an ninh.</a:t>
            </a:r>
            <a:endParaRPr lang="en-US" sz="1250" dirty="0"/>
          </a:p>
        </p:txBody>
      </p:sp>
      <p:sp>
        <p:nvSpPr>
          <p:cNvPr id="19" name="Shape 16"/>
          <p:cNvSpPr/>
          <p:nvPr/>
        </p:nvSpPr>
        <p:spPr>
          <a:xfrm>
            <a:off x="4983480" y="5202936"/>
            <a:ext cx="6476695" cy="1188720"/>
          </a:xfrm>
          <a:prstGeom prst="rect">
            <a:avLst/>
          </a:prstGeom>
          <a:solidFill>
            <a:srgbClr val="FFFFFF"/>
          </a:solidFill>
          <a:ln w="12700">
            <a:solidFill>
              <a:srgbClr val="E2E8F0"/>
            </a:solidFill>
            <a:prstDash val="solid"/>
          </a:ln>
        </p:spPr>
      </p:sp>
      <p:sp>
        <p:nvSpPr>
          <p:cNvPr id="20" name="Shape 17"/>
          <p:cNvSpPr/>
          <p:nvPr/>
        </p:nvSpPr>
        <p:spPr>
          <a:xfrm>
            <a:off x="4983480" y="5202936"/>
            <a:ext cx="73152" cy="1188720"/>
          </a:xfrm>
          <a:prstGeom prst="rect">
            <a:avLst/>
          </a:prstGeom>
          <a:solidFill>
            <a:srgbClr val="2563EB"/>
          </a:solidFill>
          <a:ln w="12700">
            <a:solidFill>
              <a:srgbClr val="333333"/>
            </a:solidFill>
            <a:prstDash val="solid"/>
          </a:ln>
        </p:spPr>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[SCOPE]  Phân định ranh giới phạm vi (Scope)</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UC-14 (Phiếu hỗ trợ) thuộc MVP điều phối. UC-15 (Quản lý nhóm học viên &amp; tiến độ lớp) được xếp loại Future Extension.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PHÂN HỆ HỌC VIÊN</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Ca Sử Dụng Chi Tiết — Phân Hệ Học Viên (Learner)</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04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14086" y="1143000"/>
            <a:ext cx="3658228" cy="5257800"/>
          </a:xfrm>
          <a:prstGeom prst="rect">
            <a:avLst/>
          </a:prstGeom>
        </p:spPr>
      </p:pic>
      <p:sp>
        <p:nvSpPr>
          <p:cNvPr id="7" name="Shape 4"/>
          <p:cNvSpPr/>
          <p:nvPr/>
        </p:nvSpPr>
        <p:spPr>
          <a:xfrm>
            <a:off x="4983480" y="1143000"/>
            <a:ext cx="6476695" cy="1188720"/>
          </a:xfrm>
          <a:prstGeom prst="rect">
            <a:avLst/>
          </a:prstGeom>
          <a:solidFill>
            <a:srgbClr val="FFFFFF"/>
          </a:solidFill>
          <a:ln w="12700">
            <a:solidFill>
              <a:srgbClr val="E2E8F0"/>
            </a:solidFill>
            <a:prstDash val="solid"/>
          </a:ln>
        </p:spPr>
      </p:sp>
      <p:sp>
        <p:nvSpPr>
          <p:cNvPr id="8" name="Shape 5"/>
          <p:cNvSpPr/>
          <p:nvPr/>
        </p:nvSpPr>
        <p:spPr>
          <a:xfrm>
            <a:off x="4983480" y="1143000"/>
            <a:ext cx="73152" cy="1188720"/>
          </a:xfrm>
          <a:prstGeom prst="rect">
            <a:avLst/>
          </a:prstGeom>
          <a:solidFill>
            <a:srgbClr val="2563EB"/>
          </a:solidFill>
          <a:ln w="12700">
            <a:solidFill>
              <a:srgbClr val="333333"/>
            </a:solidFill>
            <a:prstDash val="solid"/>
          </a:ln>
        </p:spPr>
      </p:sp>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[UC-03]  Đánh giá xếp lớp xác định trình độ khởi điểm</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Placement Test phân loại trình độ ban đầu (Starting CEFR Level), mở khóa Course và Starting Unit tương ứng; Skip vào mặc định UNVERIFIED.</a:t>
            </a:r>
            <a:endParaRPr lang="en-US" sz="1250" dirty="0"/>
          </a:p>
        </p:txBody>
      </p:sp>
      <p:sp>
        <p:nvSpPr>
          <p:cNvPr id="11" name="Shape 8"/>
          <p:cNvSpPr/>
          <p:nvPr/>
        </p:nvSpPr>
        <p:spPr>
          <a:xfrm>
            <a:off x="4983480" y="2496312"/>
            <a:ext cx="6476695" cy="1188720"/>
          </a:xfrm>
          <a:prstGeom prst="rect">
            <a:avLst/>
          </a:prstGeom>
          <a:solidFill>
            <a:srgbClr val="FFFFFF"/>
          </a:solidFill>
          <a:ln w="12700">
            <a:solidFill>
              <a:srgbClr val="E2E8F0"/>
            </a:solidFill>
            <a:prstDash val="solid"/>
          </a:ln>
        </p:spPr>
      </p:sp>
      <p:sp>
        <p:nvSpPr>
          <p:cNvPr id="12" name="Shape 9"/>
          <p:cNvSpPr/>
          <p:nvPr/>
        </p:nvSpPr>
        <p:spPr>
          <a:xfrm>
            <a:off x="4983480" y="2496312"/>
            <a:ext cx="73152" cy="1188720"/>
          </a:xfrm>
          <a:prstGeom prst="rect">
            <a:avLst/>
          </a:prstGeom>
          <a:solidFill>
            <a:srgbClr val="0D9488"/>
          </a:solidFill>
          <a:ln w="12700">
            <a:solidFill>
              <a:srgbClr val="333333"/>
            </a:solidFill>
            <a:prstDash val="solid"/>
          </a:ln>
        </p:spPr>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[UC-05]  Xem lý thuyết trước bài tập &amp; Controlled Retry</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Viewer lý thuyết bắt buộc trước bài tập. Cơ chế Retry có hạn mức max(1, floor(N*0.10)), điểm làm lại đúng công nhận tối đa 70% credit.</a:t>
            </a:r>
            <a:endParaRPr lang="en-US" sz="1250" dirty="0"/>
          </a:p>
        </p:txBody>
      </p:sp>
      <p:sp>
        <p:nvSpPr>
          <p:cNvPr id="15" name="Shape 12"/>
          <p:cNvSpPr/>
          <p:nvPr/>
        </p:nvSpPr>
        <p:spPr>
          <a:xfrm>
            <a:off x="4983480" y="3849624"/>
            <a:ext cx="6476695" cy="1188720"/>
          </a:xfrm>
          <a:prstGeom prst="rect">
            <a:avLst/>
          </a:prstGeom>
          <a:solidFill>
            <a:srgbClr val="FFFFFF"/>
          </a:solidFill>
          <a:ln w="12700">
            <a:solidFill>
              <a:srgbClr val="E2E8F0"/>
            </a:solidFill>
            <a:prstDash val="solid"/>
          </a:ln>
        </p:spPr>
      </p:sp>
      <p:sp>
        <p:nvSpPr>
          <p:cNvPr id="16" name="Shape 13"/>
          <p:cNvSpPr/>
          <p:nvPr/>
        </p:nvSpPr>
        <p:spPr>
          <a:xfrm>
            <a:off x="4983480" y="3849624"/>
            <a:ext cx="73152" cy="1188720"/>
          </a:xfrm>
          <a:prstGeom prst="rect">
            <a:avLst/>
          </a:prstGeom>
          <a:solidFill>
            <a:srgbClr val="D97706"/>
          </a:solidFill>
          <a:ln w="12700">
            <a:solidFill>
              <a:srgbClr val="333333"/>
            </a:solidFill>
            <a:prstDash val="solid"/>
          </a:ln>
        </p:spPr>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[UC-04]  Conditional Jump — Unit-Level Bypass</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Thử thách vượt Unit trong cùng Course khi đạt &gt;= 95%, gắn nhãn SKIPPED_BY_JUMP (by_jump = true); thi trượt phạt Cooldown 24h. Không đổi Level.</a:t>
            </a:r>
            <a:endParaRPr lang="en-US" sz="1250" dirty="0"/>
          </a:p>
        </p:txBody>
      </p:sp>
      <p:sp>
        <p:nvSpPr>
          <p:cNvPr id="19" name="Shape 16"/>
          <p:cNvSpPr/>
          <p:nvPr/>
        </p:nvSpPr>
        <p:spPr>
          <a:xfrm>
            <a:off x="4983480" y="5202936"/>
            <a:ext cx="6476695" cy="1188720"/>
          </a:xfrm>
          <a:prstGeom prst="rect">
            <a:avLst/>
          </a:prstGeom>
          <a:solidFill>
            <a:srgbClr val="FFFFFF"/>
          </a:solidFill>
          <a:ln w="12700">
            <a:solidFill>
              <a:srgbClr val="E2E8F0"/>
            </a:solidFill>
            <a:prstDash val="solid"/>
          </a:ln>
        </p:spPr>
      </p:sp>
      <p:sp>
        <p:nvSpPr>
          <p:cNvPr id="20" name="Shape 17"/>
          <p:cNvSpPr/>
          <p:nvPr/>
        </p:nvSpPr>
        <p:spPr>
          <a:xfrm>
            <a:off x="4983480" y="5202936"/>
            <a:ext cx="73152" cy="1188720"/>
          </a:xfrm>
          <a:prstGeom prst="rect">
            <a:avLst/>
          </a:prstGeom>
          <a:solidFill>
            <a:srgbClr val="2563EB"/>
          </a:solidFill>
          <a:ln w="12700">
            <a:solidFill>
              <a:srgbClr val="333333"/>
            </a:solidFill>
            <a:prstDash val="solid"/>
          </a:ln>
        </p:spPr>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[TARGET]  Level Advancement Test (Đánh giá chuyển cấp)</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Cơ chế độc lập với Jump: đánh giá chuyển cấp độ năng lực (A1 -&gt; A2, A2 -&gt; B1) sau khi hoàn thành lộ trình Course hiện tại [TARGET].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QUẢN TRỊ &amp; KIỂM DUYỆT</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Ca Sử Dụng Chi Tiết — Quản Trị &amp; Kiểm Duyệt</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05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887381" y="1143000"/>
            <a:ext cx="3711637" cy="5257800"/>
          </a:xfrm>
          <a:prstGeom prst="rect">
            <a:avLst/>
          </a:prstGeom>
        </p:spPr>
      </p:pic>
      <p:sp>
        <p:nvSpPr>
          <p:cNvPr id="7" name="Shape 4"/>
          <p:cNvSpPr/>
          <p:nvPr/>
        </p:nvSpPr>
        <p:spPr>
          <a:xfrm>
            <a:off x="4983480" y="1143000"/>
            <a:ext cx="6476695" cy="1188720"/>
          </a:xfrm>
          <a:prstGeom prst="rect">
            <a:avLst/>
          </a:prstGeom>
          <a:solidFill>
            <a:srgbClr val="FFFFFF"/>
          </a:solidFill>
          <a:ln w="12700">
            <a:solidFill>
              <a:srgbClr val="E2E8F0"/>
            </a:solidFill>
            <a:prstDash val="solid"/>
          </a:ln>
        </p:spPr>
      </p:sp>
      <p:sp>
        <p:nvSpPr>
          <p:cNvPr id="8" name="Shape 5"/>
          <p:cNvSpPr/>
          <p:nvPr/>
        </p:nvSpPr>
        <p:spPr>
          <a:xfrm>
            <a:off x="4983480" y="1143000"/>
            <a:ext cx="73152" cy="1188720"/>
          </a:xfrm>
          <a:prstGeom prst="rect">
            <a:avLst/>
          </a:prstGeom>
          <a:solidFill>
            <a:srgbClr val="2563EB"/>
          </a:solidFill>
          <a:ln w="12700">
            <a:solidFill>
              <a:srgbClr val="333333"/>
            </a:solidFill>
            <a:prstDash val="solid"/>
          </a:ln>
        </p:spPr>
      </p:sp>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[SoD]  Nguyên tắc phân tách nhiệm vụ (Segregation of Duties)</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Creator soạn bài [UC-08], Moderator thẩm định [UC-09], Org Manager xuất bản [UC-10]. Creator không có quyền tự phê duyệt nội dung của mình.</a:t>
            </a:r>
            <a:endParaRPr lang="en-US" sz="1250" dirty="0"/>
          </a:p>
        </p:txBody>
      </p:sp>
      <p:sp>
        <p:nvSpPr>
          <p:cNvPr id="11" name="Shape 8"/>
          <p:cNvSpPr/>
          <p:nvPr/>
        </p:nvSpPr>
        <p:spPr>
          <a:xfrm>
            <a:off x="4983480" y="2496312"/>
            <a:ext cx="6476695" cy="1188720"/>
          </a:xfrm>
          <a:prstGeom prst="rect">
            <a:avLst/>
          </a:prstGeom>
          <a:solidFill>
            <a:srgbClr val="FFFFFF"/>
          </a:solidFill>
          <a:ln w="12700">
            <a:solidFill>
              <a:srgbClr val="E2E8F0"/>
            </a:solidFill>
            <a:prstDash val="solid"/>
          </a:ln>
        </p:spPr>
      </p:sp>
      <p:sp>
        <p:nvSpPr>
          <p:cNvPr id="12" name="Shape 9"/>
          <p:cNvSpPr/>
          <p:nvPr/>
        </p:nvSpPr>
        <p:spPr>
          <a:xfrm>
            <a:off x="4983480" y="2496312"/>
            <a:ext cx="73152" cy="1188720"/>
          </a:xfrm>
          <a:prstGeom prst="rect">
            <a:avLst/>
          </a:prstGeom>
          <a:solidFill>
            <a:srgbClr val="0D9488"/>
          </a:solidFill>
          <a:ln w="12700">
            <a:solidFill>
              <a:srgbClr val="333333"/>
            </a:solidFill>
            <a:prstDash val="solid"/>
          </a:ln>
        </p:spPr>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[UC-09]  Quyết định thẩm định của Moderator</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Moderator chỉ chuyển trạng thái APPROVED hoặc CHANGES_REQUESTED kèm ghi chú góp ý chi tiết; không dùng trạng thái REJECTED và không có quyền xuất bản.</a:t>
            </a:r>
            <a:endParaRPr lang="en-US" sz="1250" dirty="0"/>
          </a:p>
        </p:txBody>
      </p:sp>
      <p:sp>
        <p:nvSpPr>
          <p:cNvPr id="15" name="Shape 12"/>
          <p:cNvSpPr/>
          <p:nvPr/>
        </p:nvSpPr>
        <p:spPr>
          <a:xfrm>
            <a:off x="4983480" y="3849624"/>
            <a:ext cx="6476695" cy="1188720"/>
          </a:xfrm>
          <a:prstGeom prst="rect">
            <a:avLst/>
          </a:prstGeom>
          <a:solidFill>
            <a:srgbClr val="FFFFFF"/>
          </a:solidFill>
          <a:ln w="12700">
            <a:solidFill>
              <a:srgbClr val="E2E8F0"/>
            </a:solidFill>
            <a:prstDash val="solid"/>
          </a:ln>
        </p:spPr>
      </p:sp>
      <p:sp>
        <p:nvSpPr>
          <p:cNvPr id="16" name="Shape 13"/>
          <p:cNvSpPr/>
          <p:nvPr/>
        </p:nvSpPr>
        <p:spPr>
          <a:xfrm>
            <a:off x="4983480" y="3849624"/>
            <a:ext cx="73152" cy="1188720"/>
          </a:xfrm>
          <a:prstGeom prst="rect">
            <a:avLst/>
          </a:prstGeom>
          <a:solidFill>
            <a:srgbClr val="D97706"/>
          </a:solidFill>
          <a:ln w="12700">
            <a:solidFill>
              <a:srgbClr val="333333"/>
            </a:solidFill>
            <a:prstDash val="solid"/>
          </a:ln>
        </p:spPr>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[UC-10]  Quyền xuất bản chính thức của Org Manager</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Org Manager là vai trò duy nhất có thẩm quyền ban hành bài học đạt trạng thái APPROVED thành PUBLISHED cho toàn bộ người học.</a:t>
            </a:r>
            <a:endParaRPr lang="en-US" sz="1250" dirty="0"/>
          </a:p>
        </p:txBody>
      </p:sp>
      <p:sp>
        <p:nvSpPr>
          <p:cNvPr id="19" name="Shape 16"/>
          <p:cNvSpPr/>
          <p:nvPr/>
        </p:nvSpPr>
        <p:spPr>
          <a:xfrm>
            <a:off x="4983480" y="5202936"/>
            <a:ext cx="6476695" cy="1188720"/>
          </a:xfrm>
          <a:prstGeom prst="rect">
            <a:avLst/>
          </a:prstGeom>
          <a:solidFill>
            <a:srgbClr val="FFFFFF"/>
          </a:solidFill>
          <a:ln w="12700">
            <a:solidFill>
              <a:srgbClr val="E2E8F0"/>
            </a:solidFill>
            <a:prstDash val="solid"/>
          </a:ln>
        </p:spPr>
      </p:sp>
      <p:sp>
        <p:nvSpPr>
          <p:cNvPr id="20" name="Shape 17"/>
          <p:cNvSpPr/>
          <p:nvPr/>
        </p:nvSpPr>
        <p:spPr>
          <a:xfrm>
            <a:off x="4983480" y="5202936"/>
            <a:ext cx="73152" cy="1188720"/>
          </a:xfrm>
          <a:prstGeom prst="rect">
            <a:avLst/>
          </a:prstGeom>
          <a:solidFill>
            <a:srgbClr val="2563EB"/>
          </a:solidFill>
          <a:ln w="12700">
            <a:solidFill>
              <a:srgbClr val="333333"/>
            </a:solidFill>
            <a:prstDash val="solid"/>
          </a:ln>
        </p:spPr>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[EMERGENCY]  Xuất bản khẩn cấp &amp; Nhật ký kiểm toán</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Admin chỉ được phép xuất bản khẩn cấp các bài học đã APPROVED; bắt buộc phải nhập lý do giải trình và hệ thống tự động ghi nhật ký AuditLog [UC-13].</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ĐÁNH GIÁ</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Đánh Giá Xếp Lớp &amp; Xác Định Trình Độ Khởi Điểm</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06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109986" y="1143000"/>
            <a:ext cx="6101067"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QUY CHẾ XẾP LỚP 30 CÂU</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Đề thi 30 câu chuẩn tắc</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Đề đánh giá bao phủ kiến thức tổng hợp nhằm phân loại trình độ khởi điểm của người học ban đầu.</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Xác định Starting Level &amp; Unit</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30 Questions -&gt; Raw Score (0–30) -&gt; Placement Mapping -&gt; Starting CEFR Level (A1..C2) -&gt; Starting Course &amp; Unit (Pilot A1: Mapping A gán Unit 1–6).</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Lưu kết quả &amp; Hồ sơ năng lực</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Tạo bản ghi AssessmentResult (Loại: PLACEMENT) bất biến, cập nhật SkillProfile (verified_cefr, verified_starting_unit) [TARGET].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ĐÁNH GIÁ</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Nhánh Bỏ Qua (Skip) &amp; Thi Lại (Retake)</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07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235579" y="1143000"/>
            <a:ext cx="9720537" cy="448056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Bỏ qua (Skip): Gán điểm vào Course A1, Unit 1 với trạng thái UNVERIFIED (chưa kiểm định); không tạo AssessmentResult hoặc SkillProfile.</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Thi lại (Retake): Kích hoạt từ Profile; lưu bản ghi AssessmentResult mới độc lập, bảo toàn lịch sử bài thi trước đó.</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HỌC BÀI</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Chu Trình Học Bài &amp; Cập Nhật Tiến Độ</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08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92818" y="1143000"/>
            <a:ext cx="6335405"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ĐIỀU KIỆN &amp; CHU TRÌNH HỌC</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Điều kiện mở Unit (4/4 Published)</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Học viên chỉ có thể mở học Unit khi Unit đó có đủ 4/4 bài học ở trạng thái PUBLISHED.</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Viewer bắt buộc trước bài tập</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Học viên bắt buộc xem nội dung lý thuyết qua Lesson Content Viewer trước khi trả lời bài tập.</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Cập nhật tiến độ &amp; Streak [UC-07]</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Hoàn thành bài ghi nhận UserProgress, tăng chuỗi Streak [UC-07] và kích hoạt thẻ ôn tập SRS (1, 3, 7, 14, 30 ngày).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HỌC BÀI</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Làm Lại Có Kiểm Soát (Controlled Retry)</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09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51262" y="1143000"/>
            <a:ext cx="6418517"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QUY CHẾ RETRY CÓ HẠN MỨC</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Xem giải thích (Show Explanation)</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Khi trả lời sai, hệ thống hiển thị giải thích chi tiết đáp án để củng cố kiến thức trước khi retry.</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Hạn mức làm lại có kiểm soát</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Số lượt retry tối đa tính theo công thức: max(1, floor(N * 0.10)). Hết lượt sẽ báo 'No quota' và nhận 0 điểm.</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Khống chế trần điểm (&lt;= 70% credit)</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Làm lại đúng chỉ được công nhận tối đa 70% số điểm chuẩn của câu hỏi, đảm bảo tính công bằng đánh giá.</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BỎ QUA ĐƠN VỊ</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Conditional Jump: Kiểm Tra Cooldown 24h &amp; Thi Vượt Unit</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10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731520" y="1966348"/>
            <a:ext cx="6858000" cy="3611103"/>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2563EB"/>
                </a:solidFill>
                <a:latin typeface="Calibri" pitchFamily="34" charset="0"/>
                <a:ea typeface="Calibri" pitchFamily="34" charset="-122"/>
                <a:cs typeface="Calibri" pitchFamily="34" charset="-120"/>
              </a:rPr>
              <a:t>ĐIỀU KIỆN THỬ THÁCH JUMP</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Bỏ qua Unit (Unit-Level Bypass)</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Conditional Jump chỉ cho phép bỏ qua Unit trong cùng Course; hoàn toàn không làm thay đổi hay thăng hạng CEFR Level.</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Kiểm tra Cooldown 24 giờ</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Chặn làm bài nếu học viên từng thi trượt Jump trong vòng 24 giờ qua; hệ thống hiển thị đồng hồ đếm ngược.</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Quy mô đề Jump theo khoảng cách</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Nhảy 1 Unit: 20 câu; nhảy 2–3 Units: 25–30 câu; nhảy trên 3 Units: 40 câu hỏi kiểm tra kiến thức tương ứng.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BỎ QUA ĐƠN VỊ</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Conditional Jump: Xử Lý Kết Quả Vượt Unit</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11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658620" y="1143000"/>
            <a:ext cx="8874455" cy="448056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Đỗ (Đạt &gt;= 95%): Gán nhãn SKIPPED_BY_JUMP (by_jump = true) cho Unit/Lesson vượt qua; mở khóa Unit mục tiêu trong cùng Course. CEFR Level giữ nguyên.</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Trượt (Dưới 95%): Kích hoạt Cooldown khóa 24 giờ; giữ nguyên vị trí học tập hiện tại và tiếp tục học tuyến tính. CEFR Level giữ nguyên.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NỘI DUNG</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Thẩm Định &amp; Xuất Bản Học Liệu</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12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731520" y="1158805"/>
            <a:ext cx="10728655" cy="4448951"/>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Phê duyệt độc lập: Moderator thẩm định và chuyển APPROVED hoặc CHANGES_REQUESTED kèm góp ý chi tiết; không dùng trạng thái REJECTED.</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Quyền xuất bản chính thức: Org Manager là tác nhân duy nhất có thẩm quyền Publish bài học đạt trạng thái APPROVED ra toàn hệ thống.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QUY TRÌNH NỘI DUNG</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Hoạt Động — Clone-to-Draft v2 &amp; Xuất Bản Khẩn Cấp</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13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2271159" y="1143000"/>
            <a:ext cx="7649377" cy="448056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Cơ chế Clone-to-Draft v2: Sửa bài PUBLISHED tạo bản nháp v2; bản v1 vẫn phục vụ học viên; bắt buộc Archive v1 ngay khi v2 được Publish.</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Xuất bản khẩn cấp (Emergency): Administrator chỉ xuất bản cho bài đã APPROVED; bắt buộc giải trình lý do và ghi nhận AuditLog an ninh.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MÔ HÌNH CẤU TRÚC</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Lớp — Cấu Trúc Khóa Học, Trình Độ CEFR &amp; Nội Dung</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14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78051" y="1143000"/>
            <a:ext cx="10035594" cy="4389120"/>
          </a:xfrm>
          <a:prstGeom prst="rect">
            <a:avLst/>
          </a:prstGeom>
        </p:spPr>
      </p:pic>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sp>
      <p:sp>
        <p:nvSpPr>
          <p:cNvPr id="8" name="Text 5"/>
          <p:cNvSpPr/>
          <p:nvPr/>
        </p:nvSpPr>
        <p:spPr>
          <a:xfrm>
            <a:off x="960120" y="5669280"/>
            <a:ext cx="10241280" cy="68580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CHÚ GIẢI KÝ HIỆU &amp; RÀNG BUỘC CẤU TRÚC:  </a:t>
            </a:r>
            <a:pPr indent="0" marL="0">
              <a:buNone/>
            </a:pPr>
            <a:r>
              <a:rPr lang="en-US" sz="1200" b="1" dirty="0">
                <a:solidFill>
                  <a:srgbClr val="0F172A"/>
                </a:solidFill>
                <a:latin typeface="Calibri" pitchFamily="34" charset="0"/>
                <a:ea typeface="Calibri" pitchFamily="34" charset="-122"/>
                <a:cs typeface="Calibri" pitchFamily="34" charset="-120"/>
              </a:rPr>
              <a:t>CURRENT = Nét liền (schema.prisma hiện hành)   ·   &lt;&lt;TARGET&gt;&gt; = Nét đứt (mục tiêu Phase 2)
</a:t>
            </a:r>
            <a:pPr indent="0" marL="0">
              <a:buNone/>
            </a:pPr>
            <a:r>
              <a:rPr lang="en-US" sz="1200" dirty="0">
                <a:solidFill>
                  <a:srgbClr val="334155"/>
                </a:solidFill>
                <a:latin typeface="Calibri" pitchFamily="34" charset="0"/>
                <a:ea typeface="Calibri" pitchFamily="34" charset="-122"/>
                <a:cs typeface="Calibri" pitchFamily="34" charset="-120"/>
              </a:rPr>
              <a:t>• Course.cefr gắn liền enum Cefr (A1..C2); mỗi Course chứa 1..N Units độc lập. Pilot English A1 hiện có 6 Units (không áp đặt cho các Level khác).</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Vòng đời 6 trạng thái trong LessonRevision [TARGET]; Unit hiển thị khi đủ 4/4 Lesson Published.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MÔ HÌNH HỌC VIÊN</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Sơ Đồ Lớp — Học Viên, Năng Lực Kiểm Chứng &amp; Tiến Độ</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15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2872256" y="1143000"/>
            <a:ext cx="6447184" cy="4389120"/>
          </a:xfrm>
          <a:prstGeom prst="rect">
            <a:avLst/>
          </a:prstGeom>
        </p:spPr>
      </p:pic>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sp>
      <p:sp>
        <p:nvSpPr>
          <p:cNvPr id="8" name="Text 5"/>
          <p:cNvSpPr/>
          <p:nvPr/>
        </p:nvSpPr>
        <p:spPr>
          <a:xfrm>
            <a:off x="960120" y="5669280"/>
            <a:ext cx="10241280" cy="68580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CHÚ GIẢI KÝ HIỆU &amp; RÀNG BUỘC ĐÁNH GIÁ:  </a:t>
            </a:r>
            <a:pPr indent="0" marL="0">
              <a:buNone/>
            </a:pPr>
            <a:r>
              <a:rPr lang="en-US" sz="1200" b="1" dirty="0">
                <a:solidFill>
                  <a:srgbClr val="0F172A"/>
                </a:solidFill>
                <a:latin typeface="Calibri" pitchFamily="34" charset="0"/>
                <a:ea typeface="Calibri" pitchFamily="34" charset="-122"/>
                <a:cs typeface="Calibri" pitchFamily="34" charset="-120"/>
              </a:rPr>
              <a:t>CURRENT = Nét liền (schema.prisma hiện hành)   ·   &lt;&lt;TARGET&gt;&gt; = Nét đứt (mục tiêu Phase 2)
</a:t>
            </a:r>
            <a:pPr indent="0" marL="0">
              <a:buNone/>
            </a:pPr>
            <a:r>
              <a:rPr lang="en-US" sz="1200" dirty="0">
                <a:solidFill>
                  <a:srgbClr val="334155"/>
                </a:solidFill>
                <a:latin typeface="Calibri" pitchFamily="34" charset="0"/>
                <a:ea typeface="Calibri" pitchFamily="34" charset="-122"/>
                <a:cs typeface="Calibri" pitchFamily="34" charset="-120"/>
              </a:rPr>
              <a:t>• Tiến độ tách rời Năng lực: UserProgress (tiến độ bài học) tách riêng khỏi SkillProfile (năng lực verified_cefr qua AssessmentResult [TARGET]).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3 loại hình đánh giá: PLACEMENT (xếp lớp), JUMP (vượt Unit cùng Course), LEVEL_ADVANCEMENT (chuyển CEFR Level [TARGET/PROPOSED]).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292608"/>
            <a:ext cx="8229600" cy="201168"/>
          </a:xfrm>
          <a:prstGeom prst="rect">
            <a:avLst/>
          </a:prstGeom>
          <a:noFill/>
          <a:ln/>
        </p:spPr>
        <p:txBody>
          <a:bodyPr wrap="square" lIns="0" tIns="0" rIns="0" bIns="0" rtlCol="0" anchor="ctr"/>
          <a:lstStyle/>
          <a:p>
            <a:pPr indent="0" marL="0">
              <a:buNone/>
            </a:pPr>
            <a:r>
              <a:rPr lang="en-US" sz="1100" b="1" spc="150" kern="0" dirty="0">
                <a:solidFill>
                  <a:srgbClr val="2563EB"/>
                </a:solidFill>
                <a:latin typeface="Calibri" pitchFamily="34" charset="0"/>
                <a:ea typeface="Calibri" pitchFamily="34" charset="-122"/>
                <a:cs typeface="Calibri" pitchFamily="34" charset="-120"/>
              </a:rPr>
              <a:t>TRUY VẾT YÊU CẦU</a:t>
            </a:r>
            <a:endParaRPr lang="en-US" sz="1100" dirty="0"/>
          </a:p>
        </p:txBody>
      </p:sp>
      <p:sp>
        <p:nvSpPr>
          <p:cNvPr id="3" name="Text 1"/>
          <p:cNvSpPr/>
          <p:nvPr/>
        </p:nvSpPr>
        <p:spPr>
          <a:xfrm>
            <a:off x="731520" y="512064"/>
            <a:ext cx="9601200" cy="502920"/>
          </a:xfrm>
          <a:prstGeom prst="rect">
            <a:avLst/>
          </a:prstGeom>
          <a:noFill/>
          <a:ln/>
        </p:spPr>
        <p:txBody>
          <a:bodyPr wrap="square" lIns="0" tIns="0" rIns="0" bIns="0" rtlCol="0" anchor="ctr"/>
          <a:lstStyle/>
          <a:p>
            <a:pPr indent="0" marL="0">
              <a:buNone/>
            </a:pPr>
            <a:r>
              <a:rPr lang="en-US" sz="2400" b="1" dirty="0">
                <a:solidFill>
                  <a:srgbClr val="0F172A"/>
                </a:solidFill>
                <a:latin typeface="Calibri" pitchFamily="34" charset="0"/>
                <a:ea typeface="Calibri" pitchFamily="34" charset="-122"/>
                <a:cs typeface="Calibri" pitchFamily="34" charset="-120"/>
              </a:rPr>
              <a:t>Ma Trận Truy Vết Nghiệp Vụ Toàn Diện (Traceability Matrix)</a:t>
            </a:r>
            <a:endParaRPr lang="en-US" sz="2400" dirty="0"/>
          </a:p>
        </p:txBody>
      </p:sp>
      <p:sp>
        <p:nvSpPr>
          <p:cNvPr id="4" name="Text 2"/>
          <p:cNvSpPr/>
          <p:nvPr/>
        </p:nvSpPr>
        <p:spPr>
          <a:xfrm>
            <a:off x="10332720" y="32004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16 / 17</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143000"/>
          <a:ext cx="10728655" cy="914400"/>
        </p:xfrm>
        <a:graphic>
          <a:graphicData uri="http://schemas.openxmlformats.org/drawingml/2006/table">
            <a:tbl>
              <a:tblPr/>
              <a:tblGrid>
                <a:gridCol w="868680"/>
                <a:gridCol w="3200400"/>
                <a:gridCol w="2103120"/>
                <a:gridCol w="2377440"/>
                <a:gridCol w="2179015"/>
              </a:tblGrid>
              <a:tr h="30175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UC ID</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Tên Ca Sử Dụng Chuẩn Tắc</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Sơ Đồ Hoạt Động (Slide Mới)</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Lớp Dữ Liệu</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Phạm Vi Triển Khai</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UC-01</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Authenticate &amp; Manage Session</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 Role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UC-02</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Configure Goals &amp; Study Time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UC-03</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Take Placement Test &amp; Determine Starting Level</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6, 7 (Placement)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AssessmentResult, SkillProfile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UC-04</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Browse Learning Path &amp; Conditional Jump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10, 11 (Jump)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Course, Unit, Lesson, UserProgress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UC-05</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Complete Lesson Exercises &amp; Controlled Retry</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8, 9 (Learning &amp; Retry)</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Lesson, Exercise, UserProgress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UC-06</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Spaced Repetition Review (SRS)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Vocabulary, UserVocabSrs, ReviewLog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UC-07</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Track Progress, Mastery &amp; Streak</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8 (Streak Update)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 UserProgress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UC-08</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Create &amp; Edit Lesson Draft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12, 13 (Governance)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Lesson, LessonRevision, Exercise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UC-09</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Review &amp; Moderate Content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12 (Moderator Review)</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LessonRevision,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UC-10</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Publish Approved Content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12, 13 (Publication)</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Unit, Lesson, LessonRevision,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UC-11</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 Accounts &amp; Roles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 Role,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UC-12</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View System Reports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UserProgress,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UC-13</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View &amp; Audit Security Logs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UC-14</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Handle Support Tickets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0369A1"/>
                          </a:solidFill>
                          <a:latin typeface="Calibri" pitchFamily="34" charset="0"/>
                          <a:ea typeface="Calibri" pitchFamily="34" charset="-122"/>
                          <a:cs typeface="Calibri" pitchFamily="34" charset="-120"/>
                        </a:rPr>
                        <a:t>MVP (Điều phối hỗ trợ)</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r>
              <a:tr h="301752">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UC-15</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 Cohorts &amp; Group 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475569"/>
                          </a:solidFill>
                          <a:latin typeface="Calibri" pitchFamily="34" charset="0"/>
                          <a:ea typeface="Calibri" pitchFamily="34" charset="-122"/>
                          <a:cs typeface="Calibri" pitchFamily="34" charset="-120"/>
                        </a:rPr>
                        <a:t>FUTURE EXTENSION</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Text 3"/>
          <p:cNvSpPr/>
          <p:nvPr/>
        </p:nvSpPr>
        <p:spPr>
          <a:xfrm>
            <a:off x="731520" y="6217920"/>
            <a:ext cx="10728655" cy="2286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Ghi chú: Cột Sơ đồ hoạt động dẫn chiếu chính xác số slide sau khi tách biểu đồ; các Use Case còn lại đánh dấu '—'. Level Advancement Test là cơ chế chuyển cấp thuộc [TARGET/PROPOSED].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329"/>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2563EB"/>
          </a:solidFill>
          <a:ln w="12700">
            <a:solidFill>
              <a:srgbClr val="333333"/>
            </a:solidFill>
            <a:prstDash val="solid"/>
          </a:ln>
        </p:spPr>
      </p:sp>
      <p:sp>
        <p:nvSpPr>
          <p:cNvPr id="3" name="Shape 1"/>
          <p:cNvSpPr/>
          <p:nvPr/>
        </p:nvSpPr>
        <p:spPr>
          <a:xfrm>
            <a:off x="274320" y="0"/>
            <a:ext cx="73152" cy="6858000"/>
          </a:xfrm>
          <a:prstGeom prst="rect">
            <a:avLst/>
          </a:prstGeom>
          <a:solidFill>
            <a:srgbClr val="D97706"/>
          </a:solidFill>
          <a:ln w="12700">
            <a:solidFill>
              <a:srgbClr val="333333"/>
            </a:solidFill>
            <a:prstDash val="solid"/>
          </a:ln>
        </p:spPr>
      </p:sp>
      <p:sp>
        <p:nvSpPr>
          <p:cNvPr id="4" name="Text 2"/>
          <p:cNvSpPr/>
          <p:nvPr/>
        </p:nvSpPr>
        <p:spPr>
          <a:xfrm>
            <a:off x="1097280" y="1097280"/>
            <a:ext cx="7315200" cy="274320"/>
          </a:xfrm>
          <a:prstGeom prst="rect">
            <a:avLst/>
          </a:prstGeom>
          <a:noFill/>
          <a:ln/>
        </p:spPr>
        <p:txBody>
          <a:bodyPr wrap="square" lIns="0" tIns="0" rIns="0" bIns="0" rtlCol="0" anchor="ctr"/>
          <a:lstStyle/>
          <a:p>
            <a:pPr indent="0" marL="0">
              <a:buNone/>
            </a:pPr>
            <a:r>
              <a:rPr lang="en-US" sz="1300" b="1" spc="150" kern="0" dirty="0">
                <a:solidFill>
                  <a:srgbClr val="2563EB"/>
                </a:solidFill>
                <a:latin typeface="Calibri" pitchFamily="34" charset="0"/>
                <a:ea typeface="Calibri" pitchFamily="34" charset="-122"/>
                <a:cs typeface="Calibri" pitchFamily="34" charset="-120"/>
              </a:rPr>
              <a:t>TỔNG KẾT MÔ HÌNH HÓA</a:t>
            </a:r>
            <a:endParaRPr lang="en-US" sz="1300" dirty="0"/>
          </a:p>
        </p:txBody>
      </p:sp>
      <p:sp>
        <p:nvSpPr>
          <p:cNvPr id="5" name="Text 3"/>
          <p:cNvSpPr/>
          <p:nvPr/>
        </p:nvSpPr>
        <p:spPr>
          <a:xfrm>
            <a:off x="1097280" y="1463040"/>
            <a:ext cx="96012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Tổng Kết Kiến Trúc &amp; Giá Trị Triển Khai</a:t>
            </a:r>
            <a:endParaRPr lang="en-US" sz="3400" dirty="0"/>
          </a:p>
        </p:txBody>
      </p:sp>
      <p:sp>
        <p:nvSpPr>
          <p:cNvPr id="6" name="Shape 4"/>
          <p:cNvSpPr/>
          <p:nvPr/>
        </p:nvSpPr>
        <p:spPr>
          <a:xfrm>
            <a:off x="1097280" y="2468880"/>
            <a:ext cx="3291840" cy="2926080"/>
          </a:xfrm>
          <a:prstGeom prst="rect">
            <a:avLst/>
          </a:prstGeom>
          <a:solidFill>
            <a:srgbClr val="111827"/>
          </a:solidFill>
          <a:ln w="12700">
            <a:solidFill>
              <a:srgbClr val="1E293B"/>
            </a:solidFill>
            <a:prstDash val="solid"/>
          </a:ln>
        </p:spPr>
      </p:sp>
      <p:sp>
        <p:nvSpPr>
          <p:cNvPr id="7" name="Text 5"/>
          <p:cNvSpPr/>
          <p:nvPr/>
        </p:nvSpPr>
        <p:spPr>
          <a:xfrm>
            <a:off x="137160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137160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Tính Toàn Vẹn &amp; Kỷ Luật</a:t>
            </a:r>
            <a:endParaRPr lang="en-US" sz="1500" dirty="0"/>
          </a:p>
        </p:txBody>
      </p:sp>
      <p:sp>
        <p:nvSpPr>
          <p:cNvPr id="9" name="Text 7"/>
          <p:cNvSpPr/>
          <p:nvPr/>
        </p:nvSpPr>
        <p:spPr>
          <a:xfrm>
            <a:off x="137160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Phân định rõ ràng: CEFR Level (A1..C2), Course, Unit nội dung và UserProgress. Toàn bộ 15 Use Case ánh xạ mạch lạc, không mâu thuẫn chính sách.</a:t>
            </a:r>
            <a:endParaRPr lang="en-US" sz="1250" dirty="0"/>
          </a:p>
        </p:txBody>
      </p:sp>
      <p:sp>
        <p:nvSpPr>
          <p:cNvPr id="10" name="Shape 8"/>
          <p:cNvSpPr/>
          <p:nvPr/>
        </p:nvSpPr>
        <p:spPr>
          <a:xfrm>
            <a:off x="4800600" y="2468880"/>
            <a:ext cx="3291840" cy="2926080"/>
          </a:xfrm>
          <a:prstGeom prst="rect">
            <a:avLst/>
          </a:prstGeom>
          <a:solidFill>
            <a:srgbClr val="111827"/>
          </a:solidFill>
          <a:ln w="12700">
            <a:solidFill>
              <a:srgbClr val="1E293B"/>
            </a:solidFill>
            <a:prstDash val="solid"/>
          </a:ln>
        </p:spPr>
      </p:sp>
      <p:sp>
        <p:nvSpPr>
          <p:cNvPr id="11" name="Text 9"/>
          <p:cNvSpPr/>
          <p:nvPr/>
        </p:nvSpPr>
        <p:spPr>
          <a:xfrm>
            <a:off x="507492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507492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Đánh Giá &amp; Học Tập Khoa Học</a:t>
            </a:r>
            <a:endParaRPr lang="en-US" sz="1500" dirty="0"/>
          </a:p>
        </p:txBody>
      </p:sp>
      <p:sp>
        <p:nvSpPr>
          <p:cNvPr id="13" name="Text 11"/>
          <p:cNvSpPr/>
          <p:nvPr/>
        </p:nvSpPr>
        <p:spPr>
          <a:xfrm>
            <a:off x="507492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Placement xếp lớp chuẩn tắc, Conditional Jump bỏ qua Unit trong cùng Course (ngưỡng &gt;=95%, Cooldown 24h), và Level Advancement thẩm định chuyển Level [TARGET].</a:t>
            </a:r>
            <a:endParaRPr lang="en-US" sz="1250" dirty="0"/>
          </a:p>
        </p:txBody>
      </p:sp>
      <p:sp>
        <p:nvSpPr>
          <p:cNvPr id="14" name="Shape 12"/>
          <p:cNvSpPr/>
          <p:nvPr/>
        </p:nvSpPr>
        <p:spPr>
          <a:xfrm>
            <a:off x="8503920" y="2468880"/>
            <a:ext cx="3291840" cy="2926080"/>
          </a:xfrm>
          <a:prstGeom prst="rect">
            <a:avLst/>
          </a:prstGeom>
          <a:solidFill>
            <a:srgbClr val="111827"/>
          </a:solidFill>
          <a:ln w="12700">
            <a:solidFill>
              <a:srgbClr val="1E293B"/>
            </a:solidFill>
            <a:prstDash val="solid"/>
          </a:ln>
        </p:spPr>
      </p:sp>
      <p:sp>
        <p:nvSpPr>
          <p:cNvPr id="15" name="Text 13"/>
          <p:cNvSpPr/>
          <p:nvPr/>
        </p:nvSpPr>
        <p:spPr>
          <a:xfrm>
            <a:off x="877824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03</a:t>
            </a:r>
            <a:endParaRPr lang="en-US" sz="2000" dirty="0"/>
          </a:p>
        </p:txBody>
      </p:sp>
      <p:sp>
        <p:nvSpPr>
          <p:cNvPr id="16" name="Text 14"/>
          <p:cNvSpPr/>
          <p:nvPr/>
        </p:nvSpPr>
        <p:spPr>
          <a:xfrm>
            <a:off x="877824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Quản Trị Nghiêm Ngặt (SoD)</a:t>
            </a:r>
            <a:endParaRPr lang="en-US" sz="1500" dirty="0"/>
          </a:p>
        </p:txBody>
      </p:sp>
      <p:sp>
        <p:nvSpPr>
          <p:cNvPr id="17" name="Text 15"/>
          <p:cNvSpPr/>
          <p:nvPr/>
        </p:nvSpPr>
        <p:spPr>
          <a:xfrm>
            <a:off x="877824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Phân tách Creator - Moderator - Org Manager, cơ chế Clone-to-Draft v2 bảo toàn phiên bản phát hành và AuditLog kiểm toán bất biến.</a:t>
            </a:r>
            <a:endParaRPr lang="en-US" sz="1250" dirty="0"/>
          </a:p>
        </p:txBody>
      </p:sp>
      <p:sp>
        <p:nvSpPr>
          <p:cNvPr id="18" name="Text 16"/>
          <p:cNvSpPr/>
          <p:nvPr/>
        </p:nvSpPr>
        <p:spPr>
          <a:xfrm>
            <a:off x="1097280" y="5852160"/>
            <a:ext cx="9144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Lingora Platform Architecture  ·  Phase 1 Baseline Complete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Lingora — Phân Tích &amp; Mô Hình Hóa Hệ Thống (vNext)</dc:title>
  <dc:subject>PptxGenJS Presentation</dc:subject>
  <dc:creator>Lingora Engineering Architecture</dc:creator>
  <cp:lastModifiedBy>Lingora Engineering Architecture</cp:lastModifiedBy>
  <cp:revision>1</cp:revision>
  <dcterms:created xsi:type="dcterms:W3CDTF">2026-10-05T01:09:39Z</dcterms:created>
  <dcterms:modified xsi:type="dcterms:W3CDTF">2026-10-05T01:09:39Z</dcterms:modified>
</cp:coreProperties>
</file>