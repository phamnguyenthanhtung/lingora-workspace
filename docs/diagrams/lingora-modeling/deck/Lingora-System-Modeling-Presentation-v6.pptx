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Báo cáo trình bày phân tích và mô hình hóa hệ thống học ngoại ngữ trực tuyến Lingora. Nội dung bao gồm biểu đồ ca sử dụng, biểu đồ hoạt động, biểu đồ lớp và ma trận truy vết yêu cầu. Mô hình bám sát tài liệu đặc tả hành vi M2.2 và quy tắc nghiệp vụ đã phê duyệt.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Kiến trúc nghiệp vụ chia làm ba phân hệ rõ ràng: Learning, Content và Administration. Sáu vai trò vận hành theo nguyên tắc phân tách nhiệm vụ. UC-14 thuộc phạm vi MVP điều phối hỗ trợ, còn UC-15 quản lý nhóm thuộc phạm vi mở rộng tương lai.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ca sử dụng tổng quan thể hiện cấu trúc phân hệ của Lingora. Sáu tác nhân kế thừa từ Authenticated User nhằm chuẩn hóa cơ chế đăng nhập. Hệ thống phân tách ranh giới rõ ràng giữa chức năng người học và phân hệ quản trị.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hệ học viên chuẩn hóa chu trình học tập khép kín. Người học bắt buộc xem nội dung bài học qua Lesson Content Viewer trước khi trả lời bài tập. Các cơ chế làm lại có kiểm soát và nhảy cấp được mô hình hóa qua quan hệ mở rộng.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hệ quản trị nội dung thực thi nghiêm ngặt nguyên tắc phân tách nhiệm vụ. Người soạn bài không có quyền tự phê duyệt hay xuất bản nội dung của mình. Administrator chỉ xuất bản khẩn cấp đối với bài đã qua phê duyệt và phải lưu vết kiểm toán.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đánh giá chẩn đoán đầu vào gồm 30 câu hỏi theo ma trận kiến thức phân tầng. Điểm số thô được ánh xạ qua Mapping A để xác định đơn vị học xuất phát. Trường hợp bỏ qua không tạo dữ liệu năng lực giả định, và thi lại sẽ lưu vết độc lập.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 trình học bài yêu cầu bài học thuộc Unit có đủ 4 trên 4 bài đã phát hành. Học viên tiếp thu kiến thức qua Viewer trước khi thực hiện bộ câu hỏi tương tác. Cơ chế làm lại giới hạn số lượt thử, hỗ trợ xem giải thích và khống chế trần điểm công nhận.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Thử thách nhảy cấp cho phép người học bỏ qua nội dung đã nắm vững. Quy mô bài thi tương ứng với số lượng bài học cần vượt qua và có ngưỡng đạt 95%. Nội dung bỏ qua được đánh dấu xuất xứ rõ ràng và lần thi không đạt sẽ kích hoạt thời gian chờ.</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quản trị học liệu kết hợp thẩm định sư phạm và lưu vết lịch sử. Moderator chỉ chuyển trạng thái duyệt hoặc yêu cầu chỉnh sửa mà không xuất bản bài học. Cơ chế nhân bản bản nháp giúp bảo toàn phiên bản đang phát hành cho người học.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lớp nội dung phân tách giữa bảng dữ liệu hiện tại và mô hình quản lý phiên bản mục tiêu. Thực thể LessonRevision hỗ trợ theo dõi vòng đời hoàn chỉnh của bài học. Quan hệ giữa bài học và bài tập bảo đảm tính toàn vẹn tham chiếu của chương trình học.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lớp phân hệ học viên thể hiện nguyên tắc tách biệt giữa tiến độ học và hồ sơ năng lực. Dữ liệu ôn tập từ vựng ngắt quãng được quản lý theo chu kỳ ngày cố định của Policy B. Các thông tin trạng thái về làm lại bài và thời gian chờ nhảy cấp gắn liền với tiến trình học tập.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 trận truy vết bảo đảm tính liên kết giữa các ca sử dụng với biểu đồ hoạt động và cấu trúc dữ liệu. Các ca sử dụng có biểu đồ hoạt động trong bài trình bày được dẫn chiếu trực tiếp đến số slide tương ứng. Phân định rõ ràng phạm vi triển khai cốt lõi MVP và các thành phần mở rộng trong tương lai.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515600" cy="3657600"/>
          </a:xfrm>
          <a:prstGeom prst="rect">
            <a:avLst/>
          </a:prstGeom>
          <a:noFill/>
        </p:spPr>
        <p:txBody>
          <a:bodyPr wrap="square" lIns="0" tIns="0" rIns="0" bIns="0">
            <a:spAutoFit/>
          </a:bodyPr>
          <a:lstStyle/>
          <a:p>
            <a:pPr>
              <a:spcAft>
                <a:spcPts val="1000"/>
              </a:spcAft>
              <a:defRPr sz="1500" b="1">
                <a:solidFill>
                  <a:srgbClr val="2563EB"/>
                </a:solidFill>
                <a:latin typeface="Calibri"/>
              </a:defRPr>
            </a:pPr>
            <a:r>
              <a:t>LINGORA PLATFORM</a:t>
            </a:r>
          </a:p>
          <a:p>
            <a:pPr>
              <a:spcAft>
                <a:spcPts val="1600"/>
              </a:spcAft>
              <a:defRPr sz="3200" b="1">
                <a:solidFill>
                  <a:srgbClr val="0F172A"/>
                </a:solidFill>
                <a:latin typeface="Calibri"/>
              </a:defRPr>
            </a:pPr>
            <a:r>
              <a:t>Phân Tích &amp; Mô Hình Hóa Hệ Thống</a:t>
            </a:r>
            <a:br/>
            <a:r>
              <a:t>Nền Tảng Học Ngoại Ngữ Trực Tuyến</a:t>
            </a:r>
          </a:p>
          <a:p>
            <a:pPr>
              <a:spcAft>
                <a:spcPts val="2800"/>
              </a:spcAft>
              <a:defRPr sz="1600">
                <a:solidFill>
                  <a:srgbClr val="334155"/>
                </a:solidFill>
                <a:latin typeface="Calibri"/>
              </a:defRPr>
            </a:pPr>
            <a:r>
              <a:t>Use Case · Activity Diagram · Class Diagram · Traceability</a:t>
            </a:r>
          </a:p>
          <a:p>
            <a:pPr>
              <a:defRPr sz="1300">
                <a:solidFill>
                  <a:srgbClr val="94A3B8"/>
                </a:solidFill>
                <a:latin typeface="Calibri"/>
              </a:defRPr>
            </a:pPr>
            <a:r>
              <a:t>Báo cáo Chuyên đề Kỹ thuật Phần mềm — Nhóm Dự án Lingora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1094415" cy="868680"/>
          </a:xfrm>
          <a:prstGeom prst="rect">
            <a:avLst/>
          </a:prstGeom>
          <a:noFill/>
        </p:spPr>
        <p:txBody>
          <a:bodyPr wrap="square" lIns="0" tIns="0" rIns="0" bIns="0">
            <a:spAutoFit/>
          </a:bodyPr>
          <a:lstStyle/>
          <a:p>
            <a:pPr>
              <a:spcAft>
                <a:spcPts val="200"/>
              </a:spcAft>
              <a:defRPr sz="1200" b="1">
                <a:solidFill>
                  <a:srgbClr val="2563EB"/>
                </a:solidFill>
                <a:latin typeface="Calibri"/>
              </a:defRPr>
            </a:pPr>
            <a:r>
              <a:t>OVERVIEW</a:t>
            </a:r>
          </a:p>
          <a:p>
            <a:pPr>
              <a:defRPr sz="2800" b="1">
                <a:solidFill>
                  <a:srgbClr val="0F172A"/>
                </a:solidFill>
                <a:latin typeface="Calibri"/>
              </a:defRPr>
            </a:pPr>
            <a:r>
              <a:t>Tổng Quan Kiến Trúc Nghiệp Vụ &amp; Ranh Giới Vai Trò</a:t>
            </a:r>
          </a:p>
        </p:txBody>
      </p:sp>
      <p:sp>
        <p:nvSpPr>
          <p:cNvPr id="4" name="TextBox 3"/>
          <p:cNvSpPr txBox="1"/>
          <p:nvPr/>
        </p:nvSpPr>
        <p:spPr>
          <a:xfrm>
            <a:off x="10515600" y="6446520"/>
            <a:ext cx="1127455" cy="320040"/>
          </a:xfrm>
          <a:prstGeom prst="rect">
            <a:avLst/>
          </a:prstGeom>
          <a:noFill/>
        </p:spPr>
        <p:txBody>
          <a:bodyPr wrap="none" lIns="0" tIns="0" rIns="0" bIns="0">
            <a:spAutoFit/>
          </a:bodyPr>
          <a:lstStyle/>
          <a:p>
            <a:pPr algn="r">
              <a:defRPr sz="1000">
                <a:solidFill>
                  <a:srgbClr val="94A3B8"/>
                </a:solidFill>
                <a:latin typeface="Calibri"/>
              </a:defRPr>
            </a:pPr>
            <a:r>
              <a:t>2 / 12</a:t>
            </a:r>
          </a:p>
        </p:txBody>
      </p:sp>
      <p:sp>
        <p:nvSpPr>
          <p:cNvPr id="5" name="Rectangle 4"/>
          <p:cNvSpPr/>
          <p:nvPr/>
        </p:nvSpPr>
        <p:spPr>
          <a:xfrm>
            <a:off x="548640" y="1371600"/>
            <a:ext cx="347472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81328"/>
            <a:ext cx="3474720" cy="365760"/>
          </a:xfrm>
          <a:prstGeom prst="rect">
            <a:avLst/>
          </a:prstGeom>
          <a:noFill/>
        </p:spPr>
        <p:txBody>
          <a:bodyPr wrap="none" lIns="0" tIns="0" rIns="0" bIns="0">
            <a:spAutoFit/>
          </a:bodyPr>
          <a:lstStyle/>
          <a:p>
            <a:pPr>
              <a:defRPr sz="1600" b="1">
                <a:solidFill>
                  <a:srgbClr val="2563EB"/>
                </a:solidFill>
                <a:latin typeface="Calibri"/>
              </a:defRPr>
            </a:pPr>
            <a:r>
              <a:t>LEARNING</a:t>
            </a:r>
          </a:p>
        </p:txBody>
      </p:sp>
      <p:sp>
        <p:nvSpPr>
          <p:cNvPr id="7" name="TextBox 6"/>
          <p:cNvSpPr txBox="1"/>
          <p:nvPr/>
        </p:nvSpPr>
        <p:spPr>
          <a:xfrm>
            <a:off x="548640" y="1920240"/>
            <a:ext cx="3474720" cy="4114800"/>
          </a:xfrm>
          <a:prstGeom prst="rect">
            <a:avLst/>
          </a:prstGeom>
          <a:noFill/>
        </p:spPr>
        <p:txBody>
          <a:bodyPr wrap="square" lIns="0" tIns="0" rIns="0" bIns="0">
            <a:spAutoFit/>
          </a:bodyPr>
          <a:lstStyle/>
          <a:p>
            <a:pPr>
              <a:spcAft>
                <a:spcPts val="800"/>
              </a:spcAft>
              <a:defRPr sz="1300">
                <a:solidFill>
                  <a:srgbClr val="334155"/>
                </a:solidFill>
                <a:latin typeface="Calibri"/>
              </a:defRPr>
            </a:pPr>
            <a:r>
              <a:t>• Xác thực &amp; quản lý phiên người dùng </a:t>
            </a:r>
            <a:r>
              <a:rPr sz="1050">
                <a:solidFill>
                  <a:srgbClr val="94A3B8"/>
                </a:solidFill>
                <a:latin typeface="Calibri"/>
              </a:rPr>
              <a:t>[UC-01]</a:t>
            </a:r>
          </a:p>
          <a:p>
            <a:pPr>
              <a:spcAft>
                <a:spcPts val="800"/>
              </a:spcAft>
              <a:defRPr sz="1300">
                <a:solidFill>
                  <a:srgbClr val="334155"/>
                </a:solidFill>
                <a:latin typeface="Calibri"/>
              </a:defRPr>
            </a:pPr>
            <a:r>
              <a:t>• Thiết lập mục tiêu &amp; thời lượng học </a:t>
            </a:r>
            <a:r>
              <a:rPr sz="1050">
                <a:solidFill>
                  <a:srgbClr val="94A3B8"/>
                </a:solidFill>
                <a:latin typeface="Calibri"/>
              </a:rPr>
              <a:t>[UC-02]</a:t>
            </a:r>
          </a:p>
          <a:p>
            <a:pPr>
              <a:spcAft>
                <a:spcPts val="800"/>
              </a:spcAft>
              <a:defRPr sz="1300">
                <a:solidFill>
                  <a:srgbClr val="334155"/>
                </a:solidFill>
                <a:latin typeface="Calibri"/>
              </a:defRPr>
            </a:pPr>
            <a:r>
              <a:t>• Đánh giá chẩn đoán xếp lớp đầu vào </a:t>
            </a:r>
            <a:r>
              <a:rPr sz="1050">
                <a:solidFill>
                  <a:srgbClr val="94A3B8"/>
                </a:solidFill>
                <a:latin typeface="Calibri"/>
              </a:rPr>
              <a:t>[UC-03]</a:t>
            </a:r>
          </a:p>
          <a:p>
            <a:pPr>
              <a:spcAft>
                <a:spcPts val="800"/>
              </a:spcAft>
              <a:defRPr sz="1300">
                <a:solidFill>
                  <a:srgbClr val="334155"/>
                </a:solidFill>
                <a:latin typeface="Calibri"/>
              </a:defRPr>
            </a:pPr>
            <a:r>
              <a:t>• Khám phá lộ trình &amp; thử thách Jump </a:t>
            </a:r>
            <a:r>
              <a:rPr sz="1050">
                <a:solidFill>
                  <a:srgbClr val="94A3B8"/>
                </a:solidFill>
                <a:latin typeface="Calibri"/>
              </a:rPr>
              <a:t>[UC-04]</a:t>
            </a:r>
          </a:p>
          <a:p>
            <a:pPr>
              <a:spcAft>
                <a:spcPts val="800"/>
              </a:spcAft>
              <a:defRPr sz="1300">
                <a:solidFill>
                  <a:srgbClr val="334155"/>
                </a:solidFill>
                <a:latin typeface="Calibri"/>
              </a:defRPr>
            </a:pPr>
            <a:r>
              <a:t>• Học qua Viewer &amp; luyện tập bài tập </a:t>
            </a:r>
            <a:r>
              <a:rPr sz="1050">
                <a:solidFill>
                  <a:srgbClr val="94A3B8"/>
                </a:solidFill>
                <a:latin typeface="Calibri"/>
              </a:rPr>
              <a:t>[UC-05]</a:t>
            </a:r>
          </a:p>
          <a:p>
            <a:pPr>
              <a:spcAft>
                <a:spcPts val="800"/>
              </a:spcAft>
              <a:defRPr sz="1300">
                <a:solidFill>
                  <a:srgbClr val="334155"/>
                </a:solidFill>
                <a:latin typeface="Calibri"/>
              </a:defRPr>
            </a:pPr>
            <a:r>
              <a:t>• Ôn tập từ vựng ngắt quãng SRS </a:t>
            </a:r>
            <a:r>
              <a:rPr sz="1050">
                <a:solidFill>
                  <a:srgbClr val="94A3B8"/>
                </a:solidFill>
                <a:latin typeface="Calibri"/>
              </a:rPr>
              <a:t>[UC-06]</a:t>
            </a:r>
          </a:p>
          <a:p>
            <a:pPr>
              <a:spcAft>
                <a:spcPts val="800"/>
              </a:spcAft>
              <a:defRPr sz="1300">
                <a:solidFill>
                  <a:srgbClr val="334155"/>
                </a:solidFill>
                <a:latin typeface="Calibri"/>
              </a:defRPr>
            </a:pPr>
            <a:r>
              <a:t>• Theo dõi tiến độ &amp; chuỗi ngày Streak </a:t>
            </a:r>
            <a:r>
              <a:rPr sz="1050">
                <a:solidFill>
                  <a:srgbClr val="94A3B8"/>
                </a:solidFill>
                <a:latin typeface="Calibri"/>
              </a:rPr>
              <a:t>[UC-07]</a:t>
            </a:r>
          </a:p>
        </p:txBody>
      </p:sp>
      <p:sp>
        <p:nvSpPr>
          <p:cNvPr id="8" name="Rectangle 7"/>
          <p:cNvSpPr/>
          <p:nvPr/>
        </p:nvSpPr>
        <p:spPr>
          <a:xfrm>
            <a:off x="4352544" y="1371600"/>
            <a:ext cx="3474720" cy="508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52544" y="1481328"/>
            <a:ext cx="3474720" cy="365760"/>
          </a:xfrm>
          <a:prstGeom prst="rect">
            <a:avLst/>
          </a:prstGeom>
          <a:noFill/>
        </p:spPr>
        <p:txBody>
          <a:bodyPr wrap="none" lIns="0" tIns="0" rIns="0" bIns="0">
            <a:spAutoFit/>
          </a:bodyPr>
          <a:lstStyle/>
          <a:p>
            <a:pPr>
              <a:defRPr sz="1600" b="1">
                <a:solidFill>
                  <a:srgbClr val="7C3AED"/>
                </a:solidFill>
                <a:latin typeface="Calibri"/>
              </a:defRPr>
            </a:pPr>
            <a:r>
              <a:t>CONTENT</a:t>
            </a:r>
          </a:p>
        </p:txBody>
      </p:sp>
      <p:sp>
        <p:nvSpPr>
          <p:cNvPr id="10" name="TextBox 9"/>
          <p:cNvSpPr txBox="1"/>
          <p:nvPr/>
        </p:nvSpPr>
        <p:spPr>
          <a:xfrm>
            <a:off x="4352544" y="1920240"/>
            <a:ext cx="3474720" cy="4114800"/>
          </a:xfrm>
          <a:prstGeom prst="rect">
            <a:avLst/>
          </a:prstGeom>
          <a:noFill/>
        </p:spPr>
        <p:txBody>
          <a:bodyPr wrap="square" lIns="0" tIns="0" rIns="0" bIns="0">
            <a:spAutoFit/>
          </a:bodyPr>
          <a:lstStyle/>
          <a:p>
            <a:pPr>
              <a:spcAft>
                <a:spcPts val="800"/>
              </a:spcAft>
              <a:defRPr sz="1300">
                <a:solidFill>
                  <a:srgbClr val="334155"/>
                </a:solidFill>
                <a:latin typeface="Calibri"/>
              </a:defRPr>
            </a:pPr>
            <a:r>
              <a:t>• Lập kế hoạch &amp; soạn bài học, bài tập </a:t>
            </a:r>
            <a:r>
              <a:rPr sz="1050">
                <a:solidFill>
                  <a:srgbClr val="94A3B8"/>
                </a:solidFill>
                <a:latin typeface="Calibri"/>
              </a:rPr>
              <a:t>[UC-08]</a:t>
            </a:r>
          </a:p>
          <a:p>
            <a:pPr>
              <a:spcAft>
                <a:spcPts val="800"/>
              </a:spcAft>
              <a:defRPr sz="1300">
                <a:solidFill>
                  <a:srgbClr val="334155"/>
                </a:solidFill>
                <a:latin typeface="Calibri"/>
              </a:defRPr>
            </a:pPr>
            <a:r>
              <a:t>• Kiểm duyệt độc lập &amp; yêu cầu sửa </a:t>
            </a:r>
            <a:r>
              <a:rPr sz="1050">
                <a:solidFill>
                  <a:srgbClr val="94A3B8"/>
                </a:solidFill>
                <a:latin typeface="Calibri"/>
              </a:rPr>
              <a:t>[UC-09]</a:t>
            </a:r>
          </a:p>
          <a:p>
            <a:pPr>
              <a:spcAft>
                <a:spcPts val="800"/>
              </a:spcAft>
              <a:defRPr sz="1300">
                <a:solidFill>
                  <a:srgbClr val="334155"/>
                </a:solidFill>
                <a:latin typeface="Calibri"/>
              </a:defRPr>
            </a:pPr>
            <a:r>
              <a:t>• Xuất bản nội dung bài học đã duyệt </a:t>
            </a:r>
            <a:r>
              <a:rPr sz="1050">
                <a:solidFill>
                  <a:srgbClr val="94A3B8"/>
                </a:solidFill>
                <a:latin typeface="Calibri"/>
              </a:rPr>
              <a:t>[UC-10]</a:t>
            </a:r>
          </a:p>
          <a:p>
            <a:pPr>
              <a:spcAft>
                <a:spcPts val="800"/>
              </a:spcAft>
              <a:defRPr sz="1300">
                <a:solidFill>
                  <a:srgbClr val="334155"/>
                </a:solidFill>
                <a:latin typeface="Calibri"/>
              </a:defRPr>
            </a:pPr>
            <a:r>
              <a:t>• Cơ chế Clone-to-Draft v2 bảo toàn bài </a:t>
            </a:r>
            <a:r>
              <a:rPr sz="1050">
                <a:solidFill>
                  <a:srgbClr val="94A3B8"/>
                </a:solidFill>
                <a:latin typeface="Calibri"/>
              </a:rPr>
              <a:t>[Quy trình]</a:t>
            </a:r>
          </a:p>
          <a:p>
            <a:pPr>
              <a:spcAft>
                <a:spcPts val="800"/>
              </a:spcAft>
              <a:defRPr sz="1300">
                <a:solidFill>
                  <a:srgbClr val="334155"/>
                </a:solidFill>
                <a:latin typeface="Calibri"/>
              </a:defRPr>
            </a:pPr>
            <a:r>
              <a:t>• Điều kiện hiển thị Unit: đủ 4/4 Lesson Published </a:t>
            </a:r>
            <a:r>
              <a:rPr sz="1050">
                <a:solidFill>
                  <a:srgbClr val="94A3B8"/>
                </a:solidFill>
                <a:latin typeface="Calibri"/>
              </a:rPr>
              <a:t>[Ràng buộc]</a:t>
            </a:r>
          </a:p>
          <a:p>
            <a:pPr>
              <a:spcAft>
                <a:spcPts val="800"/>
              </a:spcAft>
              <a:defRPr sz="1300">
                <a:solidFill>
                  <a:srgbClr val="334155"/>
                </a:solidFill>
                <a:latin typeface="Calibri"/>
              </a:defRPr>
            </a:pPr>
            <a:r>
              <a:t>• Phân tách nhiệm vụ SoD: Creator không tự duyệt </a:t>
            </a:r>
            <a:r>
              <a:rPr sz="1050">
                <a:solidFill>
                  <a:srgbClr val="94A3B8"/>
                </a:solidFill>
                <a:latin typeface="Calibri"/>
              </a:rPr>
              <a:t>[Nguyên tắc]</a:t>
            </a:r>
          </a:p>
        </p:txBody>
      </p:sp>
      <p:sp>
        <p:nvSpPr>
          <p:cNvPr id="11" name="Rectangle 10"/>
          <p:cNvSpPr/>
          <p:nvPr/>
        </p:nvSpPr>
        <p:spPr>
          <a:xfrm>
            <a:off x="8156448" y="1371600"/>
            <a:ext cx="3474720" cy="50800"/>
          </a:xfrm>
          <a:prstGeom prst="rect">
            <a:avLst/>
          </a:prstGeom>
          <a:solidFill>
            <a:srgbClr val="9F1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56448" y="1481328"/>
            <a:ext cx="3474720" cy="365760"/>
          </a:xfrm>
          <a:prstGeom prst="rect">
            <a:avLst/>
          </a:prstGeom>
          <a:noFill/>
        </p:spPr>
        <p:txBody>
          <a:bodyPr wrap="none" lIns="0" tIns="0" rIns="0" bIns="0">
            <a:spAutoFit/>
          </a:bodyPr>
          <a:lstStyle/>
          <a:p>
            <a:pPr>
              <a:defRPr sz="1600" b="1">
                <a:solidFill>
                  <a:srgbClr val="9F1239"/>
                </a:solidFill>
                <a:latin typeface="Calibri"/>
              </a:defRPr>
            </a:pPr>
            <a:r>
              <a:t>ADMINISTRATION</a:t>
            </a:r>
          </a:p>
        </p:txBody>
      </p:sp>
      <p:sp>
        <p:nvSpPr>
          <p:cNvPr id="13" name="TextBox 12"/>
          <p:cNvSpPr txBox="1"/>
          <p:nvPr/>
        </p:nvSpPr>
        <p:spPr>
          <a:xfrm>
            <a:off x="8156448" y="1920240"/>
            <a:ext cx="3474720" cy="4114800"/>
          </a:xfrm>
          <a:prstGeom prst="rect">
            <a:avLst/>
          </a:prstGeom>
          <a:noFill/>
        </p:spPr>
        <p:txBody>
          <a:bodyPr wrap="square" lIns="0" tIns="0" rIns="0" bIns="0">
            <a:spAutoFit/>
          </a:bodyPr>
          <a:lstStyle/>
          <a:p>
            <a:pPr>
              <a:spcAft>
                <a:spcPts val="800"/>
              </a:spcAft>
              <a:defRPr sz="1300">
                <a:solidFill>
                  <a:srgbClr val="334155"/>
                </a:solidFill>
                <a:latin typeface="Calibri"/>
              </a:defRPr>
            </a:pPr>
            <a:r>
              <a:t>• Quản lý tài khoản &amp; phân quyền 6 vai trò </a:t>
            </a:r>
            <a:r>
              <a:rPr sz="1050">
                <a:solidFill>
                  <a:srgbClr val="94A3B8"/>
                </a:solidFill>
                <a:latin typeface="Calibri"/>
              </a:rPr>
              <a:t>[UC-11]</a:t>
            </a:r>
          </a:p>
          <a:p>
            <a:pPr>
              <a:spcAft>
                <a:spcPts val="800"/>
              </a:spcAft>
              <a:defRPr sz="1300">
                <a:solidFill>
                  <a:srgbClr val="334155"/>
                </a:solidFill>
                <a:latin typeface="Calibri"/>
              </a:defRPr>
            </a:pPr>
            <a:r>
              <a:t>• Xem báo cáo &amp; thống kê vận hành </a:t>
            </a:r>
            <a:r>
              <a:rPr sz="1050">
                <a:solidFill>
                  <a:srgbClr val="94A3B8"/>
                </a:solidFill>
                <a:latin typeface="Calibri"/>
              </a:rPr>
              <a:t>[UC-12]</a:t>
            </a:r>
          </a:p>
          <a:p>
            <a:pPr>
              <a:spcAft>
                <a:spcPts val="800"/>
              </a:spcAft>
              <a:defRPr sz="1300">
                <a:solidFill>
                  <a:srgbClr val="334155"/>
                </a:solidFill>
                <a:latin typeface="Calibri"/>
              </a:defRPr>
            </a:pPr>
            <a:r>
              <a:t>• Tra cứu nhật ký kiểm toán an ninh bất biến </a:t>
            </a:r>
            <a:r>
              <a:rPr sz="1050">
                <a:solidFill>
                  <a:srgbClr val="94A3B8"/>
                </a:solidFill>
                <a:latin typeface="Calibri"/>
              </a:rPr>
              <a:t>[UC-13]</a:t>
            </a:r>
          </a:p>
          <a:p>
            <a:pPr>
              <a:spcAft>
                <a:spcPts val="800"/>
              </a:spcAft>
              <a:defRPr sz="1300">
                <a:solidFill>
                  <a:srgbClr val="334155"/>
                </a:solidFill>
                <a:latin typeface="Calibri"/>
              </a:defRPr>
            </a:pPr>
            <a:r>
              <a:t>• Tiếp nhận &amp; điều phối phiếu hỗ trợ </a:t>
            </a:r>
            <a:r>
              <a:rPr sz="1050">
                <a:solidFill>
                  <a:srgbClr val="94A3B8"/>
                </a:solidFill>
                <a:latin typeface="Calibri"/>
              </a:rPr>
              <a:t>[UC-14 MVP]</a:t>
            </a:r>
          </a:p>
          <a:p>
            <a:pPr>
              <a:spcAft>
                <a:spcPts val="800"/>
              </a:spcAft>
              <a:defRPr sz="1300">
                <a:solidFill>
                  <a:srgbClr val="334155"/>
                </a:solidFill>
                <a:latin typeface="Calibri"/>
              </a:defRPr>
            </a:pPr>
            <a:r>
              <a:t>• Xuất bản khẩn cấp bài đã Approved, có lý do và AuditLog </a:t>
            </a:r>
            <a:r>
              <a:rPr sz="1050">
                <a:solidFill>
                  <a:srgbClr val="94A3B8"/>
                </a:solidFill>
                <a:latin typeface="Calibri"/>
              </a:rPr>
              <a:t>[Admin]</a:t>
            </a:r>
          </a:p>
          <a:p>
            <a:pPr>
              <a:spcAft>
                <a:spcPts val="800"/>
              </a:spcAft>
              <a:defRPr sz="1300">
                <a:solidFill>
                  <a:srgbClr val="334155"/>
                </a:solidFill>
                <a:latin typeface="Calibri"/>
              </a:defRPr>
            </a:pPr>
            <a:r>
              <a:t>• Quản lý nhóm học viên &amp; tiến độ lớp học </a:t>
            </a:r>
            <a:r>
              <a:rPr sz="1050">
                <a:solidFill>
                  <a:srgbClr val="94A3B8"/>
                </a:solidFill>
                <a:latin typeface="Calibri"/>
              </a:rPr>
              <a:t>[UC-15 Future]</a:t>
            </a:r>
          </a:p>
        </p:txBody>
      </p:sp>
      <p:sp>
        <p:nvSpPr>
          <p:cNvPr id="14" name="Oval 13"/>
          <p:cNvSpPr/>
          <p:nvPr/>
        </p:nvSpPr>
        <p:spPr>
          <a:xfrm>
            <a:off x="548640" y="6062472"/>
            <a:ext cx="100584" cy="100584"/>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035040"/>
            <a:ext cx="1188720" cy="274320"/>
          </a:xfrm>
          <a:prstGeom prst="rect">
            <a:avLst/>
          </a:prstGeom>
          <a:noFill/>
        </p:spPr>
        <p:txBody>
          <a:bodyPr wrap="none" lIns="0" tIns="0" rIns="0" bIns="0">
            <a:spAutoFit/>
          </a:bodyPr>
          <a:lstStyle/>
          <a:p>
            <a:pPr>
              <a:defRPr sz="1100">
                <a:solidFill>
                  <a:srgbClr val="334155"/>
                </a:solidFill>
                <a:latin typeface="Calibri"/>
              </a:defRPr>
            </a:pPr>
            <a:r>
              <a:t>Learner</a:t>
            </a:r>
          </a:p>
        </p:txBody>
      </p:sp>
      <p:sp>
        <p:nvSpPr>
          <p:cNvPr id="16" name="Oval 15"/>
          <p:cNvSpPr/>
          <p:nvPr/>
        </p:nvSpPr>
        <p:spPr>
          <a:xfrm>
            <a:off x="1920240" y="6062472"/>
            <a:ext cx="100584" cy="100584"/>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57400" y="6035040"/>
            <a:ext cx="1188720" cy="274320"/>
          </a:xfrm>
          <a:prstGeom prst="rect">
            <a:avLst/>
          </a:prstGeom>
          <a:noFill/>
        </p:spPr>
        <p:txBody>
          <a:bodyPr wrap="none" lIns="0" tIns="0" rIns="0" bIns="0">
            <a:spAutoFit/>
          </a:bodyPr>
          <a:lstStyle/>
          <a:p>
            <a:pPr>
              <a:defRPr sz="1100">
                <a:solidFill>
                  <a:srgbClr val="334155"/>
                </a:solidFill>
                <a:latin typeface="Calibri"/>
              </a:defRPr>
            </a:pPr>
            <a:r>
              <a:t>Lesson Creator</a:t>
            </a:r>
          </a:p>
        </p:txBody>
      </p:sp>
      <p:sp>
        <p:nvSpPr>
          <p:cNvPr id="18" name="Oval 17"/>
          <p:cNvSpPr/>
          <p:nvPr/>
        </p:nvSpPr>
        <p:spPr>
          <a:xfrm>
            <a:off x="3291840" y="6062472"/>
            <a:ext cx="100584" cy="100584"/>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29000" y="6035040"/>
            <a:ext cx="1188720" cy="274320"/>
          </a:xfrm>
          <a:prstGeom prst="rect">
            <a:avLst/>
          </a:prstGeom>
          <a:noFill/>
        </p:spPr>
        <p:txBody>
          <a:bodyPr wrap="none" lIns="0" tIns="0" rIns="0" bIns="0">
            <a:spAutoFit/>
          </a:bodyPr>
          <a:lstStyle/>
          <a:p>
            <a:pPr>
              <a:defRPr sz="1100">
                <a:solidFill>
                  <a:srgbClr val="334155"/>
                </a:solidFill>
                <a:latin typeface="Calibri"/>
              </a:defRPr>
            </a:pPr>
            <a:r>
              <a:t>Moderator</a:t>
            </a:r>
          </a:p>
        </p:txBody>
      </p:sp>
      <p:sp>
        <p:nvSpPr>
          <p:cNvPr id="20" name="Oval 19"/>
          <p:cNvSpPr/>
          <p:nvPr/>
        </p:nvSpPr>
        <p:spPr>
          <a:xfrm>
            <a:off x="4663440" y="6062472"/>
            <a:ext cx="100584" cy="10058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6035040"/>
            <a:ext cx="1188720" cy="274320"/>
          </a:xfrm>
          <a:prstGeom prst="rect">
            <a:avLst/>
          </a:prstGeom>
          <a:noFill/>
        </p:spPr>
        <p:txBody>
          <a:bodyPr wrap="none" lIns="0" tIns="0" rIns="0" bIns="0">
            <a:spAutoFit/>
          </a:bodyPr>
          <a:lstStyle/>
          <a:p>
            <a:pPr>
              <a:defRPr sz="1100">
                <a:solidFill>
                  <a:srgbClr val="334155"/>
                </a:solidFill>
                <a:latin typeface="Calibri"/>
              </a:defRPr>
            </a:pPr>
            <a:r>
              <a:t>Org Manager</a:t>
            </a:r>
          </a:p>
        </p:txBody>
      </p:sp>
      <p:sp>
        <p:nvSpPr>
          <p:cNvPr id="22" name="Oval 21"/>
          <p:cNvSpPr/>
          <p:nvPr/>
        </p:nvSpPr>
        <p:spPr>
          <a:xfrm>
            <a:off x="6035040" y="6062472"/>
            <a:ext cx="100584" cy="100584"/>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72200" y="6035040"/>
            <a:ext cx="1188720" cy="274320"/>
          </a:xfrm>
          <a:prstGeom prst="rect">
            <a:avLst/>
          </a:prstGeom>
          <a:noFill/>
        </p:spPr>
        <p:txBody>
          <a:bodyPr wrap="none" lIns="0" tIns="0" rIns="0" bIns="0">
            <a:spAutoFit/>
          </a:bodyPr>
          <a:lstStyle/>
          <a:p>
            <a:pPr>
              <a:defRPr sz="1100">
                <a:solidFill>
                  <a:srgbClr val="334155"/>
                </a:solidFill>
                <a:latin typeface="Calibri"/>
              </a:defRPr>
            </a:pPr>
            <a:r>
              <a:t>Operations Staff</a:t>
            </a:r>
          </a:p>
        </p:txBody>
      </p:sp>
      <p:sp>
        <p:nvSpPr>
          <p:cNvPr id="24" name="Oval 23"/>
          <p:cNvSpPr/>
          <p:nvPr/>
        </p:nvSpPr>
        <p:spPr>
          <a:xfrm>
            <a:off x="7406640" y="6062472"/>
            <a:ext cx="100584" cy="100584"/>
          </a:xfrm>
          <a:prstGeom prst="ellipse">
            <a:avLst/>
          </a:prstGeom>
          <a:solidFill>
            <a:srgbClr val="9F1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43800" y="6035040"/>
            <a:ext cx="1188720" cy="274320"/>
          </a:xfrm>
          <a:prstGeom prst="rect">
            <a:avLst/>
          </a:prstGeom>
          <a:noFill/>
        </p:spPr>
        <p:txBody>
          <a:bodyPr wrap="none" lIns="0" tIns="0" rIns="0" bIns="0">
            <a:spAutoFit/>
          </a:bodyPr>
          <a:lstStyle/>
          <a:p>
            <a:pPr>
              <a:defRPr sz="1100">
                <a:solidFill>
                  <a:srgbClr val="334155"/>
                </a:solidFill>
                <a:latin typeface="Calibri"/>
              </a:defRPr>
            </a:pPr>
            <a:r>
              <a:t>Administrator</a:t>
            </a:r>
          </a:p>
        </p:txBody>
      </p:sp>
      <p:sp>
        <p:nvSpPr>
          <p:cNvPr id="26" name="TextBox 25"/>
          <p:cNvSpPr txBox="1"/>
          <p:nvPr/>
        </p:nvSpPr>
        <p:spPr>
          <a:xfrm>
            <a:off x="8778240" y="6035040"/>
            <a:ext cx="2834640" cy="274320"/>
          </a:xfrm>
          <a:prstGeom prst="rect">
            <a:avLst/>
          </a:prstGeom>
          <a:noFill/>
        </p:spPr>
        <p:txBody>
          <a:bodyPr wrap="none" lIns="0" tIns="0" rIns="0" bIns="0">
            <a:spAutoFit/>
          </a:bodyPr>
          <a:lstStyle/>
          <a:p>
            <a:pPr algn="r">
              <a:defRPr sz="1100">
                <a:solidFill>
                  <a:srgbClr val="94A3B8"/>
                </a:solidFill>
                <a:latin typeface="Calibri"/>
              </a:defRPr>
            </a:pPr>
            <a:r>
              <a:t>UC-14 MVP (điều phối) · UC-15 FUTURE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1094415" cy="868680"/>
          </a:xfrm>
          <a:prstGeom prst="rect">
            <a:avLst/>
          </a:prstGeom>
          <a:noFill/>
        </p:spPr>
        <p:txBody>
          <a:bodyPr wrap="square" lIns="0" tIns="0" rIns="0" bIns="0">
            <a:spAutoFit/>
          </a:bodyPr>
          <a:lstStyle/>
          <a:p>
            <a:pPr>
              <a:spcAft>
                <a:spcPts val="200"/>
              </a:spcAft>
              <a:defRPr sz="1200" b="1">
                <a:solidFill>
                  <a:srgbClr val="2563EB"/>
                </a:solidFill>
                <a:latin typeface="Calibri"/>
              </a:defRPr>
            </a:pPr>
            <a:r>
              <a:t>USE CASE</a:t>
            </a:r>
          </a:p>
          <a:p>
            <a:pPr>
              <a:defRPr sz="2800" b="1">
                <a:solidFill>
                  <a:srgbClr val="0F172A"/>
                </a:solidFill>
                <a:latin typeface="Calibri"/>
              </a:defRPr>
            </a:pPr>
            <a:r>
              <a:t>Sơ Đồ Ca Sử Dụng Tổng Quan (Overall Use Case Diagram)</a:t>
            </a:r>
          </a:p>
        </p:txBody>
      </p:sp>
      <p:sp>
        <p:nvSpPr>
          <p:cNvPr id="4" name="TextBox 3"/>
          <p:cNvSpPr txBox="1"/>
          <p:nvPr/>
        </p:nvSpPr>
        <p:spPr>
          <a:xfrm>
            <a:off x="10515600" y="6446520"/>
            <a:ext cx="1127455" cy="320040"/>
          </a:xfrm>
          <a:prstGeom prst="rect">
            <a:avLst/>
          </a:prstGeom>
          <a:noFill/>
        </p:spPr>
        <p:txBody>
          <a:bodyPr wrap="none" lIns="0" tIns="0" rIns="0" bIns="0">
            <a:spAutoFit/>
          </a:bodyPr>
          <a:lstStyle/>
          <a:p>
            <a:pPr algn="r">
              <a:defRPr sz="1000">
                <a:solidFill>
                  <a:srgbClr val="94A3B8"/>
                </a:solidFill>
                <a:latin typeface="Calibri"/>
              </a:defRPr>
            </a:pPr>
            <a:r>
              <a:t>3 / 12</a:t>
            </a:r>
          </a:p>
        </p:txBody>
      </p:sp>
      <p:sp>
        <p:nvSpPr>
          <p:cNvPr id="5" name="Oval 4"/>
          <p:cNvSpPr/>
          <p:nvPr/>
        </p:nvSpPr>
        <p:spPr>
          <a:xfrm>
            <a:off x="548640" y="6501384"/>
            <a:ext cx="109728" cy="10972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6473952"/>
            <a:ext cx="1499616" cy="274320"/>
          </a:xfrm>
          <a:prstGeom prst="rect">
            <a:avLst/>
          </a:prstGeom>
          <a:noFill/>
        </p:spPr>
        <p:txBody>
          <a:bodyPr wrap="none" lIns="0" tIns="0" rIns="0" bIns="0">
            <a:spAutoFit/>
          </a:bodyPr>
          <a:lstStyle/>
          <a:p>
            <a:pPr>
              <a:defRPr sz="1100">
                <a:solidFill>
                  <a:srgbClr val="334155"/>
                </a:solidFill>
                <a:latin typeface="Calibri"/>
              </a:defRPr>
            </a:pPr>
            <a:r>
              <a:t>Learner</a:t>
            </a:r>
          </a:p>
        </p:txBody>
      </p:sp>
      <p:sp>
        <p:nvSpPr>
          <p:cNvPr id="7" name="Oval 6"/>
          <p:cNvSpPr/>
          <p:nvPr/>
        </p:nvSpPr>
        <p:spPr>
          <a:xfrm>
            <a:off x="2194560" y="6501384"/>
            <a:ext cx="109728" cy="10972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40864" y="6473952"/>
            <a:ext cx="1499616" cy="274320"/>
          </a:xfrm>
          <a:prstGeom prst="rect">
            <a:avLst/>
          </a:prstGeom>
          <a:noFill/>
        </p:spPr>
        <p:txBody>
          <a:bodyPr wrap="none" lIns="0" tIns="0" rIns="0" bIns="0">
            <a:spAutoFit/>
          </a:bodyPr>
          <a:lstStyle/>
          <a:p>
            <a:pPr>
              <a:defRPr sz="1100">
                <a:solidFill>
                  <a:srgbClr val="334155"/>
                </a:solidFill>
                <a:latin typeface="Calibri"/>
              </a:defRPr>
            </a:pPr>
            <a:r>
              <a:t>Lesson Creator</a:t>
            </a:r>
          </a:p>
        </p:txBody>
      </p:sp>
      <p:sp>
        <p:nvSpPr>
          <p:cNvPr id="9" name="Oval 8"/>
          <p:cNvSpPr/>
          <p:nvPr/>
        </p:nvSpPr>
        <p:spPr>
          <a:xfrm>
            <a:off x="3840480" y="6501384"/>
            <a:ext cx="109728" cy="109728"/>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86784" y="6473952"/>
            <a:ext cx="1499616" cy="274320"/>
          </a:xfrm>
          <a:prstGeom prst="rect">
            <a:avLst/>
          </a:prstGeom>
          <a:noFill/>
        </p:spPr>
        <p:txBody>
          <a:bodyPr wrap="none" lIns="0" tIns="0" rIns="0" bIns="0">
            <a:spAutoFit/>
          </a:bodyPr>
          <a:lstStyle/>
          <a:p>
            <a:pPr>
              <a:defRPr sz="1100">
                <a:solidFill>
                  <a:srgbClr val="334155"/>
                </a:solidFill>
                <a:latin typeface="Calibri"/>
              </a:defRPr>
            </a:pPr>
            <a:r>
              <a:t>Moderator</a:t>
            </a:r>
          </a:p>
        </p:txBody>
      </p:sp>
      <p:sp>
        <p:nvSpPr>
          <p:cNvPr id="11" name="Oval 10"/>
          <p:cNvSpPr/>
          <p:nvPr/>
        </p:nvSpPr>
        <p:spPr>
          <a:xfrm>
            <a:off x="5486400" y="6501384"/>
            <a:ext cx="109728" cy="109728"/>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32704" y="6473952"/>
            <a:ext cx="1499616" cy="274320"/>
          </a:xfrm>
          <a:prstGeom prst="rect">
            <a:avLst/>
          </a:prstGeom>
          <a:noFill/>
        </p:spPr>
        <p:txBody>
          <a:bodyPr wrap="none" lIns="0" tIns="0" rIns="0" bIns="0">
            <a:spAutoFit/>
          </a:bodyPr>
          <a:lstStyle/>
          <a:p>
            <a:pPr>
              <a:defRPr sz="1100">
                <a:solidFill>
                  <a:srgbClr val="334155"/>
                </a:solidFill>
                <a:latin typeface="Calibri"/>
              </a:defRPr>
            </a:pPr>
            <a:r>
              <a:t>Org Manager</a:t>
            </a:r>
          </a:p>
        </p:txBody>
      </p:sp>
      <p:sp>
        <p:nvSpPr>
          <p:cNvPr id="13" name="Oval 12"/>
          <p:cNvSpPr/>
          <p:nvPr/>
        </p:nvSpPr>
        <p:spPr>
          <a:xfrm>
            <a:off x="7132320" y="6501384"/>
            <a:ext cx="109728" cy="10972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78624" y="6473952"/>
            <a:ext cx="1499616" cy="274320"/>
          </a:xfrm>
          <a:prstGeom prst="rect">
            <a:avLst/>
          </a:prstGeom>
          <a:noFill/>
        </p:spPr>
        <p:txBody>
          <a:bodyPr wrap="none" lIns="0" tIns="0" rIns="0" bIns="0">
            <a:spAutoFit/>
          </a:bodyPr>
          <a:lstStyle/>
          <a:p>
            <a:pPr>
              <a:defRPr sz="1100">
                <a:solidFill>
                  <a:srgbClr val="334155"/>
                </a:solidFill>
                <a:latin typeface="Calibri"/>
              </a:defRPr>
            </a:pPr>
            <a:r>
              <a:t>Operations Staff</a:t>
            </a:r>
          </a:p>
        </p:txBody>
      </p:sp>
      <p:sp>
        <p:nvSpPr>
          <p:cNvPr id="15" name="Oval 14"/>
          <p:cNvSpPr/>
          <p:nvPr/>
        </p:nvSpPr>
        <p:spPr>
          <a:xfrm>
            <a:off x="8778240" y="6501384"/>
            <a:ext cx="109728" cy="109728"/>
          </a:xfrm>
          <a:prstGeom prst="ellipse">
            <a:avLst/>
          </a:prstGeom>
          <a:solidFill>
            <a:srgbClr val="9F1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24544" y="6473952"/>
            <a:ext cx="1499616" cy="274320"/>
          </a:xfrm>
          <a:prstGeom prst="rect">
            <a:avLst/>
          </a:prstGeom>
          <a:noFill/>
        </p:spPr>
        <p:txBody>
          <a:bodyPr wrap="none" lIns="0" tIns="0" rIns="0" bIns="0">
            <a:spAutoFit/>
          </a:bodyPr>
          <a:lstStyle/>
          <a:p>
            <a:pPr>
              <a:defRPr sz="1100">
                <a:solidFill>
                  <a:srgbClr val="334155"/>
                </a:solidFill>
                <a:latin typeface="Calibri"/>
              </a:defRPr>
            </a:pPr>
            <a:r>
              <a:t>Administrator</a:t>
            </a:r>
          </a:p>
        </p:txBody>
      </p:sp>
      <p:sp>
        <p:nvSpPr>
          <p:cNvPr id="17" name="Rectangle 16"/>
          <p:cNvSpPr/>
          <p:nvPr/>
        </p:nvSpPr>
        <p:spPr>
          <a:xfrm>
            <a:off x="548640" y="3181146"/>
            <a:ext cx="8046720" cy="1318666"/>
          </a:xfrm>
          <a:prstGeom prst="rect">
            <a:avLst/>
          </a:prstGeom>
          <a:no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02-usecase-overall.png"/>
          <p:cNvPicPr>
            <a:picLocks noChangeAspect="1"/>
          </p:cNvPicPr>
          <p:nvPr/>
        </p:nvPicPr>
        <p:blipFill>
          <a:blip r:embed="rId2"/>
          <a:stretch>
            <a:fillRect/>
          </a:stretch>
        </p:blipFill>
        <p:spPr>
          <a:xfrm>
            <a:off x="548640" y="3181146"/>
            <a:ext cx="8046720" cy="1318666"/>
          </a:xfrm>
          <a:prstGeom prst="rect">
            <a:avLst/>
          </a:prstGeom>
        </p:spPr>
      </p:pic>
      <p:sp>
        <p:nvSpPr>
          <p:cNvPr id="19" name="Rectangle 18"/>
          <p:cNvSpPr/>
          <p:nvPr/>
        </p:nvSpPr>
        <p:spPr>
          <a:xfrm>
            <a:off x="8732520" y="1371600"/>
            <a:ext cx="12700" cy="48463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0" y="1371600"/>
            <a:ext cx="2743200" cy="4846320"/>
          </a:xfrm>
          <a:prstGeom prst="rect">
            <a:avLst/>
          </a:prstGeom>
          <a:noFill/>
        </p:spPr>
        <p:txBody>
          <a:bodyPr wrap="square" lIns="0" tIns="0" rIns="0" bIns="0">
            <a:spAutoFit/>
          </a:bodyPr>
          <a:lstStyle/>
          <a:p>
            <a:pPr>
              <a:spcAft>
                <a:spcPts val="1400"/>
              </a:spcAft>
              <a:defRPr sz="1100" b="1">
                <a:solidFill>
                  <a:srgbClr val="2563EB"/>
                </a:solidFill>
                <a:latin typeface="Calibri"/>
              </a:defRPr>
            </a:pPr>
            <a:r>
              <a:t>Ý CHÍNH</a:t>
            </a:r>
          </a:p>
          <a:p>
            <a:pPr>
              <a:spcAft>
                <a:spcPts val="1400"/>
              </a:spcAft>
              <a:defRPr sz="1300">
                <a:solidFill>
                  <a:srgbClr val="334155"/>
                </a:solidFill>
                <a:latin typeface="Calibri"/>
              </a:defRPr>
            </a:pPr>
            <a:r>
              <a:t>• Sáu tác nhân kế thừa từ Authenticated User để sử dụng chung phiên đăng nhập UC-01.</a:t>
            </a:r>
          </a:p>
          <a:p>
            <a:pPr>
              <a:spcAft>
                <a:spcPts val="1400"/>
              </a:spcAft>
              <a:defRPr sz="1300">
                <a:solidFill>
                  <a:srgbClr val="334155"/>
                </a:solidFill>
                <a:latin typeface="Calibri"/>
              </a:defRPr>
            </a:pPr>
            <a:r>
              <a:t>• Phân định rõ ranh giới ba phân hệ: Học tập, Quản trị nội dung và Vận hành hệ thống.</a:t>
            </a:r>
          </a:p>
          <a:p>
            <a:pPr>
              <a:spcAft>
                <a:spcPts val="1400"/>
              </a:spcAft>
              <a:defRPr sz="1300">
                <a:solidFill>
                  <a:srgbClr val="334155"/>
                </a:solidFill>
                <a:latin typeface="Calibri"/>
              </a:defRPr>
            </a:pPr>
            <a:r>
              <a:t>• Tập trung vào các cụm ca sử dụng trọng tâm, kết nối bằng đường trực giao rõ ràng.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1094415" cy="868680"/>
          </a:xfrm>
          <a:prstGeom prst="rect">
            <a:avLst/>
          </a:prstGeom>
          <a:noFill/>
        </p:spPr>
        <p:txBody>
          <a:bodyPr wrap="square" lIns="0" tIns="0" rIns="0" bIns="0">
            <a:spAutoFit/>
          </a:bodyPr>
          <a:lstStyle/>
          <a:p>
            <a:pPr>
              <a:spcAft>
                <a:spcPts val="200"/>
              </a:spcAft>
              <a:defRPr sz="1200" b="1">
                <a:solidFill>
                  <a:srgbClr val="2563EB"/>
                </a:solidFill>
                <a:latin typeface="Calibri"/>
              </a:defRPr>
            </a:pPr>
            <a:r>
              <a:t>USE CASE</a:t>
            </a:r>
          </a:p>
          <a:p>
            <a:pPr>
              <a:defRPr sz="2800" b="1">
                <a:solidFill>
                  <a:srgbClr val="0F172A"/>
                </a:solidFill>
                <a:latin typeface="Calibri"/>
              </a:defRPr>
            </a:pPr>
            <a:r>
              <a:t>Sơ Đồ Ca Sử Dụng Chi Tiết — Phân Hệ Học Viên (Learner)</a:t>
            </a:r>
          </a:p>
        </p:txBody>
      </p:sp>
      <p:sp>
        <p:nvSpPr>
          <p:cNvPr id="4" name="TextBox 3"/>
          <p:cNvSpPr txBox="1"/>
          <p:nvPr/>
        </p:nvSpPr>
        <p:spPr>
          <a:xfrm>
            <a:off x="10515600" y="6446520"/>
            <a:ext cx="1127455" cy="320040"/>
          </a:xfrm>
          <a:prstGeom prst="rect">
            <a:avLst/>
          </a:prstGeom>
          <a:noFill/>
        </p:spPr>
        <p:txBody>
          <a:bodyPr wrap="none" lIns="0" tIns="0" rIns="0" bIns="0">
            <a:spAutoFit/>
          </a:bodyPr>
          <a:lstStyle/>
          <a:p>
            <a:pPr algn="r">
              <a:defRPr sz="1000">
                <a:solidFill>
                  <a:srgbClr val="94A3B8"/>
                </a:solidFill>
                <a:latin typeface="Calibri"/>
              </a:defRPr>
            </a:pPr>
            <a:r>
              <a:t>4 / 12</a:t>
            </a:r>
          </a:p>
        </p:txBody>
      </p:sp>
      <p:sp>
        <p:nvSpPr>
          <p:cNvPr id="5" name="Oval 4"/>
          <p:cNvSpPr/>
          <p:nvPr/>
        </p:nvSpPr>
        <p:spPr>
          <a:xfrm>
            <a:off x="548640" y="6501384"/>
            <a:ext cx="109728" cy="10972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6473952"/>
            <a:ext cx="1499616" cy="274320"/>
          </a:xfrm>
          <a:prstGeom prst="rect">
            <a:avLst/>
          </a:prstGeom>
          <a:noFill/>
        </p:spPr>
        <p:txBody>
          <a:bodyPr wrap="none" lIns="0" tIns="0" rIns="0" bIns="0">
            <a:spAutoFit/>
          </a:bodyPr>
          <a:lstStyle/>
          <a:p>
            <a:pPr>
              <a:defRPr sz="1100">
                <a:solidFill>
                  <a:srgbClr val="334155"/>
                </a:solidFill>
                <a:latin typeface="Calibri"/>
              </a:defRPr>
            </a:pPr>
            <a:r>
              <a:t>Learner</a:t>
            </a:r>
          </a:p>
        </p:txBody>
      </p:sp>
      <p:sp>
        <p:nvSpPr>
          <p:cNvPr id="7" name="Oval 6"/>
          <p:cNvSpPr/>
          <p:nvPr/>
        </p:nvSpPr>
        <p:spPr>
          <a:xfrm>
            <a:off x="2194560" y="6501384"/>
            <a:ext cx="109728" cy="10972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40864" y="6473952"/>
            <a:ext cx="1499616" cy="274320"/>
          </a:xfrm>
          <a:prstGeom prst="rect">
            <a:avLst/>
          </a:prstGeom>
          <a:noFill/>
        </p:spPr>
        <p:txBody>
          <a:bodyPr wrap="none" lIns="0" tIns="0" rIns="0" bIns="0">
            <a:spAutoFit/>
          </a:bodyPr>
          <a:lstStyle/>
          <a:p>
            <a:pPr>
              <a:defRPr sz="1100">
                <a:solidFill>
                  <a:srgbClr val="334155"/>
                </a:solidFill>
                <a:latin typeface="Calibri"/>
              </a:defRPr>
            </a:pPr>
            <a:r>
              <a:t>Lesson Creator</a:t>
            </a:r>
          </a:p>
        </p:txBody>
      </p:sp>
      <p:sp>
        <p:nvSpPr>
          <p:cNvPr id="9" name="Oval 8"/>
          <p:cNvSpPr/>
          <p:nvPr/>
        </p:nvSpPr>
        <p:spPr>
          <a:xfrm>
            <a:off x="3840480" y="6501384"/>
            <a:ext cx="109728" cy="109728"/>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86784" y="6473952"/>
            <a:ext cx="1499616" cy="274320"/>
          </a:xfrm>
          <a:prstGeom prst="rect">
            <a:avLst/>
          </a:prstGeom>
          <a:noFill/>
        </p:spPr>
        <p:txBody>
          <a:bodyPr wrap="none" lIns="0" tIns="0" rIns="0" bIns="0">
            <a:spAutoFit/>
          </a:bodyPr>
          <a:lstStyle/>
          <a:p>
            <a:pPr>
              <a:defRPr sz="1100">
                <a:solidFill>
                  <a:srgbClr val="334155"/>
                </a:solidFill>
                <a:latin typeface="Calibri"/>
              </a:defRPr>
            </a:pPr>
            <a:r>
              <a:t>Moderator</a:t>
            </a:r>
          </a:p>
        </p:txBody>
      </p:sp>
      <p:sp>
        <p:nvSpPr>
          <p:cNvPr id="11" name="Oval 10"/>
          <p:cNvSpPr/>
          <p:nvPr/>
        </p:nvSpPr>
        <p:spPr>
          <a:xfrm>
            <a:off x="5486400" y="6501384"/>
            <a:ext cx="109728" cy="109728"/>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32704" y="6473952"/>
            <a:ext cx="1499616" cy="274320"/>
          </a:xfrm>
          <a:prstGeom prst="rect">
            <a:avLst/>
          </a:prstGeom>
          <a:noFill/>
        </p:spPr>
        <p:txBody>
          <a:bodyPr wrap="none" lIns="0" tIns="0" rIns="0" bIns="0">
            <a:spAutoFit/>
          </a:bodyPr>
          <a:lstStyle/>
          <a:p>
            <a:pPr>
              <a:defRPr sz="1100">
                <a:solidFill>
                  <a:srgbClr val="334155"/>
                </a:solidFill>
                <a:latin typeface="Calibri"/>
              </a:defRPr>
            </a:pPr>
            <a:r>
              <a:t>Org Manager</a:t>
            </a:r>
          </a:p>
        </p:txBody>
      </p:sp>
      <p:sp>
        <p:nvSpPr>
          <p:cNvPr id="13" name="Oval 12"/>
          <p:cNvSpPr/>
          <p:nvPr/>
        </p:nvSpPr>
        <p:spPr>
          <a:xfrm>
            <a:off x="7132320" y="6501384"/>
            <a:ext cx="109728" cy="10972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78624" y="6473952"/>
            <a:ext cx="1499616" cy="274320"/>
          </a:xfrm>
          <a:prstGeom prst="rect">
            <a:avLst/>
          </a:prstGeom>
          <a:noFill/>
        </p:spPr>
        <p:txBody>
          <a:bodyPr wrap="none" lIns="0" tIns="0" rIns="0" bIns="0">
            <a:spAutoFit/>
          </a:bodyPr>
          <a:lstStyle/>
          <a:p>
            <a:pPr>
              <a:defRPr sz="1100">
                <a:solidFill>
                  <a:srgbClr val="334155"/>
                </a:solidFill>
                <a:latin typeface="Calibri"/>
              </a:defRPr>
            </a:pPr>
            <a:r>
              <a:t>Operations Staff</a:t>
            </a:r>
          </a:p>
        </p:txBody>
      </p:sp>
      <p:sp>
        <p:nvSpPr>
          <p:cNvPr id="15" name="Oval 14"/>
          <p:cNvSpPr/>
          <p:nvPr/>
        </p:nvSpPr>
        <p:spPr>
          <a:xfrm>
            <a:off x="8778240" y="6501384"/>
            <a:ext cx="109728" cy="109728"/>
          </a:xfrm>
          <a:prstGeom prst="ellipse">
            <a:avLst/>
          </a:prstGeom>
          <a:solidFill>
            <a:srgbClr val="9F1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24544" y="6473952"/>
            <a:ext cx="1499616" cy="274320"/>
          </a:xfrm>
          <a:prstGeom prst="rect">
            <a:avLst/>
          </a:prstGeom>
          <a:noFill/>
        </p:spPr>
        <p:txBody>
          <a:bodyPr wrap="none" lIns="0" tIns="0" rIns="0" bIns="0">
            <a:spAutoFit/>
          </a:bodyPr>
          <a:lstStyle/>
          <a:p>
            <a:pPr>
              <a:defRPr sz="1100">
                <a:solidFill>
                  <a:srgbClr val="334155"/>
                </a:solidFill>
                <a:latin typeface="Calibri"/>
              </a:defRPr>
            </a:pPr>
            <a:r>
              <a:t>Administrator</a:t>
            </a:r>
          </a:p>
        </p:txBody>
      </p:sp>
      <p:sp>
        <p:nvSpPr>
          <p:cNvPr id="17" name="Rectangle 16"/>
          <p:cNvSpPr/>
          <p:nvPr/>
        </p:nvSpPr>
        <p:spPr>
          <a:xfrm>
            <a:off x="1984097" y="1371600"/>
            <a:ext cx="5175804" cy="4937760"/>
          </a:xfrm>
          <a:prstGeom prst="rect">
            <a:avLst/>
          </a:prstGeom>
          <a:no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03-usecase-learner.png"/>
          <p:cNvPicPr>
            <a:picLocks noChangeAspect="1"/>
          </p:cNvPicPr>
          <p:nvPr/>
        </p:nvPicPr>
        <p:blipFill>
          <a:blip r:embed="rId2"/>
          <a:stretch>
            <a:fillRect/>
          </a:stretch>
        </p:blipFill>
        <p:spPr>
          <a:xfrm>
            <a:off x="1984097" y="1371600"/>
            <a:ext cx="5175804" cy="4937760"/>
          </a:xfrm>
          <a:prstGeom prst="rect">
            <a:avLst/>
          </a:prstGeom>
        </p:spPr>
      </p:pic>
      <p:sp>
        <p:nvSpPr>
          <p:cNvPr id="19" name="Rectangle 18"/>
          <p:cNvSpPr/>
          <p:nvPr/>
        </p:nvSpPr>
        <p:spPr>
          <a:xfrm>
            <a:off x="8732520" y="1371600"/>
            <a:ext cx="12700" cy="48463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0" y="1371600"/>
            <a:ext cx="2743200" cy="4846320"/>
          </a:xfrm>
          <a:prstGeom prst="rect">
            <a:avLst/>
          </a:prstGeom>
          <a:noFill/>
        </p:spPr>
        <p:txBody>
          <a:bodyPr wrap="square" lIns="0" tIns="0" rIns="0" bIns="0">
            <a:spAutoFit/>
          </a:bodyPr>
          <a:lstStyle/>
          <a:p>
            <a:pPr>
              <a:spcAft>
                <a:spcPts val="1400"/>
              </a:spcAft>
              <a:defRPr sz="1100" b="1">
                <a:solidFill>
                  <a:srgbClr val="2563EB"/>
                </a:solidFill>
                <a:latin typeface="Calibri"/>
              </a:defRPr>
            </a:pPr>
            <a:r>
              <a:t>Ý CHÍNH</a:t>
            </a:r>
          </a:p>
          <a:p>
            <a:pPr>
              <a:spcAft>
                <a:spcPts val="1400"/>
              </a:spcAft>
              <a:defRPr sz="1300">
                <a:solidFill>
                  <a:srgbClr val="334155"/>
                </a:solidFill>
                <a:latin typeface="Calibri"/>
              </a:defRPr>
            </a:pPr>
            <a:r>
              <a:t>• Lesson Content Viewer được include bắt buộc vào UC-05 trước khi làm bài tập tương tác.</a:t>
            </a:r>
          </a:p>
          <a:p>
            <a:pPr>
              <a:spcAft>
                <a:spcPts val="1400"/>
              </a:spcAft>
              <a:defRPr sz="1300">
                <a:solidFill>
                  <a:srgbClr val="334155"/>
                </a:solidFill>
                <a:latin typeface="Calibri"/>
              </a:defRPr>
            </a:pPr>
            <a:r>
              <a:t>• Controlled Retry là luồng extend có hạn mức và khống chế trần điểm tối đa 70%.</a:t>
            </a:r>
          </a:p>
          <a:p>
            <a:pPr>
              <a:spcAft>
                <a:spcPts val="1400"/>
              </a:spcAft>
              <a:defRPr sz="1300">
                <a:solidFill>
                  <a:srgbClr val="334155"/>
                </a:solidFill>
                <a:latin typeface="Calibri"/>
              </a:defRPr>
            </a:pPr>
            <a:r>
              <a:t>• Conditional Jump là năng lực vượt cấp mở rộng từ lộ trình học tập UC-04.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1094415" cy="868680"/>
          </a:xfrm>
          <a:prstGeom prst="rect">
            <a:avLst/>
          </a:prstGeom>
          <a:noFill/>
        </p:spPr>
        <p:txBody>
          <a:bodyPr wrap="square" lIns="0" tIns="0" rIns="0" bIns="0">
            <a:spAutoFit/>
          </a:bodyPr>
          <a:lstStyle/>
          <a:p>
            <a:pPr>
              <a:spcAft>
                <a:spcPts val="200"/>
              </a:spcAft>
              <a:defRPr sz="1200" b="1">
                <a:solidFill>
                  <a:srgbClr val="2563EB"/>
                </a:solidFill>
                <a:latin typeface="Calibri"/>
              </a:defRPr>
            </a:pPr>
            <a:r>
              <a:t>USE CASE</a:t>
            </a:r>
          </a:p>
          <a:p>
            <a:pPr>
              <a:defRPr sz="2800" b="1">
                <a:solidFill>
                  <a:srgbClr val="0F172A"/>
                </a:solidFill>
                <a:latin typeface="Calibri"/>
              </a:defRPr>
            </a:pPr>
            <a:r>
              <a:t>Sơ Đồ Ca Sử Dụng Chi Tiết — Phân Hệ Nội Dung &amp; Quản Trị</a:t>
            </a:r>
          </a:p>
        </p:txBody>
      </p:sp>
      <p:sp>
        <p:nvSpPr>
          <p:cNvPr id="4" name="TextBox 3"/>
          <p:cNvSpPr txBox="1"/>
          <p:nvPr/>
        </p:nvSpPr>
        <p:spPr>
          <a:xfrm>
            <a:off x="10515600" y="6446520"/>
            <a:ext cx="1127455" cy="320040"/>
          </a:xfrm>
          <a:prstGeom prst="rect">
            <a:avLst/>
          </a:prstGeom>
          <a:noFill/>
        </p:spPr>
        <p:txBody>
          <a:bodyPr wrap="none" lIns="0" tIns="0" rIns="0" bIns="0">
            <a:spAutoFit/>
          </a:bodyPr>
          <a:lstStyle/>
          <a:p>
            <a:pPr algn="r">
              <a:defRPr sz="1000">
                <a:solidFill>
                  <a:srgbClr val="94A3B8"/>
                </a:solidFill>
                <a:latin typeface="Calibri"/>
              </a:defRPr>
            </a:pPr>
            <a:r>
              <a:t>5 / 12</a:t>
            </a:r>
          </a:p>
        </p:txBody>
      </p:sp>
      <p:sp>
        <p:nvSpPr>
          <p:cNvPr id="5" name="Oval 4"/>
          <p:cNvSpPr/>
          <p:nvPr/>
        </p:nvSpPr>
        <p:spPr>
          <a:xfrm>
            <a:off x="548640" y="6501384"/>
            <a:ext cx="109728" cy="10972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6473952"/>
            <a:ext cx="1499616" cy="274320"/>
          </a:xfrm>
          <a:prstGeom prst="rect">
            <a:avLst/>
          </a:prstGeom>
          <a:noFill/>
        </p:spPr>
        <p:txBody>
          <a:bodyPr wrap="none" lIns="0" tIns="0" rIns="0" bIns="0">
            <a:spAutoFit/>
          </a:bodyPr>
          <a:lstStyle/>
          <a:p>
            <a:pPr>
              <a:defRPr sz="1100">
                <a:solidFill>
                  <a:srgbClr val="334155"/>
                </a:solidFill>
                <a:latin typeface="Calibri"/>
              </a:defRPr>
            </a:pPr>
            <a:r>
              <a:t>Learner</a:t>
            </a:r>
          </a:p>
        </p:txBody>
      </p:sp>
      <p:sp>
        <p:nvSpPr>
          <p:cNvPr id="7" name="Oval 6"/>
          <p:cNvSpPr/>
          <p:nvPr/>
        </p:nvSpPr>
        <p:spPr>
          <a:xfrm>
            <a:off x="2194560" y="6501384"/>
            <a:ext cx="109728" cy="10972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40864" y="6473952"/>
            <a:ext cx="1499616" cy="274320"/>
          </a:xfrm>
          <a:prstGeom prst="rect">
            <a:avLst/>
          </a:prstGeom>
          <a:noFill/>
        </p:spPr>
        <p:txBody>
          <a:bodyPr wrap="none" lIns="0" tIns="0" rIns="0" bIns="0">
            <a:spAutoFit/>
          </a:bodyPr>
          <a:lstStyle/>
          <a:p>
            <a:pPr>
              <a:defRPr sz="1100">
                <a:solidFill>
                  <a:srgbClr val="334155"/>
                </a:solidFill>
                <a:latin typeface="Calibri"/>
              </a:defRPr>
            </a:pPr>
            <a:r>
              <a:t>Lesson Creator</a:t>
            </a:r>
          </a:p>
        </p:txBody>
      </p:sp>
      <p:sp>
        <p:nvSpPr>
          <p:cNvPr id="9" name="Oval 8"/>
          <p:cNvSpPr/>
          <p:nvPr/>
        </p:nvSpPr>
        <p:spPr>
          <a:xfrm>
            <a:off x="3840480" y="6501384"/>
            <a:ext cx="109728" cy="109728"/>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86784" y="6473952"/>
            <a:ext cx="1499616" cy="274320"/>
          </a:xfrm>
          <a:prstGeom prst="rect">
            <a:avLst/>
          </a:prstGeom>
          <a:noFill/>
        </p:spPr>
        <p:txBody>
          <a:bodyPr wrap="none" lIns="0" tIns="0" rIns="0" bIns="0">
            <a:spAutoFit/>
          </a:bodyPr>
          <a:lstStyle/>
          <a:p>
            <a:pPr>
              <a:defRPr sz="1100">
                <a:solidFill>
                  <a:srgbClr val="334155"/>
                </a:solidFill>
                <a:latin typeface="Calibri"/>
              </a:defRPr>
            </a:pPr>
            <a:r>
              <a:t>Moderator</a:t>
            </a:r>
          </a:p>
        </p:txBody>
      </p:sp>
      <p:sp>
        <p:nvSpPr>
          <p:cNvPr id="11" name="Oval 10"/>
          <p:cNvSpPr/>
          <p:nvPr/>
        </p:nvSpPr>
        <p:spPr>
          <a:xfrm>
            <a:off x="5486400" y="6501384"/>
            <a:ext cx="109728" cy="109728"/>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32704" y="6473952"/>
            <a:ext cx="1499616" cy="274320"/>
          </a:xfrm>
          <a:prstGeom prst="rect">
            <a:avLst/>
          </a:prstGeom>
          <a:noFill/>
        </p:spPr>
        <p:txBody>
          <a:bodyPr wrap="none" lIns="0" tIns="0" rIns="0" bIns="0">
            <a:spAutoFit/>
          </a:bodyPr>
          <a:lstStyle/>
          <a:p>
            <a:pPr>
              <a:defRPr sz="1100">
                <a:solidFill>
                  <a:srgbClr val="334155"/>
                </a:solidFill>
                <a:latin typeface="Calibri"/>
              </a:defRPr>
            </a:pPr>
            <a:r>
              <a:t>Org Manager</a:t>
            </a:r>
          </a:p>
        </p:txBody>
      </p:sp>
      <p:sp>
        <p:nvSpPr>
          <p:cNvPr id="13" name="Oval 12"/>
          <p:cNvSpPr/>
          <p:nvPr/>
        </p:nvSpPr>
        <p:spPr>
          <a:xfrm>
            <a:off x="7132320" y="6501384"/>
            <a:ext cx="109728" cy="10972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78624" y="6473952"/>
            <a:ext cx="1499616" cy="274320"/>
          </a:xfrm>
          <a:prstGeom prst="rect">
            <a:avLst/>
          </a:prstGeom>
          <a:noFill/>
        </p:spPr>
        <p:txBody>
          <a:bodyPr wrap="none" lIns="0" tIns="0" rIns="0" bIns="0">
            <a:spAutoFit/>
          </a:bodyPr>
          <a:lstStyle/>
          <a:p>
            <a:pPr>
              <a:defRPr sz="1100">
                <a:solidFill>
                  <a:srgbClr val="334155"/>
                </a:solidFill>
                <a:latin typeface="Calibri"/>
              </a:defRPr>
            </a:pPr>
            <a:r>
              <a:t>Operations Staff</a:t>
            </a:r>
          </a:p>
        </p:txBody>
      </p:sp>
      <p:sp>
        <p:nvSpPr>
          <p:cNvPr id="15" name="Oval 14"/>
          <p:cNvSpPr/>
          <p:nvPr/>
        </p:nvSpPr>
        <p:spPr>
          <a:xfrm>
            <a:off x="8778240" y="6501384"/>
            <a:ext cx="109728" cy="109728"/>
          </a:xfrm>
          <a:prstGeom prst="ellipse">
            <a:avLst/>
          </a:prstGeom>
          <a:solidFill>
            <a:srgbClr val="9F1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24544" y="6473952"/>
            <a:ext cx="1499616" cy="274320"/>
          </a:xfrm>
          <a:prstGeom prst="rect">
            <a:avLst/>
          </a:prstGeom>
          <a:noFill/>
        </p:spPr>
        <p:txBody>
          <a:bodyPr wrap="none" lIns="0" tIns="0" rIns="0" bIns="0">
            <a:spAutoFit/>
          </a:bodyPr>
          <a:lstStyle/>
          <a:p>
            <a:pPr>
              <a:defRPr sz="1100">
                <a:solidFill>
                  <a:srgbClr val="334155"/>
                </a:solidFill>
                <a:latin typeface="Calibri"/>
              </a:defRPr>
            </a:pPr>
            <a:r>
              <a:t>Administrator</a:t>
            </a:r>
          </a:p>
        </p:txBody>
      </p:sp>
      <p:sp>
        <p:nvSpPr>
          <p:cNvPr id="17" name="Rectangle 16"/>
          <p:cNvSpPr/>
          <p:nvPr/>
        </p:nvSpPr>
        <p:spPr>
          <a:xfrm>
            <a:off x="3010539" y="1371600"/>
            <a:ext cx="3122920" cy="4937760"/>
          </a:xfrm>
          <a:prstGeom prst="rect">
            <a:avLst/>
          </a:prstGeom>
          <a:no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04-usecase-content-admin.png"/>
          <p:cNvPicPr>
            <a:picLocks noChangeAspect="1"/>
          </p:cNvPicPr>
          <p:nvPr/>
        </p:nvPicPr>
        <p:blipFill>
          <a:blip r:embed="rId2"/>
          <a:stretch>
            <a:fillRect/>
          </a:stretch>
        </p:blipFill>
        <p:spPr>
          <a:xfrm>
            <a:off x="3010539" y="1371600"/>
            <a:ext cx="3122920" cy="4937760"/>
          </a:xfrm>
          <a:prstGeom prst="rect">
            <a:avLst/>
          </a:prstGeom>
        </p:spPr>
      </p:pic>
      <p:sp>
        <p:nvSpPr>
          <p:cNvPr id="19" name="Rectangle 18"/>
          <p:cNvSpPr/>
          <p:nvPr/>
        </p:nvSpPr>
        <p:spPr>
          <a:xfrm>
            <a:off x="8732520" y="1371600"/>
            <a:ext cx="12700" cy="48463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0" y="1371600"/>
            <a:ext cx="2743200" cy="4846320"/>
          </a:xfrm>
          <a:prstGeom prst="rect">
            <a:avLst/>
          </a:prstGeom>
          <a:noFill/>
        </p:spPr>
        <p:txBody>
          <a:bodyPr wrap="square" lIns="0" tIns="0" rIns="0" bIns="0">
            <a:spAutoFit/>
          </a:bodyPr>
          <a:lstStyle/>
          <a:p>
            <a:pPr>
              <a:spcAft>
                <a:spcPts val="1400"/>
              </a:spcAft>
              <a:defRPr sz="1100" b="1">
                <a:solidFill>
                  <a:srgbClr val="2563EB"/>
                </a:solidFill>
                <a:latin typeface="Calibri"/>
              </a:defRPr>
            </a:pPr>
            <a:r>
              <a:t>Ý CHÍNH</a:t>
            </a:r>
          </a:p>
          <a:p>
            <a:pPr>
              <a:spcAft>
                <a:spcPts val="1400"/>
              </a:spcAft>
              <a:defRPr sz="1300">
                <a:solidFill>
                  <a:srgbClr val="334155"/>
                </a:solidFill>
                <a:latin typeface="Calibri"/>
              </a:defRPr>
            </a:pPr>
            <a:r>
              <a:t>• Thực thi nguyên tắc SoD: Creator soạn bài, Moderator thẩm định, Org Manager xuất bản.</a:t>
            </a:r>
          </a:p>
          <a:p>
            <a:pPr>
              <a:spcAft>
                <a:spcPts val="1400"/>
              </a:spcAft>
              <a:defRPr sz="1300">
                <a:solidFill>
                  <a:srgbClr val="334155"/>
                </a:solidFill>
                <a:latin typeface="Calibri"/>
              </a:defRPr>
            </a:pPr>
            <a:r>
              <a:t>• Moderator chỉ chuyển trạng thái APPROVED hoặc CHANGES_REQUESTED kèm phản hồi chi tiết.</a:t>
            </a:r>
          </a:p>
          <a:p>
            <a:pPr>
              <a:spcAft>
                <a:spcPts val="1400"/>
              </a:spcAft>
              <a:defRPr sz="1300">
                <a:solidFill>
                  <a:srgbClr val="334155"/>
                </a:solidFill>
                <a:latin typeface="Calibri"/>
              </a:defRPr>
            </a:pPr>
            <a:r>
              <a:t>• Emergency Publish chỉ áp dụng cho bài đã APPROVED, bắt buộc giải trình vào AuditLog.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1094415" cy="868680"/>
          </a:xfrm>
          <a:prstGeom prst="rect">
            <a:avLst/>
          </a:prstGeom>
          <a:noFill/>
        </p:spPr>
        <p:txBody>
          <a:bodyPr wrap="square" lIns="0" tIns="0" rIns="0" bIns="0">
            <a:spAutoFit/>
          </a:bodyPr>
          <a:lstStyle/>
          <a:p>
            <a:pPr>
              <a:spcAft>
                <a:spcPts val="200"/>
              </a:spcAft>
              <a:defRPr sz="1200" b="1">
                <a:solidFill>
                  <a:srgbClr val="16A34A"/>
                </a:solidFill>
                <a:latin typeface="Calibri"/>
              </a:defRPr>
            </a:pPr>
            <a:r>
              <a:t>ACTIVITY</a:t>
            </a:r>
          </a:p>
          <a:p>
            <a:pPr>
              <a:defRPr sz="2800" b="1">
                <a:solidFill>
                  <a:srgbClr val="0F172A"/>
                </a:solidFill>
                <a:latin typeface="Calibri"/>
              </a:defRPr>
            </a:pPr>
            <a:r>
              <a:t>Sơ Đồ Hoạt Động — Đánh Giá Chẩn Đoán Đầu Vào (Placement)</a:t>
            </a:r>
          </a:p>
        </p:txBody>
      </p:sp>
      <p:sp>
        <p:nvSpPr>
          <p:cNvPr id="4" name="TextBox 3"/>
          <p:cNvSpPr txBox="1"/>
          <p:nvPr/>
        </p:nvSpPr>
        <p:spPr>
          <a:xfrm>
            <a:off x="10515600" y="6446520"/>
            <a:ext cx="1127455" cy="320040"/>
          </a:xfrm>
          <a:prstGeom prst="rect">
            <a:avLst/>
          </a:prstGeom>
          <a:noFill/>
        </p:spPr>
        <p:txBody>
          <a:bodyPr wrap="none" lIns="0" tIns="0" rIns="0" bIns="0">
            <a:spAutoFit/>
          </a:bodyPr>
          <a:lstStyle/>
          <a:p>
            <a:pPr algn="r">
              <a:defRPr sz="1000">
                <a:solidFill>
                  <a:srgbClr val="94A3B8"/>
                </a:solidFill>
                <a:latin typeface="Calibri"/>
              </a:defRPr>
            </a:pPr>
            <a:r>
              <a:t>6 / 12</a:t>
            </a:r>
          </a:p>
        </p:txBody>
      </p:sp>
      <p:sp>
        <p:nvSpPr>
          <p:cNvPr id="5" name="TextBox 4"/>
          <p:cNvSpPr txBox="1"/>
          <p:nvPr/>
        </p:nvSpPr>
        <p:spPr>
          <a:xfrm>
            <a:off x="548640" y="1280160"/>
            <a:ext cx="5394960" cy="274320"/>
          </a:xfrm>
          <a:prstGeom prst="rect">
            <a:avLst/>
          </a:prstGeom>
          <a:noFill/>
        </p:spPr>
        <p:txBody>
          <a:bodyPr wrap="none" lIns="0" tIns="0" rIns="0" bIns="0">
            <a:spAutoFit/>
          </a:bodyPr>
          <a:lstStyle/>
          <a:p>
            <a:pPr>
              <a:defRPr sz="1300" b="1">
                <a:solidFill>
                  <a:srgbClr val="0F172A"/>
                </a:solidFill>
                <a:latin typeface="Calibri"/>
              </a:defRPr>
            </a:pPr>
            <a:r>
              <a:t>Luồng Chẩn Đoán Chính (30 Câu Hỏi → Xác Định Vị Trí)</a:t>
            </a:r>
          </a:p>
        </p:txBody>
      </p:sp>
      <p:sp>
        <p:nvSpPr>
          <p:cNvPr id="6" name="Rectangle 5"/>
          <p:cNvSpPr/>
          <p:nvPr/>
        </p:nvSpPr>
        <p:spPr>
          <a:xfrm>
            <a:off x="1738875" y="1554480"/>
            <a:ext cx="3014488" cy="3657600"/>
          </a:xfrm>
          <a:prstGeom prst="rect">
            <a:avLst/>
          </a:prstGeom>
          <a:no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5a-activity-placement-flow.png"/>
          <p:cNvPicPr>
            <a:picLocks noChangeAspect="1"/>
          </p:cNvPicPr>
          <p:nvPr/>
        </p:nvPicPr>
        <p:blipFill>
          <a:blip r:embed="rId2"/>
          <a:stretch>
            <a:fillRect/>
          </a:stretch>
        </p:blipFill>
        <p:spPr>
          <a:xfrm>
            <a:off x="1738875" y="1554480"/>
            <a:ext cx="3014488" cy="3657600"/>
          </a:xfrm>
          <a:prstGeom prst="rect">
            <a:avLst/>
          </a:prstGeom>
        </p:spPr>
      </p:pic>
      <p:sp>
        <p:nvSpPr>
          <p:cNvPr id="8" name="TextBox 7"/>
          <p:cNvSpPr txBox="1"/>
          <p:nvPr/>
        </p:nvSpPr>
        <p:spPr>
          <a:xfrm>
            <a:off x="6248095" y="1280160"/>
            <a:ext cx="5394960" cy="274320"/>
          </a:xfrm>
          <a:prstGeom prst="rect">
            <a:avLst/>
          </a:prstGeom>
          <a:noFill/>
        </p:spPr>
        <p:txBody>
          <a:bodyPr wrap="none" lIns="0" tIns="0" rIns="0" bIns="0">
            <a:spAutoFit/>
          </a:bodyPr>
          <a:lstStyle/>
          <a:p>
            <a:pPr>
              <a:defRPr sz="1300" b="1">
                <a:solidFill>
                  <a:srgbClr val="0F172A"/>
                </a:solidFill>
                <a:latin typeface="Calibri"/>
              </a:defRPr>
            </a:pPr>
            <a:r>
              <a:t>Nhánh Bỏ Qua (Skip) &amp; Nhánh Thi Lại (Retake)</a:t>
            </a:r>
          </a:p>
        </p:txBody>
      </p:sp>
      <p:sp>
        <p:nvSpPr>
          <p:cNvPr id="9" name="Rectangle 8"/>
          <p:cNvSpPr/>
          <p:nvPr/>
        </p:nvSpPr>
        <p:spPr>
          <a:xfrm>
            <a:off x="6248095" y="2541792"/>
            <a:ext cx="5394960" cy="1682975"/>
          </a:xfrm>
          <a:prstGeom prst="rect">
            <a:avLst/>
          </a:prstGeom>
          <a:no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5b-activity-placement-branches.png"/>
          <p:cNvPicPr>
            <a:picLocks noChangeAspect="1"/>
          </p:cNvPicPr>
          <p:nvPr/>
        </p:nvPicPr>
        <p:blipFill>
          <a:blip r:embed="rId3"/>
          <a:stretch>
            <a:fillRect/>
          </a:stretch>
        </p:blipFill>
        <p:spPr>
          <a:xfrm>
            <a:off x="6248095" y="2541792"/>
            <a:ext cx="5394960" cy="1682975"/>
          </a:xfrm>
          <a:prstGeom prst="rect">
            <a:avLst/>
          </a:prstGeom>
        </p:spPr>
      </p:pic>
      <p:sp>
        <p:nvSpPr>
          <p:cNvPr id="11" name="TextBox 10"/>
          <p:cNvSpPr txBox="1"/>
          <p:nvPr/>
        </p:nvSpPr>
        <p:spPr>
          <a:xfrm>
            <a:off x="548640" y="5321808"/>
            <a:ext cx="3474720" cy="1051560"/>
          </a:xfrm>
          <a:prstGeom prst="rect">
            <a:avLst/>
          </a:prstGeom>
          <a:noFill/>
        </p:spPr>
        <p:txBody>
          <a:bodyPr wrap="square" lIns="0" tIns="0" rIns="0" bIns="0">
            <a:spAutoFit/>
          </a:bodyPr>
          <a:lstStyle/>
          <a:p>
            <a:pPr>
              <a:spcAft>
                <a:spcPts val="300"/>
              </a:spcAft>
              <a:defRPr sz="1300" b="1">
                <a:solidFill>
                  <a:srgbClr val="0F172A"/>
                </a:solidFill>
                <a:latin typeface="Calibri"/>
              </a:defRPr>
            </a:pPr>
            <a:r>
              <a:t>Quy mô 30 câu &amp; Mapping A</a:t>
            </a:r>
          </a:p>
          <a:p>
            <a:pPr>
              <a:defRPr sz="1200">
                <a:solidFill>
                  <a:srgbClr val="334155"/>
                </a:solidFill>
                <a:latin typeface="Calibri"/>
              </a:defRPr>
            </a:pPr>
            <a:r>
              <a:t>Đề thi 30 câu, thang điểm thô 0–30. Ánh xạ ra Starting Unit từ 1 đến 6 theo dải điểm chuẩn.</a:t>
            </a:r>
          </a:p>
        </p:txBody>
      </p:sp>
      <p:sp>
        <p:nvSpPr>
          <p:cNvPr id="12" name="TextBox 11"/>
          <p:cNvSpPr txBox="1"/>
          <p:nvPr/>
        </p:nvSpPr>
        <p:spPr>
          <a:xfrm>
            <a:off x="4352544" y="5321808"/>
            <a:ext cx="3474720" cy="1051560"/>
          </a:xfrm>
          <a:prstGeom prst="rect">
            <a:avLst/>
          </a:prstGeom>
          <a:noFill/>
        </p:spPr>
        <p:txBody>
          <a:bodyPr wrap="square" lIns="0" tIns="0" rIns="0" bIns="0">
            <a:spAutoFit/>
          </a:bodyPr>
          <a:lstStyle/>
          <a:p>
            <a:pPr>
              <a:spcAft>
                <a:spcPts val="300"/>
              </a:spcAft>
              <a:defRPr sz="1300" b="1">
                <a:solidFill>
                  <a:srgbClr val="0F172A"/>
                </a:solidFill>
                <a:latin typeface="Calibri"/>
              </a:defRPr>
            </a:pPr>
            <a:r>
              <a:t>Nhánh Bỏ qua (Skip Test)</a:t>
            </a:r>
          </a:p>
          <a:p>
            <a:pPr>
              <a:defRPr sz="1200">
                <a:solidFill>
                  <a:srgbClr val="334155"/>
                </a:solidFill>
                <a:latin typeface="Calibri"/>
              </a:defRPr>
            </a:pPr>
            <a:r>
              <a:t>Gán mặc định Unit 1 với trạng thái UNVERIFIED, không tạo bản ghi AssessmentResult hay SkillProfile.</a:t>
            </a:r>
          </a:p>
        </p:txBody>
      </p:sp>
      <p:sp>
        <p:nvSpPr>
          <p:cNvPr id="13" name="TextBox 12"/>
          <p:cNvSpPr txBox="1"/>
          <p:nvPr/>
        </p:nvSpPr>
        <p:spPr>
          <a:xfrm>
            <a:off x="8156448" y="5321808"/>
            <a:ext cx="3474720" cy="1051560"/>
          </a:xfrm>
          <a:prstGeom prst="rect">
            <a:avLst/>
          </a:prstGeom>
          <a:noFill/>
        </p:spPr>
        <p:txBody>
          <a:bodyPr wrap="square" lIns="0" tIns="0" rIns="0" bIns="0">
            <a:spAutoFit/>
          </a:bodyPr>
          <a:lstStyle/>
          <a:p>
            <a:pPr>
              <a:spcAft>
                <a:spcPts val="300"/>
              </a:spcAft>
              <a:defRPr sz="1300" b="1">
                <a:solidFill>
                  <a:srgbClr val="0F172A"/>
                </a:solidFill>
                <a:latin typeface="Calibri"/>
              </a:defRPr>
            </a:pPr>
            <a:r>
              <a:t>Nhánh Thi lại (Retake)</a:t>
            </a:r>
          </a:p>
          <a:p>
            <a:pPr>
              <a:defRPr sz="1200">
                <a:solidFill>
                  <a:srgbClr val="334155"/>
                </a:solidFill>
                <a:latin typeface="Calibri"/>
              </a:defRPr>
            </a:pPr>
            <a:r>
              <a:t>Kích hoạt từ Profile, lưu bản ghi mới độc lập mà không ghi đè lịch sử bài thi trước.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1094415" cy="868680"/>
          </a:xfrm>
          <a:prstGeom prst="rect">
            <a:avLst/>
          </a:prstGeom>
          <a:noFill/>
        </p:spPr>
        <p:txBody>
          <a:bodyPr wrap="square" lIns="0" tIns="0" rIns="0" bIns="0">
            <a:spAutoFit/>
          </a:bodyPr>
          <a:lstStyle/>
          <a:p>
            <a:pPr>
              <a:spcAft>
                <a:spcPts val="200"/>
              </a:spcAft>
              <a:defRPr sz="1200" b="1">
                <a:solidFill>
                  <a:srgbClr val="16A34A"/>
                </a:solidFill>
                <a:latin typeface="Calibri"/>
              </a:defRPr>
            </a:pPr>
            <a:r>
              <a:t>ACTIVITY</a:t>
            </a:r>
          </a:p>
          <a:p>
            <a:pPr>
              <a:defRPr sz="2800" b="1">
                <a:solidFill>
                  <a:srgbClr val="0F172A"/>
                </a:solidFill>
                <a:latin typeface="Calibri"/>
              </a:defRPr>
            </a:pPr>
            <a:r>
              <a:t>Sơ Đồ Hoạt Động — Chu Trình Học Bài &amp; Làm Lại Có Kiểm Soát</a:t>
            </a:r>
          </a:p>
        </p:txBody>
      </p:sp>
      <p:sp>
        <p:nvSpPr>
          <p:cNvPr id="4" name="TextBox 3"/>
          <p:cNvSpPr txBox="1"/>
          <p:nvPr/>
        </p:nvSpPr>
        <p:spPr>
          <a:xfrm>
            <a:off x="10515600" y="6446520"/>
            <a:ext cx="1127455" cy="320040"/>
          </a:xfrm>
          <a:prstGeom prst="rect">
            <a:avLst/>
          </a:prstGeom>
          <a:noFill/>
        </p:spPr>
        <p:txBody>
          <a:bodyPr wrap="none" lIns="0" tIns="0" rIns="0" bIns="0">
            <a:spAutoFit/>
          </a:bodyPr>
          <a:lstStyle/>
          <a:p>
            <a:pPr algn="r">
              <a:defRPr sz="1000">
                <a:solidFill>
                  <a:srgbClr val="94A3B8"/>
                </a:solidFill>
                <a:latin typeface="Calibri"/>
              </a:defRPr>
            </a:pPr>
            <a:r>
              <a:t>7 / 12</a:t>
            </a:r>
          </a:p>
        </p:txBody>
      </p:sp>
      <p:sp>
        <p:nvSpPr>
          <p:cNvPr id="5" name="TextBox 4"/>
          <p:cNvSpPr txBox="1"/>
          <p:nvPr/>
        </p:nvSpPr>
        <p:spPr>
          <a:xfrm>
            <a:off x="548640" y="1280160"/>
            <a:ext cx="5394960" cy="274320"/>
          </a:xfrm>
          <a:prstGeom prst="rect">
            <a:avLst/>
          </a:prstGeom>
          <a:noFill/>
        </p:spPr>
        <p:txBody>
          <a:bodyPr wrap="none" lIns="0" tIns="0" rIns="0" bIns="0">
            <a:spAutoFit/>
          </a:bodyPr>
          <a:lstStyle/>
          <a:p>
            <a:pPr>
              <a:defRPr sz="1300" b="1">
                <a:solidFill>
                  <a:srgbClr val="0F172A"/>
                </a:solidFill>
                <a:latin typeface="Calibri"/>
              </a:defRPr>
            </a:pPr>
            <a:r>
              <a:t>Luồng Học Chính (Kiểm Tra 4/4 Published → Viewer → Bài Tập)</a:t>
            </a:r>
          </a:p>
        </p:txBody>
      </p:sp>
      <p:sp>
        <p:nvSpPr>
          <p:cNvPr id="6" name="Rectangle 5"/>
          <p:cNvSpPr/>
          <p:nvPr/>
        </p:nvSpPr>
        <p:spPr>
          <a:xfrm>
            <a:off x="1174377" y="1554480"/>
            <a:ext cx="4143484" cy="3657600"/>
          </a:xfrm>
          <a:prstGeom prst="rect">
            <a:avLst/>
          </a:prstGeom>
          <a:no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6a-activity-learning-main.png"/>
          <p:cNvPicPr>
            <a:picLocks noChangeAspect="1"/>
          </p:cNvPicPr>
          <p:nvPr/>
        </p:nvPicPr>
        <p:blipFill>
          <a:blip r:embed="rId2"/>
          <a:stretch>
            <a:fillRect/>
          </a:stretch>
        </p:blipFill>
        <p:spPr>
          <a:xfrm>
            <a:off x="1174377" y="1554480"/>
            <a:ext cx="4143484" cy="3657600"/>
          </a:xfrm>
          <a:prstGeom prst="rect">
            <a:avLst/>
          </a:prstGeom>
        </p:spPr>
      </p:pic>
      <p:sp>
        <p:nvSpPr>
          <p:cNvPr id="8" name="TextBox 7"/>
          <p:cNvSpPr txBox="1"/>
          <p:nvPr/>
        </p:nvSpPr>
        <p:spPr>
          <a:xfrm>
            <a:off x="6248095" y="1280160"/>
            <a:ext cx="5394960" cy="274320"/>
          </a:xfrm>
          <a:prstGeom prst="rect">
            <a:avLst/>
          </a:prstGeom>
          <a:noFill/>
        </p:spPr>
        <p:txBody>
          <a:bodyPr wrap="none" lIns="0" tIns="0" rIns="0" bIns="0">
            <a:spAutoFit/>
          </a:bodyPr>
          <a:lstStyle/>
          <a:p>
            <a:pPr>
              <a:defRPr sz="1300" b="1">
                <a:solidFill>
                  <a:srgbClr val="0F172A"/>
                </a:solidFill>
                <a:latin typeface="Calibri"/>
              </a:defRPr>
            </a:pPr>
            <a:r>
              <a:t>Luồng Làm Lại Có Kiểm Soát (Controlled Retry Flow)</a:t>
            </a:r>
          </a:p>
        </p:txBody>
      </p:sp>
      <p:sp>
        <p:nvSpPr>
          <p:cNvPr id="9" name="Rectangle 8"/>
          <p:cNvSpPr/>
          <p:nvPr/>
        </p:nvSpPr>
        <p:spPr>
          <a:xfrm>
            <a:off x="6850607" y="1554480"/>
            <a:ext cx="4189935" cy="3657600"/>
          </a:xfrm>
          <a:prstGeom prst="rect">
            <a:avLst/>
          </a:prstGeom>
          <a:no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6b-activity-learning-retry.png"/>
          <p:cNvPicPr>
            <a:picLocks noChangeAspect="1"/>
          </p:cNvPicPr>
          <p:nvPr/>
        </p:nvPicPr>
        <p:blipFill>
          <a:blip r:embed="rId3"/>
          <a:stretch>
            <a:fillRect/>
          </a:stretch>
        </p:blipFill>
        <p:spPr>
          <a:xfrm>
            <a:off x="6850607" y="1554480"/>
            <a:ext cx="4189935" cy="3657600"/>
          </a:xfrm>
          <a:prstGeom prst="rect">
            <a:avLst/>
          </a:prstGeom>
        </p:spPr>
      </p:pic>
      <p:sp>
        <p:nvSpPr>
          <p:cNvPr id="11" name="TextBox 10"/>
          <p:cNvSpPr txBox="1"/>
          <p:nvPr/>
        </p:nvSpPr>
        <p:spPr>
          <a:xfrm>
            <a:off x="548640" y="5321808"/>
            <a:ext cx="3474720" cy="1051560"/>
          </a:xfrm>
          <a:prstGeom prst="rect">
            <a:avLst/>
          </a:prstGeom>
          <a:noFill/>
        </p:spPr>
        <p:txBody>
          <a:bodyPr wrap="square" lIns="0" tIns="0" rIns="0" bIns="0">
            <a:spAutoFit/>
          </a:bodyPr>
          <a:lstStyle/>
          <a:p>
            <a:pPr>
              <a:spcAft>
                <a:spcPts val="300"/>
              </a:spcAft>
              <a:defRPr sz="1300" b="1">
                <a:solidFill>
                  <a:srgbClr val="0F172A"/>
                </a:solidFill>
                <a:latin typeface="Calibri"/>
              </a:defRPr>
            </a:pPr>
            <a:r>
              <a:t>Điều kiện hiển thị Unit</a:t>
            </a:r>
          </a:p>
          <a:p>
            <a:pPr>
              <a:defRPr sz="1200">
                <a:solidFill>
                  <a:srgbClr val="334155"/>
                </a:solidFill>
                <a:latin typeface="Calibri"/>
              </a:defRPr>
            </a:pPr>
            <a:r>
              <a:t>Unit chỉ hiển thị mở khóa khi đủ 4/4 Lesson Published, bảo đảm tính trọn vẹn sư phạm.</a:t>
            </a:r>
          </a:p>
        </p:txBody>
      </p:sp>
      <p:sp>
        <p:nvSpPr>
          <p:cNvPr id="12" name="TextBox 11"/>
          <p:cNvSpPr txBox="1"/>
          <p:nvPr/>
        </p:nvSpPr>
        <p:spPr>
          <a:xfrm>
            <a:off x="4352544" y="5321808"/>
            <a:ext cx="3474720" cy="1051560"/>
          </a:xfrm>
          <a:prstGeom prst="rect">
            <a:avLst/>
          </a:prstGeom>
          <a:noFill/>
        </p:spPr>
        <p:txBody>
          <a:bodyPr wrap="square" lIns="0" tIns="0" rIns="0" bIns="0">
            <a:spAutoFit/>
          </a:bodyPr>
          <a:lstStyle/>
          <a:p>
            <a:pPr>
              <a:spcAft>
                <a:spcPts val="300"/>
              </a:spcAft>
              <a:defRPr sz="1300" b="1">
                <a:solidFill>
                  <a:srgbClr val="0F172A"/>
                </a:solidFill>
                <a:latin typeface="Calibri"/>
              </a:defRPr>
            </a:pPr>
            <a:r>
              <a:t>Viewer trước bài tập</a:t>
            </a:r>
          </a:p>
          <a:p>
            <a:pPr>
              <a:defRPr sz="1200">
                <a:solidFill>
                  <a:srgbClr val="334155"/>
                </a:solidFill>
                <a:latin typeface="Calibri"/>
              </a:defRPr>
            </a:pPr>
            <a:r>
              <a:t>Học viên bắt buộc học lý thuyết từ vựng qua Lesson Content Viewer trước khi nộp đáp án.</a:t>
            </a:r>
          </a:p>
        </p:txBody>
      </p:sp>
      <p:sp>
        <p:nvSpPr>
          <p:cNvPr id="13" name="TextBox 12"/>
          <p:cNvSpPr txBox="1"/>
          <p:nvPr/>
        </p:nvSpPr>
        <p:spPr>
          <a:xfrm>
            <a:off x="8156448" y="5321808"/>
            <a:ext cx="3474720" cy="1051560"/>
          </a:xfrm>
          <a:prstGeom prst="rect">
            <a:avLst/>
          </a:prstGeom>
          <a:noFill/>
        </p:spPr>
        <p:txBody>
          <a:bodyPr wrap="square" lIns="0" tIns="0" rIns="0" bIns="0">
            <a:spAutoFit/>
          </a:bodyPr>
          <a:lstStyle/>
          <a:p>
            <a:pPr>
              <a:spcAft>
                <a:spcPts val="300"/>
              </a:spcAft>
              <a:defRPr sz="1300" b="1">
                <a:solidFill>
                  <a:srgbClr val="0F172A"/>
                </a:solidFill>
                <a:latin typeface="Calibri"/>
              </a:defRPr>
            </a:pPr>
            <a:r>
              <a:t>Quy chế Retry có kiểm soát</a:t>
            </a:r>
          </a:p>
          <a:p>
            <a:pPr>
              <a:defRPr sz="1200">
                <a:solidFill>
                  <a:srgbClr val="334155"/>
                </a:solidFill>
                <a:latin typeface="Calibri"/>
              </a:defRPr>
            </a:pPr>
            <a:r>
              <a:t>Sai khi retry quay lại giải thích; hết hạn mức báo No quota; làm lại đúng ghi nhận ≤ 70% credit.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1094415" cy="868680"/>
          </a:xfrm>
          <a:prstGeom prst="rect">
            <a:avLst/>
          </a:prstGeom>
          <a:noFill/>
        </p:spPr>
        <p:txBody>
          <a:bodyPr wrap="square" lIns="0" tIns="0" rIns="0" bIns="0">
            <a:spAutoFit/>
          </a:bodyPr>
          <a:lstStyle/>
          <a:p>
            <a:pPr>
              <a:spcAft>
                <a:spcPts val="200"/>
              </a:spcAft>
              <a:defRPr sz="1200" b="1">
                <a:solidFill>
                  <a:srgbClr val="16A34A"/>
                </a:solidFill>
                <a:latin typeface="Calibri"/>
              </a:defRPr>
            </a:pPr>
            <a:r>
              <a:t>ACTIVITY</a:t>
            </a:r>
          </a:p>
          <a:p>
            <a:pPr>
              <a:defRPr sz="2800" b="1">
                <a:solidFill>
                  <a:srgbClr val="0F172A"/>
                </a:solidFill>
                <a:latin typeface="Calibri"/>
              </a:defRPr>
            </a:pPr>
            <a:r>
              <a:t>Sơ Đồ Hoạt Động — Thử Thách Nhảy Cấp (Conditional Jump)</a:t>
            </a:r>
          </a:p>
        </p:txBody>
      </p:sp>
      <p:sp>
        <p:nvSpPr>
          <p:cNvPr id="4" name="TextBox 3"/>
          <p:cNvSpPr txBox="1"/>
          <p:nvPr/>
        </p:nvSpPr>
        <p:spPr>
          <a:xfrm>
            <a:off x="10515600" y="6446520"/>
            <a:ext cx="1127455" cy="320040"/>
          </a:xfrm>
          <a:prstGeom prst="rect">
            <a:avLst/>
          </a:prstGeom>
          <a:noFill/>
        </p:spPr>
        <p:txBody>
          <a:bodyPr wrap="none" lIns="0" tIns="0" rIns="0" bIns="0">
            <a:spAutoFit/>
          </a:bodyPr>
          <a:lstStyle/>
          <a:p>
            <a:pPr algn="r">
              <a:defRPr sz="1000">
                <a:solidFill>
                  <a:srgbClr val="94A3B8"/>
                </a:solidFill>
                <a:latin typeface="Calibri"/>
              </a:defRPr>
            </a:pPr>
            <a:r>
              <a:t>8 / 12</a:t>
            </a:r>
          </a:p>
        </p:txBody>
      </p:sp>
      <p:sp>
        <p:nvSpPr>
          <p:cNvPr id="5" name="TextBox 4"/>
          <p:cNvSpPr txBox="1"/>
          <p:nvPr/>
        </p:nvSpPr>
        <p:spPr>
          <a:xfrm>
            <a:off x="548640" y="1280160"/>
            <a:ext cx="5394960" cy="274320"/>
          </a:xfrm>
          <a:prstGeom prst="rect">
            <a:avLst/>
          </a:prstGeom>
          <a:noFill/>
        </p:spPr>
        <p:txBody>
          <a:bodyPr wrap="none" lIns="0" tIns="0" rIns="0" bIns="0">
            <a:spAutoFit/>
          </a:bodyPr>
          <a:lstStyle/>
          <a:p>
            <a:pPr>
              <a:defRPr sz="1300" b="1">
                <a:solidFill>
                  <a:srgbClr val="0F172A"/>
                </a:solidFill>
                <a:latin typeface="Calibri"/>
              </a:defRPr>
            </a:pPr>
            <a:r>
              <a:t>Kiểm Tra Cooldown 24h &amp; Làm Bài Thi Jump</a:t>
            </a:r>
          </a:p>
        </p:txBody>
      </p:sp>
      <p:sp>
        <p:nvSpPr>
          <p:cNvPr id="6" name="Rectangle 5"/>
          <p:cNvSpPr/>
          <p:nvPr/>
        </p:nvSpPr>
        <p:spPr>
          <a:xfrm>
            <a:off x="925027" y="1554480"/>
            <a:ext cx="4642184" cy="3657600"/>
          </a:xfrm>
          <a:prstGeom prst="rect">
            <a:avLst/>
          </a:prstGeom>
          <a:no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7a-activity-jump-check.png"/>
          <p:cNvPicPr>
            <a:picLocks noChangeAspect="1"/>
          </p:cNvPicPr>
          <p:nvPr/>
        </p:nvPicPr>
        <p:blipFill>
          <a:blip r:embed="rId2"/>
          <a:stretch>
            <a:fillRect/>
          </a:stretch>
        </p:blipFill>
        <p:spPr>
          <a:xfrm>
            <a:off x="925027" y="1554480"/>
            <a:ext cx="4642184" cy="3657600"/>
          </a:xfrm>
          <a:prstGeom prst="rect">
            <a:avLst/>
          </a:prstGeom>
        </p:spPr>
      </p:pic>
      <p:sp>
        <p:nvSpPr>
          <p:cNvPr id="8" name="TextBox 7"/>
          <p:cNvSpPr txBox="1"/>
          <p:nvPr/>
        </p:nvSpPr>
        <p:spPr>
          <a:xfrm>
            <a:off x="6248095" y="1280160"/>
            <a:ext cx="5394960" cy="274320"/>
          </a:xfrm>
          <a:prstGeom prst="rect">
            <a:avLst/>
          </a:prstGeom>
          <a:noFill/>
        </p:spPr>
        <p:txBody>
          <a:bodyPr wrap="none" lIns="0" tIns="0" rIns="0" bIns="0">
            <a:spAutoFit/>
          </a:bodyPr>
          <a:lstStyle/>
          <a:p>
            <a:pPr>
              <a:defRPr sz="1300" b="1">
                <a:solidFill>
                  <a:srgbClr val="0F172A"/>
                </a:solidFill>
                <a:latin typeface="Calibri"/>
              </a:defRPr>
            </a:pPr>
            <a:r>
              <a:t>Xử Lý Kết Quả: Vượt Cấp (Đỗ ≥95%) vs Khóa Phạt 24h</a:t>
            </a:r>
          </a:p>
        </p:txBody>
      </p:sp>
      <p:sp>
        <p:nvSpPr>
          <p:cNvPr id="9" name="Rectangle 8"/>
          <p:cNvSpPr/>
          <p:nvPr/>
        </p:nvSpPr>
        <p:spPr>
          <a:xfrm>
            <a:off x="6248095" y="2088350"/>
            <a:ext cx="5394960" cy="2589858"/>
          </a:xfrm>
          <a:prstGeom prst="rect">
            <a:avLst/>
          </a:prstGeom>
          <a:no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7b-activity-jump-result.png"/>
          <p:cNvPicPr>
            <a:picLocks noChangeAspect="1"/>
          </p:cNvPicPr>
          <p:nvPr/>
        </p:nvPicPr>
        <p:blipFill>
          <a:blip r:embed="rId3"/>
          <a:stretch>
            <a:fillRect/>
          </a:stretch>
        </p:blipFill>
        <p:spPr>
          <a:xfrm>
            <a:off x="6248095" y="2088350"/>
            <a:ext cx="5394960" cy="2589858"/>
          </a:xfrm>
          <a:prstGeom prst="rect">
            <a:avLst/>
          </a:prstGeom>
        </p:spPr>
      </p:pic>
      <p:sp>
        <p:nvSpPr>
          <p:cNvPr id="11" name="TextBox 10"/>
          <p:cNvSpPr txBox="1"/>
          <p:nvPr/>
        </p:nvSpPr>
        <p:spPr>
          <a:xfrm>
            <a:off x="548640" y="5321808"/>
            <a:ext cx="3474720" cy="1051560"/>
          </a:xfrm>
          <a:prstGeom prst="rect">
            <a:avLst/>
          </a:prstGeom>
          <a:noFill/>
        </p:spPr>
        <p:txBody>
          <a:bodyPr wrap="square" lIns="0" tIns="0" rIns="0" bIns="0">
            <a:spAutoFit/>
          </a:bodyPr>
          <a:lstStyle/>
          <a:p>
            <a:pPr>
              <a:spcAft>
                <a:spcPts val="300"/>
              </a:spcAft>
              <a:defRPr sz="1300" b="1">
                <a:solidFill>
                  <a:srgbClr val="0F172A"/>
                </a:solidFill>
                <a:latin typeface="Calibri"/>
              </a:defRPr>
            </a:pPr>
            <a:r>
              <a:t>Kiểm tra thời gian chờ</a:t>
            </a:r>
          </a:p>
          <a:p>
            <a:pPr>
              <a:defRPr sz="1200">
                <a:solidFill>
                  <a:srgbClr val="334155"/>
                </a:solidFill>
                <a:latin typeface="Calibri"/>
              </a:defRPr>
            </a:pPr>
            <a:r>
              <a:t>Chặn làm bài nếu đang trong thời gian phạt Cooldown 24 giờ sau lần thi không đạt gần nhất.</a:t>
            </a:r>
          </a:p>
        </p:txBody>
      </p:sp>
      <p:sp>
        <p:nvSpPr>
          <p:cNvPr id="12" name="TextBox 11"/>
          <p:cNvSpPr txBox="1"/>
          <p:nvPr/>
        </p:nvSpPr>
        <p:spPr>
          <a:xfrm>
            <a:off x="4352544" y="5321808"/>
            <a:ext cx="3474720" cy="1051560"/>
          </a:xfrm>
          <a:prstGeom prst="rect">
            <a:avLst/>
          </a:prstGeom>
          <a:noFill/>
        </p:spPr>
        <p:txBody>
          <a:bodyPr wrap="square" lIns="0" tIns="0" rIns="0" bIns="0">
            <a:spAutoFit/>
          </a:bodyPr>
          <a:lstStyle/>
          <a:p>
            <a:pPr>
              <a:spcAft>
                <a:spcPts val="300"/>
              </a:spcAft>
              <a:defRPr sz="1300" b="1">
                <a:solidFill>
                  <a:srgbClr val="0F172A"/>
                </a:solidFill>
                <a:latin typeface="Calibri"/>
              </a:defRPr>
            </a:pPr>
            <a:r>
              <a:t>Quy mô bài thi Jump</a:t>
            </a:r>
          </a:p>
          <a:p>
            <a:pPr>
              <a:defRPr sz="1200">
                <a:solidFill>
                  <a:srgbClr val="334155"/>
                </a:solidFill>
                <a:latin typeface="Calibri"/>
              </a:defRPr>
            </a:pPr>
            <a:r>
              <a:t>Đề thi gồm 20 câu (nhảy 1 Unit), 25–30 câu (nhảy 2–3 Units), hoặc 40 câu (nhảy hơn 3 Units).</a:t>
            </a:r>
          </a:p>
        </p:txBody>
      </p:sp>
      <p:sp>
        <p:nvSpPr>
          <p:cNvPr id="13" name="TextBox 12"/>
          <p:cNvSpPr txBox="1"/>
          <p:nvPr/>
        </p:nvSpPr>
        <p:spPr>
          <a:xfrm>
            <a:off x="8156448" y="5321808"/>
            <a:ext cx="3474720" cy="1051560"/>
          </a:xfrm>
          <a:prstGeom prst="rect">
            <a:avLst/>
          </a:prstGeom>
          <a:noFill/>
        </p:spPr>
        <p:txBody>
          <a:bodyPr wrap="square" lIns="0" tIns="0" rIns="0" bIns="0">
            <a:spAutoFit/>
          </a:bodyPr>
          <a:lstStyle/>
          <a:p>
            <a:pPr>
              <a:spcAft>
                <a:spcPts val="300"/>
              </a:spcAft>
              <a:defRPr sz="1300" b="1">
                <a:solidFill>
                  <a:srgbClr val="0F172A"/>
                </a:solidFill>
                <a:latin typeface="Calibri"/>
              </a:defRPr>
            </a:pPr>
            <a:r>
              <a:t>Xử lý kết quả đỗ và trượt</a:t>
            </a:r>
          </a:p>
          <a:p>
            <a:pPr>
              <a:defRPr sz="1200">
                <a:solidFill>
                  <a:srgbClr val="334155"/>
                </a:solidFill>
                <a:latin typeface="Calibri"/>
              </a:defRPr>
            </a:pPr>
            <a:r>
              <a:t>Đạt ≥ 95% gán SKIPPED_BY_JUMP (by_jump = true) cho nội dung nhảy qua; trượt khóa làm lại 24 giờ.</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1094415" cy="868680"/>
          </a:xfrm>
          <a:prstGeom prst="rect">
            <a:avLst/>
          </a:prstGeom>
          <a:noFill/>
        </p:spPr>
        <p:txBody>
          <a:bodyPr wrap="square" lIns="0" tIns="0" rIns="0" bIns="0">
            <a:spAutoFit/>
          </a:bodyPr>
          <a:lstStyle/>
          <a:p>
            <a:pPr>
              <a:spcAft>
                <a:spcPts val="200"/>
              </a:spcAft>
              <a:defRPr sz="1200" b="1">
                <a:solidFill>
                  <a:srgbClr val="16A34A"/>
                </a:solidFill>
                <a:latin typeface="Calibri"/>
              </a:defRPr>
            </a:pPr>
            <a:r>
              <a:t>ACTIVITY</a:t>
            </a:r>
          </a:p>
          <a:p>
            <a:pPr>
              <a:defRPr sz="2800" b="1">
                <a:solidFill>
                  <a:srgbClr val="0F172A"/>
                </a:solidFill>
                <a:latin typeface="Calibri"/>
              </a:defRPr>
            </a:pPr>
            <a:r>
              <a:t>Sơ Đồ Hoạt Động — Quản Trị &amp; Xuất Bản Nội Dung</a:t>
            </a:r>
          </a:p>
        </p:txBody>
      </p:sp>
      <p:sp>
        <p:nvSpPr>
          <p:cNvPr id="4" name="TextBox 3"/>
          <p:cNvSpPr txBox="1"/>
          <p:nvPr/>
        </p:nvSpPr>
        <p:spPr>
          <a:xfrm>
            <a:off x="10515600" y="6446520"/>
            <a:ext cx="1127455" cy="320040"/>
          </a:xfrm>
          <a:prstGeom prst="rect">
            <a:avLst/>
          </a:prstGeom>
          <a:noFill/>
        </p:spPr>
        <p:txBody>
          <a:bodyPr wrap="none" lIns="0" tIns="0" rIns="0" bIns="0">
            <a:spAutoFit/>
          </a:bodyPr>
          <a:lstStyle/>
          <a:p>
            <a:pPr algn="r">
              <a:defRPr sz="1000">
                <a:solidFill>
                  <a:srgbClr val="94A3B8"/>
                </a:solidFill>
                <a:latin typeface="Calibri"/>
              </a:defRPr>
            </a:pPr>
            <a:r>
              <a:t>9 / 12</a:t>
            </a:r>
          </a:p>
        </p:txBody>
      </p:sp>
      <p:sp>
        <p:nvSpPr>
          <p:cNvPr id="5" name="Oval 4"/>
          <p:cNvSpPr/>
          <p:nvPr/>
        </p:nvSpPr>
        <p:spPr>
          <a:xfrm>
            <a:off x="548640" y="6501384"/>
            <a:ext cx="109728" cy="10972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6473952"/>
            <a:ext cx="1499616" cy="274320"/>
          </a:xfrm>
          <a:prstGeom prst="rect">
            <a:avLst/>
          </a:prstGeom>
          <a:noFill/>
        </p:spPr>
        <p:txBody>
          <a:bodyPr wrap="none" lIns="0" tIns="0" rIns="0" bIns="0">
            <a:spAutoFit/>
          </a:bodyPr>
          <a:lstStyle/>
          <a:p>
            <a:pPr>
              <a:defRPr sz="1100">
                <a:solidFill>
                  <a:srgbClr val="334155"/>
                </a:solidFill>
                <a:latin typeface="Calibri"/>
              </a:defRPr>
            </a:pPr>
            <a:r>
              <a:t>Learner</a:t>
            </a:r>
          </a:p>
        </p:txBody>
      </p:sp>
      <p:sp>
        <p:nvSpPr>
          <p:cNvPr id="7" name="Oval 6"/>
          <p:cNvSpPr/>
          <p:nvPr/>
        </p:nvSpPr>
        <p:spPr>
          <a:xfrm>
            <a:off x="2194560" y="6501384"/>
            <a:ext cx="109728" cy="10972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40864" y="6473952"/>
            <a:ext cx="1499616" cy="274320"/>
          </a:xfrm>
          <a:prstGeom prst="rect">
            <a:avLst/>
          </a:prstGeom>
          <a:noFill/>
        </p:spPr>
        <p:txBody>
          <a:bodyPr wrap="none" lIns="0" tIns="0" rIns="0" bIns="0">
            <a:spAutoFit/>
          </a:bodyPr>
          <a:lstStyle/>
          <a:p>
            <a:pPr>
              <a:defRPr sz="1100">
                <a:solidFill>
                  <a:srgbClr val="334155"/>
                </a:solidFill>
                <a:latin typeface="Calibri"/>
              </a:defRPr>
            </a:pPr>
            <a:r>
              <a:t>Lesson Creator</a:t>
            </a:r>
          </a:p>
        </p:txBody>
      </p:sp>
      <p:sp>
        <p:nvSpPr>
          <p:cNvPr id="9" name="Oval 8"/>
          <p:cNvSpPr/>
          <p:nvPr/>
        </p:nvSpPr>
        <p:spPr>
          <a:xfrm>
            <a:off x="3840480" y="6501384"/>
            <a:ext cx="109728" cy="109728"/>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86784" y="6473952"/>
            <a:ext cx="1499616" cy="274320"/>
          </a:xfrm>
          <a:prstGeom prst="rect">
            <a:avLst/>
          </a:prstGeom>
          <a:noFill/>
        </p:spPr>
        <p:txBody>
          <a:bodyPr wrap="none" lIns="0" tIns="0" rIns="0" bIns="0">
            <a:spAutoFit/>
          </a:bodyPr>
          <a:lstStyle/>
          <a:p>
            <a:pPr>
              <a:defRPr sz="1100">
                <a:solidFill>
                  <a:srgbClr val="334155"/>
                </a:solidFill>
                <a:latin typeface="Calibri"/>
              </a:defRPr>
            </a:pPr>
            <a:r>
              <a:t>Moderator</a:t>
            </a:r>
          </a:p>
        </p:txBody>
      </p:sp>
      <p:sp>
        <p:nvSpPr>
          <p:cNvPr id="11" name="Oval 10"/>
          <p:cNvSpPr/>
          <p:nvPr/>
        </p:nvSpPr>
        <p:spPr>
          <a:xfrm>
            <a:off x="5486400" y="6501384"/>
            <a:ext cx="109728" cy="109728"/>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32704" y="6473952"/>
            <a:ext cx="1499616" cy="274320"/>
          </a:xfrm>
          <a:prstGeom prst="rect">
            <a:avLst/>
          </a:prstGeom>
          <a:noFill/>
        </p:spPr>
        <p:txBody>
          <a:bodyPr wrap="none" lIns="0" tIns="0" rIns="0" bIns="0">
            <a:spAutoFit/>
          </a:bodyPr>
          <a:lstStyle/>
          <a:p>
            <a:pPr>
              <a:defRPr sz="1100">
                <a:solidFill>
                  <a:srgbClr val="334155"/>
                </a:solidFill>
                <a:latin typeface="Calibri"/>
              </a:defRPr>
            </a:pPr>
            <a:r>
              <a:t>Org Manager</a:t>
            </a:r>
          </a:p>
        </p:txBody>
      </p:sp>
      <p:sp>
        <p:nvSpPr>
          <p:cNvPr id="13" name="Oval 12"/>
          <p:cNvSpPr/>
          <p:nvPr/>
        </p:nvSpPr>
        <p:spPr>
          <a:xfrm>
            <a:off x="7132320" y="6501384"/>
            <a:ext cx="109728" cy="109728"/>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78624" y="6473952"/>
            <a:ext cx="1499616" cy="274320"/>
          </a:xfrm>
          <a:prstGeom prst="rect">
            <a:avLst/>
          </a:prstGeom>
          <a:noFill/>
        </p:spPr>
        <p:txBody>
          <a:bodyPr wrap="none" lIns="0" tIns="0" rIns="0" bIns="0">
            <a:spAutoFit/>
          </a:bodyPr>
          <a:lstStyle/>
          <a:p>
            <a:pPr>
              <a:defRPr sz="1100">
                <a:solidFill>
                  <a:srgbClr val="334155"/>
                </a:solidFill>
                <a:latin typeface="Calibri"/>
              </a:defRPr>
            </a:pPr>
            <a:r>
              <a:t>Operations Staff</a:t>
            </a:r>
          </a:p>
        </p:txBody>
      </p:sp>
      <p:sp>
        <p:nvSpPr>
          <p:cNvPr id="15" name="Oval 14"/>
          <p:cNvSpPr/>
          <p:nvPr/>
        </p:nvSpPr>
        <p:spPr>
          <a:xfrm>
            <a:off x="8778240" y="6501384"/>
            <a:ext cx="109728" cy="109728"/>
          </a:xfrm>
          <a:prstGeom prst="ellipse">
            <a:avLst/>
          </a:prstGeom>
          <a:solidFill>
            <a:srgbClr val="9F12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24544" y="6473952"/>
            <a:ext cx="1499616" cy="274320"/>
          </a:xfrm>
          <a:prstGeom prst="rect">
            <a:avLst/>
          </a:prstGeom>
          <a:noFill/>
        </p:spPr>
        <p:txBody>
          <a:bodyPr wrap="none" lIns="0" tIns="0" rIns="0" bIns="0">
            <a:spAutoFit/>
          </a:bodyPr>
          <a:lstStyle/>
          <a:p>
            <a:pPr>
              <a:defRPr sz="1100">
                <a:solidFill>
                  <a:srgbClr val="334155"/>
                </a:solidFill>
                <a:latin typeface="Calibri"/>
              </a:defRPr>
            </a:pPr>
            <a:r>
              <a:t>Administrator</a:t>
            </a:r>
          </a:p>
        </p:txBody>
      </p:sp>
      <p:sp>
        <p:nvSpPr>
          <p:cNvPr id="17" name="TextBox 16"/>
          <p:cNvSpPr txBox="1"/>
          <p:nvPr/>
        </p:nvSpPr>
        <p:spPr>
          <a:xfrm>
            <a:off x="548640" y="1280160"/>
            <a:ext cx="5394960" cy="274320"/>
          </a:xfrm>
          <a:prstGeom prst="rect">
            <a:avLst/>
          </a:prstGeom>
          <a:noFill/>
        </p:spPr>
        <p:txBody>
          <a:bodyPr wrap="none" lIns="0" tIns="0" rIns="0" bIns="0">
            <a:spAutoFit/>
          </a:bodyPr>
          <a:lstStyle/>
          <a:p>
            <a:pPr>
              <a:defRPr sz="1300" b="1">
                <a:solidFill>
                  <a:srgbClr val="0F172A"/>
                </a:solidFill>
                <a:latin typeface="Calibri"/>
              </a:defRPr>
            </a:pPr>
            <a:r>
              <a:t>Quy Trình Phê Duyệt &amp; Xuất Bản Chính Thức</a:t>
            </a:r>
          </a:p>
        </p:txBody>
      </p:sp>
      <p:sp>
        <p:nvSpPr>
          <p:cNvPr id="18" name="Rectangle 17"/>
          <p:cNvSpPr/>
          <p:nvPr/>
        </p:nvSpPr>
        <p:spPr>
          <a:xfrm>
            <a:off x="548640" y="2205846"/>
            <a:ext cx="5394960" cy="2354866"/>
          </a:xfrm>
          <a:prstGeom prst="rect">
            <a:avLst/>
          </a:prstGeom>
          <a:no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08a-activity-governance-main.png"/>
          <p:cNvPicPr>
            <a:picLocks noChangeAspect="1"/>
          </p:cNvPicPr>
          <p:nvPr/>
        </p:nvPicPr>
        <p:blipFill>
          <a:blip r:embed="rId2"/>
          <a:stretch>
            <a:fillRect/>
          </a:stretch>
        </p:blipFill>
        <p:spPr>
          <a:xfrm>
            <a:off x="548640" y="2205846"/>
            <a:ext cx="5394960" cy="2354866"/>
          </a:xfrm>
          <a:prstGeom prst="rect">
            <a:avLst/>
          </a:prstGeom>
        </p:spPr>
      </p:pic>
      <p:sp>
        <p:nvSpPr>
          <p:cNvPr id="20" name="TextBox 19"/>
          <p:cNvSpPr txBox="1"/>
          <p:nvPr/>
        </p:nvSpPr>
        <p:spPr>
          <a:xfrm>
            <a:off x="6248095" y="1280160"/>
            <a:ext cx="5394960" cy="274320"/>
          </a:xfrm>
          <a:prstGeom prst="rect">
            <a:avLst/>
          </a:prstGeom>
          <a:noFill/>
        </p:spPr>
        <p:txBody>
          <a:bodyPr wrap="none" lIns="0" tIns="0" rIns="0" bIns="0">
            <a:spAutoFit/>
          </a:bodyPr>
          <a:lstStyle/>
          <a:p>
            <a:pPr>
              <a:defRPr sz="1300" b="1">
                <a:solidFill>
                  <a:srgbClr val="0F172A"/>
                </a:solidFill>
                <a:latin typeface="Calibri"/>
              </a:defRPr>
            </a:pPr>
            <a:r>
              <a:t>Cơ Chế Clone-to-Draft &amp; Xuất Bản Khẩn Cấp</a:t>
            </a:r>
          </a:p>
        </p:txBody>
      </p:sp>
      <p:sp>
        <p:nvSpPr>
          <p:cNvPr id="21" name="Rectangle 20"/>
          <p:cNvSpPr/>
          <p:nvPr/>
        </p:nvSpPr>
        <p:spPr>
          <a:xfrm>
            <a:off x="6248095" y="1742200"/>
            <a:ext cx="5394960" cy="3282158"/>
          </a:xfrm>
          <a:prstGeom prst="rect">
            <a:avLst/>
          </a:prstGeom>
          <a:no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08b-activity-governance-branches.png"/>
          <p:cNvPicPr>
            <a:picLocks noChangeAspect="1"/>
          </p:cNvPicPr>
          <p:nvPr/>
        </p:nvPicPr>
        <p:blipFill>
          <a:blip r:embed="rId3"/>
          <a:stretch>
            <a:fillRect/>
          </a:stretch>
        </p:blipFill>
        <p:spPr>
          <a:xfrm>
            <a:off x="6248095" y="1742200"/>
            <a:ext cx="5394960" cy="3282158"/>
          </a:xfrm>
          <a:prstGeom prst="rect">
            <a:avLst/>
          </a:prstGeom>
        </p:spPr>
      </p:pic>
      <p:sp>
        <p:nvSpPr>
          <p:cNvPr id="23" name="TextBox 22"/>
          <p:cNvSpPr txBox="1"/>
          <p:nvPr/>
        </p:nvSpPr>
        <p:spPr>
          <a:xfrm>
            <a:off x="548640" y="5321808"/>
            <a:ext cx="3474720" cy="1051560"/>
          </a:xfrm>
          <a:prstGeom prst="rect">
            <a:avLst/>
          </a:prstGeom>
          <a:noFill/>
        </p:spPr>
        <p:txBody>
          <a:bodyPr wrap="square" lIns="0" tIns="0" rIns="0" bIns="0">
            <a:spAutoFit/>
          </a:bodyPr>
          <a:lstStyle/>
          <a:p>
            <a:pPr>
              <a:spcAft>
                <a:spcPts val="300"/>
              </a:spcAft>
              <a:defRPr sz="1300" b="1">
                <a:solidFill>
                  <a:srgbClr val="0F172A"/>
                </a:solidFill>
                <a:latin typeface="Calibri"/>
              </a:defRPr>
            </a:pPr>
            <a:r>
              <a:t>Phê duyệt độc lập</a:t>
            </a:r>
          </a:p>
          <a:p>
            <a:pPr>
              <a:defRPr sz="1200">
                <a:solidFill>
                  <a:srgbClr val="334155"/>
                </a:solidFill>
                <a:latin typeface="Calibri"/>
              </a:defRPr>
            </a:pPr>
            <a:r>
              <a:t>Moderator chuyển trạng thái APPROVED hoặc CHANGES_REQUESTED kèm ghi chú, không có quyền xuất bản.</a:t>
            </a:r>
          </a:p>
        </p:txBody>
      </p:sp>
      <p:sp>
        <p:nvSpPr>
          <p:cNvPr id="24" name="TextBox 23"/>
          <p:cNvSpPr txBox="1"/>
          <p:nvPr/>
        </p:nvSpPr>
        <p:spPr>
          <a:xfrm>
            <a:off x="4352544" y="5321808"/>
            <a:ext cx="3474720" cy="1051560"/>
          </a:xfrm>
          <a:prstGeom prst="rect">
            <a:avLst/>
          </a:prstGeom>
          <a:noFill/>
        </p:spPr>
        <p:txBody>
          <a:bodyPr wrap="square" lIns="0" tIns="0" rIns="0" bIns="0">
            <a:spAutoFit/>
          </a:bodyPr>
          <a:lstStyle/>
          <a:p>
            <a:pPr>
              <a:spcAft>
                <a:spcPts val="300"/>
              </a:spcAft>
              <a:defRPr sz="1300" b="1">
                <a:solidFill>
                  <a:srgbClr val="0F172A"/>
                </a:solidFill>
                <a:latin typeface="Calibri"/>
              </a:defRPr>
            </a:pPr>
            <a:r>
              <a:t>Quyền xuất bản của Org Manager</a:t>
            </a:r>
          </a:p>
          <a:p>
            <a:pPr>
              <a:defRPr sz="1200">
                <a:solidFill>
                  <a:srgbClr val="334155"/>
                </a:solidFill>
                <a:latin typeface="Calibri"/>
              </a:defRPr>
            </a:pPr>
            <a:r>
              <a:t>Org Manager là tác nhân duy nhất có thẩm quyền xuất bản chính thức học liệu đã duyệt.</a:t>
            </a:r>
          </a:p>
        </p:txBody>
      </p:sp>
      <p:sp>
        <p:nvSpPr>
          <p:cNvPr id="25" name="TextBox 24"/>
          <p:cNvSpPr txBox="1"/>
          <p:nvPr/>
        </p:nvSpPr>
        <p:spPr>
          <a:xfrm>
            <a:off x="8156448" y="5321808"/>
            <a:ext cx="3474720" cy="1051560"/>
          </a:xfrm>
          <a:prstGeom prst="rect">
            <a:avLst/>
          </a:prstGeom>
          <a:noFill/>
        </p:spPr>
        <p:txBody>
          <a:bodyPr wrap="square" lIns="0" tIns="0" rIns="0" bIns="0">
            <a:spAutoFit/>
          </a:bodyPr>
          <a:lstStyle/>
          <a:p>
            <a:pPr>
              <a:spcAft>
                <a:spcPts val="300"/>
              </a:spcAft>
              <a:defRPr sz="1300" b="1">
                <a:solidFill>
                  <a:srgbClr val="0F172A"/>
                </a:solidFill>
                <a:latin typeface="Calibri"/>
              </a:defRPr>
            </a:pPr>
            <a:r>
              <a:t>Bảo toàn lịch sử &amp; Audit</a:t>
            </a:r>
          </a:p>
          <a:p>
            <a:pPr>
              <a:defRPr sz="1200">
                <a:solidFill>
                  <a:srgbClr val="334155"/>
                </a:solidFill>
                <a:latin typeface="Calibri"/>
              </a:defRPr>
            </a:pPr>
            <a:r>
              <a:t>Sửa bài qua Clone-to-Draft v2 và bắt buộc Archive v1 sau khi Publish v2; Admin xuất bản có AuditLog.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1094415" cy="868680"/>
          </a:xfrm>
          <a:prstGeom prst="rect">
            <a:avLst/>
          </a:prstGeom>
          <a:noFill/>
        </p:spPr>
        <p:txBody>
          <a:bodyPr wrap="square" lIns="0" tIns="0" rIns="0" bIns="0">
            <a:spAutoFit/>
          </a:bodyPr>
          <a:lstStyle/>
          <a:p>
            <a:pPr>
              <a:spcAft>
                <a:spcPts val="200"/>
              </a:spcAft>
              <a:defRPr sz="1200" b="1">
                <a:solidFill>
                  <a:srgbClr val="7C3AED"/>
                </a:solidFill>
                <a:latin typeface="Calibri"/>
              </a:defRPr>
            </a:pPr>
            <a:r>
              <a:t>CLASS</a:t>
            </a:r>
          </a:p>
          <a:p>
            <a:pPr>
              <a:defRPr sz="2800" b="1">
                <a:solidFill>
                  <a:srgbClr val="0F172A"/>
                </a:solidFill>
                <a:latin typeface="Calibri"/>
              </a:defRPr>
            </a:pPr>
            <a:r>
              <a:t>Sơ Đồ Lớp — Phân Hệ Cấu Trúc Nội Dung &amp; Khóa Học</a:t>
            </a:r>
          </a:p>
        </p:txBody>
      </p:sp>
      <p:sp>
        <p:nvSpPr>
          <p:cNvPr id="4" name="TextBox 3"/>
          <p:cNvSpPr txBox="1"/>
          <p:nvPr/>
        </p:nvSpPr>
        <p:spPr>
          <a:xfrm>
            <a:off x="10515600" y="6446520"/>
            <a:ext cx="1127455" cy="320040"/>
          </a:xfrm>
          <a:prstGeom prst="rect">
            <a:avLst/>
          </a:prstGeom>
          <a:noFill/>
        </p:spPr>
        <p:txBody>
          <a:bodyPr wrap="none" lIns="0" tIns="0" rIns="0" bIns="0">
            <a:spAutoFit/>
          </a:bodyPr>
          <a:lstStyle/>
          <a:p>
            <a:pPr algn="r">
              <a:defRPr sz="1000">
                <a:solidFill>
                  <a:srgbClr val="94A3B8"/>
                </a:solidFill>
                <a:latin typeface="Calibri"/>
              </a:defRPr>
            </a:pPr>
            <a:r>
              <a:t>10 / 12</a:t>
            </a:r>
          </a:p>
        </p:txBody>
      </p:sp>
      <p:sp>
        <p:nvSpPr>
          <p:cNvPr id="5" name="Rectangle 4"/>
          <p:cNvSpPr/>
          <p:nvPr/>
        </p:nvSpPr>
        <p:spPr>
          <a:xfrm>
            <a:off x="548640" y="1758690"/>
            <a:ext cx="8046720" cy="4163578"/>
          </a:xfrm>
          <a:prstGeom prst="rect">
            <a:avLst/>
          </a:prstGeom>
          <a:no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9-class-content.png"/>
          <p:cNvPicPr>
            <a:picLocks noChangeAspect="1"/>
          </p:cNvPicPr>
          <p:nvPr/>
        </p:nvPicPr>
        <p:blipFill>
          <a:blip r:embed="rId2"/>
          <a:stretch>
            <a:fillRect/>
          </a:stretch>
        </p:blipFill>
        <p:spPr>
          <a:xfrm>
            <a:off x="548640" y="1758690"/>
            <a:ext cx="8046720" cy="4163578"/>
          </a:xfrm>
          <a:prstGeom prst="rect">
            <a:avLst/>
          </a:prstGeom>
        </p:spPr>
      </p:pic>
      <p:sp>
        <p:nvSpPr>
          <p:cNvPr id="7" name="Rectangle 6"/>
          <p:cNvSpPr/>
          <p:nvPr/>
        </p:nvSpPr>
        <p:spPr>
          <a:xfrm>
            <a:off x="8732520" y="1371600"/>
            <a:ext cx="12700" cy="48463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0" y="1371600"/>
            <a:ext cx="2743200" cy="4846320"/>
          </a:xfrm>
          <a:prstGeom prst="rect">
            <a:avLst/>
          </a:prstGeom>
          <a:noFill/>
        </p:spPr>
        <p:txBody>
          <a:bodyPr wrap="square" lIns="0" tIns="0" rIns="0" bIns="0">
            <a:spAutoFit/>
          </a:bodyPr>
          <a:lstStyle/>
          <a:p>
            <a:pPr>
              <a:spcAft>
                <a:spcPts val="1400"/>
              </a:spcAft>
              <a:defRPr sz="1100" b="1">
                <a:solidFill>
                  <a:srgbClr val="7C3AED"/>
                </a:solidFill>
                <a:latin typeface="Calibri"/>
              </a:defRPr>
            </a:pPr>
            <a:r>
              <a:t>Ý CHÍNH</a:t>
            </a:r>
          </a:p>
          <a:p>
            <a:pPr>
              <a:spcAft>
                <a:spcPts val="1400"/>
              </a:spcAft>
              <a:defRPr sz="1300">
                <a:solidFill>
                  <a:srgbClr val="334155"/>
                </a:solidFill>
                <a:latin typeface="Calibri"/>
              </a:defRPr>
            </a:pPr>
            <a:r>
              <a:t>• Phân định rõ thực thể CURRENT trong schema.prisma và TARGET phục vụ quản trị phiên bản.</a:t>
            </a:r>
          </a:p>
          <a:p>
            <a:pPr>
              <a:spcAft>
                <a:spcPts val="1400"/>
              </a:spcAft>
              <a:defRPr sz="1300">
                <a:solidFill>
                  <a:srgbClr val="334155"/>
                </a:solidFill>
                <a:latin typeface="Calibri"/>
              </a:defRPr>
            </a:pPr>
            <a:r>
              <a:t>• LessonRevision quản lý đủ 6 trạng thái vòng đời: DRAFT, IN_REVIEW, CHANGES_REQUESTED, APPROVED, PUBLISHED, ARCHIVED.</a:t>
            </a:r>
          </a:p>
          <a:p>
            <a:pPr>
              <a:spcAft>
                <a:spcPts val="1400"/>
              </a:spcAft>
              <a:defRPr sz="1300">
                <a:solidFill>
                  <a:srgbClr val="334155"/>
                </a:solidFill>
                <a:latin typeface="Calibri"/>
              </a:defRPr>
            </a:pPr>
            <a:r>
              <a:t>• Exercise liên kết với LessonRevision và Unit tuân thủ ràng buộc hiển thị khi đủ 4/4 bài học.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1094415" cy="868680"/>
          </a:xfrm>
          <a:prstGeom prst="rect">
            <a:avLst/>
          </a:prstGeom>
          <a:noFill/>
        </p:spPr>
        <p:txBody>
          <a:bodyPr wrap="square" lIns="0" tIns="0" rIns="0" bIns="0">
            <a:spAutoFit/>
          </a:bodyPr>
          <a:lstStyle/>
          <a:p>
            <a:pPr>
              <a:spcAft>
                <a:spcPts val="200"/>
              </a:spcAft>
              <a:defRPr sz="1200" b="1">
                <a:solidFill>
                  <a:srgbClr val="7C3AED"/>
                </a:solidFill>
                <a:latin typeface="Calibri"/>
              </a:defRPr>
            </a:pPr>
            <a:r>
              <a:t>CLASS</a:t>
            </a:r>
          </a:p>
          <a:p>
            <a:pPr>
              <a:defRPr sz="2800" b="1">
                <a:solidFill>
                  <a:srgbClr val="0F172A"/>
                </a:solidFill>
                <a:latin typeface="Calibri"/>
              </a:defRPr>
            </a:pPr>
            <a:r>
              <a:t>Sơ Đồ Lớp — Phân Hệ Học Viên, Đánh Giá &amp; Tiến Độ</a:t>
            </a:r>
          </a:p>
        </p:txBody>
      </p:sp>
      <p:sp>
        <p:nvSpPr>
          <p:cNvPr id="4" name="TextBox 3"/>
          <p:cNvSpPr txBox="1"/>
          <p:nvPr/>
        </p:nvSpPr>
        <p:spPr>
          <a:xfrm>
            <a:off x="10515600" y="6446520"/>
            <a:ext cx="1127455" cy="320040"/>
          </a:xfrm>
          <a:prstGeom prst="rect">
            <a:avLst/>
          </a:prstGeom>
          <a:noFill/>
        </p:spPr>
        <p:txBody>
          <a:bodyPr wrap="none" lIns="0" tIns="0" rIns="0" bIns="0">
            <a:spAutoFit/>
          </a:bodyPr>
          <a:lstStyle/>
          <a:p>
            <a:pPr algn="r">
              <a:defRPr sz="1000">
                <a:solidFill>
                  <a:srgbClr val="94A3B8"/>
                </a:solidFill>
                <a:latin typeface="Calibri"/>
              </a:defRPr>
            </a:pPr>
            <a:r>
              <a:t>11 / 12</a:t>
            </a:r>
          </a:p>
        </p:txBody>
      </p:sp>
      <p:sp>
        <p:nvSpPr>
          <p:cNvPr id="5" name="Rectangle 4"/>
          <p:cNvSpPr/>
          <p:nvPr/>
        </p:nvSpPr>
        <p:spPr>
          <a:xfrm>
            <a:off x="548640" y="1467815"/>
            <a:ext cx="8046720" cy="4745329"/>
          </a:xfrm>
          <a:prstGeom prst="rect">
            <a:avLst/>
          </a:prstGeom>
          <a:no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10-class-learner-assessment.png"/>
          <p:cNvPicPr>
            <a:picLocks noChangeAspect="1"/>
          </p:cNvPicPr>
          <p:nvPr/>
        </p:nvPicPr>
        <p:blipFill>
          <a:blip r:embed="rId2"/>
          <a:stretch>
            <a:fillRect/>
          </a:stretch>
        </p:blipFill>
        <p:spPr>
          <a:xfrm>
            <a:off x="548640" y="1467815"/>
            <a:ext cx="8046720" cy="4745329"/>
          </a:xfrm>
          <a:prstGeom prst="rect">
            <a:avLst/>
          </a:prstGeom>
        </p:spPr>
      </p:pic>
      <p:sp>
        <p:nvSpPr>
          <p:cNvPr id="7" name="Rectangle 6"/>
          <p:cNvSpPr/>
          <p:nvPr/>
        </p:nvSpPr>
        <p:spPr>
          <a:xfrm>
            <a:off x="8732520" y="1371600"/>
            <a:ext cx="12700" cy="484632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0" y="1371600"/>
            <a:ext cx="2743200" cy="4846320"/>
          </a:xfrm>
          <a:prstGeom prst="rect">
            <a:avLst/>
          </a:prstGeom>
          <a:noFill/>
        </p:spPr>
        <p:txBody>
          <a:bodyPr wrap="square" lIns="0" tIns="0" rIns="0" bIns="0">
            <a:spAutoFit/>
          </a:bodyPr>
          <a:lstStyle/>
          <a:p>
            <a:pPr>
              <a:spcAft>
                <a:spcPts val="1400"/>
              </a:spcAft>
              <a:defRPr sz="1100" b="1">
                <a:solidFill>
                  <a:srgbClr val="7C3AED"/>
                </a:solidFill>
                <a:latin typeface="Calibri"/>
              </a:defRPr>
            </a:pPr>
            <a:r>
              <a:t>Ý CHÍNH</a:t>
            </a:r>
          </a:p>
          <a:p>
            <a:pPr>
              <a:spcAft>
                <a:spcPts val="1400"/>
              </a:spcAft>
              <a:defRPr sz="1300">
                <a:solidFill>
                  <a:srgbClr val="334155"/>
                </a:solidFill>
                <a:latin typeface="Calibri"/>
              </a:defRPr>
            </a:pPr>
            <a:r>
              <a:t>• Tách biệt bất biến giữa UserProgress (tiến độ tuyến tính) và SkillProfile (năng lực đa chiều).</a:t>
            </a:r>
          </a:p>
          <a:p>
            <a:pPr>
              <a:spcAft>
                <a:spcPts val="1400"/>
              </a:spcAft>
              <a:defRPr sz="1300">
                <a:solidFill>
                  <a:srgbClr val="334155"/>
                </a:solidFill>
                <a:latin typeface="Calibri"/>
              </a:defRPr>
            </a:pPr>
            <a:r>
              <a:t>• Thuật toán ôn tập SRS tất định theo Policy B với các chu kỳ cố định 1, 3, 7, 14, 30 ngày.</a:t>
            </a:r>
          </a:p>
          <a:p>
            <a:pPr>
              <a:spcAft>
                <a:spcPts val="1400"/>
              </a:spcAft>
              <a:defRPr sz="1300">
                <a:solidFill>
                  <a:srgbClr val="334155"/>
                </a:solidFill>
                <a:latin typeface="Calibri"/>
              </a:defRPr>
            </a:pPr>
            <a:r>
              <a:t>• Các trạng thái về hạn mức Retry và thời gian chờ Jump được ghi chú trực tiếp tại UserProgress.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1094415" cy="868680"/>
          </a:xfrm>
          <a:prstGeom prst="rect">
            <a:avLst/>
          </a:prstGeom>
          <a:noFill/>
        </p:spPr>
        <p:txBody>
          <a:bodyPr wrap="square" lIns="0" tIns="0" rIns="0" bIns="0">
            <a:spAutoFit/>
          </a:bodyPr>
          <a:lstStyle/>
          <a:p>
            <a:pPr>
              <a:spcAft>
                <a:spcPts val="200"/>
              </a:spcAft>
              <a:defRPr sz="1200" b="1">
                <a:solidFill>
                  <a:srgbClr val="334155"/>
                </a:solidFill>
                <a:latin typeface="Calibri"/>
              </a:defRPr>
            </a:pPr>
            <a:r>
              <a:t>TRACEABILITY</a:t>
            </a:r>
          </a:p>
          <a:p>
            <a:pPr>
              <a:defRPr sz="2800" b="1">
                <a:solidFill>
                  <a:srgbClr val="0F172A"/>
                </a:solidFill>
                <a:latin typeface="Calibri"/>
              </a:defRPr>
            </a:pPr>
            <a:r>
              <a:t>Ma Trận Truy Vết Nghiệp Vụ Toàn Diện (Traceability Matrix)</a:t>
            </a:r>
          </a:p>
        </p:txBody>
      </p:sp>
      <p:sp>
        <p:nvSpPr>
          <p:cNvPr id="4" name="TextBox 3"/>
          <p:cNvSpPr txBox="1"/>
          <p:nvPr/>
        </p:nvSpPr>
        <p:spPr>
          <a:xfrm>
            <a:off x="10515600" y="6446520"/>
            <a:ext cx="1127455" cy="320040"/>
          </a:xfrm>
          <a:prstGeom prst="rect">
            <a:avLst/>
          </a:prstGeom>
          <a:noFill/>
        </p:spPr>
        <p:txBody>
          <a:bodyPr wrap="none" lIns="0" tIns="0" rIns="0" bIns="0">
            <a:spAutoFit/>
          </a:bodyPr>
          <a:lstStyle/>
          <a:p>
            <a:pPr algn="r">
              <a:defRPr sz="1000">
                <a:solidFill>
                  <a:srgbClr val="94A3B8"/>
                </a:solidFill>
                <a:latin typeface="Calibri"/>
              </a:defRPr>
            </a:pPr>
            <a:r>
              <a:t>12 / 12</a:t>
            </a:r>
          </a:p>
        </p:txBody>
      </p:sp>
      <p:graphicFrame>
        <p:nvGraphicFramePr>
          <p:cNvPr id="5" name="Table 4"/>
          <p:cNvGraphicFramePr>
            <a:graphicFrameLocks noGrp="1"/>
          </p:cNvGraphicFramePr>
          <p:nvPr/>
        </p:nvGraphicFramePr>
        <p:xfrm>
          <a:off x="548640" y="1325880"/>
          <a:ext cx="11094415" cy="4709160"/>
        </p:xfrm>
        <a:graphic>
          <a:graphicData uri="http://schemas.openxmlformats.org/drawingml/2006/table">
            <a:tbl>
              <a:tblPr firstRow="1" bandRow="1">
                <a:tableStyleId>{5C22544A-7EE6-4342-B048-85BDC9FD1C3A}</a:tableStyleId>
              </a:tblPr>
              <a:tblGrid>
                <a:gridCol w="1005840"/>
                <a:gridCol w="3291840"/>
                <a:gridCol w="2103120"/>
                <a:gridCol w="2560320"/>
                <a:gridCol w="2133295"/>
              </a:tblGrid>
              <a:tr h="294322">
                <a:tc>
                  <a:txBody>
                    <a:bodyPr/>
                    <a:lstStyle/>
                    <a:p>
                      <a:pPr algn="ctr">
                        <a:defRPr sz="1200" b="1">
                          <a:solidFill>
                            <a:srgbClr val="FFFFFF"/>
                          </a:solidFill>
                          <a:latin typeface="Calibri"/>
                        </a:defRPr>
                      </a:pPr>
                      <a:r>
                        <a:t>UC ID</a:t>
                      </a:r>
                    </a:p>
                  </a:txBody>
                  <a:tcPr marT="36576" marB="36576" marL="73152" marR="73152">
                    <a:solidFill>
                      <a:srgbClr val="0F172A"/>
                    </a:solidFill>
                  </a:tcPr>
                </a:tc>
                <a:tc>
                  <a:txBody>
                    <a:bodyPr/>
                    <a:lstStyle/>
                    <a:p>
                      <a:pPr algn="ctr">
                        <a:defRPr sz="1200" b="1">
                          <a:solidFill>
                            <a:srgbClr val="FFFFFF"/>
                          </a:solidFill>
                          <a:latin typeface="Calibri"/>
                        </a:defRPr>
                      </a:pPr>
                      <a:r>
                        <a:t>Tên Ca Sử Dụng (Use Case)</a:t>
                      </a:r>
                    </a:p>
                  </a:txBody>
                  <a:tcPr marT="36576" marB="36576" marL="73152" marR="73152">
                    <a:solidFill>
                      <a:srgbClr val="0F172A"/>
                    </a:solidFill>
                  </a:tcPr>
                </a:tc>
                <a:tc>
                  <a:txBody>
                    <a:bodyPr/>
                    <a:lstStyle/>
                    <a:p>
                      <a:pPr algn="ctr">
                        <a:defRPr sz="1200" b="1">
                          <a:solidFill>
                            <a:srgbClr val="FFFFFF"/>
                          </a:solidFill>
                          <a:latin typeface="Calibri"/>
                        </a:defRPr>
                      </a:pPr>
                      <a:r>
                        <a:t>Sơ Đồ Hoạt Động</a:t>
                      </a:r>
                    </a:p>
                  </a:txBody>
                  <a:tcPr marT="36576" marB="36576" marL="73152" marR="73152">
                    <a:solidFill>
                      <a:srgbClr val="0F172A"/>
                    </a:solidFill>
                  </a:tcPr>
                </a:tc>
                <a:tc>
                  <a:txBody>
                    <a:bodyPr/>
                    <a:lstStyle/>
                    <a:p>
                      <a:pPr algn="ctr">
                        <a:defRPr sz="1200" b="1">
                          <a:solidFill>
                            <a:srgbClr val="FFFFFF"/>
                          </a:solidFill>
                          <a:latin typeface="Calibri"/>
                        </a:defRPr>
                      </a:pPr>
                      <a:r>
                        <a:t>Lớp Dữ Liệu</a:t>
                      </a:r>
                    </a:p>
                  </a:txBody>
                  <a:tcPr marT="36576" marB="36576" marL="73152" marR="73152">
                    <a:solidFill>
                      <a:srgbClr val="0F172A"/>
                    </a:solidFill>
                  </a:tcPr>
                </a:tc>
                <a:tc>
                  <a:txBody>
                    <a:bodyPr/>
                    <a:lstStyle/>
                    <a:p>
                      <a:pPr algn="ctr">
                        <a:defRPr sz="1200" b="1">
                          <a:solidFill>
                            <a:srgbClr val="FFFFFF"/>
                          </a:solidFill>
                          <a:latin typeface="Calibri"/>
                        </a:defRPr>
                      </a:pPr>
                      <a:r>
                        <a:t>Phạm Vi Triển Khai</a:t>
                      </a:r>
                    </a:p>
                  </a:txBody>
                  <a:tcPr marT="36576" marB="36576" marL="73152" marR="73152">
                    <a:solidFill>
                      <a:srgbClr val="0F172A"/>
                    </a:solidFill>
                  </a:tcPr>
                </a:tc>
              </a:tr>
              <a:tr h="294322">
                <a:tc>
                  <a:txBody>
                    <a:bodyPr/>
                    <a:lstStyle/>
                    <a:p>
                      <a:pPr algn="ctr">
                        <a:defRPr sz="1200" b="1">
                          <a:solidFill>
                            <a:srgbClr val="2563EB"/>
                          </a:solidFill>
                          <a:latin typeface="Calibri"/>
                        </a:defRPr>
                      </a:pPr>
                      <a:r>
                        <a:t>UC-01</a:t>
                      </a:r>
                    </a:p>
                  </a:txBody>
                  <a:tcPr marT="18288" marB="18288" marL="54864" marR="54864">
                    <a:solidFill>
                      <a:srgbClr val="FFFFFF"/>
                    </a:solidFill>
                  </a:tcPr>
                </a:tc>
                <a:tc>
                  <a:txBody>
                    <a:bodyPr/>
                    <a:lstStyle/>
                    <a:p>
                      <a:pPr>
                        <a:defRPr sz="1200">
                          <a:solidFill>
                            <a:srgbClr val="334155"/>
                          </a:solidFill>
                          <a:latin typeface="Calibri"/>
                        </a:defRPr>
                      </a:pPr>
                      <a:r>
                        <a:t>Authenticate &amp; Manage Session</a:t>
                      </a:r>
                    </a:p>
                  </a:txBody>
                  <a:tcPr marT="18288" marB="18288" marL="54864" marR="54864">
                    <a:solidFill>
                      <a:srgbClr val="FFFFFF"/>
                    </a:solidFill>
                  </a:tcPr>
                </a:tc>
                <a:tc>
                  <a:txBody>
                    <a:bodyPr/>
                    <a:lstStyle/>
                    <a:p>
                      <a:pPr>
                        <a:defRPr sz="1200">
                          <a:solidFill>
                            <a:srgbClr val="334155"/>
                          </a:solidFill>
                          <a:latin typeface="Calibri"/>
                        </a:defRPr>
                      </a:pPr>
                      <a:r>
                        <a:t>—</a:t>
                      </a:r>
                    </a:p>
                  </a:txBody>
                  <a:tcPr marT="18288" marB="18288" marL="54864" marR="54864">
                    <a:solidFill>
                      <a:srgbClr val="FFFFFF"/>
                    </a:solidFill>
                  </a:tcPr>
                </a:tc>
                <a:tc>
                  <a:txBody>
                    <a:bodyPr/>
                    <a:lstStyle/>
                    <a:p>
                      <a:pPr>
                        <a:defRPr sz="1200">
                          <a:solidFill>
                            <a:srgbClr val="334155"/>
                          </a:solidFill>
                          <a:latin typeface="Calibri"/>
                        </a:defRPr>
                      </a:pPr>
                      <a:r>
                        <a:t>Profile, Role</a:t>
                      </a:r>
                    </a:p>
                  </a:txBody>
                  <a:tcPr marT="18288" marB="18288" marL="54864" marR="54864">
                    <a:solidFill>
                      <a:srgbClr val="FFFFFF"/>
                    </a:solidFill>
                  </a:tcPr>
                </a:tc>
                <a:tc>
                  <a:txBody>
                    <a:bodyPr/>
                    <a:lstStyle/>
                    <a:p>
                      <a:pPr algn="ctr">
                        <a:defRPr sz="1200" b="1">
                          <a:solidFill>
                            <a:srgbClr val="16A34A"/>
                          </a:solidFill>
                          <a:latin typeface="Calibri"/>
                        </a:defRPr>
                      </a:pPr>
                      <a:r>
                        <a:t>CORE (Phase 2 MVP)</a:t>
                      </a:r>
                    </a:p>
                  </a:txBody>
                  <a:tcPr marT="18288" marB="18288" marL="54864" marR="54864">
                    <a:solidFill>
                      <a:srgbClr val="FFFFFF"/>
                    </a:solidFill>
                  </a:tcPr>
                </a:tc>
              </a:tr>
              <a:tr h="294322">
                <a:tc>
                  <a:txBody>
                    <a:bodyPr/>
                    <a:lstStyle/>
                    <a:p>
                      <a:pPr algn="ctr">
                        <a:defRPr sz="1200" b="1">
                          <a:solidFill>
                            <a:srgbClr val="2563EB"/>
                          </a:solidFill>
                          <a:latin typeface="Calibri"/>
                        </a:defRPr>
                      </a:pPr>
                      <a:r>
                        <a:t>UC-02</a:t>
                      </a:r>
                    </a:p>
                  </a:txBody>
                  <a:tcPr marT="18288" marB="18288" marL="54864" marR="54864">
                    <a:solidFill>
                      <a:srgbClr val="F8FAFC"/>
                    </a:solidFill>
                  </a:tcPr>
                </a:tc>
                <a:tc>
                  <a:txBody>
                    <a:bodyPr/>
                    <a:lstStyle/>
                    <a:p>
                      <a:pPr>
                        <a:defRPr sz="1200">
                          <a:solidFill>
                            <a:srgbClr val="334155"/>
                          </a:solidFill>
                          <a:latin typeface="Calibri"/>
                        </a:defRPr>
                      </a:pPr>
                      <a:r>
                        <a:t>Configure Goals &amp; Study Time</a:t>
                      </a:r>
                    </a:p>
                  </a:txBody>
                  <a:tcPr marT="18288" marB="18288" marL="54864" marR="54864">
                    <a:solidFill>
                      <a:srgbClr val="F8FAFC"/>
                    </a:solidFill>
                  </a:tcPr>
                </a:tc>
                <a:tc>
                  <a:txBody>
                    <a:bodyPr/>
                    <a:lstStyle/>
                    <a:p>
                      <a:pPr>
                        <a:defRPr sz="1200">
                          <a:solidFill>
                            <a:srgbClr val="334155"/>
                          </a:solidFill>
                          <a:latin typeface="Calibri"/>
                        </a:defRPr>
                      </a:pPr>
                      <a:r>
                        <a:t>—</a:t>
                      </a:r>
                    </a:p>
                  </a:txBody>
                  <a:tcPr marT="18288" marB="18288" marL="54864" marR="54864">
                    <a:solidFill>
                      <a:srgbClr val="F8FAFC"/>
                    </a:solidFill>
                  </a:tcPr>
                </a:tc>
                <a:tc>
                  <a:txBody>
                    <a:bodyPr/>
                    <a:lstStyle/>
                    <a:p>
                      <a:pPr>
                        <a:defRPr sz="1200">
                          <a:solidFill>
                            <a:srgbClr val="334155"/>
                          </a:solidFill>
                          <a:latin typeface="Calibri"/>
                        </a:defRPr>
                      </a:pPr>
                      <a:r>
                        <a:t>Profile</a:t>
                      </a:r>
                    </a:p>
                  </a:txBody>
                  <a:tcPr marT="18288" marB="18288" marL="54864" marR="54864">
                    <a:solidFill>
                      <a:srgbClr val="F8FAFC"/>
                    </a:solidFill>
                  </a:tcPr>
                </a:tc>
                <a:tc>
                  <a:txBody>
                    <a:bodyPr/>
                    <a:lstStyle/>
                    <a:p>
                      <a:pPr algn="ctr">
                        <a:defRPr sz="1200" b="1">
                          <a:solidFill>
                            <a:srgbClr val="16A34A"/>
                          </a:solidFill>
                          <a:latin typeface="Calibri"/>
                        </a:defRPr>
                      </a:pPr>
                      <a:r>
                        <a:t>CORE (Phase 2 MVP)</a:t>
                      </a:r>
                    </a:p>
                  </a:txBody>
                  <a:tcPr marT="18288" marB="18288" marL="54864" marR="54864">
                    <a:solidFill>
                      <a:srgbClr val="F8FAFC"/>
                    </a:solidFill>
                  </a:tcPr>
                </a:tc>
              </a:tr>
              <a:tr h="294322">
                <a:tc>
                  <a:txBody>
                    <a:bodyPr/>
                    <a:lstStyle/>
                    <a:p>
                      <a:pPr algn="ctr">
                        <a:defRPr sz="1200" b="1">
                          <a:solidFill>
                            <a:srgbClr val="2563EB"/>
                          </a:solidFill>
                          <a:latin typeface="Calibri"/>
                        </a:defRPr>
                      </a:pPr>
                      <a:r>
                        <a:t>UC-03</a:t>
                      </a:r>
                    </a:p>
                  </a:txBody>
                  <a:tcPr marT="18288" marB="18288" marL="54864" marR="54864">
                    <a:solidFill>
                      <a:srgbClr val="FFFFFF"/>
                    </a:solidFill>
                  </a:tcPr>
                </a:tc>
                <a:tc>
                  <a:txBody>
                    <a:bodyPr/>
                    <a:lstStyle/>
                    <a:p>
                      <a:pPr>
                        <a:defRPr sz="1200">
                          <a:solidFill>
                            <a:srgbClr val="334155"/>
                          </a:solidFill>
                          <a:latin typeface="Calibri"/>
                        </a:defRPr>
                      </a:pPr>
                      <a:r>
                        <a:t>Take Placement Test</a:t>
                      </a:r>
                    </a:p>
                  </a:txBody>
                  <a:tcPr marT="18288" marB="18288" marL="54864" marR="54864">
                    <a:solidFill>
                      <a:srgbClr val="FFFFFF"/>
                    </a:solidFill>
                  </a:tcPr>
                </a:tc>
                <a:tc>
                  <a:txBody>
                    <a:bodyPr/>
                    <a:lstStyle/>
                    <a:p>
                      <a:pPr>
                        <a:defRPr sz="1200" b="1">
                          <a:solidFill>
                            <a:srgbClr val="16A34A"/>
                          </a:solidFill>
                          <a:latin typeface="Calibri"/>
                        </a:defRPr>
                      </a:pPr>
                      <a:r>
                        <a:t>Slide 6 (Diagnostic Test)</a:t>
                      </a:r>
                    </a:p>
                  </a:txBody>
                  <a:tcPr marT="18288" marB="18288" marL="54864" marR="54864">
                    <a:solidFill>
                      <a:srgbClr val="FFFFFF"/>
                    </a:solidFill>
                  </a:tcPr>
                </a:tc>
                <a:tc>
                  <a:txBody>
                    <a:bodyPr/>
                    <a:lstStyle/>
                    <a:p>
                      <a:pPr>
                        <a:defRPr sz="1200">
                          <a:solidFill>
                            <a:srgbClr val="334155"/>
                          </a:solidFill>
                          <a:latin typeface="Calibri"/>
                        </a:defRPr>
                      </a:pPr>
                      <a:r>
                        <a:t>AssessmentResult, SkillProfile</a:t>
                      </a:r>
                    </a:p>
                  </a:txBody>
                  <a:tcPr marT="18288" marB="18288" marL="54864" marR="54864">
                    <a:solidFill>
                      <a:srgbClr val="FFFFFF"/>
                    </a:solidFill>
                  </a:tcPr>
                </a:tc>
                <a:tc>
                  <a:txBody>
                    <a:bodyPr/>
                    <a:lstStyle/>
                    <a:p>
                      <a:pPr algn="ctr">
                        <a:defRPr sz="1200" b="1">
                          <a:solidFill>
                            <a:srgbClr val="16A34A"/>
                          </a:solidFill>
                          <a:latin typeface="Calibri"/>
                        </a:defRPr>
                      </a:pPr>
                      <a:r>
                        <a:t>CORE (Phase 2 MVP)</a:t>
                      </a:r>
                    </a:p>
                  </a:txBody>
                  <a:tcPr marT="18288" marB="18288" marL="54864" marR="54864">
                    <a:solidFill>
                      <a:srgbClr val="FFFFFF"/>
                    </a:solidFill>
                  </a:tcPr>
                </a:tc>
              </a:tr>
              <a:tr h="294322">
                <a:tc>
                  <a:txBody>
                    <a:bodyPr/>
                    <a:lstStyle/>
                    <a:p>
                      <a:pPr algn="ctr">
                        <a:defRPr sz="1200" b="1">
                          <a:solidFill>
                            <a:srgbClr val="2563EB"/>
                          </a:solidFill>
                          <a:latin typeface="Calibri"/>
                        </a:defRPr>
                      </a:pPr>
                      <a:r>
                        <a:t>UC-04</a:t>
                      </a:r>
                    </a:p>
                  </a:txBody>
                  <a:tcPr marT="18288" marB="18288" marL="54864" marR="54864">
                    <a:solidFill>
                      <a:srgbClr val="F8FAFC"/>
                    </a:solidFill>
                  </a:tcPr>
                </a:tc>
                <a:tc>
                  <a:txBody>
                    <a:bodyPr/>
                    <a:lstStyle/>
                    <a:p>
                      <a:pPr>
                        <a:defRPr sz="1200">
                          <a:solidFill>
                            <a:srgbClr val="334155"/>
                          </a:solidFill>
                          <a:latin typeface="Calibri"/>
                        </a:defRPr>
                      </a:pPr>
                      <a:r>
                        <a:t>Browse Learning Path &amp; Conditional Jump</a:t>
                      </a:r>
                    </a:p>
                  </a:txBody>
                  <a:tcPr marT="18288" marB="18288" marL="54864" marR="54864">
                    <a:solidFill>
                      <a:srgbClr val="F8FAFC"/>
                    </a:solidFill>
                  </a:tcPr>
                </a:tc>
                <a:tc>
                  <a:txBody>
                    <a:bodyPr/>
                    <a:lstStyle/>
                    <a:p>
                      <a:pPr>
                        <a:defRPr sz="1200" b="1">
                          <a:solidFill>
                            <a:srgbClr val="16A34A"/>
                          </a:solidFill>
                          <a:latin typeface="Calibri"/>
                        </a:defRPr>
                      </a:pPr>
                      <a:r>
                        <a:t>Slide 8 (Conditional Jump)</a:t>
                      </a:r>
                    </a:p>
                  </a:txBody>
                  <a:tcPr marT="18288" marB="18288" marL="54864" marR="54864">
                    <a:solidFill>
                      <a:srgbClr val="F8FAFC"/>
                    </a:solidFill>
                  </a:tcPr>
                </a:tc>
                <a:tc>
                  <a:txBody>
                    <a:bodyPr/>
                    <a:lstStyle/>
                    <a:p>
                      <a:pPr>
                        <a:defRPr sz="1200">
                          <a:solidFill>
                            <a:srgbClr val="334155"/>
                          </a:solidFill>
                          <a:latin typeface="Calibri"/>
                        </a:defRPr>
                      </a:pPr>
                      <a:r>
                        <a:t>Course, Unit, Lesson, UserProgress</a:t>
                      </a:r>
                    </a:p>
                  </a:txBody>
                  <a:tcPr marT="18288" marB="18288" marL="54864" marR="54864">
                    <a:solidFill>
                      <a:srgbClr val="F8FAFC"/>
                    </a:solidFill>
                  </a:tcPr>
                </a:tc>
                <a:tc>
                  <a:txBody>
                    <a:bodyPr/>
                    <a:lstStyle/>
                    <a:p>
                      <a:pPr algn="ctr">
                        <a:defRPr sz="1200" b="1">
                          <a:solidFill>
                            <a:srgbClr val="16A34A"/>
                          </a:solidFill>
                          <a:latin typeface="Calibri"/>
                        </a:defRPr>
                      </a:pPr>
                      <a:r>
                        <a:t>CORE (Phase 2 MVP)</a:t>
                      </a:r>
                    </a:p>
                  </a:txBody>
                  <a:tcPr marT="18288" marB="18288" marL="54864" marR="54864">
                    <a:solidFill>
                      <a:srgbClr val="F8FAFC"/>
                    </a:solidFill>
                  </a:tcPr>
                </a:tc>
              </a:tr>
              <a:tr h="294322">
                <a:tc>
                  <a:txBody>
                    <a:bodyPr/>
                    <a:lstStyle/>
                    <a:p>
                      <a:pPr algn="ctr">
                        <a:defRPr sz="1200" b="1">
                          <a:solidFill>
                            <a:srgbClr val="2563EB"/>
                          </a:solidFill>
                          <a:latin typeface="Calibri"/>
                        </a:defRPr>
                      </a:pPr>
                      <a:r>
                        <a:t>UC-05</a:t>
                      </a:r>
                    </a:p>
                  </a:txBody>
                  <a:tcPr marT="18288" marB="18288" marL="54864" marR="54864">
                    <a:solidFill>
                      <a:srgbClr val="FFFFFF"/>
                    </a:solidFill>
                  </a:tcPr>
                </a:tc>
                <a:tc>
                  <a:txBody>
                    <a:bodyPr/>
                    <a:lstStyle/>
                    <a:p>
                      <a:pPr>
                        <a:defRPr sz="1200">
                          <a:solidFill>
                            <a:srgbClr val="334155"/>
                          </a:solidFill>
                          <a:latin typeface="Calibri"/>
                        </a:defRPr>
                      </a:pPr>
                      <a:r>
                        <a:t>Complete Lesson Exercises &amp; Controlled Retry</a:t>
                      </a:r>
                    </a:p>
                  </a:txBody>
                  <a:tcPr marT="18288" marB="18288" marL="54864" marR="54864">
                    <a:solidFill>
                      <a:srgbClr val="FFFFFF"/>
                    </a:solidFill>
                  </a:tcPr>
                </a:tc>
                <a:tc>
                  <a:txBody>
                    <a:bodyPr/>
                    <a:lstStyle/>
                    <a:p>
                      <a:pPr>
                        <a:defRPr sz="1200" b="1">
                          <a:solidFill>
                            <a:srgbClr val="16A34A"/>
                          </a:solidFill>
                          <a:latin typeface="Calibri"/>
                        </a:defRPr>
                      </a:pPr>
                      <a:r>
                        <a:t>Slide 7 (Learning &amp; Retry)</a:t>
                      </a:r>
                    </a:p>
                  </a:txBody>
                  <a:tcPr marT="18288" marB="18288" marL="54864" marR="54864">
                    <a:solidFill>
                      <a:srgbClr val="FFFFFF"/>
                    </a:solidFill>
                  </a:tcPr>
                </a:tc>
                <a:tc>
                  <a:txBody>
                    <a:bodyPr/>
                    <a:lstStyle/>
                    <a:p>
                      <a:pPr>
                        <a:defRPr sz="1200">
                          <a:solidFill>
                            <a:srgbClr val="334155"/>
                          </a:solidFill>
                          <a:latin typeface="Calibri"/>
                        </a:defRPr>
                      </a:pPr>
                      <a:r>
                        <a:t>Lesson, Exercise, UserProgress</a:t>
                      </a:r>
                    </a:p>
                  </a:txBody>
                  <a:tcPr marT="18288" marB="18288" marL="54864" marR="54864">
                    <a:solidFill>
                      <a:srgbClr val="FFFFFF"/>
                    </a:solidFill>
                  </a:tcPr>
                </a:tc>
                <a:tc>
                  <a:txBody>
                    <a:bodyPr/>
                    <a:lstStyle/>
                    <a:p>
                      <a:pPr algn="ctr">
                        <a:defRPr sz="1200" b="1">
                          <a:solidFill>
                            <a:srgbClr val="16A34A"/>
                          </a:solidFill>
                          <a:latin typeface="Calibri"/>
                        </a:defRPr>
                      </a:pPr>
                      <a:r>
                        <a:t>CORE (Phase 2 MVP)</a:t>
                      </a:r>
                    </a:p>
                  </a:txBody>
                  <a:tcPr marT="18288" marB="18288" marL="54864" marR="54864">
                    <a:solidFill>
                      <a:srgbClr val="FFFFFF"/>
                    </a:solidFill>
                  </a:tcPr>
                </a:tc>
              </a:tr>
              <a:tr h="294322">
                <a:tc>
                  <a:txBody>
                    <a:bodyPr/>
                    <a:lstStyle/>
                    <a:p>
                      <a:pPr algn="ctr">
                        <a:defRPr sz="1200" b="1">
                          <a:solidFill>
                            <a:srgbClr val="2563EB"/>
                          </a:solidFill>
                          <a:latin typeface="Calibri"/>
                        </a:defRPr>
                      </a:pPr>
                      <a:r>
                        <a:t>UC-06</a:t>
                      </a:r>
                    </a:p>
                  </a:txBody>
                  <a:tcPr marT="18288" marB="18288" marL="54864" marR="54864">
                    <a:solidFill>
                      <a:srgbClr val="F8FAFC"/>
                    </a:solidFill>
                  </a:tcPr>
                </a:tc>
                <a:tc>
                  <a:txBody>
                    <a:bodyPr/>
                    <a:lstStyle/>
                    <a:p>
                      <a:pPr>
                        <a:defRPr sz="1200">
                          <a:solidFill>
                            <a:srgbClr val="334155"/>
                          </a:solidFill>
                          <a:latin typeface="Calibri"/>
                        </a:defRPr>
                      </a:pPr>
                      <a:r>
                        <a:t>Spaced Repetition Review (SRS)</a:t>
                      </a:r>
                    </a:p>
                  </a:txBody>
                  <a:tcPr marT="18288" marB="18288" marL="54864" marR="54864">
                    <a:solidFill>
                      <a:srgbClr val="F8FAFC"/>
                    </a:solidFill>
                  </a:tcPr>
                </a:tc>
                <a:tc>
                  <a:txBody>
                    <a:bodyPr/>
                    <a:lstStyle/>
                    <a:p>
                      <a:pPr>
                        <a:defRPr sz="1200">
                          <a:solidFill>
                            <a:srgbClr val="334155"/>
                          </a:solidFill>
                          <a:latin typeface="Calibri"/>
                        </a:defRPr>
                      </a:pPr>
                      <a:r>
                        <a:t>—</a:t>
                      </a:r>
                    </a:p>
                  </a:txBody>
                  <a:tcPr marT="18288" marB="18288" marL="54864" marR="54864">
                    <a:solidFill>
                      <a:srgbClr val="F8FAFC"/>
                    </a:solidFill>
                  </a:tcPr>
                </a:tc>
                <a:tc>
                  <a:txBody>
                    <a:bodyPr/>
                    <a:lstStyle/>
                    <a:p>
                      <a:pPr>
                        <a:defRPr sz="1200">
                          <a:solidFill>
                            <a:srgbClr val="334155"/>
                          </a:solidFill>
                          <a:latin typeface="Calibri"/>
                        </a:defRPr>
                      </a:pPr>
                      <a:r>
                        <a:t>Vocabulary, UserVocabSrs, ReviewLog</a:t>
                      </a:r>
                    </a:p>
                  </a:txBody>
                  <a:tcPr marT="18288" marB="18288" marL="54864" marR="54864">
                    <a:solidFill>
                      <a:srgbClr val="F8FAFC"/>
                    </a:solidFill>
                  </a:tcPr>
                </a:tc>
                <a:tc>
                  <a:txBody>
                    <a:bodyPr/>
                    <a:lstStyle/>
                    <a:p>
                      <a:pPr algn="ctr">
                        <a:defRPr sz="1200" b="1">
                          <a:solidFill>
                            <a:srgbClr val="16A34A"/>
                          </a:solidFill>
                          <a:latin typeface="Calibri"/>
                        </a:defRPr>
                      </a:pPr>
                      <a:r>
                        <a:t>CORE (Phase 2 MVP)</a:t>
                      </a:r>
                    </a:p>
                  </a:txBody>
                  <a:tcPr marT="18288" marB="18288" marL="54864" marR="54864">
                    <a:solidFill>
                      <a:srgbClr val="F8FAFC"/>
                    </a:solidFill>
                  </a:tcPr>
                </a:tc>
              </a:tr>
              <a:tr h="294322">
                <a:tc>
                  <a:txBody>
                    <a:bodyPr/>
                    <a:lstStyle/>
                    <a:p>
                      <a:pPr algn="ctr">
                        <a:defRPr sz="1200" b="1">
                          <a:solidFill>
                            <a:srgbClr val="2563EB"/>
                          </a:solidFill>
                          <a:latin typeface="Calibri"/>
                        </a:defRPr>
                      </a:pPr>
                      <a:r>
                        <a:t>UC-07</a:t>
                      </a:r>
                    </a:p>
                  </a:txBody>
                  <a:tcPr marT="18288" marB="18288" marL="54864" marR="54864">
                    <a:solidFill>
                      <a:srgbClr val="FFFFFF"/>
                    </a:solidFill>
                  </a:tcPr>
                </a:tc>
                <a:tc>
                  <a:txBody>
                    <a:bodyPr/>
                    <a:lstStyle/>
                    <a:p>
                      <a:pPr>
                        <a:defRPr sz="1200">
                          <a:solidFill>
                            <a:srgbClr val="334155"/>
                          </a:solidFill>
                          <a:latin typeface="Calibri"/>
                        </a:defRPr>
                      </a:pPr>
                      <a:r>
                        <a:t>Track Progress, Mastery &amp; Streak</a:t>
                      </a:r>
                    </a:p>
                  </a:txBody>
                  <a:tcPr marT="18288" marB="18288" marL="54864" marR="54864">
                    <a:solidFill>
                      <a:srgbClr val="FFFFFF"/>
                    </a:solidFill>
                  </a:tcPr>
                </a:tc>
                <a:tc>
                  <a:txBody>
                    <a:bodyPr/>
                    <a:lstStyle/>
                    <a:p>
                      <a:pPr>
                        <a:defRPr sz="1200" b="1">
                          <a:solidFill>
                            <a:srgbClr val="16A34A"/>
                          </a:solidFill>
                          <a:latin typeface="Calibri"/>
                        </a:defRPr>
                      </a:pPr>
                      <a:r>
                        <a:t>Slide 7 (Streak Update)</a:t>
                      </a:r>
                    </a:p>
                  </a:txBody>
                  <a:tcPr marT="18288" marB="18288" marL="54864" marR="54864">
                    <a:solidFill>
                      <a:srgbClr val="FFFFFF"/>
                    </a:solidFill>
                  </a:tcPr>
                </a:tc>
                <a:tc>
                  <a:txBody>
                    <a:bodyPr/>
                    <a:lstStyle/>
                    <a:p>
                      <a:pPr>
                        <a:defRPr sz="1200">
                          <a:solidFill>
                            <a:srgbClr val="334155"/>
                          </a:solidFill>
                          <a:latin typeface="Calibri"/>
                        </a:defRPr>
                      </a:pPr>
                      <a:r>
                        <a:t>Profile, UserProgress</a:t>
                      </a:r>
                    </a:p>
                  </a:txBody>
                  <a:tcPr marT="18288" marB="18288" marL="54864" marR="54864">
                    <a:solidFill>
                      <a:srgbClr val="FFFFFF"/>
                    </a:solidFill>
                  </a:tcPr>
                </a:tc>
                <a:tc>
                  <a:txBody>
                    <a:bodyPr/>
                    <a:lstStyle/>
                    <a:p>
                      <a:pPr algn="ctr">
                        <a:defRPr sz="1200" b="1">
                          <a:solidFill>
                            <a:srgbClr val="16A34A"/>
                          </a:solidFill>
                          <a:latin typeface="Calibri"/>
                        </a:defRPr>
                      </a:pPr>
                      <a:r>
                        <a:t>CORE (Phase 2 MVP)</a:t>
                      </a:r>
                    </a:p>
                  </a:txBody>
                  <a:tcPr marT="18288" marB="18288" marL="54864" marR="54864">
                    <a:solidFill>
                      <a:srgbClr val="FFFFFF"/>
                    </a:solidFill>
                  </a:tcPr>
                </a:tc>
              </a:tr>
              <a:tr h="294322">
                <a:tc>
                  <a:txBody>
                    <a:bodyPr/>
                    <a:lstStyle/>
                    <a:p>
                      <a:pPr algn="ctr">
                        <a:defRPr sz="1200" b="1">
                          <a:solidFill>
                            <a:srgbClr val="2563EB"/>
                          </a:solidFill>
                          <a:latin typeface="Calibri"/>
                        </a:defRPr>
                      </a:pPr>
                      <a:r>
                        <a:t>UC-08</a:t>
                      </a:r>
                    </a:p>
                  </a:txBody>
                  <a:tcPr marT="18288" marB="18288" marL="54864" marR="54864">
                    <a:solidFill>
                      <a:srgbClr val="F8FAFC"/>
                    </a:solidFill>
                  </a:tcPr>
                </a:tc>
                <a:tc>
                  <a:txBody>
                    <a:bodyPr/>
                    <a:lstStyle/>
                    <a:p>
                      <a:pPr>
                        <a:defRPr sz="1200">
                          <a:solidFill>
                            <a:srgbClr val="334155"/>
                          </a:solidFill>
                          <a:latin typeface="Calibri"/>
                        </a:defRPr>
                      </a:pPr>
                      <a:r>
                        <a:t>Create &amp; Edit Lesson Draft</a:t>
                      </a:r>
                    </a:p>
                  </a:txBody>
                  <a:tcPr marT="18288" marB="18288" marL="54864" marR="54864">
                    <a:solidFill>
                      <a:srgbClr val="F8FAFC"/>
                    </a:solidFill>
                  </a:tcPr>
                </a:tc>
                <a:tc>
                  <a:txBody>
                    <a:bodyPr/>
                    <a:lstStyle/>
                    <a:p>
                      <a:pPr>
                        <a:defRPr sz="1200" b="1">
                          <a:solidFill>
                            <a:srgbClr val="16A34A"/>
                          </a:solidFill>
                          <a:latin typeface="Calibri"/>
                        </a:defRPr>
                      </a:pPr>
                      <a:r>
                        <a:t>Slide 9 (Governance &amp; Clone)</a:t>
                      </a:r>
                    </a:p>
                  </a:txBody>
                  <a:tcPr marT="18288" marB="18288" marL="54864" marR="54864">
                    <a:solidFill>
                      <a:srgbClr val="F8FAFC"/>
                    </a:solidFill>
                  </a:tcPr>
                </a:tc>
                <a:tc>
                  <a:txBody>
                    <a:bodyPr/>
                    <a:lstStyle/>
                    <a:p>
                      <a:pPr>
                        <a:defRPr sz="1200">
                          <a:solidFill>
                            <a:srgbClr val="334155"/>
                          </a:solidFill>
                          <a:latin typeface="Calibri"/>
                        </a:defRPr>
                      </a:pPr>
                      <a:r>
                        <a:t>Lesson, LessonRevision, Exercise</a:t>
                      </a:r>
                    </a:p>
                  </a:txBody>
                  <a:tcPr marT="18288" marB="18288" marL="54864" marR="54864">
                    <a:solidFill>
                      <a:srgbClr val="F8FAFC"/>
                    </a:solidFill>
                  </a:tcPr>
                </a:tc>
                <a:tc>
                  <a:txBody>
                    <a:bodyPr/>
                    <a:lstStyle/>
                    <a:p>
                      <a:pPr algn="ctr">
                        <a:defRPr sz="1200" b="1">
                          <a:solidFill>
                            <a:srgbClr val="16A34A"/>
                          </a:solidFill>
                          <a:latin typeface="Calibri"/>
                        </a:defRPr>
                      </a:pPr>
                      <a:r>
                        <a:t>CORE (Phase 2 MVP)</a:t>
                      </a:r>
                    </a:p>
                  </a:txBody>
                  <a:tcPr marT="18288" marB="18288" marL="54864" marR="54864">
                    <a:solidFill>
                      <a:srgbClr val="F8FAFC"/>
                    </a:solidFill>
                  </a:tcPr>
                </a:tc>
              </a:tr>
              <a:tr h="294322">
                <a:tc>
                  <a:txBody>
                    <a:bodyPr/>
                    <a:lstStyle/>
                    <a:p>
                      <a:pPr algn="ctr">
                        <a:defRPr sz="1200" b="1">
                          <a:solidFill>
                            <a:srgbClr val="2563EB"/>
                          </a:solidFill>
                          <a:latin typeface="Calibri"/>
                        </a:defRPr>
                      </a:pPr>
                      <a:r>
                        <a:t>UC-09</a:t>
                      </a:r>
                    </a:p>
                  </a:txBody>
                  <a:tcPr marT="18288" marB="18288" marL="54864" marR="54864">
                    <a:solidFill>
                      <a:srgbClr val="FFFFFF"/>
                    </a:solidFill>
                  </a:tcPr>
                </a:tc>
                <a:tc>
                  <a:txBody>
                    <a:bodyPr/>
                    <a:lstStyle/>
                    <a:p>
                      <a:pPr>
                        <a:defRPr sz="1200">
                          <a:solidFill>
                            <a:srgbClr val="334155"/>
                          </a:solidFill>
                          <a:latin typeface="Calibri"/>
                        </a:defRPr>
                      </a:pPr>
                      <a:r>
                        <a:t>Review &amp; Moderate Content</a:t>
                      </a:r>
                    </a:p>
                  </a:txBody>
                  <a:tcPr marT="18288" marB="18288" marL="54864" marR="54864">
                    <a:solidFill>
                      <a:srgbClr val="FFFFFF"/>
                    </a:solidFill>
                  </a:tcPr>
                </a:tc>
                <a:tc>
                  <a:txBody>
                    <a:bodyPr/>
                    <a:lstStyle/>
                    <a:p>
                      <a:pPr>
                        <a:defRPr sz="1200" b="1">
                          <a:solidFill>
                            <a:srgbClr val="16A34A"/>
                          </a:solidFill>
                          <a:latin typeface="Calibri"/>
                        </a:defRPr>
                      </a:pPr>
                      <a:r>
                        <a:t>Slide 9 (Moderator Review)</a:t>
                      </a:r>
                    </a:p>
                  </a:txBody>
                  <a:tcPr marT="18288" marB="18288" marL="54864" marR="54864">
                    <a:solidFill>
                      <a:srgbClr val="FFFFFF"/>
                    </a:solidFill>
                  </a:tcPr>
                </a:tc>
                <a:tc>
                  <a:txBody>
                    <a:bodyPr/>
                    <a:lstStyle/>
                    <a:p>
                      <a:pPr>
                        <a:defRPr sz="1200">
                          <a:solidFill>
                            <a:srgbClr val="334155"/>
                          </a:solidFill>
                          <a:latin typeface="Calibri"/>
                        </a:defRPr>
                      </a:pPr>
                      <a:r>
                        <a:t>LessonRevision, AuditLog</a:t>
                      </a:r>
                    </a:p>
                  </a:txBody>
                  <a:tcPr marT="18288" marB="18288" marL="54864" marR="54864">
                    <a:solidFill>
                      <a:srgbClr val="FFFFFF"/>
                    </a:solidFill>
                  </a:tcPr>
                </a:tc>
                <a:tc>
                  <a:txBody>
                    <a:bodyPr/>
                    <a:lstStyle/>
                    <a:p>
                      <a:pPr algn="ctr">
                        <a:defRPr sz="1200" b="1">
                          <a:solidFill>
                            <a:srgbClr val="16A34A"/>
                          </a:solidFill>
                          <a:latin typeface="Calibri"/>
                        </a:defRPr>
                      </a:pPr>
                      <a:r>
                        <a:t>CORE (Phase 2 MVP)</a:t>
                      </a:r>
                    </a:p>
                  </a:txBody>
                  <a:tcPr marT="18288" marB="18288" marL="54864" marR="54864">
                    <a:solidFill>
                      <a:srgbClr val="FFFFFF"/>
                    </a:solidFill>
                  </a:tcPr>
                </a:tc>
              </a:tr>
              <a:tr h="294322">
                <a:tc>
                  <a:txBody>
                    <a:bodyPr/>
                    <a:lstStyle/>
                    <a:p>
                      <a:pPr algn="ctr">
                        <a:defRPr sz="1200" b="1">
                          <a:solidFill>
                            <a:srgbClr val="2563EB"/>
                          </a:solidFill>
                          <a:latin typeface="Calibri"/>
                        </a:defRPr>
                      </a:pPr>
                      <a:r>
                        <a:t>UC-10</a:t>
                      </a:r>
                    </a:p>
                  </a:txBody>
                  <a:tcPr marT="18288" marB="18288" marL="54864" marR="54864">
                    <a:solidFill>
                      <a:srgbClr val="F8FAFC"/>
                    </a:solidFill>
                  </a:tcPr>
                </a:tc>
                <a:tc>
                  <a:txBody>
                    <a:bodyPr/>
                    <a:lstStyle/>
                    <a:p>
                      <a:pPr>
                        <a:defRPr sz="1200">
                          <a:solidFill>
                            <a:srgbClr val="334155"/>
                          </a:solidFill>
                          <a:latin typeface="Calibri"/>
                        </a:defRPr>
                      </a:pPr>
                      <a:r>
                        <a:t>Publish Approved Content</a:t>
                      </a:r>
                    </a:p>
                  </a:txBody>
                  <a:tcPr marT="18288" marB="18288" marL="54864" marR="54864">
                    <a:solidFill>
                      <a:srgbClr val="F8FAFC"/>
                    </a:solidFill>
                  </a:tcPr>
                </a:tc>
                <a:tc>
                  <a:txBody>
                    <a:bodyPr/>
                    <a:lstStyle/>
                    <a:p>
                      <a:pPr>
                        <a:defRPr sz="1200" b="1">
                          <a:solidFill>
                            <a:srgbClr val="16A34A"/>
                          </a:solidFill>
                          <a:latin typeface="Calibri"/>
                        </a:defRPr>
                      </a:pPr>
                      <a:r>
                        <a:t>Slide 9 (Publication Flow)</a:t>
                      </a:r>
                    </a:p>
                  </a:txBody>
                  <a:tcPr marT="18288" marB="18288" marL="54864" marR="54864">
                    <a:solidFill>
                      <a:srgbClr val="F8FAFC"/>
                    </a:solidFill>
                  </a:tcPr>
                </a:tc>
                <a:tc>
                  <a:txBody>
                    <a:bodyPr/>
                    <a:lstStyle/>
                    <a:p>
                      <a:pPr>
                        <a:defRPr sz="1200">
                          <a:solidFill>
                            <a:srgbClr val="334155"/>
                          </a:solidFill>
                          <a:latin typeface="Calibri"/>
                        </a:defRPr>
                      </a:pPr>
                      <a:r>
                        <a:t>Unit, Lesson, LessonRevision, AuditLog</a:t>
                      </a:r>
                    </a:p>
                  </a:txBody>
                  <a:tcPr marT="18288" marB="18288" marL="54864" marR="54864">
                    <a:solidFill>
                      <a:srgbClr val="F8FAFC"/>
                    </a:solidFill>
                  </a:tcPr>
                </a:tc>
                <a:tc>
                  <a:txBody>
                    <a:bodyPr/>
                    <a:lstStyle/>
                    <a:p>
                      <a:pPr algn="ctr">
                        <a:defRPr sz="1200" b="1">
                          <a:solidFill>
                            <a:srgbClr val="16A34A"/>
                          </a:solidFill>
                          <a:latin typeface="Calibri"/>
                        </a:defRPr>
                      </a:pPr>
                      <a:r>
                        <a:t>CORE (Phase 2 MVP)</a:t>
                      </a:r>
                    </a:p>
                  </a:txBody>
                  <a:tcPr marT="18288" marB="18288" marL="54864" marR="54864">
                    <a:solidFill>
                      <a:srgbClr val="F8FAFC"/>
                    </a:solidFill>
                  </a:tcPr>
                </a:tc>
              </a:tr>
              <a:tr h="294322">
                <a:tc>
                  <a:txBody>
                    <a:bodyPr/>
                    <a:lstStyle/>
                    <a:p>
                      <a:pPr algn="ctr">
                        <a:defRPr sz="1200" b="1">
                          <a:solidFill>
                            <a:srgbClr val="2563EB"/>
                          </a:solidFill>
                          <a:latin typeface="Calibri"/>
                        </a:defRPr>
                      </a:pPr>
                      <a:r>
                        <a:t>UC-11</a:t>
                      </a:r>
                    </a:p>
                  </a:txBody>
                  <a:tcPr marT="18288" marB="18288" marL="54864" marR="54864">
                    <a:solidFill>
                      <a:srgbClr val="FFFFFF"/>
                    </a:solidFill>
                  </a:tcPr>
                </a:tc>
                <a:tc>
                  <a:txBody>
                    <a:bodyPr/>
                    <a:lstStyle/>
                    <a:p>
                      <a:pPr>
                        <a:defRPr sz="1200">
                          <a:solidFill>
                            <a:srgbClr val="334155"/>
                          </a:solidFill>
                          <a:latin typeface="Calibri"/>
                        </a:defRPr>
                      </a:pPr>
                      <a:r>
                        <a:t>Manage Accounts &amp; Roles</a:t>
                      </a:r>
                    </a:p>
                  </a:txBody>
                  <a:tcPr marT="18288" marB="18288" marL="54864" marR="54864">
                    <a:solidFill>
                      <a:srgbClr val="FFFFFF"/>
                    </a:solidFill>
                  </a:tcPr>
                </a:tc>
                <a:tc>
                  <a:txBody>
                    <a:bodyPr/>
                    <a:lstStyle/>
                    <a:p>
                      <a:pPr>
                        <a:defRPr sz="1200">
                          <a:solidFill>
                            <a:srgbClr val="334155"/>
                          </a:solidFill>
                          <a:latin typeface="Calibri"/>
                        </a:defRPr>
                      </a:pPr>
                      <a:r>
                        <a:t>—</a:t>
                      </a:r>
                    </a:p>
                  </a:txBody>
                  <a:tcPr marT="18288" marB="18288" marL="54864" marR="54864">
                    <a:solidFill>
                      <a:srgbClr val="FFFFFF"/>
                    </a:solidFill>
                  </a:tcPr>
                </a:tc>
                <a:tc>
                  <a:txBody>
                    <a:bodyPr/>
                    <a:lstStyle/>
                    <a:p>
                      <a:pPr>
                        <a:defRPr sz="1200">
                          <a:solidFill>
                            <a:srgbClr val="334155"/>
                          </a:solidFill>
                          <a:latin typeface="Calibri"/>
                        </a:defRPr>
                      </a:pPr>
                      <a:r>
                        <a:t>Profile, Role, AuditLog</a:t>
                      </a:r>
                    </a:p>
                  </a:txBody>
                  <a:tcPr marT="18288" marB="18288" marL="54864" marR="54864">
                    <a:solidFill>
                      <a:srgbClr val="FFFFFF"/>
                    </a:solidFill>
                  </a:tcPr>
                </a:tc>
                <a:tc>
                  <a:txBody>
                    <a:bodyPr/>
                    <a:lstStyle/>
                    <a:p>
                      <a:pPr algn="ctr">
                        <a:defRPr sz="1200" b="1">
                          <a:solidFill>
                            <a:srgbClr val="16A34A"/>
                          </a:solidFill>
                          <a:latin typeface="Calibri"/>
                        </a:defRPr>
                      </a:pPr>
                      <a:r>
                        <a:t>CORE (Phase 2 MVP)</a:t>
                      </a:r>
                    </a:p>
                  </a:txBody>
                  <a:tcPr marT="18288" marB="18288" marL="54864" marR="54864">
                    <a:solidFill>
                      <a:srgbClr val="FFFFFF"/>
                    </a:solidFill>
                  </a:tcPr>
                </a:tc>
              </a:tr>
              <a:tr h="294322">
                <a:tc>
                  <a:txBody>
                    <a:bodyPr/>
                    <a:lstStyle/>
                    <a:p>
                      <a:pPr algn="ctr">
                        <a:defRPr sz="1200" b="1">
                          <a:solidFill>
                            <a:srgbClr val="2563EB"/>
                          </a:solidFill>
                          <a:latin typeface="Calibri"/>
                        </a:defRPr>
                      </a:pPr>
                      <a:r>
                        <a:t>UC-12</a:t>
                      </a:r>
                    </a:p>
                  </a:txBody>
                  <a:tcPr marT="18288" marB="18288" marL="54864" marR="54864">
                    <a:solidFill>
                      <a:srgbClr val="F8FAFC"/>
                    </a:solidFill>
                  </a:tcPr>
                </a:tc>
                <a:tc>
                  <a:txBody>
                    <a:bodyPr/>
                    <a:lstStyle/>
                    <a:p>
                      <a:pPr>
                        <a:defRPr sz="1200">
                          <a:solidFill>
                            <a:srgbClr val="334155"/>
                          </a:solidFill>
                          <a:latin typeface="Calibri"/>
                        </a:defRPr>
                      </a:pPr>
                      <a:r>
                        <a:t>View System Reports</a:t>
                      </a:r>
                    </a:p>
                  </a:txBody>
                  <a:tcPr marT="18288" marB="18288" marL="54864" marR="54864">
                    <a:solidFill>
                      <a:srgbClr val="F8FAFC"/>
                    </a:solidFill>
                  </a:tcPr>
                </a:tc>
                <a:tc>
                  <a:txBody>
                    <a:bodyPr/>
                    <a:lstStyle/>
                    <a:p>
                      <a:pPr>
                        <a:defRPr sz="1200">
                          <a:solidFill>
                            <a:srgbClr val="334155"/>
                          </a:solidFill>
                          <a:latin typeface="Calibri"/>
                        </a:defRPr>
                      </a:pPr>
                      <a:r>
                        <a:t>—</a:t>
                      </a:r>
                    </a:p>
                  </a:txBody>
                  <a:tcPr marT="18288" marB="18288" marL="54864" marR="54864">
                    <a:solidFill>
                      <a:srgbClr val="F8FAFC"/>
                    </a:solidFill>
                  </a:tcPr>
                </a:tc>
                <a:tc>
                  <a:txBody>
                    <a:bodyPr/>
                    <a:lstStyle/>
                    <a:p>
                      <a:pPr>
                        <a:defRPr sz="1200">
                          <a:solidFill>
                            <a:srgbClr val="334155"/>
                          </a:solidFill>
                          <a:latin typeface="Calibri"/>
                        </a:defRPr>
                      </a:pPr>
                      <a:r>
                        <a:t>UserProgress, AuditLog</a:t>
                      </a:r>
                    </a:p>
                  </a:txBody>
                  <a:tcPr marT="18288" marB="18288" marL="54864" marR="54864">
                    <a:solidFill>
                      <a:srgbClr val="F8FAFC"/>
                    </a:solidFill>
                  </a:tcPr>
                </a:tc>
                <a:tc>
                  <a:txBody>
                    <a:bodyPr/>
                    <a:lstStyle/>
                    <a:p>
                      <a:pPr algn="ctr">
                        <a:defRPr sz="1200" b="1">
                          <a:solidFill>
                            <a:srgbClr val="16A34A"/>
                          </a:solidFill>
                          <a:latin typeface="Calibri"/>
                        </a:defRPr>
                      </a:pPr>
                      <a:r>
                        <a:t>CORE (Phase 2 MVP)</a:t>
                      </a:r>
                    </a:p>
                  </a:txBody>
                  <a:tcPr marT="18288" marB="18288" marL="54864" marR="54864">
                    <a:solidFill>
                      <a:srgbClr val="F8FAFC"/>
                    </a:solidFill>
                  </a:tcPr>
                </a:tc>
              </a:tr>
              <a:tr h="294322">
                <a:tc>
                  <a:txBody>
                    <a:bodyPr/>
                    <a:lstStyle/>
                    <a:p>
                      <a:pPr algn="ctr">
                        <a:defRPr sz="1200" b="1">
                          <a:solidFill>
                            <a:srgbClr val="2563EB"/>
                          </a:solidFill>
                          <a:latin typeface="Calibri"/>
                        </a:defRPr>
                      </a:pPr>
                      <a:r>
                        <a:t>UC-13</a:t>
                      </a:r>
                    </a:p>
                  </a:txBody>
                  <a:tcPr marT="18288" marB="18288" marL="54864" marR="54864">
                    <a:solidFill>
                      <a:srgbClr val="FFFFFF"/>
                    </a:solidFill>
                  </a:tcPr>
                </a:tc>
                <a:tc>
                  <a:txBody>
                    <a:bodyPr/>
                    <a:lstStyle/>
                    <a:p>
                      <a:pPr>
                        <a:defRPr sz="1200">
                          <a:solidFill>
                            <a:srgbClr val="334155"/>
                          </a:solidFill>
                          <a:latin typeface="Calibri"/>
                        </a:defRPr>
                      </a:pPr>
                      <a:r>
                        <a:t>View &amp; Audit Security Logs</a:t>
                      </a:r>
                    </a:p>
                  </a:txBody>
                  <a:tcPr marT="18288" marB="18288" marL="54864" marR="54864">
                    <a:solidFill>
                      <a:srgbClr val="FFFFFF"/>
                    </a:solidFill>
                  </a:tcPr>
                </a:tc>
                <a:tc>
                  <a:txBody>
                    <a:bodyPr/>
                    <a:lstStyle/>
                    <a:p>
                      <a:pPr>
                        <a:defRPr sz="1200">
                          <a:solidFill>
                            <a:srgbClr val="334155"/>
                          </a:solidFill>
                          <a:latin typeface="Calibri"/>
                        </a:defRPr>
                      </a:pPr>
                      <a:r>
                        <a:t>—</a:t>
                      </a:r>
                    </a:p>
                  </a:txBody>
                  <a:tcPr marT="18288" marB="18288" marL="54864" marR="54864">
                    <a:solidFill>
                      <a:srgbClr val="FFFFFF"/>
                    </a:solidFill>
                  </a:tcPr>
                </a:tc>
                <a:tc>
                  <a:txBody>
                    <a:bodyPr/>
                    <a:lstStyle/>
                    <a:p>
                      <a:pPr>
                        <a:defRPr sz="1200">
                          <a:solidFill>
                            <a:srgbClr val="334155"/>
                          </a:solidFill>
                          <a:latin typeface="Calibri"/>
                        </a:defRPr>
                      </a:pPr>
                      <a:r>
                        <a:t>AuditLog</a:t>
                      </a:r>
                    </a:p>
                  </a:txBody>
                  <a:tcPr marT="18288" marB="18288" marL="54864" marR="54864">
                    <a:solidFill>
                      <a:srgbClr val="FFFFFF"/>
                    </a:solidFill>
                  </a:tcPr>
                </a:tc>
                <a:tc>
                  <a:txBody>
                    <a:bodyPr/>
                    <a:lstStyle/>
                    <a:p>
                      <a:pPr algn="ctr">
                        <a:defRPr sz="1200" b="1">
                          <a:solidFill>
                            <a:srgbClr val="16A34A"/>
                          </a:solidFill>
                          <a:latin typeface="Calibri"/>
                        </a:defRPr>
                      </a:pPr>
                      <a:r>
                        <a:t>CORE (Phase 2 MVP)</a:t>
                      </a:r>
                    </a:p>
                  </a:txBody>
                  <a:tcPr marT="18288" marB="18288" marL="54864" marR="54864">
                    <a:solidFill>
                      <a:srgbClr val="FFFFFF"/>
                    </a:solidFill>
                  </a:tcPr>
                </a:tc>
              </a:tr>
              <a:tr h="294322">
                <a:tc>
                  <a:txBody>
                    <a:bodyPr/>
                    <a:lstStyle/>
                    <a:p>
                      <a:pPr algn="ctr">
                        <a:defRPr sz="1200" b="1">
                          <a:solidFill>
                            <a:srgbClr val="2563EB"/>
                          </a:solidFill>
                          <a:latin typeface="Calibri"/>
                        </a:defRPr>
                      </a:pPr>
                      <a:r>
                        <a:t>UC-14</a:t>
                      </a:r>
                    </a:p>
                  </a:txBody>
                  <a:tcPr marT="18288" marB="18288" marL="54864" marR="54864">
                    <a:solidFill>
                      <a:srgbClr val="F8FAFC"/>
                    </a:solidFill>
                  </a:tcPr>
                </a:tc>
                <a:tc>
                  <a:txBody>
                    <a:bodyPr/>
                    <a:lstStyle/>
                    <a:p>
                      <a:pPr>
                        <a:defRPr sz="1200">
                          <a:solidFill>
                            <a:srgbClr val="334155"/>
                          </a:solidFill>
                          <a:latin typeface="Calibri"/>
                        </a:defRPr>
                      </a:pPr>
                      <a:r>
                        <a:t>Handle Support Tickets</a:t>
                      </a:r>
                    </a:p>
                  </a:txBody>
                  <a:tcPr marT="18288" marB="18288" marL="54864" marR="54864">
                    <a:solidFill>
                      <a:srgbClr val="F8FAFC"/>
                    </a:solidFill>
                  </a:tcPr>
                </a:tc>
                <a:tc>
                  <a:txBody>
                    <a:bodyPr/>
                    <a:lstStyle/>
                    <a:p>
                      <a:pPr>
                        <a:defRPr sz="1200">
                          <a:solidFill>
                            <a:srgbClr val="334155"/>
                          </a:solidFill>
                          <a:latin typeface="Calibri"/>
                        </a:defRPr>
                      </a:pPr>
                      <a:r>
                        <a:t>—</a:t>
                      </a:r>
                    </a:p>
                  </a:txBody>
                  <a:tcPr marT="18288" marB="18288" marL="54864" marR="54864">
                    <a:solidFill>
                      <a:srgbClr val="F8FAFC"/>
                    </a:solidFill>
                  </a:tcPr>
                </a:tc>
                <a:tc>
                  <a:txBody>
                    <a:bodyPr/>
                    <a:lstStyle/>
                    <a:p>
                      <a:pPr>
                        <a:defRPr sz="1200">
                          <a:solidFill>
                            <a:srgbClr val="334155"/>
                          </a:solidFill>
                          <a:latin typeface="Calibri"/>
                        </a:defRPr>
                      </a:pPr>
                      <a:r>
                        <a:t>—</a:t>
                      </a:r>
                    </a:p>
                  </a:txBody>
                  <a:tcPr marT="18288" marB="18288" marL="54864" marR="54864">
                    <a:solidFill>
                      <a:srgbClr val="F8FAFC"/>
                    </a:solidFill>
                  </a:tcPr>
                </a:tc>
                <a:tc>
                  <a:txBody>
                    <a:bodyPr/>
                    <a:lstStyle/>
                    <a:p>
                      <a:pPr algn="ctr">
                        <a:defRPr sz="1200" b="1">
                          <a:solidFill>
                            <a:srgbClr val="0D9488"/>
                          </a:solidFill>
                          <a:latin typeface="Calibri"/>
                        </a:defRPr>
                      </a:pPr>
                      <a:r>
                        <a:t>MVP (Điều phối hỗ trợ)</a:t>
                      </a:r>
                    </a:p>
                  </a:txBody>
                  <a:tcPr marT="18288" marB="18288" marL="54864" marR="54864">
                    <a:solidFill>
                      <a:srgbClr val="F8FAFC"/>
                    </a:solidFill>
                  </a:tcPr>
                </a:tc>
              </a:tr>
              <a:tr h="294330">
                <a:tc>
                  <a:txBody>
                    <a:bodyPr/>
                    <a:lstStyle/>
                    <a:p>
                      <a:pPr algn="ctr">
                        <a:defRPr sz="1200" b="1">
                          <a:solidFill>
                            <a:srgbClr val="2563EB"/>
                          </a:solidFill>
                          <a:latin typeface="Calibri"/>
                        </a:defRPr>
                      </a:pPr>
                      <a:r>
                        <a:t>UC-15</a:t>
                      </a:r>
                    </a:p>
                  </a:txBody>
                  <a:tcPr marT="18288" marB="18288" marL="54864" marR="54864">
                    <a:solidFill>
                      <a:srgbClr val="FFFFFF"/>
                    </a:solidFill>
                  </a:tcPr>
                </a:tc>
                <a:tc>
                  <a:txBody>
                    <a:bodyPr/>
                    <a:lstStyle/>
                    <a:p>
                      <a:pPr>
                        <a:defRPr sz="1200">
                          <a:solidFill>
                            <a:srgbClr val="334155"/>
                          </a:solidFill>
                          <a:latin typeface="Calibri"/>
                        </a:defRPr>
                      </a:pPr>
                      <a:r>
                        <a:t>Manage Cohorts &amp; Group Progress</a:t>
                      </a:r>
                    </a:p>
                  </a:txBody>
                  <a:tcPr marT="18288" marB="18288" marL="54864" marR="54864">
                    <a:solidFill>
                      <a:srgbClr val="FFFFFF"/>
                    </a:solidFill>
                  </a:tcPr>
                </a:tc>
                <a:tc>
                  <a:txBody>
                    <a:bodyPr/>
                    <a:lstStyle/>
                    <a:p>
                      <a:pPr>
                        <a:defRPr sz="1200">
                          <a:solidFill>
                            <a:srgbClr val="334155"/>
                          </a:solidFill>
                          <a:latin typeface="Calibri"/>
                        </a:defRPr>
                      </a:pPr>
                      <a:r>
                        <a:t>—</a:t>
                      </a:r>
                    </a:p>
                  </a:txBody>
                  <a:tcPr marT="18288" marB="18288" marL="54864" marR="54864">
                    <a:solidFill>
                      <a:srgbClr val="FFFFFF"/>
                    </a:solidFill>
                  </a:tcPr>
                </a:tc>
                <a:tc>
                  <a:txBody>
                    <a:bodyPr/>
                    <a:lstStyle/>
                    <a:p>
                      <a:pPr>
                        <a:defRPr sz="1200">
                          <a:solidFill>
                            <a:srgbClr val="334155"/>
                          </a:solidFill>
                          <a:latin typeface="Calibri"/>
                        </a:defRPr>
                      </a:pPr>
                      <a:r>
                        <a:t>—</a:t>
                      </a:r>
                    </a:p>
                  </a:txBody>
                  <a:tcPr marT="18288" marB="18288" marL="54864" marR="54864">
                    <a:solidFill>
                      <a:srgbClr val="FFFFFF"/>
                    </a:solidFill>
                  </a:tcPr>
                </a:tc>
                <a:tc>
                  <a:txBody>
                    <a:bodyPr/>
                    <a:lstStyle/>
                    <a:p>
                      <a:pPr algn="ctr">
                        <a:defRPr sz="1200" b="1">
                          <a:solidFill>
                            <a:srgbClr val="94A3B8"/>
                          </a:solidFill>
                          <a:latin typeface="Calibri"/>
                        </a:defRPr>
                      </a:pPr>
                      <a:r>
                        <a:t>FUTURE EXTENSION</a:t>
                      </a:r>
                    </a:p>
                  </a:txBody>
                  <a:tcPr marT="18288" marB="18288" marL="54864" marR="54864">
                    <a:solidFill>
                      <a:srgbClr val="FFFFFF"/>
                    </a:solidFill>
                  </a:tcPr>
                </a:tc>
              </a:tr>
            </a:tbl>
          </a:graphicData>
        </a:graphic>
      </p:graphicFrame>
      <p:sp>
        <p:nvSpPr>
          <p:cNvPr id="6" name="TextBox 5"/>
          <p:cNvSpPr txBox="1"/>
          <p:nvPr/>
        </p:nvSpPr>
        <p:spPr>
          <a:xfrm>
            <a:off x="548640" y="6108192"/>
            <a:ext cx="11094415" cy="320040"/>
          </a:xfrm>
          <a:prstGeom prst="rect">
            <a:avLst/>
          </a:prstGeom>
          <a:noFill/>
        </p:spPr>
        <p:txBody>
          <a:bodyPr wrap="square" lIns="0" tIns="0" rIns="0" bIns="0">
            <a:spAutoFit/>
          </a:bodyPr>
          <a:lstStyle/>
          <a:p>
            <a:pPr>
              <a:defRPr sz="1100">
                <a:solidFill>
                  <a:srgbClr val="94A3B8"/>
                </a:solidFill>
                <a:latin typeface="Calibri"/>
              </a:defRPr>
            </a:pPr>
            <a:r>
              <a:t>Ghi chú: Cột Sơ đồ hoạt động chỉ dẫn chiếu tới các slide có biểu đồ hoạt động thực tế trong tài liệu; các Use Case còn lại đánh dấu '—'. UC-14 và UC-15 không ánh xạ lớp thực thể nội bộ.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