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Báo cáo trình bày phân tích và mô hình hóa hệ thống học ngoại ngữ trực tuyến Lingora. Nội dung bao gồm biểu đồ ca sử dụng, biểu đồ hoạt động, biểu đồ lớp và ma trận truy vết yêu cầu.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nghiệp vụ chia làm ba phân hệ rõ ràng: Learning, Content và Administration. Sáu vai trò vận hành theo nguyên tắc phân tách nhiệm vụ.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Sơ đồ ca sử dụng tổng quan thể hiện cấu trúc phân hệ của Lingora. Sáu tác nhân kế thừa từ Authenticated User nhằm chuẩn hóa cơ chế đăng nhập.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hệ học viên chuẩn hóa chu trình học tập khép kín. Người học bắt buộc xem nội dung qua Viewer trước khi trả lời bài tập.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hệ quản trị nội dung thực thi nghiêm ngặt nguyên tắc phân tách nhiệm vụ. Người soạn bài không có quyền tự phê duyệt hay xuất bản.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đánh giá chẩn đoán đầu vào gồm 30 câu hỏi theo ma trận kiến thức phân tầng. Điểm số thô được ánh xạ qua Mapping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 trình học bài yêu cầu bài học thuộc Unit có đủ 4/4 bài đã phát hành. Học viên tiếp thu kiến thức qua Viewer trước bài tập.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Thử thách nhảy cấp cho phép người học bỏ qua nội dung đã nắm vững. Quy mô bài thi tương ứng với số lượng bài học cần vượt qua.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quản trị học liệu kết hợp thẩm định sư phạm và lưu vết lịch sử. Moderator chỉ chuyển trạng thái duyệt.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Sơ đồ lớp nội dung phân tách giữa bảng dữ liệu hiện tại và mô hình quản lý phiên bản mục tiêu.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Sơ đồ lớp học viên thể hiện nguyên tắc tách biệt giữa tiến độ học và hồ sơ năng lực.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trận truy vết bảo đảm tính liên kết giữa các ca sử dụng với biểu đồ hoạt động và cấu trúc dữ liệu. Phân định rõ ràng phạm vi triển khai cốt lõi MVP.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C1F"/>
        </a:solidFill>
      </p:bgPr>
    </p:bg>
    <p:spTree>
      <p:nvGrpSpPr>
        <p:cNvPr id="1" name=""/>
        <p:cNvGrpSpPr/>
        <p:nvPr/>
      </p:nvGrpSpPr>
      <p:grpSpPr>
        <a:xfrm>
          <a:off x="0" y="0"/>
          <a:ext cx="0" cy="0"/>
          <a:chOff x="0" y="0"/>
          <a:chExt cx="0" cy="0"/>
        </a:xfrm>
      </p:grpSpPr>
      <p:sp>
        <p:nvSpPr>
          <p:cNvPr id="2" name="Shape 0"/>
          <p:cNvSpPr/>
          <p:nvPr/>
        </p:nvSpPr>
        <p:spPr>
          <a:xfrm>
            <a:off x="8961120" y="1097280"/>
            <a:ext cx="109728" cy="109728"/>
          </a:xfrm>
          <a:prstGeom prst="ellipse">
            <a:avLst/>
          </a:prstGeom>
          <a:solidFill>
            <a:srgbClr val="3B82F6">
              <a:alpha val="25000"/>
            </a:srgbClr>
          </a:solidFill>
          <a:ln w="12700">
            <a:solidFill>
              <a:srgbClr val="333333"/>
            </a:solidFill>
            <a:prstDash val="solid"/>
          </a:ln>
        </p:spPr>
      </p:sp>
      <p:sp>
        <p:nvSpPr>
          <p:cNvPr id="3" name="Shape 1"/>
          <p:cNvSpPr/>
          <p:nvPr/>
        </p:nvSpPr>
        <p:spPr>
          <a:xfrm>
            <a:off x="9692640" y="1828800"/>
            <a:ext cx="109728" cy="109728"/>
          </a:xfrm>
          <a:prstGeom prst="ellipse">
            <a:avLst/>
          </a:prstGeom>
          <a:solidFill>
            <a:srgbClr val="3B82F6">
              <a:alpha val="25000"/>
            </a:srgbClr>
          </a:solidFill>
          <a:ln w="12700">
            <a:solidFill>
              <a:srgbClr val="333333"/>
            </a:solidFill>
            <a:prstDash val="solid"/>
          </a:ln>
        </p:spPr>
      </p:sp>
      <p:sp>
        <p:nvSpPr>
          <p:cNvPr id="4" name="Shape 2"/>
          <p:cNvSpPr/>
          <p:nvPr/>
        </p:nvSpPr>
        <p:spPr>
          <a:xfrm>
            <a:off x="10424160" y="914400"/>
            <a:ext cx="109728" cy="109728"/>
          </a:xfrm>
          <a:prstGeom prst="ellipse">
            <a:avLst/>
          </a:prstGeom>
          <a:solidFill>
            <a:srgbClr val="3B82F6">
              <a:alpha val="25000"/>
            </a:srgbClr>
          </a:solidFill>
          <a:ln w="12700">
            <a:solidFill>
              <a:srgbClr val="333333"/>
            </a:solidFill>
            <a:prstDash val="solid"/>
          </a:ln>
        </p:spPr>
      </p:sp>
      <p:sp>
        <p:nvSpPr>
          <p:cNvPr id="5" name="Shape 3"/>
          <p:cNvSpPr/>
          <p:nvPr/>
        </p:nvSpPr>
        <p:spPr>
          <a:xfrm>
            <a:off x="9326880" y="2743200"/>
            <a:ext cx="109728" cy="109728"/>
          </a:xfrm>
          <a:prstGeom prst="ellipse">
            <a:avLst/>
          </a:prstGeom>
          <a:solidFill>
            <a:srgbClr val="3B82F6">
              <a:alpha val="25000"/>
            </a:srgbClr>
          </a:solidFill>
          <a:ln w="12700">
            <a:solidFill>
              <a:srgbClr val="333333"/>
            </a:solidFill>
            <a:prstDash val="solid"/>
          </a:ln>
        </p:spPr>
      </p:sp>
      <p:sp>
        <p:nvSpPr>
          <p:cNvPr id="6" name="Shape 4"/>
          <p:cNvSpPr/>
          <p:nvPr/>
        </p:nvSpPr>
        <p:spPr>
          <a:xfrm>
            <a:off x="10789920" y="2560320"/>
            <a:ext cx="109728" cy="109728"/>
          </a:xfrm>
          <a:prstGeom prst="ellipse">
            <a:avLst/>
          </a:prstGeom>
          <a:solidFill>
            <a:srgbClr val="3B82F6">
              <a:alpha val="25000"/>
            </a:srgbClr>
          </a:solidFill>
          <a:ln w="12700">
            <a:solidFill>
              <a:srgbClr val="333333"/>
            </a:solidFill>
            <a:prstDash val="solid"/>
          </a:ln>
        </p:spPr>
      </p:sp>
      <p:sp>
        <p:nvSpPr>
          <p:cNvPr id="7" name="Shape 5"/>
          <p:cNvSpPr/>
          <p:nvPr/>
        </p:nvSpPr>
        <p:spPr>
          <a:xfrm>
            <a:off x="8595360" y="3840480"/>
            <a:ext cx="109728" cy="109728"/>
          </a:xfrm>
          <a:prstGeom prst="ellipse">
            <a:avLst/>
          </a:prstGeom>
          <a:solidFill>
            <a:srgbClr val="3B82F6">
              <a:alpha val="25000"/>
            </a:srgbClr>
          </a:solidFill>
          <a:ln w="12700">
            <a:solidFill>
              <a:srgbClr val="333333"/>
            </a:solidFill>
            <a:prstDash val="solid"/>
          </a:ln>
        </p:spPr>
      </p:sp>
      <p:sp>
        <p:nvSpPr>
          <p:cNvPr id="8" name="Shape 6"/>
          <p:cNvSpPr/>
          <p:nvPr/>
        </p:nvSpPr>
        <p:spPr>
          <a:xfrm>
            <a:off x="9875520" y="4206240"/>
            <a:ext cx="109728" cy="109728"/>
          </a:xfrm>
          <a:prstGeom prst="ellipse">
            <a:avLst/>
          </a:prstGeom>
          <a:solidFill>
            <a:srgbClr val="3B82F6">
              <a:alpha val="25000"/>
            </a:srgbClr>
          </a:solidFill>
          <a:ln w="12700">
            <a:solidFill>
              <a:srgbClr val="333333"/>
            </a:solidFill>
            <a:prstDash val="solid"/>
          </a:ln>
        </p:spPr>
      </p:sp>
      <p:sp>
        <p:nvSpPr>
          <p:cNvPr id="9" name="Shape 7"/>
          <p:cNvSpPr/>
          <p:nvPr/>
        </p:nvSpPr>
        <p:spPr>
          <a:xfrm>
            <a:off x="10607040" y="3657600"/>
            <a:ext cx="109728" cy="109728"/>
          </a:xfrm>
          <a:prstGeom prst="ellipse">
            <a:avLst/>
          </a:prstGeom>
          <a:solidFill>
            <a:srgbClr val="3B82F6">
              <a:alpha val="25000"/>
            </a:srgbClr>
          </a:solidFill>
          <a:ln w="12700">
            <a:solidFill>
              <a:srgbClr val="333333"/>
            </a:solidFill>
            <a:prstDash val="solid"/>
          </a:ln>
        </p:spPr>
      </p:sp>
      <p:sp>
        <p:nvSpPr>
          <p:cNvPr id="10" name="Shape 8"/>
          <p:cNvSpPr/>
          <p:nvPr/>
        </p:nvSpPr>
        <p:spPr>
          <a:xfrm>
            <a:off x="10972800" y="4754880"/>
            <a:ext cx="109728" cy="109728"/>
          </a:xfrm>
          <a:prstGeom prst="ellipse">
            <a:avLst/>
          </a:prstGeom>
          <a:solidFill>
            <a:srgbClr val="3B82F6">
              <a:alpha val="25000"/>
            </a:srgbClr>
          </a:solidFill>
          <a:ln w="12700">
            <a:solidFill>
              <a:srgbClr val="333333"/>
            </a:solidFill>
            <a:prstDash val="solid"/>
          </a:ln>
        </p:spPr>
      </p:sp>
      <p:sp>
        <p:nvSpPr>
          <p:cNvPr id="11" name="Shape 9"/>
          <p:cNvSpPr/>
          <p:nvPr/>
        </p:nvSpPr>
        <p:spPr>
          <a:xfrm>
            <a:off x="9144000" y="5120640"/>
            <a:ext cx="109728" cy="109728"/>
          </a:xfrm>
          <a:prstGeom prst="ellipse">
            <a:avLst/>
          </a:prstGeom>
          <a:solidFill>
            <a:srgbClr val="3B82F6">
              <a:alpha val="25000"/>
            </a:srgbClr>
          </a:solidFill>
          <a:ln w="12700">
            <a:solidFill>
              <a:srgbClr val="333333"/>
            </a:solidFill>
            <a:prstDash val="solid"/>
          </a:ln>
        </p:spPr>
      </p:sp>
      <p:sp>
        <p:nvSpPr>
          <p:cNvPr id="12" name="Shape 10"/>
          <p:cNvSpPr/>
          <p:nvPr/>
        </p:nvSpPr>
        <p:spPr>
          <a:xfrm>
            <a:off x="9015984" y="1152144"/>
            <a:ext cx="731520" cy="731520"/>
          </a:xfrm>
          <a:prstGeom prst="line">
            <a:avLst/>
          </a:prstGeom>
          <a:noFill/>
          <a:ln w="6350">
            <a:solidFill>
              <a:srgbClr val="3B82F6">
                <a:alpha val="20000"/>
              </a:srgbClr>
            </a:solidFill>
            <a:prstDash val="solid"/>
          </a:ln>
        </p:spPr>
      </p:sp>
      <p:sp>
        <p:nvSpPr>
          <p:cNvPr id="13" name="Shape 11"/>
          <p:cNvSpPr/>
          <p:nvPr/>
        </p:nvSpPr>
        <p:spPr>
          <a:xfrm flipV="1">
            <a:off x="9747504" y="969264"/>
            <a:ext cx="731520" cy="914400"/>
          </a:xfrm>
          <a:prstGeom prst="line">
            <a:avLst/>
          </a:prstGeom>
          <a:noFill/>
          <a:ln w="6350">
            <a:solidFill>
              <a:srgbClr val="3B82F6">
                <a:alpha val="20000"/>
              </a:srgbClr>
            </a:solidFill>
            <a:prstDash val="solid"/>
          </a:ln>
        </p:spPr>
      </p:sp>
      <p:sp>
        <p:nvSpPr>
          <p:cNvPr id="14" name="Shape 12"/>
          <p:cNvSpPr/>
          <p:nvPr/>
        </p:nvSpPr>
        <p:spPr>
          <a:xfrm>
            <a:off x="9381744" y="1883664"/>
            <a:ext cx="365760" cy="914400"/>
          </a:xfrm>
          <a:prstGeom prst="line">
            <a:avLst/>
          </a:prstGeom>
          <a:noFill/>
          <a:ln w="6350">
            <a:solidFill>
              <a:srgbClr val="3B82F6">
                <a:alpha val="20000"/>
              </a:srgbClr>
            </a:solidFill>
            <a:prstDash val="solid"/>
          </a:ln>
        </p:spPr>
      </p:sp>
      <p:sp>
        <p:nvSpPr>
          <p:cNvPr id="15" name="Shape 13"/>
          <p:cNvSpPr/>
          <p:nvPr/>
        </p:nvSpPr>
        <p:spPr>
          <a:xfrm flipV="1">
            <a:off x="9381744" y="2615184"/>
            <a:ext cx="1463040" cy="182880"/>
          </a:xfrm>
          <a:prstGeom prst="line">
            <a:avLst/>
          </a:prstGeom>
          <a:noFill/>
          <a:ln w="6350">
            <a:solidFill>
              <a:srgbClr val="3B82F6">
                <a:alpha val="20000"/>
              </a:srgbClr>
            </a:solidFill>
            <a:prstDash val="solid"/>
          </a:ln>
        </p:spPr>
      </p:sp>
      <p:sp>
        <p:nvSpPr>
          <p:cNvPr id="16" name="Shape 14"/>
          <p:cNvSpPr/>
          <p:nvPr/>
        </p:nvSpPr>
        <p:spPr>
          <a:xfrm>
            <a:off x="8650224" y="3895344"/>
            <a:ext cx="1280160" cy="365760"/>
          </a:xfrm>
          <a:prstGeom prst="line">
            <a:avLst/>
          </a:prstGeom>
          <a:noFill/>
          <a:ln w="6350">
            <a:solidFill>
              <a:srgbClr val="3B82F6">
                <a:alpha val="20000"/>
              </a:srgbClr>
            </a:solidFill>
            <a:prstDash val="solid"/>
          </a:ln>
        </p:spPr>
      </p:sp>
      <p:sp>
        <p:nvSpPr>
          <p:cNvPr id="17" name="Shape 15"/>
          <p:cNvSpPr/>
          <p:nvPr/>
        </p:nvSpPr>
        <p:spPr>
          <a:xfrm flipV="1">
            <a:off x="9930384" y="3712464"/>
            <a:ext cx="731520" cy="548640"/>
          </a:xfrm>
          <a:prstGeom prst="line">
            <a:avLst/>
          </a:prstGeom>
          <a:noFill/>
          <a:ln w="6350">
            <a:solidFill>
              <a:srgbClr val="3B82F6">
                <a:alpha val="20000"/>
              </a:srgbClr>
            </a:solidFill>
            <a:prstDash val="solid"/>
          </a:ln>
        </p:spPr>
      </p:sp>
      <p:sp>
        <p:nvSpPr>
          <p:cNvPr id="18" name="Shape 16"/>
          <p:cNvSpPr/>
          <p:nvPr/>
        </p:nvSpPr>
        <p:spPr>
          <a:xfrm>
            <a:off x="10661904" y="3712464"/>
            <a:ext cx="365760" cy="1097280"/>
          </a:xfrm>
          <a:prstGeom prst="line">
            <a:avLst/>
          </a:prstGeom>
          <a:noFill/>
          <a:ln w="6350">
            <a:solidFill>
              <a:srgbClr val="3B82F6">
                <a:alpha val="20000"/>
              </a:srgbClr>
            </a:solidFill>
            <a:prstDash val="solid"/>
          </a:ln>
        </p:spPr>
      </p:sp>
      <p:sp>
        <p:nvSpPr>
          <p:cNvPr id="19" name="Shape 17"/>
          <p:cNvSpPr/>
          <p:nvPr/>
        </p:nvSpPr>
        <p:spPr>
          <a:xfrm>
            <a:off x="8650224" y="3895344"/>
            <a:ext cx="548640" cy="1280160"/>
          </a:xfrm>
          <a:prstGeom prst="line">
            <a:avLst/>
          </a:prstGeom>
          <a:noFill/>
          <a:ln w="6350">
            <a:solidFill>
              <a:srgbClr val="3B82F6">
                <a:alpha val="20000"/>
              </a:srgbClr>
            </a:solidFill>
            <a:prstDash val="solid"/>
          </a:ln>
        </p:spPr>
      </p:sp>
      <p:sp>
        <p:nvSpPr>
          <p:cNvPr id="20" name="Shape 18"/>
          <p:cNvSpPr/>
          <p:nvPr/>
        </p:nvSpPr>
        <p:spPr>
          <a:xfrm>
            <a:off x="0" y="0"/>
            <a:ext cx="12191695" cy="36576"/>
          </a:xfrm>
          <a:prstGeom prst="rect">
            <a:avLst/>
          </a:prstGeom>
          <a:solidFill>
            <a:srgbClr val="3B82F6"/>
          </a:solidFill>
          <a:ln w="12700">
            <a:solidFill>
              <a:srgbClr val="333333"/>
            </a:solidFill>
            <a:prstDash val="solid"/>
          </a:ln>
        </p:spPr>
      </p:sp>
      <p:sp>
        <p:nvSpPr>
          <p:cNvPr id="21" name="Text 19"/>
          <p:cNvSpPr/>
          <p:nvPr/>
        </p:nvSpPr>
        <p:spPr>
          <a:xfrm>
            <a:off x="914400" y="1645920"/>
            <a:ext cx="7315200" cy="548640"/>
          </a:xfrm>
          <a:prstGeom prst="rect">
            <a:avLst/>
          </a:prstGeom>
          <a:noFill/>
          <a:ln/>
        </p:spPr>
        <p:txBody>
          <a:bodyPr wrap="square" lIns="0" tIns="0" rIns="0" bIns="0" rtlCol="0" anchor="ctr"/>
          <a:lstStyle/>
          <a:p>
            <a:pPr indent="0" marL="0">
              <a:buNone/>
            </a:pPr>
            <a:r>
              <a:rPr lang="en-US" sz="1400" b="1" spc="800" kern="0" dirty="0">
                <a:solidFill>
                  <a:srgbClr val="3B82F6"/>
                </a:solidFill>
                <a:latin typeface="Calibri" pitchFamily="34" charset="0"/>
                <a:ea typeface="Calibri" pitchFamily="34" charset="-122"/>
                <a:cs typeface="Calibri" pitchFamily="34" charset="-120"/>
              </a:rPr>
              <a:t>LINGORA</a:t>
            </a:r>
            <a:endParaRPr lang="en-US" sz="1400" dirty="0"/>
          </a:p>
        </p:txBody>
      </p:sp>
      <p:sp>
        <p:nvSpPr>
          <p:cNvPr id="22" name="Text 20"/>
          <p:cNvSpPr/>
          <p:nvPr/>
        </p:nvSpPr>
        <p:spPr>
          <a:xfrm>
            <a:off x="914400" y="2194560"/>
            <a:ext cx="7772400" cy="1463040"/>
          </a:xfrm>
          <a:prstGeom prst="rect">
            <a:avLst/>
          </a:prstGeom>
          <a:noFill/>
          <a:ln/>
        </p:spPr>
        <p:txBody>
          <a:bodyPr wrap="square" lIns="0" tIns="0" rIns="0" bIns="0" rtlCol="0" anchor="ctr"/>
          <a:lstStyle/>
          <a:p>
            <a:pPr indent="0" marL="0">
              <a:lnSpc>
                <a:spcPct val="115000"/>
              </a:lnSpc>
              <a:buNone/>
            </a:pPr>
            <a:r>
              <a:rPr lang="en-US" sz="4000" b="1" dirty="0">
                <a:solidFill>
                  <a:srgbClr val="FFFFFF"/>
                </a:solidFill>
                <a:latin typeface="Calibri" pitchFamily="34" charset="0"/>
                <a:ea typeface="Calibri" pitchFamily="34" charset="-122"/>
                <a:cs typeface="Calibri" pitchFamily="34" charset="-120"/>
              </a:rPr>
              <a:t>Mô Hình Hóa Hệ Thống</a:t>
            </a:r>
            <a:endParaRPr lang="en-US" sz="4000" dirty="0"/>
          </a:p>
          <a:p>
            <a:pPr indent="0" marL="0">
              <a:lnSpc>
                <a:spcPct val="115000"/>
              </a:lnSpc>
              <a:buNone/>
            </a:pPr>
            <a:r>
              <a:rPr lang="en-US" sz="4000" b="1" dirty="0">
                <a:solidFill>
                  <a:srgbClr val="FFFFFF"/>
                </a:solidFill>
                <a:latin typeface="Calibri" pitchFamily="34" charset="0"/>
                <a:ea typeface="Calibri" pitchFamily="34" charset="-122"/>
                <a:cs typeface="Calibri" pitchFamily="34" charset="-120"/>
              </a:rPr>
              <a:t>&amp; Đặc Tả Nghiệp Vụ</a:t>
            </a:r>
            <a:endParaRPr lang="en-US" sz="4000" dirty="0"/>
          </a:p>
        </p:txBody>
      </p:sp>
      <p:sp>
        <p:nvSpPr>
          <p:cNvPr id="23" name="Text 21"/>
          <p:cNvSpPr/>
          <p:nvPr/>
        </p:nvSpPr>
        <p:spPr>
          <a:xfrm>
            <a:off x="914400" y="3794760"/>
            <a:ext cx="7772400" cy="45720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Use Case  ·  Activity Flow  ·  Domain Class Model  ·  Requirement Traceability</a:t>
            </a:r>
            <a:endParaRPr lang="en-US" sz="1400" dirty="0"/>
          </a:p>
        </p:txBody>
      </p:sp>
      <p:sp>
        <p:nvSpPr>
          <p:cNvPr id="24" name="Shape 22"/>
          <p:cNvSpPr/>
          <p:nvPr/>
        </p:nvSpPr>
        <p:spPr>
          <a:xfrm>
            <a:off x="914400" y="4480560"/>
            <a:ext cx="2286000" cy="27432"/>
          </a:xfrm>
          <a:prstGeom prst="rect">
            <a:avLst/>
          </a:prstGeom>
          <a:solidFill>
            <a:srgbClr val="3B82F6"/>
          </a:solidFill>
          <a:ln w="12700">
            <a:solidFill>
              <a:srgbClr val="333333"/>
            </a:solidFill>
            <a:prstDash val="solid"/>
          </a:ln>
        </p:spPr>
      </p:sp>
      <p:sp>
        <p:nvSpPr>
          <p:cNvPr id="25" name="Text 23"/>
          <p:cNvSpPr/>
          <p:nvPr/>
        </p:nvSpPr>
        <p:spPr>
          <a:xfrm>
            <a:off x="914400" y="4709160"/>
            <a:ext cx="7315200" cy="3657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Báo cáo Kỹ thuật Phần mềm — Phase 1 Locked Baseline Specification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lIns="0" tIns="0" rIns="0" bIns="0" rtlCol="0" anchor="ctr"/>
          <a:lstStyle/>
          <a:p>
            <a:pPr indent="0" marL="0">
              <a:buNone/>
            </a:pPr>
            <a:r>
              <a:rPr lang="en-US" sz="1100" b="1" spc="200" kern="0" dirty="0">
                <a:solidFill>
                  <a:srgbClr val="3B82F6"/>
                </a:solidFill>
                <a:latin typeface="Calibri" pitchFamily="34" charset="0"/>
                <a:ea typeface="Calibri" pitchFamily="34" charset="-122"/>
                <a:cs typeface="Calibri" pitchFamily="34" charset="-120"/>
              </a:rPr>
              <a:t>KIẾN TRÚC HỆ THỐNG</a:t>
            </a:r>
            <a:endParaRPr lang="en-US" sz="1100" dirty="0"/>
          </a:p>
        </p:txBody>
      </p:sp>
      <p:sp>
        <p:nvSpPr>
          <p:cNvPr id="3" name="Text 1"/>
          <p:cNvSpPr/>
          <p:nvPr/>
        </p:nvSpPr>
        <p:spPr>
          <a:xfrm>
            <a:off x="731520" y="658368"/>
            <a:ext cx="91440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Tổng Quan Kiến Trúc Nghiệp Vụ &amp; Ranh Giới Vai Trò</a:t>
            </a:r>
            <a:endParaRPr lang="en-US" sz="2400" dirty="0"/>
          </a:p>
        </p:txBody>
      </p:sp>
      <p:sp>
        <p:nvSpPr>
          <p:cNvPr id="4" name="Text 2"/>
          <p:cNvSpPr/>
          <p:nvPr/>
        </p:nvSpPr>
        <p:spPr>
          <a:xfrm>
            <a:off x="10789920" y="411480"/>
            <a:ext cx="731520" cy="274320"/>
          </a:xfrm>
          <a:prstGeom prst="rect">
            <a:avLst/>
          </a:prstGeom>
          <a:noFill/>
          <a:ln/>
        </p:spPr>
        <p:txBody>
          <a:bodyPr wrap="square" lIns="0" tIns="0" rIns="0" bIns="0" rtlCol="0" anchor="ctr"/>
          <a:lstStyle/>
          <a:p>
            <a:pPr algn="r" indent="0" marL="0">
              <a:buNone/>
            </a:pPr>
            <a:r>
              <a:rPr lang="en-US" sz="1100" b="1" dirty="0">
                <a:solidFill>
                  <a:srgbClr val="64748B"/>
                </a:solidFill>
                <a:latin typeface="Calibri" pitchFamily="34" charset="0"/>
                <a:ea typeface="Calibri" pitchFamily="34" charset="-122"/>
                <a:cs typeface="Calibri" pitchFamily="34" charset="-120"/>
              </a:rPr>
              <a:t>02 / 12</a:t>
            </a:r>
            <a:endParaRPr lang="en-US" sz="1100" dirty="0"/>
          </a:p>
        </p:txBody>
      </p:sp>
      <p:sp>
        <p:nvSpPr>
          <p:cNvPr id="5" name="Shape 3"/>
          <p:cNvSpPr/>
          <p:nvPr/>
        </p:nvSpPr>
        <p:spPr>
          <a:xfrm>
            <a:off x="731520" y="1371600"/>
            <a:ext cx="3383280" cy="3886200"/>
          </a:xfrm>
          <a:prstGeom prst="roundRect">
            <a:avLst>
              <a:gd name="adj" fmla="val 1622"/>
            </a:avLst>
          </a:prstGeom>
          <a:solidFill>
            <a:srgbClr val="FFFFFF"/>
          </a:solidFill>
          <a:ln w="12700">
            <a:solidFill>
              <a:srgbClr val="333333"/>
            </a:solidFill>
            <a:prstDash val="solid"/>
          </a:ln>
          <a:effectLst>
            <a:outerShdw sx="100000" sy="100000" kx="0" ky="0" algn="bl" rotWithShape="0" blurRad="76200" dist="25400" dir="16200000">
              <a:srgbClr val="000000">
                <a:alpha val="8000"/>
              </a:srgbClr>
            </a:outerShdw>
          </a:effectLst>
        </p:spPr>
      </p:sp>
      <p:sp>
        <p:nvSpPr>
          <p:cNvPr id="6" name="Shape 4"/>
          <p:cNvSpPr/>
          <p:nvPr/>
        </p:nvSpPr>
        <p:spPr>
          <a:xfrm>
            <a:off x="731520" y="1371600"/>
            <a:ext cx="3383280" cy="36576"/>
          </a:xfrm>
          <a:prstGeom prst="rect">
            <a:avLst/>
          </a:prstGeom>
          <a:solidFill>
            <a:srgbClr val="3B82F6"/>
          </a:solidFill>
          <a:ln w="12700">
            <a:solidFill>
              <a:srgbClr val="333333"/>
            </a:solidFill>
            <a:prstDash val="solid"/>
          </a:ln>
        </p:spPr>
      </p:sp>
      <p:sp>
        <p:nvSpPr>
          <p:cNvPr id="7" name="Text 5"/>
          <p:cNvSpPr/>
          <p:nvPr/>
        </p:nvSpPr>
        <p:spPr>
          <a:xfrm>
            <a:off x="960120" y="1572768"/>
            <a:ext cx="2926080" cy="640080"/>
          </a:xfrm>
          <a:prstGeom prst="rect">
            <a:avLst/>
          </a:prstGeom>
          <a:noFill/>
          <a:ln/>
        </p:spPr>
        <p:txBody>
          <a:bodyPr wrap="square" lIns="0" tIns="0" rIns="0" bIns="0" rtlCol="0" anchor="ctr"/>
          <a:lstStyle/>
          <a:p>
            <a:pPr indent="0" marL="0">
              <a:lnSpc>
                <a:spcPct val="110000"/>
              </a:lnSpc>
              <a:buNone/>
            </a:pPr>
            <a:r>
              <a:rPr lang="en-US" sz="1400" b="1" dirty="0">
                <a:solidFill>
                  <a:srgbClr val="0F172A"/>
                </a:solidFill>
                <a:latin typeface="Calibri" pitchFamily="34" charset="0"/>
                <a:ea typeface="Calibri" pitchFamily="34" charset="-122"/>
                <a:cs typeface="Calibri" pitchFamily="34" charset="-120"/>
              </a:rPr>
              <a:t>LEARNING</a:t>
            </a:r>
            <a:endParaRPr lang="en-US" sz="1400" dirty="0"/>
          </a:p>
          <a:p>
            <a:pPr indent="0" marL="0">
              <a:lnSpc>
                <a:spcPct val="110000"/>
              </a:lnSpc>
              <a:buNone/>
            </a:pPr>
            <a:r>
              <a:rPr lang="en-US" sz="1400" b="1" dirty="0">
                <a:solidFill>
                  <a:srgbClr val="0F172A"/>
                </a:solidFill>
                <a:latin typeface="Calibri" pitchFamily="34" charset="0"/>
                <a:ea typeface="Calibri" pitchFamily="34" charset="-122"/>
                <a:cs typeface="Calibri" pitchFamily="34" charset="-120"/>
              </a:rPr>
              <a:t>SUBSYSTEM</a:t>
            </a:r>
            <a:endParaRPr lang="en-US" sz="1400" dirty="0"/>
          </a:p>
        </p:txBody>
      </p:sp>
      <p:sp>
        <p:nvSpPr>
          <p:cNvPr id="8" name="Text 6"/>
          <p:cNvSpPr/>
          <p:nvPr/>
        </p:nvSpPr>
        <p:spPr>
          <a:xfrm>
            <a:off x="960120" y="2240280"/>
            <a:ext cx="2926080" cy="320040"/>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Trải nghiệm học tập &amp; củng cố năng lực</a:t>
            </a:r>
            <a:endParaRPr lang="en-US" sz="950" dirty="0"/>
          </a:p>
        </p:txBody>
      </p:sp>
      <p:sp>
        <p:nvSpPr>
          <p:cNvPr id="9" name="Text 7"/>
          <p:cNvSpPr/>
          <p:nvPr/>
        </p:nvSpPr>
        <p:spPr>
          <a:xfrm>
            <a:off x="914400" y="2606040"/>
            <a:ext cx="3017520" cy="2560320"/>
          </a:xfrm>
          <a:prstGeom prst="rect">
            <a:avLst/>
          </a:prstGeom>
          <a:noFill/>
          <a:ln/>
        </p:spPr>
        <p:txBody>
          <a:bodyPr wrap="square" lIns="0" tIns="63500" rIns="63500" bIns="0" rtlCol="0" anchor="t"/>
          <a:lstStyle/>
          <a:p>
            <a:pPr marL="342900" indent="-342900">
              <a:spcAft>
                <a:spcPts val="400"/>
              </a:spcAft>
              <a:buSzPct val="100000"/>
              <a:buChar char="•"/>
            </a:pPr>
            <a:r>
              <a:rPr lang="en-US" sz="950" dirty="0">
                <a:solidFill>
                  <a:srgbClr val="334155"/>
                </a:solidFill>
                <a:latin typeface="Calibri" pitchFamily="34" charset="0"/>
                <a:ea typeface="Calibri" pitchFamily="34" charset="-122"/>
                <a:cs typeface="Calibri" pitchFamily="34" charset="-120"/>
              </a:rPr>
              <a:t>[UC-01] Xác thực phiên &amp; phân quyền người dùng</a:t>
            </a:r>
            <a:endParaRPr lang="en-US" sz="950" dirty="0"/>
          </a:p>
          <a:p>
            <a:pPr marL="342900" indent="-342900">
              <a:spcAft>
                <a:spcPts val="400"/>
              </a:spcAft>
              <a:buSzPct val="100000"/>
              <a:buChar char="•"/>
            </a:pPr>
            <a:r>
              <a:rPr lang="en-US" sz="950" dirty="0">
                <a:solidFill>
                  <a:srgbClr val="334155"/>
                </a:solidFill>
                <a:latin typeface="Calibri" pitchFamily="34" charset="0"/>
                <a:ea typeface="Calibri" pitchFamily="34" charset="-122"/>
                <a:cs typeface="Calibri" pitchFamily="34" charset="-120"/>
              </a:rPr>
              <a:t>[UC-02] Cấu hình mục tiêu học tập hằng ngày</a:t>
            </a:r>
            <a:endParaRPr lang="en-US" sz="950" dirty="0"/>
          </a:p>
          <a:p>
            <a:pPr marL="342900" indent="-342900">
              <a:spcAft>
                <a:spcPts val="400"/>
              </a:spcAft>
              <a:buSzPct val="100000"/>
              <a:buChar char="•"/>
            </a:pPr>
            <a:r>
              <a:rPr lang="en-US" sz="950" dirty="0">
                <a:solidFill>
                  <a:srgbClr val="334155"/>
                </a:solidFill>
                <a:latin typeface="Calibri" pitchFamily="34" charset="0"/>
                <a:ea typeface="Calibri" pitchFamily="34" charset="-122"/>
                <a:cs typeface="Calibri" pitchFamily="34" charset="-120"/>
              </a:rPr>
              <a:t>[UC-03] Kiểm tra chẩn đoán xếp lớp đầu vào</a:t>
            </a:r>
            <a:endParaRPr lang="en-US" sz="950" dirty="0"/>
          </a:p>
          <a:p>
            <a:pPr marL="342900" indent="-342900">
              <a:spcAft>
                <a:spcPts val="400"/>
              </a:spcAft>
              <a:buSzPct val="100000"/>
              <a:buChar char="•"/>
            </a:pPr>
            <a:r>
              <a:rPr lang="en-US" sz="950" dirty="0">
                <a:solidFill>
                  <a:srgbClr val="334155"/>
                </a:solidFill>
                <a:latin typeface="Calibri" pitchFamily="34" charset="0"/>
                <a:ea typeface="Calibri" pitchFamily="34" charset="-122"/>
                <a:cs typeface="Calibri" pitchFamily="34" charset="-120"/>
              </a:rPr>
              <a:t>[UC-04] Duyệt lộ trình học &amp; thử thách Jump</a:t>
            </a:r>
            <a:endParaRPr lang="en-US" sz="950" dirty="0"/>
          </a:p>
          <a:p>
            <a:pPr marL="342900" indent="-342900">
              <a:spcAft>
                <a:spcPts val="400"/>
              </a:spcAft>
              <a:buSzPct val="100000"/>
              <a:buChar char="•"/>
            </a:pPr>
            <a:r>
              <a:rPr lang="en-US" sz="950" dirty="0">
                <a:solidFill>
                  <a:srgbClr val="334155"/>
                </a:solidFill>
                <a:latin typeface="Calibri" pitchFamily="34" charset="0"/>
                <a:ea typeface="Calibri" pitchFamily="34" charset="-122"/>
                <a:cs typeface="Calibri" pitchFamily="34" charset="-120"/>
              </a:rPr>
              <a:t>[UC-05] Xem lý thuyết (Viewer) &amp; làm bài tập tương tác</a:t>
            </a:r>
            <a:endParaRPr lang="en-US" sz="950" dirty="0"/>
          </a:p>
          <a:p>
            <a:pPr marL="342900" indent="-342900">
              <a:spcAft>
                <a:spcPts val="400"/>
              </a:spcAft>
              <a:buSzPct val="100000"/>
              <a:buChar char="•"/>
            </a:pPr>
            <a:r>
              <a:rPr lang="en-US" sz="950" dirty="0">
                <a:solidFill>
                  <a:srgbClr val="334155"/>
                </a:solidFill>
                <a:latin typeface="Calibri" pitchFamily="34" charset="0"/>
                <a:ea typeface="Calibri" pitchFamily="34" charset="-122"/>
                <a:cs typeface="Calibri" pitchFamily="34" charset="-120"/>
              </a:rPr>
              <a:t>[UC-06] Ôn tập từ vựng ngắt quãng theo SRS Policy B</a:t>
            </a:r>
            <a:endParaRPr lang="en-US" sz="950" dirty="0"/>
          </a:p>
          <a:p>
            <a:pPr marL="342900" indent="-342900">
              <a:spcAft>
                <a:spcPts val="400"/>
              </a:spcAft>
              <a:buSzPct val="100000"/>
              <a:buChar char="•"/>
            </a:pPr>
            <a:r>
              <a:rPr lang="en-US" sz="950" dirty="0">
                <a:solidFill>
                  <a:srgbClr val="334155"/>
                </a:solidFill>
                <a:latin typeface="Calibri" pitchFamily="34" charset="0"/>
                <a:ea typeface="Calibri" pitchFamily="34" charset="-122"/>
                <a:cs typeface="Calibri" pitchFamily="34" charset="-120"/>
              </a:rPr>
              <a:t>[UC-07] Theo dõi tiến độ học tập &amp; chuỗi ngày Streak</a:t>
            </a:r>
            <a:endParaRPr lang="en-US" sz="950" dirty="0"/>
          </a:p>
        </p:txBody>
      </p:sp>
      <p:sp>
        <p:nvSpPr>
          <p:cNvPr id="10" name="Shape 8"/>
          <p:cNvSpPr/>
          <p:nvPr/>
        </p:nvSpPr>
        <p:spPr>
          <a:xfrm>
            <a:off x="4389120" y="1371600"/>
            <a:ext cx="3383280" cy="3886200"/>
          </a:xfrm>
          <a:prstGeom prst="roundRect">
            <a:avLst>
              <a:gd name="adj" fmla="val 1622"/>
            </a:avLst>
          </a:prstGeom>
          <a:solidFill>
            <a:srgbClr val="FFFFFF"/>
          </a:solidFill>
          <a:ln w="12700">
            <a:solidFill>
              <a:srgbClr val="333333"/>
            </a:solidFill>
            <a:prstDash val="solid"/>
          </a:ln>
          <a:effectLst>
            <a:outerShdw sx="100000" sy="100000" kx="0" ky="0" algn="bl" rotWithShape="0" blurRad="76200" dist="25400" dir="16200000">
              <a:srgbClr val="000000">
                <a:alpha val="8000"/>
              </a:srgbClr>
            </a:outerShdw>
          </a:effectLst>
        </p:spPr>
      </p:sp>
      <p:sp>
        <p:nvSpPr>
          <p:cNvPr id="11" name="Shape 9"/>
          <p:cNvSpPr/>
          <p:nvPr/>
        </p:nvSpPr>
        <p:spPr>
          <a:xfrm>
            <a:off x="4389120" y="1371600"/>
            <a:ext cx="3383280" cy="36576"/>
          </a:xfrm>
          <a:prstGeom prst="rect">
            <a:avLst/>
          </a:prstGeom>
          <a:solidFill>
            <a:srgbClr val="8B5CF6"/>
          </a:solidFill>
          <a:ln w="12700">
            <a:solidFill>
              <a:srgbClr val="333333"/>
            </a:solidFill>
            <a:prstDash val="solid"/>
          </a:ln>
        </p:spPr>
      </p:sp>
      <p:sp>
        <p:nvSpPr>
          <p:cNvPr id="12" name="Text 10"/>
          <p:cNvSpPr/>
          <p:nvPr/>
        </p:nvSpPr>
        <p:spPr>
          <a:xfrm>
            <a:off x="4617720" y="1572768"/>
            <a:ext cx="2926080" cy="640080"/>
          </a:xfrm>
          <a:prstGeom prst="rect">
            <a:avLst/>
          </a:prstGeom>
          <a:noFill/>
          <a:ln/>
        </p:spPr>
        <p:txBody>
          <a:bodyPr wrap="square" lIns="0" tIns="0" rIns="0" bIns="0" rtlCol="0" anchor="ctr"/>
          <a:lstStyle/>
          <a:p>
            <a:pPr indent="0" marL="0">
              <a:lnSpc>
                <a:spcPct val="110000"/>
              </a:lnSpc>
              <a:buNone/>
            </a:pPr>
            <a:r>
              <a:rPr lang="en-US" sz="1400" b="1" dirty="0">
                <a:solidFill>
                  <a:srgbClr val="0F172A"/>
                </a:solidFill>
                <a:latin typeface="Calibri" pitchFamily="34" charset="0"/>
                <a:ea typeface="Calibri" pitchFamily="34" charset="-122"/>
                <a:cs typeface="Calibri" pitchFamily="34" charset="-120"/>
              </a:rPr>
              <a:t>CONTENT</a:t>
            </a:r>
            <a:endParaRPr lang="en-US" sz="1400" dirty="0"/>
          </a:p>
          <a:p>
            <a:pPr indent="0" marL="0">
              <a:lnSpc>
                <a:spcPct val="110000"/>
              </a:lnSpc>
              <a:buNone/>
            </a:pPr>
            <a:r>
              <a:rPr lang="en-US" sz="1400" b="1" dirty="0">
                <a:solidFill>
                  <a:srgbClr val="0F172A"/>
                </a:solidFill>
                <a:latin typeface="Calibri" pitchFamily="34" charset="0"/>
                <a:ea typeface="Calibri" pitchFamily="34" charset="-122"/>
                <a:cs typeface="Calibri" pitchFamily="34" charset="-120"/>
              </a:rPr>
              <a:t>SUBSYSTEM</a:t>
            </a:r>
            <a:endParaRPr lang="en-US" sz="1400" dirty="0"/>
          </a:p>
        </p:txBody>
      </p:sp>
      <p:sp>
        <p:nvSpPr>
          <p:cNvPr id="13" name="Text 11"/>
          <p:cNvSpPr/>
          <p:nvPr/>
        </p:nvSpPr>
        <p:spPr>
          <a:xfrm>
            <a:off x="4617720" y="2240280"/>
            <a:ext cx="2926080" cy="320040"/>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Biên soạn, kiểm duyệt &amp; quản trị vòng đời</a:t>
            </a:r>
            <a:endParaRPr lang="en-US" sz="950" dirty="0"/>
          </a:p>
        </p:txBody>
      </p:sp>
      <p:sp>
        <p:nvSpPr>
          <p:cNvPr id="14" name="Text 12"/>
          <p:cNvSpPr/>
          <p:nvPr/>
        </p:nvSpPr>
        <p:spPr>
          <a:xfrm>
            <a:off x="4572000" y="2606040"/>
            <a:ext cx="3017520" cy="2560320"/>
          </a:xfrm>
          <a:prstGeom prst="rect">
            <a:avLst/>
          </a:prstGeom>
          <a:noFill/>
          <a:ln/>
        </p:spPr>
        <p:txBody>
          <a:bodyPr wrap="square" lIns="0" tIns="63500" rIns="63500" bIns="0" rtlCol="0" anchor="t"/>
          <a:lstStyle/>
          <a:p>
            <a:pPr marL="342900" indent="-342900">
              <a:spcAft>
                <a:spcPts val="400"/>
              </a:spcAft>
              <a:buSzPct val="100000"/>
              <a:buChar char="•"/>
            </a:pPr>
            <a:r>
              <a:rPr lang="en-US" sz="950" dirty="0">
                <a:solidFill>
                  <a:srgbClr val="334155"/>
                </a:solidFill>
                <a:latin typeface="Calibri" pitchFamily="34" charset="0"/>
                <a:ea typeface="Calibri" pitchFamily="34" charset="-122"/>
                <a:cs typeface="Calibri" pitchFamily="34" charset="-120"/>
              </a:rPr>
              <a:t>[UC-08] Soạn thảo bài học, bài tập &amp; từ vựng đi kèm</a:t>
            </a:r>
            <a:endParaRPr lang="en-US" sz="950" dirty="0"/>
          </a:p>
          <a:p>
            <a:pPr marL="342900" indent="-342900">
              <a:spcAft>
                <a:spcPts val="400"/>
              </a:spcAft>
              <a:buSzPct val="100000"/>
              <a:buChar char="•"/>
            </a:pPr>
            <a:r>
              <a:rPr lang="en-US" sz="950" dirty="0">
                <a:solidFill>
                  <a:srgbClr val="334155"/>
                </a:solidFill>
                <a:latin typeface="Calibri" pitchFamily="34" charset="0"/>
                <a:ea typeface="Calibri" pitchFamily="34" charset="-122"/>
                <a:cs typeface="Calibri" pitchFamily="34" charset="-120"/>
              </a:rPr>
              <a:t>[UC-09] Kiểm duyệt độc lập &amp; yêu cầu chỉnh sửa</a:t>
            </a:r>
            <a:endParaRPr lang="en-US" sz="950" dirty="0"/>
          </a:p>
          <a:p>
            <a:pPr marL="342900" indent="-342900">
              <a:spcAft>
                <a:spcPts val="400"/>
              </a:spcAft>
              <a:buSzPct val="100000"/>
              <a:buChar char="•"/>
            </a:pPr>
            <a:r>
              <a:rPr lang="en-US" sz="950" dirty="0">
                <a:solidFill>
                  <a:srgbClr val="334155"/>
                </a:solidFill>
                <a:latin typeface="Calibri" pitchFamily="34" charset="0"/>
                <a:ea typeface="Calibri" pitchFamily="34" charset="-122"/>
                <a:cs typeface="Calibri" pitchFamily="34" charset="-120"/>
              </a:rPr>
              <a:t>[UC-10] Xuất bản bài học đã duyệt ra toàn hệ thống</a:t>
            </a:r>
            <a:endParaRPr lang="en-US" sz="950" dirty="0"/>
          </a:p>
          <a:p>
            <a:pPr marL="342900" indent="-342900">
              <a:spcAft>
                <a:spcPts val="400"/>
              </a:spcAft>
              <a:buSzPct val="100000"/>
              <a:buChar char="•"/>
            </a:pPr>
            <a:r>
              <a:rPr lang="en-US" sz="950" dirty="0">
                <a:solidFill>
                  <a:srgbClr val="334155"/>
                </a:solidFill>
                <a:latin typeface="Calibri" pitchFamily="34" charset="0"/>
                <a:ea typeface="Calibri" pitchFamily="34" charset="-122"/>
                <a:cs typeface="Calibri" pitchFamily="34" charset="-120"/>
              </a:rPr>
              <a:t>[Rule] Quy trình Clone-to-Draft v2 bảo toàn bài đang phát hành</a:t>
            </a:r>
            <a:endParaRPr lang="en-US" sz="950" dirty="0"/>
          </a:p>
          <a:p>
            <a:pPr marL="342900" indent="-342900">
              <a:spcAft>
                <a:spcPts val="400"/>
              </a:spcAft>
              <a:buSzPct val="100000"/>
              <a:buChar char="•"/>
            </a:pPr>
            <a:r>
              <a:rPr lang="en-US" sz="950" dirty="0">
                <a:solidFill>
                  <a:srgbClr val="334155"/>
                </a:solidFill>
                <a:latin typeface="Calibri" pitchFamily="34" charset="0"/>
                <a:ea typeface="Calibri" pitchFamily="34" charset="-122"/>
                <a:cs typeface="Calibri" pitchFamily="34" charset="-120"/>
              </a:rPr>
              <a:t>[Rule] Điều kiện hiển thị Unit: đủ 4/4 Lesson Published</a:t>
            </a:r>
            <a:endParaRPr lang="en-US" sz="950" dirty="0"/>
          </a:p>
          <a:p>
            <a:pPr marL="342900" indent="-342900">
              <a:spcAft>
                <a:spcPts val="400"/>
              </a:spcAft>
              <a:buSzPct val="100000"/>
              <a:buChar char="•"/>
            </a:pPr>
            <a:r>
              <a:rPr lang="en-US" sz="950" dirty="0">
                <a:solidFill>
                  <a:srgbClr val="334155"/>
                </a:solidFill>
                <a:latin typeface="Calibri" pitchFamily="34" charset="0"/>
                <a:ea typeface="Calibri" pitchFamily="34" charset="-122"/>
                <a:cs typeface="Calibri" pitchFamily="34" charset="-120"/>
              </a:rPr>
              <a:t>[Rule] Phân tách nhiệm vụ SoD: Creator không tự duyệt bài</a:t>
            </a:r>
            <a:endParaRPr lang="en-US" sz="950" dirty="0"/>
          </a:p>
          <a:p>
            <a:pPr marL="342900" indent="-342900">
              <a:spcAft>
                <a:spcPts val="400"/>
              </a:spcAft>
              <a:buSzPct val="100000"/>
              <a:buChar char="•"/>
            </a:pPr>
            <a:r>
              <a:rPr lang="en-US" sz="950" dirty="0">
                <a:solidFill>
                  <a:srgbClr val="334155"/>
                </a:solidFill>
                <a:latin typeface="Calibri" pitchFamily="34" charset="0"/>
                <a:ea typeface="Calibri" pitchFamily="34" charset="-122"/>
                <a:cs typeface="Calibri" pitchFamily="34" charset="-120"/>
              </a:rPr>
              <a:t>[Admin] Xuất bản khẩn cấp bài đã Approved, có lý do &amp; AuditLog</a:t>
            </a:r>
            <a:endParaRPr lang="en-US" sz="950" dirty="0"/>
          </a:p>
        </p:txBody>
      </p:sp>
      <p:sp>
        <p:nvSpPr>
          <p:cNvPr id="15" name="Shape 13"/>
          <p:cNvSpPr/>
          <p:nvPr/>
        </p:nvSpPr>
        <p:spPr>
          <a:xfrm>
            <a:off x="8046720" y="1371600"/>
            <a:ext cx="3383280" cy="3886200"/>
          </a:xfrm>
          <a:prstGeom prst="roundRect">
            <a:avLst>
              <a:gd name="adj" fmla="val 1622"/>
            </a:avLst>
          </a:prstGeom>
          <a:solidFill>
            <a:srgbClr val="FFFFFF"/>
          </a:solidFill>
          <a:ln w="12700">
            <a:solidFill>
              <a:srgbClr val="333333"/>
            </a:solidFill>
            <a:prstDash val="solid"/>
          </a:ln>
          <a:effectLst>
            <a:outerShdw sx="100000" sy="100000" kx="0" ky="0" algn="bl" rotWithShape="0" blurRad="76200" dist="25400" dir="16200000">
              <a:srgbClr val="000000">
                <a:alpha val="8000"/>
              </a:srgbClr>
            </a:outerShdw>
          </a:effectLst>
        </p:spPr>
      </p:sp>
      <p:sp>
        <p:nvSpPr>
          <p:cNvPr id="16" name="Shape 14"/>
          <p:cNvSpPr/>
          <p:nvPr/>
        </p:nvSpPr>
        <p:spPr>
          <a:xfrm>
            <a:off x="8046720" y="1371600"/>
            <a:ext cx="3383280" cy="36576"/>
          </a:xfrm>
          <a:prstGeom prst="rect">
            <a:avLst/>
          </a:prstGeom>
          <a:solidFill>
            <a:srgbClr val="10B981"/>
          </a:solidFill>
          <a:ln w="12700">
            <a:solidFill>
              <a:srgbClr val="333333"/>
            </a:solidFill>
            <a:prstDash val="solid"/>
          </a:ln>
        </p:spPr>
      </p:sp>
      <p:sp>
        <p:nvSpPr>
          <p:cNvPr id="17" name="Text 15"/>
          <p:cNvSpPr/>
          <p:nvPr/>
        </p:nvSpPr>
        <p:spPr>
          <a:xfrm>
            <a:off x="8275320" y="1572768"/>
            <a:ext cx="2926080" cy="640080"/>
          </a:xfrm>
          <a:prstGeom prst="rect">
            <a:avLst/>
          </a:prstGeom>
          <a:noFill/>
          <a:ln/>
        </p:spPr>
        <p:txBody>
          <a:bodyPr wrap="square" lIns="0" tIns="0" rIns="0" bIns="0" rtlCol="0" anchor="ctr"/>
          <a:lstStyle/>
          <a:p>
            <a:pPr indent="0" marL="0">
              <a:lnSpc>
                <a:spcPct val="110000"/>
              </a:lnSpc>
              <a:buNone/>
            </a:pPr>
            <a:r>
              <a:rPr lang="en-US" sz="1400" b="1" dirty="0">
                <a:solidFill>
                  <a:srgbClr val="0F172A"/>
                </a:solidFill>
                <a:latin typeface="Calibri" pitchFamily="34" charset="0"/>
                <a:ea typeface="Calibri" pitchFamily="34" charset="-122"/>
                <a:cs typeface="Calibri" pitchFamily="34" charset="-120"/>
              </a:rPr>
              <a:t>ADMIN</a:t>
            </a:r>
            <a:endParaRPr lang="en-US" sz="1400" dirty="0"/>
          </a:p>
          <a:p>
            <a:pPr indent="0" marL="0">
              <a:lnSpc>
                <a:spcPct val="110000"/>
              </a:lnSpc>
              <a:buNone/>
            </a:pPr>
            <a:r>
              <a:rPr lang="en-US" sz="1400" b="1" dirty="0">
                <a:solidFill>
                  <a:srgbClr val="0F172A"/>
                </a:solidFill>
                <a:latin typeface="Calibri" pitchFamily="34" charset="0"/>
                <a:ea typeface="Calibri" pitchFamily="34" charset="-122"/>
                <a:cs typeface="Calibri" pitchFamily="34" charset="-120"/>
              </a:rPr>
              <a:t>&amp; OPS</a:t>
            </a:r>
            <a:endParaRPr lang="en-US" sz="1400" dirty="0"/>
          </a:p>
        </p:txBody>
      </p:sp>
      <p:sp>
        <p:nvSpPr>
          <p:cNvPr id="18" name="Text 16"/>
          <p:cNvSpPr/>
          <p:nvPr/>
        </p:nvSpPr>
        <p:spPr>
          <a:xfrm>
            <a:off x="8275320" y="2240280"/>
            <a:ext cx="2926080" cy="320040"/>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Vận hành, kiểm toán an ninh &amp; hỗ trợ</a:t>
            </a:r>
            <a:endParaRPr lang="en-US" sz="950" dirty="0"/>
          </a:p>
        </p:txBody>
      </p:sp>
      <p:sp>
        <p:nvSpPr>
          <p:cNvPr id="19" name="Text 17"/>
          <p:cNvSpPr/>
          <p:nvPr/>
        </p:nvSpPr>
        <p:spPr>
          <a:xfrm>
            <a:off x="8229600" y="2606040"/>
            <a:ext cx="3017520" cy="2560320"/>
          </a:xfrm>
          <a:prstGeom prst="rect">
            <a:avLst/>
          </a:prstGeom>
          <a:noFill/>
          <a:ln/>
        </p:spPr>
        <p:txBody>
          <a:bodyPr wrap="square" lIns="0" tIns="63500" rIns="63500" bIns="0" rtlCol="0" anchor="t"/>
          <a:lstStyle/>
          <a:p>
            <a:pPr marL="342900" indent="-342900">
              <a:spcAft>
                <a:spcPts val="400"/>
              </a:spcAft>
              <a:buSzPct val="100000"/>
              <a:buChar char="•"/>
            </a:pPr>
            <a:r>
              <a:rPr lang="en-US" sz="950" dirty="0">
                <a:solidFill>
                  <a:srgbClr val="334155"/>
                </a:solidFill>
                <a:latin typeface="Calibri" pitchFamily="34" charset="0"/>
                <a:ea typeface="Calibri" pitchFamily="34" charset="-122"/>
                <a:cs typeface="Calibri" pitchFamily="34" charset="-120"/>
              </a:rPr>
              <a:t>[UC-11] Quản trị tài khoản &amp; phân bổ 6 vai trò chuẩn tắc</a:t>
            </a:r>
            <a:endParaRPr lang="en-US" sz="950" dirty="0"/>
          </a:p>
          <a:p>
            <a:pPr marL="342900" indent="-342900">
              <a:spcAft>
                <a:spcPts val="400"/>
              </a:spcAft>
              <a:buSzPct val="100000"/>
              <a:buChar char="•"/>
            </a:pPr>
            <a:r>
              <a:rPr lang="en-US" sz="950" dirty="0">
                <a:solidFill>
                  <a:srgbClr val="334155"/>
                </a:solidFill>
                <a:latin typeface="Calibri" pitchFamily="34" charset="0"/>
                <a:ea typeface="Calibri" pitchFamily="34" charset="-122"/>
                <a:cs typeface="Calibri" pitchFamily="34" charset="-120"/>
              </a:rPr>
              <a:t>[UC-12] Theo dõi báo cáo &amp; thống kê vận hành hệ thống</a:t>
            </a:r>
            <a:endParaRPr lang="en-US" sz="950" dirty="0"/>
          </a:p>
          <a:p>
            <a:pPr marL="342900" indent="-342900">
              <a:spcAft>
                <a:spcPts val="400"/>
              </a:spcAft>
              <a:buSzPct val="100000"/>
              <a:buChar char="•"/>
            </a:pPr>
            <a:r>
              <a:rPr lang="en-US" sz="950" dirty="0">
                <a:solidFill>
                  <a:srgbClr val="334155"/>
                </a:solidFill>
                <a:latin typeface="Calibri" pitchFamily="34" charset="0"/>
                <a:ea typeface="Calibri" pitchFamily="34" charset="-122"/>
                <a:cs typeface="Calibri" pitchFamily="34" charset="-120"/>
              </a:rPr>
              <a:t>[UC-13] Tra cứu nhật ký kiểm toán an ninh bất biến AuditLog</a:t>
            </a:r>
            <a:endParaRPr lang="en-US" sz="950" dirty="0"/>
          </a:p>
          <a:p>
            <a:pPr marL="342900" indent="-342900">
              <a:spcAft>
                <a:spcPts val="400"/>
              </a:spcAft>
              <a:buSzPct val="100000"/>
              <a:buChar char="•"/>
            </a:pPr>
            <a:r>
              <a:rPr lang="en-US" sz="950" dirty="0">
                <a:solidFill>
                  <a:srgbClr val="334155"/>
                </a:solidFill>
                <a:latin typeface="Calibri" pitchFamily="34" charset="0"/>
                <a:ea typeface="Calibri" pitchFamily="34" charset="-122"/>
                <a:cs typeface="Calibri" pitchFamily="34" charset="-120"/>
              </a:rPr>
              <a:t>[UC-14] Tiếp nhận &amp; điều phối xử lý phiếu hỗ trợ kỹ thuật</a:t>
            </a:r>
            <a:endParaRPr lang="en-US" sz="950" dirty="0"/>
          </a:p>
          <a:p>
            <a:pPr marL="342900" indent="-342900">
              <a:spcAft>
                <a:spcPts val="400"/>
              </a:spcAft>
              <a:buSzPct val="100000"/>
              <a:buChar char="•"/>
            </a:pPr>
            <a:r>
              <a:rPr lang="en-US" sz="950" dirty="0">
                <a:solidFill>
                  <a:srgbClr val="334155"/>
                </a:solidFill>
                <a:latin typeface="Calibri" pitchFamily="34" charset="0"/>
                <a:ea typeface="Calibri" pitchFamily="34" charset="-122"/>
                <a:cs typeface="Calibri" pitchFamily="34" charset="-120"/>
              </a:rPr>
              <a:t>[UC-15] Quản trị nhóm học viên &amp; tiến độ lớp học</a:t>
            </a:r>
            <a:endParaRPr lang="en-US" sz="950" dirty="0"/>
          </a:p>
          <a:p>
            <a:pPr marL="342900" indent="-342900">
              <a:spcAft>
                <a:spcPts val="400"/>
              </a:spcAft>
              <a:buSzPct val="100000"/>
              <a:buChar char="•"/>
            </a:pPr>
            <a:r>
              <a:rPr lang="en-US" sz="950" dirty="0">
                <a:solidFill>
                  <a:srgbClr val="334155"/>
                </a:solidFill>
                <a:latin typeface="Calibri" pitchFamily="34" charset="0"/>
                <a:ea typeface="Calibri" pitchFamily="34" charset="-122"/>
                <a:cs typeface="Calibri" pitchFamily="34" charset="-120"/>
              </a:rPr>
              <a:t>[Rule] Bất biến: Tiến độ hoàn thành tách bạch khỏi Năng lực</a:t>
            </a:r>
            <a:endParaRPr lang="en-US" sz="950" dirty="0"/>
          </a:p>
          <a:p>
            <a:pPr marL="342900" indent="-342900">
              <a:spcAft>
                <a:spcPts val="400"/>
              </a:spcAft>
              <a:buSzPct val="100000"/>
              <a:buChar char="•"/>
            </a:pPr>
            <a:r>
              <a:rPr lang="en-US" sz="950" dirty="0">
                <a:solidFill>
                  <a:srgbClr val="334155"/>
                </a:solidFill>
                <a:latin typeface="Calibri" pitchFamily="34" charset="0"/>
                <a:ea typeface="Calibri" pitchFamily="34" charset="-122"/>
                <a:cs typeface="Calibri" pitchFamily="34" charset="-120"/>
              </a:rPr>
              <a:t>[Rule] Kiểm toán bất biến: Mọi hành động can thiệp đều lưu vết</a:t>
            </a:r>
            <a:endParaRPr lang="en-US" sz="950" dirty="0"/>
          </a:p>
        </p:txBody>
      </p:sp>
      <p:sp>
        <p:nvSpPr>
          <p:cNvPr id="20" name="Shape 18"/>
          <p:cNvSpPr/>
          <p:nvPr/>
        </p:nvSpPr>
        <p:spPr>
          <a:xfrm>
            <a:off x="731520" y="5440680"/>
            <a:ext cx="10728655" cy="868680"/>
          </a:xfrm>
          <a:prstGeom prst="roundRect">
            <a:avLst>
              <a:gd name="adj" fmla="val 6316"/>
            </a:avLst>
          </a:prstGeom>
          <a:solidFill>
            <a:srgbClr val="0F172A"/>
          </a:solidFill>
          <a:ln w="12700">
            <a:solidFill>
              <a:srgbClr val="333333"/>
            </a:solidFill>
            <a:prstDash val="solid"/>
          </a:ln>
        </p:spPr>
      </p:sp>
      <p:sp>
        <p:nvSpPr>
          <p:cNvPr id="21" name="Text 19"/>
          <p:cNvSpPr/>
          <p:nvPr/>
        </p:nvSpPr>
        <p:spPr>
          <a:xfrm>
            <a:off x="960120" y="5504688"/>
            <a:ext cx="4572000" cy="228600"/>
          </a:xfrm>
          <a:prstGeom prst="rect">
            <a:avLst/>
          </a:prstGeom>
          <a:noFill/>
          <a:ln/>
        </p:spPr>
        <p:txBody>
          <a:bodyPr wrap="square" lIns="0" tIns="0" rIns="0" bIns="0" rtlCol="0" anchor="ctr"/>
          <a:lstStyle/>
          <a:p>
            <a:pPr indent="0" marL="0">
              <a:buNone/>
            </a:pPr>
            <a:r>
              <a:rPr lang="en-US" sz="1000" b="1" spc="100" kern="0" dirty="0">
                <a:solidFill>
                  <a:srgbClr val="3B82F6"/>
                </a:solidFill>
                <a:latin typeface="Calibri" pitchFamily="34" charset="0"/>
                <a:ea typeface="Calibri" pitchFamily="34" charset="-122"/>
                <a:cs typeface="Calibri" pitchFamily="34" charset="-120"/>
              </a:rPr>
              <a:t>CÁC VAI TRÒ CHUẨN TẮC &amp; RANH GIỚI PHẠM VI</a:t>
            </a:r>
            <a:endParaRPr lang="en-US" sz="1000" dirty="0"/>
          </a:p>
        </p:txBody>
      </p:sp>
      <p:sp>
        <p:nvSpPr>
          <p:cNvPr id="22" name="Text 20"/>
          <p:cNvSpPr/>
          <p:nvPr/>
        </p:nvSpPr>
        <p:spPr>
          <a:xfrm>
            <a:off x="960120" y="5742432"/>
            <a:ext cx="10058400" cy="22860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6 vai trò:  </a:t>
            </a:r>
            <a:pPr indent="0" marL="0">
              <a:buNone/>
            </a:pPr>
            <a:r>
              <a:rPr lang="en-US" sz="1000" dirty="0">
                <a:solidFill>
                  <a:srgbClr val="94A3B8"/>
                </a:solidFill>
                <a:latin typeface="Calibri" pitchFamily="34" charset="0"/>
                <a:ea typeface="Calibri" pitchFamily="34" charset="-122"/>
                <a:cs typeface="Calibri" pitchFamily="34" charset="-120"/>
              </a:rPr>
              <a:t>Learner  ·  Lesson Creator  ·  Moderator  ·  Org Manager  ·  Operations Staff  ·  Administrator</a:t>
            </a:r>
            <a:endParaRPr lang="en-US" sz="1000" dirty="0"/>
          </a:p>
        </p:txBody>
      </p:sp>
      <p:sp>
        <p:nvSpPr>
          <p:cNvPr id="23" name="Text 21"/>
          <p:cNvSpPr/>
          <p:nvPr/>
        </p:nvSpPr>
        <p:spPr>
          <a:xfrm>
            <a:off x="960120" y="5989320"/>
            <a:ext cx="10058400" cy="2286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UC-14 (Phiếu hỗ trợ) thuộc MVP điều phối;  UC-15 (Quản lý nhóm) thuộc Future Extension.</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lIns="0" tIns="0" rIns="0" bIns="0" rtlCol="0" anchor="ctr"/>
          <a:lstStyle/>
          <a:p>
            <a:pPr indent="0" marL="0">
              <a:buNone/>
            </a:pPr>
            <a:r>
              <a:rPr lang="en-US" sz="1100" b="1" spc="200" kern="0" dirty="0">
                <a:solidFill>
                  <a:srgbClr val="3B82F6"/>
                </a:solidFill>
                <a:latin typeface="Calibri" pitchFamily="34" charset="0"/>
                <a:ea typeface="Calibri" pitchFamily="34" charset="-122"/>
                <a:cs typeface="Calibri" pitchFamily="34" charset="-120"/>
              </a:rPr>
              <a:t>CA SỬ DỤNG HỆ THỐNG</a:t>
            </a:r>
            <a:endParaRPr lang="en-US" sz="1100" dirty="0"/>
          </a:p>
        </p:txBody>
      </p:sp>
      <p:sp>
        <p:nvSpPr>
          <p:cNvPr id="3" name="Text 1"/>
          <p:cNvSpPr/>
          <p:nvPr/>
        </p:nvSpPr>
        <p:spPr>
          <a:xfrm>
            <a:off x="731520" y="658368"/>
            <a:ext cx="91440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Sơ Đồ Ca Sử Dụng Tổng Quan (Overall Use Case Diagram)</a:t>
            </a:r>
            <a:endParaRPr lang="en-US" sz="2400" dirty="0"/>
          </a:p>
        </p:txBody>
      </p:sp>
      <p:sp>
        <p:nvSpPr>
          <p:cNvPr id="4" name="Text 2"/>
          <p:cNvSpPr/>
          <p:nvPr/>
        </p:nvSpPr>
        <p:spPr>
          <a:xfrm>
            <a:off x="10789920" y="411480"/>
            <a:ext cx="731520" cy="274320"/>
          </a:xfrm>
          <a:prstGeom prst="rect">
            <a:avLst/>
          </a:prstGeom>
          <a:noFill/>
          <a:ln/>
        </p:spPr>
        <p:txBody>
          <a:bodyPr wrap="square" lIns="0" tIns="0" rIns="0" bIns="0" rtlCol="0" anchor="ctr"/>
          <a:lstStyle/>
          <a:p>
            <a:pPr algn="r" indent="0" marL="0">
              <a:buNone/>
            </a:pPr>
            <a:r>
              <a:rPr lang="en-US" sz="1100" b="1" dirty="0">
                <a:solidFill>
                  <a:srgbClr val="64748B"/>
                </a:solidFill>
                <a:latin typeface="Calibri" pitchFamily="34" charset="0"/>
                <a:ea typeface="Calibri" pitchFamily="34" charset="-122"/>
                <a:cs typeface="Calibri" pitchFamily="34" charset="-120"/>
              </a:rPr>
              <a:t>03 / 12</a:t>
            </a:r>
            <a:endParaRPr lang="en-US" sz="1100" dirty="0"/>
          </a:p>
        </p:txBody>
      </p:sp>
      <p:sp>
        <p:nvSpPr>
          <p:cNvPr id="5" name="Shape 3"/>
          <p:cNvSpPr/>
          <p:nvPr/>
        </p:nvSpPr>
        <p:spPr>
          <a:xfrm>
            <a:off x="731520" y="1325880"/>
            <a:ext cx="7315200" cy="5074920"/>
          </a:xfrm>
          <a:prstGeom prst="roundRect">
            <a:avLst>
              <a:gd name="adj" fmla="val 1081"/>
            </a:avLst>
          </a:prstGeom>
          <a:solidFill>
            <a:srgbClr val="FFFFFF"/>
          </a:solidFill>
          <a:ln w="12700">
            <a:solidFill>
              <a:srgbClr val="333333"/>
            </a:solidFill>
            <a:prstDash val="solid"/>
          </a:ln>
          <a:effectLst>
            <a:outerShdw sx="100000" sy="100000" kx="0" ky="0" algn="bl" rotWithShape="0" blurRad="76200" dist="25400" dir="16200000">
              <a:srgbClr val="000000">
                <a:alpha val="6000"/>
              </a:srgbClr>
            </a:outerShdw>
          </a:effectLst>
        </p:spPr>
      </p:sp>
      <p:pic>
        <p:nvPicPr>
          <p:cNvPr id="6" name="Image 0" descr="preencoded.png">    </p:cNvPr>
          <p:cNvPicPr>
            <a:picLocks noChangeAspect="1"/>
          </p:cNvPicPr>
          <p:nvPr/>
        </p:nvPicPr>
        <p:blipFill>
          <a:blip r:embed="rId1"/>
          <a:srcRect l="0" r="0" t="0" b="0"/>
          <a:stretch/>
        </p:blipFill>
        <p:spPr>
          <a:xfrm>
            <a:off x="868680" y="1417320"/>
            <a:ext cx="7040880" cy="4892040"/>
          </a:xfrm>
          <a:prstGeom prst="rect">
            <a:avLst/>
          </a:prstGeom>
        </p:spPr>
      </p:pic>
      <p:sp>
        <p:nvSpPr>
          <p:cNvPr id="7" name="Shape 4"/>
          <p:cNvSpPr/>
          <p:nvPr/>
        </p:nvSpPr>
        <p:spPr>
          <a:xfrm>
            <a:off x="8275320" y="1325880"/>
            <a:ext cx="3182112" cy="5074920"/>
          </a:xfrm>
          <a:prstGeom prst="roundRect">
            <a:avLst>
              <a:gd name="adj" fmla="val 1724"/>
            </a:avLst>
          </a:prstGeom>
          <a:solidFill>
            <a:srgbClr val="FFFFFF"/>
          </a:solidFill>
          <a:ln w="12700">
            <a:solidFill>
              <a:srgbClr val="333333"/>
            </a:solidFill>
            <a:prstDash val="solid"/>
          </a:ln>
          <a:effectLst>
            <a:outerShdw sx="100000" sy="100000" kx="0" ky="0" algn="bl" rotWithShape="0" blurRad="76200" dist="25400" dir="16200000">
              <a:srgbClr val="000000">
                <a:alpha val="6000"/>
              </a:srgbClr>
            </a:outerShdw>
          </a:effectLst>
        </p:spPr>
      </p:sp>
      <p:sp>
        <p:nvSpPr>
          <p:cNvPr id="8" name="Text 5"/>
          <p:cNvSpPr/>
          <p:nvPr/>
        </p:nvSpPr>
        <p:spPr>
          <a:xfrm>
            <a:off x="8503920" y="1508760"/>
            <a:ext cx="2743200" cy="320040"/>
          </a:xfrm>
          <a:prstGeom prst="rect">
            <a:avLst/>
          </a:prstGeom>
          <a:noFill/>
          <a:ln/>
        </p:spPr>
        <p:txBody>
          <a:bodyPr wrap="square" lIns="0" tIns="0" rIns="0" bIns="0" rtlCol="0" anchor="ctr"/>
          <a:lstStyle/>
          <a:p>
            <a:pPr indent="0" marL="0">
              <a:buNone/>
            </a:pPr>
            <a:r>
              <a:rPr lang="en-US" sz="1100" b="1" spc="100" kern="0" dirty="0">
                <a:solidFill>
                  <a:srgbClr val="3B82F6"/>
                </a:solidFill>
                <a:latin typeface="Calibri" pitchFamily="34" charset="0"/>
                <a:ea typeface="Calibri" pitchFamily="34" charset="-122"/>
                <a:cs typeface="Calibri" pitchFamily="34" charset="-120"/>
              </a:rPr>
              <a:t>Ý CHÍNH KIẾN TRÚC</a:t>
            </a:r>
            <a:endParaRPr lang="en-US" sz="1100" dirty="0"/>
          </a:p>
        </p:txBody>
      </p:sp>
      <p:sp>
        <p:nvSpPr>
          <p:cNvPr id="9" name="Text 6"/>
          <p:cNvSpPr/>
          <p:nvPr/>
        </p:nvSpPr>
        <p:spPr>
          <a:xfrm>
            <a:off x="8503920" y="1920240"/>
            <a:ext cx="2743200"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  Kế thừa tác nhân chuẩn tắc</a:t>
            </a:r>
            <a:endParaRPr lang="en-US" sz="1050" dirty="0"/>
          </a:p>
        </p:txBody>
      </p:sp>
      <p:sp>
        <p:nvSpPr>
          <p:cNvPr id="10" name="Text 7"/>
          <p:cNvSpPr/>
          <p:nvPr/>
        </p:nvSpPr>
        <p:spPr>
          <a:xfrm>
            <a:off x="8732520" y="2176272"/>
            <a:ext cx="2514600" cy="5943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Sáu vai trò kế thừa từ Authenticated User để dùng chung phiên và xác thực (UC-01).</a:t>
            </a:r>
            <a:endParaRPr lang="en-US" sz="950" dirty="0"/>
          </a:p>
        </p:txBody>
      </p:sp>
      <p:sp>
        <p:nvSpPr>
          <p:cNvPr id="11" name="Text 8"/>
          <p:cNvSpPr/>
          <p:nvPr/>
        </p:nvSpPr>
        <p:spPr>
          <a:xfrm>
            <a:off x="8503920" y="2834640"/>
            <a:ext cx="2743200"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  Phân rã 3 phân hệ độc lập</a:t>
            </a:r>
            <a:endParaRPr lang="en-US" sz="1050" dirty="0"/>
          </a:p>
        </p:txBody>
      </p:sp>
      <p:sp>
        <p:nvSpPr>
          <p:cNvPr id="12" name="Text 9"/>
          <p:cNvSpPr/>
          <p:nvPr/>
        </p:nvSpPr>
        <p:spPr>
          <a:xfrm>
            <a:off x="8732520" y="3090672"/>
            <a:ext cx="2514600" cy="5943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Tách bạch triệt để giữa Học tập, Quản trị nội dung và Vận hành quản trị.</a:t>
            </a:r>
            <a:endParaRPr lang="en-US" sz="950" dirty="0"/>
          </a:p>
        </p:txBody>
      </p:sp>
      <p:sp>
        <p:nvSpPr>
          <p:cNvPr id="13" name="Text 10"/>
          <p:cNvSpPr/>
          <p:nvPr/>
        </p:nvSpPr>
        <p:spPr>
          <a:xfrm>
            <a:off x="8503920" y="3749040"/>
            <a:ext cx="2743200"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  Quyền hạn xuất bản</a:t>
            </a:r>
            <a:endParaRPr lang="en-US" sz="1050" dirty="0"/>
          </a:p>
        </p:txBody>
      </p:sp>
      <p:sp>
        <p:nvSpPr>
          <p:cNvPr id="14" name="Text 11"/>
          <p:cNvSpPr/>
          <p:nvPr/>
        </p:nvSpPr>
        <p:spPr>
          <a:xfrm>
            <a:off x="8732520" y="4005072"/>
            <a:ext cx="2514600" cy="5943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Org Manager xuất bản chính thức (UC-10); Administrator chỉ can thiệp khẩn cấp với AuditLog bắt buộc.</a:t>
            </a:r>
            <a:endParaRPr lang="en-US" sz="950" dirty="0"/>
          </a:p>
        </p:txBody>
      </p:sp>
      <p:sp>
        <p:nvSpPr>
          <p:cNvPr id="15" name="Text 12"/>
          <p:cNvSpPr/>
          <p:nvPr/>
        </p:nvSpPr>
        <p:spPr>
          <a:xfrm>
            <a:off x="8503920" y="4663440"/>
            <a:ext cx="2743200"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  Scope boundary rõ ràng</a:t>
            </a:r>
            <a:endParaRPr lang="en-US" sz="1050" dirty="0"/>
          </a:p>
        </p:txBody>
      </p:sp>
      <p:sp>
        <p:nvSpPr>
          <p:cNvPr id="16" name="Text 13"/>
          <p:cNvSpPr/>
          <p:nvPr/>
        </p:nvSpPr>
        <p:spPr>
          <a:xfrm>
            <a:off x="8732520" y="4919472"/>
            <a:ext cx="2514600" cy="5943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UC-14 (Hỗ trợ) thuộc MVP; UC-15 (Nhóm) thuộc Future Extension. Không trộn lẫn phạm vi.</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lIns="0" tIns="0" rIns="0" bIns="0" rtlCol="0" anchor="ctr"/>
          <a:lstStyle/>
          <a:p>
            <a:pPr indent="0" marL="0">
              <a:buNone/>
            </a:pPr>
            <a:r>
              <a:rPr lang="en-US" sz="1100" b="1" spc="200" kern="0" dirty="0">
                <a:solidFill>
                  <a:srgbClr val="3B82F6"/>
                </a:solidFill>
                <a:latin typeface="Calibri" pitchFamily="34" charset="0"/>
                <a:ea typeface="Calibri" pitchFamily="34" charset="-122"/>
                <a:cs typeface="Calibri" pitchFamily="34" charset="-120"/>
              </a:rPr>
              <a:t>PHÂN HỆ HỌC VIÊN</a:t>
            </a:r>
            <a:endParaRPr lang="en-US" sz="1100" dirty="0"/>
          </a:p>
        </p:txBody>
      </p:sp>
      <p:sp>
        <p:nvSpPr>
          <p:cNvPr id="3" name="Text 1"/>
          <p:cNvSpPr/>
          <p:nvPr/>
        </p:nvSpPr>
        <p:spPr>
          <a:xfrm>
            <a:off x="731520" y="658368"/>
            <a:ext cx="91440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Sơ Đồ Ca Sử Dụng Chi Tiết — Phân Hệ Học Viên (Learner)</a:t>
            </a:r>
            <a:endParaRPr lang="en-US" sz="2400" dirty="0"/>
          </a:p>
        </p:txBody>
      </p:sp>
      <p:sp>
        <p:nvSpPr>
          <p:cNvPr id="4" name="Text 2"/>
          <p:cNvSpPr/>
          <p:nvPr/>
        </p:nvSpPr>
        <p:spPr>
          <a:xfrm>
            <a:off x="10789920" y="411480"/>
            <a:ext cx="731520" cy="274320"/>
          </a:xfrm>
          <a:prstGeom prst="rect">
            <a:avLst/>
          </a:prstGeom>
          <a:noFill/>
          <a:ln/>
        </p:spPr>
        <p:txBody>
          <a:bodyPr wrap="square" lIns="0" tIns="0" rIns="0" bIns="0" rtlCol="0" anchor="ctr"/>
          <a:lstStyle/>
          <a:p>
            <a:pPr algn="r" indent="0" marL="0">
              <a:buNone/>
            </a:pPr>
            <a:r>
              <a:rPr lang="en-US" sz="1100" b="1" dirty="0">
                <a:solidFill>
                  <a:srgbClr val="64748B"/>
                </a:solidFill>
                <a:latin typeface="Calibri" pitchFamily="34" charset="0"/>
                <a:ea typeface="Calibri" pitchFamily="34" charset="-122"/>
                <a:cs typeface="Calibri" pitchFamily="34" charset="-120"/>
              </a:rPr>
              <a:t>04 / 12</a:t>
            </a:r>
            <a:endParaRPr lang="en-US" sz="1100" dirty="0"/>
          </a:p>
        </p:txBody>
      </p:sp>
      <p:sp>
        <p:nvSpPr>
          <p:cNvPr id="5" name="Shape 3"/>
          <p:cNvSpPr/>
          <p:nvPr/>
        </p:nvSpPr>
        <p:spPr>
          <a:xfrm>
            <a:off x="731520" y="1325880"/>
            <a:ext cx="7315200" cy="5074920"/>
          </a:xfrm>
          <a:prstGeom prst="roundRect">
            <a:avLst>
              <a:gd name="adj" fmla="val 1081"/>
            </a:avLst>
          </a:prstGeom>
          <a:solidFill>
            <a:srgbClr val="FFFFFF"/>
          </a:solidFill>
          <a:ln w="12700">
            <a:solidFill>
              <a:srgbClr val="333333"/>
            </a:solidFill>
            <a:prstDash val="solid"/>
          </a:ln>
          <a:effectLst>
            <a:outerShdw sx="100000" sy="100000" kx="0" ky="0" algn="bl" rotWithShape="0" blurRad="76200" dist="25400" dir="16200000">
              <a:srgbClr val="000000">
                <a:alpha val="6000"/>
              </a:srgbClr>
            </a:outerShdw>
          </a:effectLst>
        </p:spPr>
      </p:sp>
      <p:pic>
        <p:nvPicPr>
          <p:cNvPr id="6" name="Image 0" descr="preencoded.png">    </p:cNvPr>
          <p:cNvPicPr>
            <a:picLocks noChangeAspect="1"/>
          </p:cNvPicPr>
          <p:nvPr/>
        </p:nvPicPr>
        <p:blipFill>
          <a:blip r:embed="rId1"/>
          <a:srcRect l="0" r="0" t="0" b="0"/>
          <a:stretch/>
        </p:blipFill>
        <p:spPr>
          <a:xfrm>
            <a:off x="868680" y="1417320"/>
            <a:ext cx="7040880" cy="4892040"/>
          </a:xfrm>
          <a:prstGeom prst="rect">
            <a:avLst/>
          </a:prstGeom>
        </p:spPr>
      </p:pic>
      <p:sp>
        <p:nvSpPr>
          <p:cNvPr id="7" name="Shape 4"/>
          <p:cNvSpPr/>
          <p:nvPr/>
        </p:nvSpPr>
        <p:spPr>
          <a:xfrm>
            <a:off x="8275320" y="1325880"/>
            <a:ext cx="3182112" cy="5074920"/>
          </a:xfrm>
          <a:prstGeom prst="roundRect">
            <a:avLst>
              <a:gd name="adj" fmla="val 1724"/>
            </a:avLst>
          </a:prstGeom>
          <a:solidFill>
            <a:srgbClr val="FFFFFF"/>
          </a:solidFill>
          <a:ln w="12700">
            <a:solidFill>
              <a:srgbClr val="333333"/>
            </a:solidFill>
            <a:prstDash val="solid"/>
          </a:ln>
          <a:effectLst>
            <a:outerShdw sx="100000" sy="100000" kx="0" ky="0" algn="bl" rotWithShape="0" blurRad="76200" dist="25400" dir="16200000">
              <a:srgbClr val="000000">
                <a:alpha val="6000"/>
              </a:srgbClr>
            </a:outerShdw>
          </a:effectLst>
        </p:spPr>
      </p:sp>
      <p:sp>
        <p:nvSpPr>
          <p:cNvPr id="8" name="Text 5"/>
          <p:cNvSpPr/>
          <p:nvPr/>
        </p:nvSpPr>
        <p:spPr>
          <a:xfrm>
            <a:off x="8503920" y="1508760"/>
            <a:ext cx="2743200" cy="320040"/>
          </a:xfrm>
          <a:prstGeom prst="rect">
            <a:avLst/>
          </a:prstGeom>
          <a:noFill/>
          <a:ln/>
        </p:spPr>
        <p:txBody>
          <a:bodyPr wrap="square" lIns="0" tIns="0" rIns="0" bIns="0" rtlCol="0" anchor="ctr"/>
          <a:lstStyle/>
          <a:p>
            <a:pPr indent="0" marL="0">
              <a:buNone/>
            </a:pPr>
            <a:r>
              <a:rPr lang="en-US" sz="1100" b="1" spc="100" kern="0" dirty="0">
                <a:solidFill>
                  <a:srgbClr val="3B82F6"/>
                </a:solidFill>
                <a:latin typeface="Calibri" pitchFamily="34" charset="0"/>
                <a:ea typeface="Calibri" pitchFamily="34" charset="-122"/>
                <a:cs typeface="Calibri" pitchFamily="34" charset="-120"/>
              </a:rPr>
              <a:t>QUY TẮC NGHIỆP VỤ HỌC VIÊN</a:t>
            </a:r>
            <a:endParaRPr lang="en-US" sz="1100" dirty="0"/>
          </a:p>
        </p:txBody>
      </p:sp>
      <p:sp>
        <p:nvSpPr>
          <p:cNvPr id="9" name="Text 6"/>
          <p:cNvSpPr/>
          <p:nvPr/>
        </p:nvSpPr>
        <p:spPr>
          <a:xfrm>
            <a:off x="8503920" y="1920240"/>
            <a:ext cx="2743200"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  Viewer bắt buộc</a:t>
            </a:r>
            <a:endParaRPr lang="en-US" sz="1050" dirty="0"/>
          </a:p>
        </p:txBody>
      </p:sp>
      <p:sp>
        <p:nvSpPr>
          <p:cNvPr id="10" name="Text 7"/>
          <p:cNvSpPr/>
          <p:nvPr/>
        </p:nvSpPr>
        <p:spPr>
          <a:xfrm>
            <a:off x="8732520" y="2176272"/>
            <a:ext cx="2514600" cy="5943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Lesson Content Viewer được include trực tiếp vào UC-05; học viên phải xem lý thuyết trước khi làm bài tập.</a:t>
            </a:r>
            <a:endParaRPr lang="en-US" sz="950" dirty="0"/>
          </a:p>
        </p:txBody>
      </p:sp>
      <p:sp>
        <p:nvSpPr>
          <p:cNvPr id="11" name="Text 8"/>
          <p:cNvSpPr/>
          <p:nvPr/>
        </p:nvSpPr>
        <p:spPr>
          <a:xfrm>
            <a:off x="8503920" y="2834640"/>
            <a:ext cx="2743200"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  Controlled Retry</a:t>
            </a:r>
            <a:endParaRPr lang="en-US" sz="1050" dirty="0"/>
          </a:p>
        </p:txBody>
      </p:sp>
      <p:sp>
        <p:nvSpPr>
          <p:cNvPr id="12" name="Text 9"/>
          <p:cNvSpPr/>
          <p:nvPr/>
        </p:nvSpPr>
        <p:spPr>
          <a:xfrm>
            <a:off x="8732520" y="3090672"/>
            <a:ext cx="2514600" cy="5943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Làm lại câu sai là luồng extend có hạn mức max(1, floor(N*0.10)), điểm tối đa 70% credit.</a:t>
            </a:r>
            <a:endParaRPr lang="en-US" sz="950" dirty="0"/>
          </a:p>
        </p:txBody>
      </p:sp>
      <p:sp>
        <p:nvSpPr>
          <p:cNvPr id="13" name="Text 10"/>
          <p:cNvSpPr/>
          <p:nvPr/>
        </p:nvSpPr>
        <p:spPr>
          <a:xfrm>
            <a:off x="8503920" y="3749040"/>
            <a:ext cx="2743200"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  Conditional Jump</a:t>
            </a:r>
            <a:endParaRPr lang="en-US" sz="1050" dirty="0"/>
          </a:p>
        </p:txBody>
      </p:sp>
      <p:sp>
        <p:nvSpPr>
          <p:cNvPr id="14" name="Text 11"/>
          <p:cNvSpPr/>
          <p:nvPr/>
        </p:nvSpPr>
        <p:spPr>
          <a:xfrm>
            <a:off x="8732520" y="4005072"/>
            <a:ext cx="2514600" cy="5943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Thử thách nhảy cấp mở rộng từ UC-04, yêu cầu đạt &gt;= 95% và áp dụng Cooldown 24h khi trượt.</a:t>
            </a:r>
            <a:endParaRPr lang="en-US" sz="950" dirty="0"/>
          </a:p>
        </p:txBody>
      </p:sp>
      <p:sp>
        <p:nvSpPr>
          <p:cNvPr id="15" name="Text 12"/>
          <p:cNvSpPr/>
          <p:nvPr/>
        </p:nvSpPr>
        <p:spPr>
          <a:xfrm>
            <a:off x="8503920" y="4663440"/>
            <a:ext cx="2743200"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  Chu trình khép kín</a:t>
            </a:r>
            <a:endParaRPr lang="en-US" sz="1050" dirty="0"/>
          </a:p>
        </p:txBody>
      </p:sp>
      <p:sp>
        <p:nvSpPr>
          <p:cNvPr id="16" name="Text 13"/>
          <p:cNvSpPr/>
          <p:nvPr/>
        </p:nvSpPr>
        <p:spPr>
          <a:xfrm>
            <a:off x="8732520" y="4919472"/>
            <a:ext cx="2514600" cy="5943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Từ xếp lớp (UC-03), học bài (UC-05), ôn SRS độc lập (UC-06) đến tích lũy Streak (UC-07).</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lIns="0" tIns="0" rIns="0" bIns="0" rtlCol="0" anchor="ctr"/>
          <a:lstStyle/>
          <a:p>
            <a:pPr indent="0" marL="0">
              <a:buNone/>
            </a:pPr>
            <a:r>
              <a:rPr lang="en-US" sz="1100" b="1" spc="200" kern="0" dirty="0">
                <a:solidFill>
                  <a:srgbClr val="3B82F6"/>
                </a:solidFill>
                <a:latin typeface="Calibri" pitchFamily="34" charset="0"/>
                <a:ea typeface="Calibri" pitchFamily="34" charset="-122"/>
                <a:cs typeface="Calibri" pitchFamily="34" charset="-120"/>
              </a:rPr>
              <a:t>QUẢN TRỊ &amp; KIỂM DUYỆT</a:t>
            </a:r>
            <a:endParaRPr lang="en-US" sz="1100" dirty="0"/>
          </a:p>
        </p:txBody>
      </p:sp>
      <p:sp>
        <p:nvSpPr>
          <p:cNvPr id="3" name="Text 1"/>
          <p:cNvSpPr/>
          <p:nvPr/>
        </p:nvSpPr>
        <p:spPr>
          <a:xfrm>
            <a:off x="731520" y="658368"/>
            <a:ext cx="91440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Sơ Đồ Ca Sử Dụng Chi Tiết — Quản Trị &amp; Kiểm Duyệt</a:t>
            </a:r>
            <a:endParaRPr lang="en-US" sz="2400" dirty="0"/>
          </a:p>
        </p:txBody>
      </p:sp>
      <p:sp>
        <p:nvSpPr>
          <p:cNvPr id="4" name="Text 2"/>
          <p:cNvSpPr/>
          <p:nvPr/>
        </p:nvSpPr>
        <p:spPr>
          <a:xfrm>
            <a:off x="10789920" y="411480"/>
            <a:ext cx="731520" cy="274320"/>
          </a:xfrm>
          <a:prstGeom prst="rect">
            <a:avLst/>
          </a:prstGeom>
          <a:noFill/>
          <a:ln/>
        </p:spPr>
        <p:txBody>
          <a:bodyPr wrap="square" lIns="0" tIns="0" rIns="0" bIns="0" rtlCol="0" anchor="ctr"/>
          <a:lstStyle/>
          <a:p>
            <a:pPr algn="r" indent="0" marL="0">
              <a:buNone/>
            </a:pPr>
            <a:r>
              <a:rPr lang="en-US" sz="1100" b="1" dirty="0">
                <a:solidFill>
                  <a:srgbClr val="64748B"/>
                </a:solidFill>
                <a:latin typeface="Calibri" pitchFamily="34" charset="0"/>
                <a:ea typeface="Calibri" pitchFamily="34" charset="-122"/>
                <a:cs typeface="Calibri" pitchFamily="34" charset="-120"/>
              </a:rPr>
              <a:t>05 / 12</a:t>
            </a:r>
            <a:endParaRPr lang="en-US" sz="1100" dirty="0"/>
          </a:p>
        </p:txBody>
      </p:sp>
      <p:sp>
        <p:nvSpPr>
          <p:cNvPr id="5" name="Shape 3"/>
          <p:cNvSpPr/>
          <p:nvPr/>
        </p:nvSpPr>
        <p:spPr>
          <a:xfrm>
            <a:off x="731520" y="1325880"/>
            <a:ext cx="7315200" cy="5074920"/>
          </a:xfrm>
          <a:prstGeom prst="roundRect">
            <a:avLst>
              <a:gd name="adj" fmla="val 1081"/>
            </a:avLst>
          </a:prstGeom>
          <a:solidFill>
            <a:srgbClr val="FFFFFF"/>
          </a:solidFill>
          <a:ln w="12700">
            <a:solidFill>
              <a:srgbClr val="333333"/>
            </a:solidFill>
            <a:prstDash val="solid"/>
          </a:ln>
          <a:effectLst>
            <a:outerShdw sx="100000" sy="100000" kx="0" ky="0" algn="bl" rotWithShape="0" blurRad="76200" dist="25400" dir="16200000">
              <a:srgbClr val="000000">
                <a:alpha val="6000"/>
              </a:srgbClr>
            </a:outerShdw>
          </a:effectLst>
        </p:spPr>
      </p:sp>
      <p:pic>
        <p:nvPicPr>
          <p:cNvPr id="6" name="Image 0" descr="preencoded.png">    </p:cNvPr>
          <p:cNvPicPr>
            <a:picLocks noChangeAspect="1"/>
          </p:cNvPicPr>
          <p:nvPr/>
        </p:nvPicPr>
        <p:blipFill>
          <a:blip r:embed="rId1"/>
          <a:srcRect l="0" r="0" t="0" b="0"/>
          <a:stretch/>
        </p:blipFill>
        <p:spPr>
          <a:xfrm>
            <a:off x="868680" y="1417320"/>
            <a:ext cx="7040880" cy="4892040"/>
          </a:xfrm>
          <a:prstGeom prst="rect">
            <a:avLst/>
          </a:prstGeom>
        </p:spPr>
      </p:pic>
      <p:sp>
        <p:nvSpPr>
          <p:cNvPr id="7" name="Shape 4"/>
          <p:cNvSpPr/>
          <p:nvPr/>
        </p:nvSpPr>
        <p:spPr>
          <a:xfrm>
            <a:off x="8275320" y="1325880"/>
            <a:ext cx="3182112" cy="5074920"/>
          </a:xfrm>
          <a:prstGeom prst="roundRect">
            <a:avLst>
              <a:gd name="adj" fmla="val 1724"/>
            </a:avLst>
          </a:prstGeom>
          <a:solidFill>
            <a:srgbClr val="FFFFFF"/>
          </a:solidFill>
          <a:ln w="12700">
            <a:solidFill>
              <a:srgbClr val="333333"/>
            </a:solidFill>
            <a:prstDash val="solid"/>
          </a:ln>
          <a:effectLst>
            <a:outerShdw sx="100000" sy="100000" kx="0" ky="0" algn="bl" rotWithShape="0" blurRad="76200" dist="25400" dir="16200000">
              <a:srgbClr val="000000">
                <a:alpha val="6000"/>
              </a:srgbClr>
            </a:outerShdw>
          </a:effectLst>
        </p:spPr>
      </p:sp>
      <p:sp>
        <p:nvSpPr>
          <p:cNvPr id="8" name="Text 5"/>
          <p:cNvSpPr/>
          <p:nvPr/>
        </p:nvSpPr>
        <p:spPr>
          <a:xfrm>
            <a:off x="8503920" y="1508760"/>
            <a:ext cx="2743200" cy="320040"/>
          </a:xfrm>
          <a:prstGeom prst="rect">
            <a:avLst/>
          </a:prstGeom>
          <a:noFill/>
          <a:ln/>
        </p:spPr>
        <p:txBody>
          <a:bodyPr wrap="square" lIns="0" tIns="0" rIns="0" bIns="0" rtlCol="0" anchor="ctr"/>
          <a:lstStyle/>
          <a:p>
            <a:pPr indent="0" marL="0">
              <a:buNone/>
            </a:pPr>
            <a:r>
              <a:rPr lang="en-US" sz="1100" b="1" spc="100" kern="0" dirty="0">
                <a:solidFill>
                  <a:srgbClr val="3B82F6"/>
                </a:solidFill>
                <a:latin typeface="Calibri" pitchFamily="34" charset="0"/>
                <a:ea typeface="Calibri" pitchFamily="34" charset="-122"/>
                <a:cs typeface="Calibri" pitchFamily="34" charset="-120"/>
              </a:rPr>
              <a:t>NGUYÊN TẮC QUẢN TRỊ &amp; SOD</a:t>
            </a:r>
            <a:endParaRPr lang="en-US" sz="1100" dirty="0"/>
          </a:p>
        </p:txBody>
      </p:sp>
      <p:sp>
        <p:nvSpPr>
          <p:cNvPr id="9" name="Text 6"/>
          <p:cNvSpPr/>
          <p:nvPr/>
        </p:nvSpPr>
        <p:spPr>
          <a:xfrm>
            <a:off x="8503920" y="1920240"/>
            <a:ext cx="2743200"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  Phân tách SoD</a:t>
            </a:r>
            <a:endParaRPr lang="en-US" sz="1050" dirty="0"/>
          </a:p>
        </p:txBody>
      </p:sp>
      <p:sp>
        <p:nvSpPr>
          <p:cNvPr id="10" name="Text 7"/>
          <p:cNvSpPr/>
          <p:nvPr/>
        </p:nvSpPr>
        <p:spPr>
          <a:xfrm>
            <a:off x="8732520" y="2176272"/>
            <a:ext cx="2514600" cy="5943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Creator soạn bài; Moderator thẩm định; Org Manager xuất bản. Creator không tự duyệt bài của mình.</a:t>
            </a:r>
            <a:endParaRPr lang="en-US" sz="950" dirty="0"/>
          </a:p>
        </p:txBody>
      </p:sp>
      <p:sp>
        <p:nvSpPr>
          <p:cNvPr id="11" name="Text 8"/>
          <p:cNvSpPr/>
          <p:nvPr/>
        </p:nvSpPr>
        <p:spPr>
          <a:xfrm>
            <a:off x="8503920" y="2834640"/>
            <a:ext cx="2743200"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  Kết quả thẩm định</a:t>
            </a:r>
            <a:endParaRPr lang="en-US" sz="1050" dirty="0"/>
          </a:p>
        </p:txBody>
      </p:sp>
      <p:sp>
        <p:nvSpPr>
          <p:cNvPr id="12" name="Text 9"/>
          <p:cNvSpPr/>
          <p:nvPr/>
        </p:nvSpPr>
        <p:spPr>
          <a:xfrm>
            <a:off x="8732520" y="3090672"/>
            <a:ext cx="2514600" cy="5943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Moderator chỉ chuyển APPROVED hoặc CHANGES_REQUESTED kèm ghi chú, không có quyền phát hành.</a:t>
            </a:r>
            <a:endParaRPr lang="en-US" sz="950" dirty="0"/>
          </a:p>
        </p:txBody>
      </p:sp>
      <p:sp>
        <p:nvSpPr>
          <p:cNvPr id="13" name="Text 10"/>
          <p:cNvSpPr/>
          <p:nvPr/>
        </p:nvSpPr>
        <p:spPr>
          <a:xfrm>
            <a:off x="8503920" y="3749040"/>
            <a:ext cx="2743200"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  Quyền xuất bản</a:t>
            </a:r>
            <a:endParaRPr lang="en-US" sz="1050" dirty="0"/>
          </a:p>
        </p:txBody>
      </p:sp>
      <p:sp>
        <p:nvSpPr>
          <p:cNvPr id="14" name="Text 11"/>
          <p:cNvSpPr/>
          <p:nvPr/>
        </p:nvSpPr>
        <p:spPr>
          <a:xfrm>
            <a:off x="8732520" y="4005072"/>
            <a:ext cx="2514600" cy="5943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Org Manager là tác nhân duy nhất có thẩm quyền xuất bản chính thức khi bài đạt APPROVED.</a:t>
            </a:r>
            <a:endParaRPr lang="en-US" sz="950" dirty="0"/>
          </a:p>
        </p:txBody>
      </p:sp>
      <p:sp>
        <p:nvSpPr>
          <p:cNvPr id="15" name="Text 12"/>
          <p:cNvSpPr/>
          <p:nvPr/>
        </p:nvSpPr>
        <p:spPr>
          <a:xfrm>
            <a:off x="8503920" y="4663440"/>
            <a:ext cx="2743200"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  Can thiệp khẩn cấp</a:t>
            </a:r>
            <a:endParaRPr lang="en-US" sz="1050" dirty="0"/>
          </a:p>
        </p:txBody>
      </p:sp>
      <p:sp>
        <p:nvSpPr>
          <p:cNvPr id="16" name="Text 13"/>
          <p:cNvSpPr/>
          <p:nvPr/>
        </p:nvSpPr>
        <p:spPr>
          <a:xfrm>
            <a:off x="8732520" y="4919472"/>
            <a:ext cx="2514600" cy="5943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Administrator chỉ xuất bản khẩn cấp cho bài đã APPROVED; bắt buộc giải trình và AuditLog.</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lIns="0" tIns="0" rIns="0" bIns="0" rtlCol="0" anchor="ctr"/>
          <a:lstStyle/>
          <a:p>
            <a:pPr indent="0" marL="0">
              <a:buNone/>
            </a:pPr>
            <a:r>
              <a:rPr lang="en-US" sz="1100" b="1" spc="200" kern="0" dirty="0">
                <a:solidFill>
                  <a:srgbClr val="3B82F6"/>
                </a:solidFill>
                <a:latin typeface="Calibri" pitchFamily="34" charset="0"/>
                <a:ea typeface="Calibri" pitchFamily="34" charset="-122"/>
                <a:cs typeface="Calibri" pitchFamily="34" charset="-120"/>
              </a:rPr>
              <a:t>QUY TRÌNH ĐÁNH GIÁ</a:t>
            </a:r>
            <a:endParaRPr lang="en-US" sz="1100" dirty="0"/>
          </a:p>
        </p:txBody>
      </p:sp>
      <p:sp>
        <p:nvSpPr>
          <p:cNvPr id="3" name="Text 1"/>
          <p:cNvSpPr/>
          <p:nvPr/>
        </p:nvSpPr>
        <p:spPr>
          <a:xfrm>
            <a:off x="731520" y="658368"/>
            <a:ext cx="91440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Sơ Đồ Hoạt Động — Đánh Giá Chẩn Đoán Đầu Vào (Placement)</a:t>
            </a:r>
            <a:endParaRPr lang="en-US" sz="2400" dirty="0"/>
          </a:p>
        </p:txBody>
      </p:sp>
      <p:sp>
        <p:nvSpPr>
          <p:cNvPr id="4" name="Text 2"/>
          <p:cNvSpPr/>
          <p:nvPr/>
        </p:nvSpPr>
        <p:spPr>
          <a:xfrm>
            <a:off x="10789920" y="411480"/>
            <a:ext cx="731520" cy="274320"/>
          </a:xfrm>
          <a:prstGeom prst="rect">
            <a:avLst/>
          </a:prstGeom>
          <a:noFill/>
          <a:ln/>
        </p:spPr>
        <p:txBody>
          <a:bodyPr wrap="square" lIns="0" tIns="0" rIns="0" bIns="0" rtlCol="0" anchor="ctr"/>
          <a:lstStyle/>
          <a:p>
            <a:pPr algn="r" indent="0" marL="0">
              <a:buNone/>
            </a:pPr>
            <a:r>
              <a:rPr lang="en-US" sz="1100" b="1" dirty="0">
                <a:solidFill>
                  <a:srgbClr val="64748B"/>
                </a:solidFill>
                <a:latin typeface="Calibri" pitchFamily="34" charset="0"/>
                <a:ea typeface="Calibri" pitchFamily="34" charset="-122"/>
                <a:cs typeface="Calibri" pitchFamily="34" charset="-120"/>
              </a:rPr>
              <a:t>06 / 12</a:t>
            </a:r>
            <a:endParaRPr lang="en-US" sz="1100" dirty="0"/>
          </a:p>
        </p:txBody>
      </p:sp>
      <p:sp>
        <p:nvSpPr>
          <p:cNvPr id="5" name="Text 3"/>
          <p:cNvSpPr/>
          <p:nvPr/>
        </p:nvSpPr>
        <p:spPr>
          <a:xfrm>
            <a:off x="731520" y="1261872"/>
            <a:ext cx="5349240" cy="256032"/>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Luồng Chẩn Đoán Tuyến Tính (30 Câu → Starting Unit)</a:t>
            </a:r>
            <a:endParaRPr lang="en-US" sz="1100" dirty="0"/>
          </a:p>
        </p:txBody>
      </p:sp>
      <p:sp>
        <p:nvSpPr>
          <p:cNvPr id="6" name="Shape 4"/>
          <p:cNvSpPr/>
          <p:nvPr/>
        </p:nvSpPr>
        <p:spPr>
          <a:xfrm>
            <a:off x="731520" y="1554480"/>
            <a:ext cx="5349240" cy="3520440"/>
          </a:xfrm>
          <a:prstGeom prst="roundRect">
            <a:avLst>
              <a:gd name="adj" fmla="val 1558"/>
            </a:avLst>
          </a:prstGeom>
          <a:solidFill>
            <a:srgbClr val="FFFFFF"/>
          </a:solidFill>
          <a:ln w="12700">
            <a:solidFill>
              <a:srgbClr val="333333"/>
            </a:solidFill>
            <a:prstDash val="solid"/>
          </a:ln>
          <a:effectLst>
            <a:outerShdw sx="100000" sy="100000" kx="0" ky="0" algn="bl" rotWithShape="0" blurRad="76200" dist="25400" dir="16200000">
              <a:srgbClr val="000000">
                <a:alpha val="6000"/>
              </a:srgbClr>
            </a:outerShdw>
          </a:effectLst>
        </p:spPr>
      </p:sp>
      <p:pic>
        <p:nvPicPr>
          <p:cNvPr id="7" name="Image 0" descr="preencoded.png">    </p:cNvPr>
          <p:cNvPicPr>
            <a:picLocks noChangeAspect="1"/>
          </p:cNvPicPr>
          <p:nvPr/>
        </p:nvPicPr>
        <p:blipFill>
          <a:blip r:embed="rId1"/>
          <a:srcRect l="0" r="0" t="0" b="0"/>
          <a:stretch/>
        </p:blipFill>
        <p:spPr>
          <a:xfrm>
            <a:off x="822960" y="1627632"/>
            <a:ext cx="5166360" cy="3383280"/>
          </a:xfrm>
          <a:prstGeom prst="rect">
            <a:avLst/>
          </a:prstGeom>
        </p:spPr>
      </p:pic>
      <p:sp>
        <p:nvSpPr>
          <p:cNvPr id="8" name="Text 5"/>
          <p:cNvSpPr/>
          <p:nvPr/>
        </p:nvSpPr>
        <p:spPr>
          <a:xfrm>
            <a:off x="6355080" y="1261872"/>
            <a:ext cx="5349240" cy="256032"/>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Nhánh Bỏ Qua (Skip) &amp; Nhánh Thi Lại (Retake)</a:t>
            </a:r>
            <a:endParaRPr lang="en-US" sz="1100" dirty="0"/>
          </a:p>
        </p:txBody>
      </p:sp>
      <p:sp>
        <p:nvSpPr>
          <p:cNvPr id="9" name="Shape 6"/>
          <p:cNvSpPr/>
          <p:nvPr/>
        </p:nvSpPr>
        <p:spPr>
          <a:xfrm>
            <a:off x="6355080" y="1554480"/>
            <a:ext cx="5106924" cy="3520440"/>
          </a:xfrm>
          <a:prstGeom prst="roundRect">
            <a:avLst>
              <a:gd name="adj" fmla="val 1558"/>
            </a:avLst>
          </a:prstGeom>
          <a:solidFill>
            <a:srgbClr val="FFFFFF"/>
          </a:solidFill>
          <a:ln w="12700">
            <a:solidFill>
              <a:srgbClr val="333333"/>
            </a:solidFill>
            <a:prstDash val="solid"/>
          </a:ln>
          <a:effectLst>
            <a:outerShdw sx="100000" sy="100000" kx="0" ky="0" algn="bl" rotWithShape="0" blurRad="76200" dist="25400" dir="16200000">
              <a:srgbClr val="000000">
                <a:alpha val="6000"/>
              </a:srgbClr>
            </a:outerShdw>
          </a:effectLst>
        </p:spPr>
      </p:sp>
      <p:pic>
        <p:nvPicPr>
          <p:cNvPr id="10" name="Image 1" descr="preencoded.png">    </p:cNvPr>
          <p:cNvPicPr>
            <a:picLocks noChangeAspect="1"/>
          </p:cNvPicPr>
          <p:nvPr/>
        </p:nvPicPr>
        <p:blipFill>
          <a:blip r:embed="rId2"/>
          <a:srcRect l="0" r="0" t="0" b="0"/>
          <a:stretch/>
        </p:blipFill>
        <p:spPr>
          <a:xfrm>
            <a:off x="6446520" y="1627632"/>
            <a:ext cx="4924044" cy="3383280"/>
          </a:xfrm>
          <a:prstGeom prst="rect">
            <a:avLst/>
          </a:prstGeom>
        </p:spPr>
      </p:pic>
      <p:sp>
        <p:nvSpPr>
          <p:cNvPr id="11" name="Shape 7"/>
          <p:cNvSpPr/>
          <p:nvPr/>
        </p:nvSpPr>
        <p:spPr>
          <a:xfrm>
            <a:off x="731520" y="5257800"/>
            <a:ext cx="10728655" cy="1143000"/>
          </a:xfrm>
          <a:prstGeom prst="roundRect">
            <a:avLst>
              <a:gd name="adj" fmla="val 4800"/>
            </a:avLst>
          </a:prstGeom>
          <a:solidFill>
            <a:srgbClr val="0F172A"/>
          </a:solidFill>
          <a:ln w="12700">
            <a:solidFill>
              <a:srgbClr val="333333"/>
            </a:solidFill>
            <a:prstDash val="solid"/>
          </a:ln>
        </p:spPr>
      </p:sp>
      <p:sp>
        <p:nvSpPr>
          <p:cNvPr id="12" name="Text 8"/>
          <p:cNvSpPr/>
          <p:nvPr/>
        </p:nvSpPr>
        <p:spPr>
          <a:xfrm>
            <a:off x="1005840" y="5349240"/>
            <a:ext cx="10241280" cy="960120"/>
          </a:xfrm>
          <a:prstGeom prst="rect">
            <a:avLst/>
          </a:prstGeom>
          <a:noFill/>
          <a:ln/>
        </p:spPr>
        <p:txBody>
          <a:bodyPr wrap="square" lIns="0" tIns="63500" rIns="63500" bIns="0" rtlCol="0" anchor="ctr"/>
          <a:lstStyle/>
          <a:p>
            <a:pPr indent="0" marL="0">
              <a:spcAft>
                <a:spcPts val="300"/>
              </a:spcAft>
              <a:buNone/>
            </a:pPr>
            <a:r>
              <a:rPr lang="en-US" sz="950" dirty="0">
                <a:solidFill>
                  <a:srgbClr val="CBD5E1"/>
                </a:solidFill>
                <a:latin typeface="Calibri" pitchFamily="34" charset="0"/>
                <a:ea typeface="Calibri" pitchFamily="34" charset="-122"/>
                <a:cs typeface="Calibri" pitchFamily="34" charset="-120"/>
              </a:rPr>
              <a:t>●  Quy mô 30 câu &amp; Mapping A: Đề thi 30 câu, thang điểm thô 0–30. Ánh xạ ra Starting Unit từ 1 đến 6 theo dải điểm chuẩn tắc.</a:t>
            </a:r>
            <a:endParaRPr lang="en-US" sz="950" dirty="0"/>
          </a:p>
          <a:p>
            <a:pPr indent="0" marL="0">
              <a:spcAft>
                <a:spcPts val="300"/>
              </a:spcAft>
              <a:buNone/>
            </a:pPr>
            <a:r>
              <a:rPr lang="en-US" sz="950" dirty="0">
                <a:solidFill>
                  <a:srgbClr val="CBD5E1"/>
                </a:solidFill>
                <a:latin typeface="Calibri" pitchFamily="34" charset="0"/>
                <a:ea typeface="Calibri" pitchFamily="34" charset="-122"/>
                <a:cs typeface="Calibri" pitchFamily="34" charset="-120"/>
              </a:rPr>
              <a:t>●  Nhánh Bỏ qua (Skip): Gán mặc định Unit 1 với trạng thái UNVERIFIED, không tạo bản ghi rác trong AssessmentResult hay SkillProfile.</a:t>
            </a:r>
            <a:endParaRPr lang="en-US" sz="950" dirty="0"/>
          </a:p>
          <a:p>
            <a:pPr indent="0" marL="0">
              <a:spcAft>
                <a:spcPts val="300"/>
              </a:spcAft>
              <a:buNone/>
            </a:pPr>
            <a:r>
              <a:rPr lang="en-US" sz="950" dirty="0">
                <a:solidFill>
                  <a:srgbClr val="CBD5E1"/>
                </a:solidFill>
                <a:latin typeface="Calibri" pitchFamily="34" charset="0"/>
                <a:ea typeface="Calibri" pitchFamily="34" charset="-122"/>
                <a:cs typeface="Calibri" pitchFamily="34" charset="-120"/>
              </a:rPr>
              <a:t>●  Nhánh Thi lại (Retake): Kích hoạt từ Profile, lưu bản ghi mới độc lập mà không ghi đè lịch sử bài thi trước đó.</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lIns="0" tIns="0" rIns="0" bIns="0" rtlCol="0" anchor="ctr"/>
          <a:lstStyle/>
          <a:p>
            <a:pPr indent="0" marL="0">
              <a:buNone/>
            </a:pPr>
            <a:r>
              <a:rPr lang="en-US" sz="1100" b="1" spc="200" kern="0" dirty="0">
                <a:solidFill>
                  <a:srgbClr val="3B82F6"/>
                </a:solidFill>
                <a:latin typeface="Calibri" pitchFamily="34" charset="0"/>
                <a:ea typeface="Calibri" pitchFamily="34" charset="-122"/>
                <a:cs typeface="Calibri" pitchFamily="34" charset="-120"/>
              </a:rPr>
              <a:t>QUY TRÌNH HỌC BÀI</a:t>
            </a:r>
            <a:endParaRPr lang="en-US" sz="1100" dirty="0"/>
          </a:p>
        </p:txBody>
      </p:sp>
      <p:sp>
        <p:nvSpPr>
          <p:cNvPr id="3" name="Text 1"/>
          <p:cNvSpPr/>
          <p:nvPr/>
        </p:nvSpPr>
        <p:spPr>
          <a:xfrm>
            <a:off x="731520" y="658368"/>
            <a:ext cx="91440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Sơ Đồ Hoạt Động — Chu Trình Học Bài &amp; Làm Lại Có Kiểm Soát</a:t>
            </a:r>
            <a:endParaRPr lang="en-US" sz="2400" dirty="0"/>
          </a:p>
        </p:txBody>
      </p:sp>
      <p:sp>
        <p:nvSpPr>
          <p:cNvPr id="4" name="Text 2"/>
          <p:cNvSpPr/>
          <p:nvPr/>
        </p:nvSpPr>
        <p:spPr>
          <a:xfrm>
            <a:off x="10789920" y="411480"/>
            <a:ext cx="731520" cy="274320"/>
          </a:xfrm>
          <a:prstGeom prst="rect">
            <a:avLst/>
          </a:prstGeom>
          <a:noFill/>
          <a:ln/>
        </p:spPr>
        <p:txBody>
          <a:bodyPr wrap="square" lIns="0" tIns="0" rIns="0" bIns="0" rtlCol="0" anchor="ctr"/>
          <a:lstStyle/>
          <a:p>
            <a:pPr algn="r" indent="0" marL="0">
              <a:buNone/>
            </a:pPr>
            <a:r>
              <a:rPr lang="en-US" sz="1100" b="1" dirty="0">
                <a:solidFill>
                  <a:srgbClr val="64748B"/>
                </a:solidFill>
                <a:latin typeface="Calibri" pitchFamily="34" charset="0"/>
                <a:ea typeface="Calibri" pitchFamily="34" charset="-122"/>
                <a:cs typeface="Calibri" pitchFamily="34" charset="-120"/>
              </a:rPr>
              <a:t>07 / 12</a:t>
            </a:r>
            <a:endParaRPr lang="en-US" sz="1100" dirty="0"/>
          </a:p>
        </p:txBody>
      </p:sp>
      <p:sp>
        <p:nvSpPr>
          <p:cNvPr id="5" name="Text 3"/>
          <p:cNvSpPr/>
          <p:nvPr/>
        </p:nvSpPr>
        <p:spPr>
          <a:xfrm>
            <a:off x="731520" y="1261872"/>
            <a:ext cx="5349240" cy="256032"/>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Luồng Học Chính (4/4 Published → Viewer → Bài Tập)</a:t>
            </a:r>
            <a:endParaRPr lang="en-US" sz="1100" dirty="0"/>
          </a:p>
        </p:txBody>
      </p:sp>
      <p:sp>
        <p:nvSpPr>
          <p:cNvPr id="6" name="Shape 4"/>
          <p:cNvSpPr/>
          <p:nvPr/>
        </p:nvSpPr>
        <p:spPr>
          <a:xfrm>
            <a:off x="731520" y="1554480"/>
            <a:ext cx="5349240" cy="3520440"/>
          </a:xfrm>
          <a:prstGeom prst="roundRect">
            <a:avLst>
              <a:gd name="adj" fmla="val 1558"/>
            </a:avLst>
          </a:prstGeom>
          <a:solidFill>
            <a:srgbClr val="FFFFFF"/>
          </a:solidFill>
          <a:ln w="12700">
            <a:solidFill>
              <a:srgbClr val="333333"/>
            </a:solidFill>
            <a:prstDash val="solid"/>
          </a:ln>
          <a:effectLst>
            <a:outerShdw sx="100000" sy="100000" kx="0" ky="0" algn="bl" rotWithShape="0" blurRad="76200" dist="25400" dir="16200000">
              <a:srgbClr val="000000">
                <a:alpha val="6000"/>
              </a:srgbClr>
            </a:outerShdw>
          </a:effectLst>
        </p:spPr>
      </p:sp>
      <p:pic>
        <p:nvPicPr>
          <p:cNvPr id="7" name="Image 0" descr="preencoded.png">    </p:cNvPr>
          <p:cNvPicPr>
            <a:picLocks noChangeAspect="1"/>
          </p:cNvPicPr>
          <p:nvPr/>
        </p:nvPicPr>
        <p:blipFill>
          <a:blip r:embed="rId1"/>
          <a:srcRect l="0" r="0" t="0" b="0"/>
          <a:stretch/>
        </p:blipFill>
        <p:spPr>
          <a:xfrm>
            <a:off x="822960" y="1627632"/>
            <a:ext cx="5166360" cy="3383280"/>
          </a:xfrm>
          <a:prstGeom prst="rect">
            <a:avLst/>
          </a:prstGeom>
        </p:spPr>
      </p:pic>
      <p:sp>
        <p:nvSpPr>
          <p:cNvPr id="8" name="Text 5"/>
          <p:cNvSpPr/>
          <p:nvPr/>
        </p:nvSpPr>
        <p:spPr>
          <a:xfrm>
            <a:off x="6355080" y="1261872"/>
            <a:ext cx="5349240" cy="256032"/>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Luồng Làm Lại Có Kiểm Soát (Controlled Retry Flow)</a:t>
            </a:r>
            <a:endParaRPr lang="en-US" sz="1100" dirty="0"/>
          </a:p>
        </p:txBody>
      </p:sp>
      <p:sp>
        <p:nvSpPr>
          <p:cNvPr id="9" name="Shape 6"/>
          <p:cNvSpPr/>
          <p:nvPr/>
        </p:nvSpPr>
        <p:spPr>
          <a:xfrm>
            <a:off x="6355080" y="1554480"/>
            <a:ext cx="5106924" cy="3520440"/>
          </a:xfrm>
          <a:prstGeom prst="roundRect">
            <a:avLst>
              <a:gd name="adj" fmla="val 1558"/>
            </a:avLst>
          </a:prstGeom>
          <a:solidFill>
            <a:srgbClr val="FFFFFF"/>
          </a:solidFill>
          <a:ln w="12700">
            <a:solidFill>
              <a:srgbClr val="333333"/>
            </a:solidFill>
            <a:prstDash val="solid"/>
          </a:ln>
          <a:effectLst>
            <a:outerShdw sx="100000" sy="100000" kx="0" ky="0" algn="bl" rotWithShape="0" blurRad="76200" dist="25400" dir="16200000">
              <a:srgbClr val="000000">
                <a:alpha val="6000"/>
              </a:srgbClr>
            </a:outerShdw>
          </a:effectLst>
        </p:spPr>
      </p:sp>
      <p:pic>
        <p:nvPicPr>
          <p:cNvPr id="10" name="Image 1" descr="preencoded.png">    </p:cNvPr>
          <p:cNvPicPr>
            <a:picLocks noChangeAspect="1"/>
          </p:cNvPicPr>
          <p:nvPr/>
        </p:nvPicPr>
        <p:blipFill>
          <a:blip r:embed="rId2"/>
          <a:srcRect l="0" r="0" t="0" b="0"/>
          <a:stretch/>
        </p:blipFill>
        <p:spPr>
          <a:xfrm>
            <a:off x="6446520" y="1627632"/>
            <a:ext cx="4924044" cy="3383280"/>
          </a:xfrm>
          <a:prstGeom prst="rect">
            <a:avLst/>
          </a:prstGeom>
        </p:spPr>
      </p:pic>
      <p:sp>
        <p:nvSpPr>
          <p:cNvPr id="11" name="Shape 7"/>
          <p:cNvSpPr/>
          <p:nvPr/>
        </p:nvSpPr>
        <p:spPr>
          <a:xfrm>
            <a:off x="731520" y="5257800"/>
            <a:ext cx="10728655" cy="1143000"/>
          </a:xfrm>
          <a:prstGeom prst="roundRect">
            <a:avLst>
              <a:gd name="adj" fmla="val 4800"/>
            </a:avLst>
          </a:prstGeom>
          <a:solidFill>
            <a:srgbClr val="0F172A"/>
          </a:solidFill>
          <a:ln w="12700">
            <a:solidFill>
              <a:srgbClr val="333333"/>
            </a:solidFill>
            <a:prstDash val="solid"/>
          </a:ln>
        </p:spPr>
      </p:sp>
      <p:sp>
        <p:nvSpPr>
          <p:cNvPr id="12" name="Text 8"/>
          <p:cNvSpPr/>
          <p:nvPr/>
        </p:nvSpPr>
        <p:spPr>
          <a:xfrm>
            <a:off x="1005840" y="5349240"/>
            <a:ext cx="10241280" cy="960120"/>
          </a:xfrm>
          <a:prstGeom prst="rect">
            <a:avLst/>
          </a:prstGeom>
          <a:noFill/>
          <a:ln/>
        </p:spPr>
        <p:txBody>
          <a:bodyPr wrap="square" lIns="0" tIns="63500" rIns="63500" bIns="0" rtlCol="0" anchor="ctr"/>
          <a:lstStyle/>
          <a:p>
            <a:pPr indent="0" marL="0">
              <a:spcAft>
                <a:spcPts val="300"/>
              </a:spcAft>
              <a:buNone/>
            </a:pPr>
            <a:r>
              <a:rPr lang="en-US" sz="950" dirty="0">
                <a:solidFill>
                  <a:srgbClr val="CBD5E1"/>
                </a:solidFill>
                <a:latin typeface="Calibri" pitchFamily="34" charset="0"/>
                <a:ea typeface="Calibri" pitchFamily="34" charset="-122"/>
                <a:cs typeface="Calibri" pitchFamily="34" charset="-120"/>
              </a:rPr>
              <a:t>●  Điều kiện hiển thị: Unit chỉ mở khi đủ 4/4 Lesson Published. Học viên bắt buộc qua Lesson Content Viewer trước khi làm bài tập.</a:t>
            </a:r>
            <a:endParaRPr lang="en-US" sz="950" dirty="0"/>
          </a:p>
          <a:p>
            <a:pPr indent="0" marL="0">
              <a:spcAft>
                <a:spcPts val="300"/>
              </a:spcAft>
              <a:buNone/>
            </a:pPr>
            <a:r>
              <a:rPr lang="en-US" sz="950" dirty="0">
                <a:solidFill>
                  <a:srgbClr val="CBD5E1"/>
                </a:solidFill>
                <a:latin typeface="Calibri" pitchFamily="34" charset="0"/>
                <a:ea typeface="Calibri" pitchFamily="34" charset="-122"/>
                <a:cs typeface="Calibri" pitchFamily="34" charset="-120"/>
              </a:rPr>
              <a:t>●  Quy chế Retry: Sai khi retry quay lại Show Explanation; hết hạn mức báo 'No quota'; làm lại đúng ghi nhận ≤ 70% credit.</a:t>
            </a:r>
            <a:endParaRPr lang="en-US" sz="950" dirty="0"/>
          </a:p>
          <a:p>
            <a:pPr indent="0" marL="0">
              <a:spcAft>
                <a:spcPts val="300"/>
              </a:spcAft>
              <a:buNone/>
            </a:pPr>
            <a:r>
              <a:rPr lang="en-US" sz="950" dirty="0">
                <a:solidFill>
                  <a:srgbClr val="CBD5E1"/>
                </a:solidFill>
                <a:latin typeface="Calibri" pitchFamily="34" charset="0"/>
                <a:ea typeface="Calibri" pitchFamily="34" charset="-122"/>
                <a:cs typeface="Calibri" pitchFamily="34" charset="-120"/>
              </a:rPr>
              <a:t>●  Cập nhật nguyên tử [UC-07]: Hoàn thành bài học ghi nhận UserProgress, tăng Streak thuộc UC-07 và thêm thẻ SRS (1,3,7,14,30 ngày).</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lIns="0" tIns="0" rIns="0" bIns="0" rtlCol="0" anchor="ctr"/>
          <a:lstStyle/>
          <a:p>
            <a:pPr indent="0" marL="0">
              <a:buNone/>
            </a:pPr>
            <a:r>
              <a:rPr lang="en-US" sz="1100" b="1" spc="200" kern="0" dirty="0">
                <a:solidFill>
                  <a:srgbClr val="3B82F6"/>
                </a:solidFill>
                <a:latin typeface="Calibri" pitchFamily="34" charset="0"/>
                <a:ea typeface="Calibri" pitchFamily="34" charset="-122"/>
                <a:cs typeface="Calibri" pitchFamily="34" charset="-120"/>
              </a:rPr>
              <a:t>QUY TRÌNH NHẢY CẤP</a:t>
            </a:r>
            <a:endParaRPr lang="en-US" sz="1100" dirty="0"/>
          </a:p>
        </p:txBody>
      </p:sp>
      <p:sp>
        <p:nvSpPr>
          <p:cNvPr id="3" name="Text 1"/>
          <p:cNvSpPr/>
          <p:nvPr/>
        </p:nvSpPr>
        <p:spPr>
          <a:xfrm>
            <a:off x="731520" y="658368"/>
            <a:ext cx="91440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Sơ Đồ Hoạt Động — Thử Thách Nhảy Cấp (Conditional Jump)</a:t>
            </a:r>
            <a:endParaRPr lang="en-US" sz="2400" dirty="0"/>
          </a:p>
        </p:txBody>
      </p:sp>
      <p:sp>
        <p:nvSpPr>
          <p:cNvPr id="4" name="Text 2"/>
          <p:cNvSpPr/>
          <p:nvPr/>
        </p:nvSpPr>
        <p:spPr>
          <a:xfrm>
            <a:off x="10789920" y="411480"/>
            <a:ext cx="731520" cy="274320"/>
          </a:xfrm>
          <a:prstGeom prst="rect">
            <a:avLst/>
          </a:prstGeom>
          <a:noFill/>
          <a:ln/>
        </p:spPr>
        <p:txBody>
          <a:bodyPr wrap="square" lIns="0" tIns="0" rIns="0" bIns="0" rtlCol="0" anchor="ctr"/>
          <a:lstStyle/>
          <a:p>
            <a:pPr algn="r" indent="0" marL="0">
              <a:buNone/>
            </a:pPr>
            <a:r>
              <a:rPr lang="en-US" sz="1100" b="1" dirty="0">
                <a:solidFill>
                  <a:srgbClr val="64748B"/>
                </a:solidFill>
                <a:latin typeface="Calibri" pitchFamily="34" charset="0"/>
                <a:ea typeface="Calibri" pitchFamily="34" charset="-122"/>
                <a:cs typeface="Calibri" pitchFamily="34" charset="-120"/>
              </a:rPr>
              <a:t>08 / 12</a:t>
            </a:r>
            <a:endParaRPr lang="en-US" sz="1100" dirty="0"/>
          </a:p>
        </p:txBody>
      </p:sp>
      <p:sp>
        <p:nvSpPr>
          <p:cNvPr id="5" name="Text 3"/>
          <p:cNvSpPr/>
          <p:nvPr/>
        </p:nvSpPr>
        <p:spPr>
          <a:xfrm>
            <a:off x="731520" y="1261872"/>
            <a:ext cx="5349240" cy="256032"/>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Kiểm Tra Cooldown 24h &amp; Làm Bài Thi Jump</a:t>
            </a:r>
            <a:endParaRPr lang="en-US" sz="1100" dirty="0"/>
          </a:p>
        </p:txBody>
      </p:sp>
      <p:sp>
        <p:nvSpPr>
          <p:cNvPr id="6" name="Shape 4"/>
          <p:cNvSpPr/>
          <p:nvPr/>
        </p:nvSpPr>
        <p:spPr>
          <a:xfrm>
            <a:off x="731520" y="1554480"/>
            <a:ext cx="5349240" cy="3520440"/>
          </a:xfrm>
          <a:prstGeom prst="roundRect">
            <a:avLst>
              <a:gd name="adj" fmla="val 1558"/>
            </a:avLst>
          </a:prstGeom>
          <a:solidFill>
            <a:srgbClr val="FFFFFF"/>
          </a:solidFill>
          <a:ln w="12700">
            <a:solidFill>
              <a:srgbClr val="333333"/>
            </a:solidFill>
            <a:prstDash val="solid"/>
          </a:ln>
          <a:effectLst>
            <a:outerShdw sx="100000" sy="100000" kx="0" ky="0" algn="bl" rotWithShape="0" blurRad="76200" dist="25400" dir="16200000">
              <a:srgbClr val="000000">
                <a:alpha val="6000"/>
              </a:srgbClr>
            </a:outerShdw>
          </a:effectLst>
        </p:spPr>
      </p:sp>
      <p:pic>
        <p:nvPicPr>
          <p:cNvPr id="7" name="Image 0" descr="preencoded.png">    </p:cNvPr>
          <p:cNvPicPr>
            <a:picLocks noChangeAspect="1"/>
          </p:cNvPicPr>
          <p:nvPr/>
        </p:nvPicPr>
        <p:blipFill>
          <a:blip r:embed="rId1"/>
          <a:srcRect l="0" r="0" t="0" b="0"/>
          <a:stretch/>
        </p:blipFill>
        <p:spPr>
          <a:xfrm>
            <a:off x="822960" y="1627632"/>
            <a:ext cx="5166360" cy="3383280"/>
          </a:xfrm>
          <a:prstGeom prst="rect">
            <a:avLst/>
          </a:prstGeom>
        </p:spPr>
      </p:pic>
      <p:sp>
        <p:nvSpPr>
          <p:cNvPr id="8" name="Text 5"/>
          <p:cNvSpPr/>
          <p:nvPr/>
        </p:nvSpPr>
        <p:spPr>
          <a:xfrm>
            <a:off x="6355080" y="1261872"/>
            <a:ext cx="5349240" cy="256032"/>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Xử Lý Kết Quả: Vượt Cấp (Đỗ &gt;= 95%) vs Khóa Phạt 24h</a:t>
            </a:r>
            <a:endParaRPr lang="en-US" sz="1100" dirty="0"/>
          </a:p>
        </p:txBody>
      </p:sp>
      <p:sp>
        <p:nvSpPr>
          <p:cNvPr id="9" name="Shape 6"/>
          <p:cNvSpPr/>
          <p:nvPr/>
        </p:nvSpPr>
        <p:spPr>
          <a:xfrm>
            <a:off x="6355080" y="1554480"/>
            <a:ext cx="5106924" cy="3520440"/>
          </a:xfrm>
          <a:prstGeom prst="roundRect">
            <a:avLst>
              <a:gd name="adj" fmla="val 1558"/>
            </a:avLst>
          </a:prstGeom>
          <a:solidFill>
            <a:srgbClr val="FFFFFF"/>
          </a:solidFill>
          <a:ln w="12700">
            <a:solidFill>
              <a:srgbClr val="333333"/>
            </a:solidFill>
            <a:prstDash val="solid"/>
          </a:ln>
          <a:effectLst>
            <a:outerShdw sx="100000" sy="100000" kx="0" ky="0" algn="bl" rotWithShape="0" blurRad="76200" dist="25400" dir="16200000">
              <a:srgbClr val="000000">
                <a:alpha val="6000"/>
              </a:srgbClr>
            </a:outerShdw>
          </a:effectLst>
        </p:spPr>
      </p:sp>
      <p:pic>
        <p:nvPicPr>
          <p:cNvPr id="10" name="Image 1" descr="preencoded.png">    </p:cNvPr>
          <p:cNvPicPr>
            <a:picLocks noChangeAspect="1"/>
          </p:cNvPicPr>
          <p:nvPr/>
        </p:nvPicPr>
        <p:blipFill>
          <a:blip r:embed="rId2"/>
          <a:srcRect l="0" r="0" t="0" b="0"/>
          <a:stretch/>
        </p:blipFill>
        <p:spPr>
          <a:xfrm>
            <a:off x="6446520" y="1627632"/>
            <a:ext cx="4924044" cy="3383280"/>
          </a:xfrm>
          <a:prstGeom prst="rect">
            <a:avLst/>
          </a:prstGeom>
        </p:spPr>
      </p:pic>
      <p:sp>
        <p:nvSpPr>
          <p:cNvPr id="11" name="Shape 7"/>
          <p:cNvSpPr/>
          <p:nvPr/>
        </p:nvSpPr>
        <p:spPr>
          <a:xfrm>
            <a:off x="731520" y="5257800"/>
            <a:ext cx="10728655" cy="1143000"/>
          </a:xfrm>
          <a:prstGeom prst="roundRect">
            <a:avLst>
              <a:gd name="adj" fmla="val 4800"/>
            </a:avLst>
          </a:prstGeom>
          <a:solidFill>
            <a:srgbClr val="0F172A"/>
          </a:solidFill>
          <a:ln w="12700">
            <a:solidFill>
              <a:srgbClr val="333333"/>
            </a:solidFill>
            <a:prstDash val="solid"/>
          </a:ln>
        </p:spPr>
      </p:sp>
      <p:sp>
        <p:nvSpPr>
          <p:cNvPr id="12" name="Text 8"/>
          <p:cNvSpPr/>
          <p:nvPr/>
        </p:nvSpPr>
        <p:spPr>
          <a:xfrm>
            <a:off x="1005840" y="5349240"/>
            <a:ext cx="10241280" cy="960120"/>
          </a:xfrm>
          <a:prstGeom prst="rect">
            <a:avLst/>
          </a:prstGeom>
          <a:noFill/>
          <a:ln/>
        </p:spPr>
        <p:txBody>
          <a:bodyPr wrap="square" lIns="0" tIns="63500" rIns="63500" bIns="0" rtlCol="0" anchor="ctr"/>
          <a:lstStyle/>
          <a:p>
            <a:pPr indent="0" marL="0">
              <a:spcAft>
                <a:spcPts val="300"/>
              </a:spcAft>
              <a:buNone/>
            </a:pPr>
            <a:r>
              <a:rPr lang="en-US" sz="950" dirty="0">
                <a:solidFill>
                  <a:srgbClr val="CBD5E1"/>
                </a:solidFill>
                <a:latin typeface="Calibri" pitchFamily="34" charset="0"/>
                <a:ea typeface="Calibri" pitchFamily="34" charset="-122"/>
                <a:cs typeface="Calibri" pitchFamily="34" charset="-120"/>
              </a:rPr>
              <a:t>●  Kiểm tra Cooldown: Chặn làm bài nếu đang trong thời gian phạt Cooldown 24 giờ sau lần thi trượt gần nhất.</a:t>
            </a:r>
            <a:endParaRPr lang="en-US" sz="950" dirty="0"/>
          </a:p>
          <a:p>
            <a:pPr indent="0" marL="0">
              <a:spcAft>
                <a:spcPts val="300"/>
              </a:spcAft>
              <a:buNone/>
            </a:pPr>
            <a:r>
              <a:rPr lang="en-US" sz="950" dirty="0">
                <a:solidFill>
                  <a:srgbClr val="CBD5E1"/>
                </a:solidFill>
                <a:latin typeface="Calibri" pitchFamily="34" charset="0"/>
                <a:ea typeface="Calibri" pitchFamily="34" charset="-122"/>
                <a:cs typeface="Calibri" pitchFamily="34" charset="-120"/>
              </a:rPr>
              <a:t>●  Quy mô đề Jump: 20 câu (nhảy 1 Unit), 25–30 câu (nhảy 2–3 Units), hoặc 40 câu (nhảy hơn 3 Units).</a:t>
            </a:r>
            <a:endParaRPr lang="en-US" sz="950" dirty="0"/>
          </a:p>
          <a:p>
            <a:pPr indent="0" marL="0">
              <a:spcAft>
                <a:spcPts val="300"/>
              </a:spcAft>
              <a:buNone/>
            </a:pPr>
            <a:r>
              <a:rPr lang="en-US" sz="950" dirty="0">
                <a:solidFill>
                  <a:srgbClr val="CBD5E1"/>
                </a:solidFill>
                <a:latin typeface="Calibri" pitchFamily="34" charset="0"/>
                <a:ea typeface="Calibri" pitchFamily="34" charset="-122"/>
                <a:cs typeface="Calibri" pitchFamily="34" charset="-120"/>
              </a:rPr>
              <a:t>●  Xử lý kết quả: Đạt &gt;= 95% gán SKIPPED_BY_JUMP (by_jump = true) cho nội dung vượt qua; trượt khóa 24 giờ.</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lIns="0" tIns="0" rIns="0" bIns="0" rtlCol="0" anchor="ctr"/>
          <a:lstStyle/>
          <a:p>
            <a:pPr indent="0" marL="0">
              <a:buNone/>
            </a:pPr>
            <a:r>
              <a:rPr lang="en-US" sz="1100" b="1" spc="200" kern="0" dirty="0">
                <a:solidFill>
                  <a:srgbClr val="3B82F6"/>
                </a:solidFill>
                <a:latin typeface="Calibri" pitchFamily="34" charset="0"/>
                <a:ea typeface="Calibri" pitchFamily="34" charset="-122"/>
                <a:cs typeface="Calibri" pitchFamily="34" charset="-120"/>
              </a:rPr>
              <a:t>QUY TRÌNH NỘI DUNG</a:t>
            </a:r>
            <a:endParaRPr lang="en-US" sz="1100" dirty="0"/>
          </a:p>
        </p:txBody>
      </p:sp>
      <p:sp>
        <p:nvSpPr>
          <p:cNvPr id="3" name="Text 1"/>
          <p:cNvSpPr/>
          <p:nvPr/>
        </p:nvSpPr>
        <p:spPr>
          <a:xfrm>
            <a:off x="731520" y="658368"/>
            <a:ext cx="91440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Sơ Đồ Hoạt Động — Quản Trị &amp; Xuất Bản Nội Dung</a:t>
            </a:r>
            <a:endParaRPr lang="en-US" sz="2400" dirty="0"/>
          </a:p>
        </p:txBody>
      </p:sp>
      <p:sp>
        <p:nvSpPr>
          <p:cNvPr id="4" name="Text 2"/>
          <p:cNvSpPr/>
          <p:nvPr/>
        </p:nvSpPr>
        <p:spPr>
          <a:xfrm>
            <a:off x="10789920" y="411480"/>
            <a:ext cx="731520" cy="274320"/>
          </a:xfrm>
          <a:prstGeom prst="rect">
            <a:avLst/>
          </a:prstGeom>
          <a:noFill/>
          <a:ln/>
        </p:spPr>
        <p:txBody>
          <a:bodyPr wrap="square" lIns="0" tIns="0" rIns="0" bIns="0" rtlCol="0" anchor="ctr"/>
          <a:lstStyle/>
          <a:p>
            <a:pPr algn="r" indent="0" marL="0">
              <a:buNone/>
            </a:pPr>
            <a:r>
              <a:rPr lang="en-US" sz="1100" b="1" dirty="0">
                <a:solidFill>
                  <a:srgbClr val="64748B"/>
                </a:solidFill>
                <a:latin typeface="Calibri" pitchFamily="34" charset="0"/>
                <a:ea typeface="Calibri" pitchFamily="34" charset="-122"/>
                <a:cs typeface="Calibri" pitchFamily="34" charset="-120"/>
              </a:rPr>
              <a:t>09 / 12</a:t>
            </a:r>
            <a:endParaRPr lang="en-US" sz="1100" dirty="0"/>
          </a:p>
        </p:txBody>
      </p:sp>
      <p:sp>
        <p:nvSpPr>
          <p:cNvPr id="5" name="Text 3"/>
          <p:cNvSpPr/>
          <p:nvPr/>
        </p:nvSpPr>
        <p:spPr>
          <a:xfrm>
            <a:off x="731520" y="1261872"/>
            <a:ext cx="5349240" cy="256032"/>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Quy Trình Phê Duyệt &amp; Xuất Bản Chính Thức</a:t>
            </a:r>
            <a:endParaRPr lang="en-US" sz="1100" dirty="0"/>
          </a:p>
        </p:txBody>
      </p:sp>
      <p:sp>
        <p:nvSpPr>
          <p:cNvPr id="6" name="Shape 4"/>
          <p:cNvSpPr/>
          <p:nvPr/>
        </p:nvSpPr>
        <p:spPr>
          <a:xfrm>
            <a:off x="731520" y="1554480"/>
            <a:ext cx="5349240" cy="3520440"/>
          </a:xfrm>
          <a:prstGeom prst="roundRect">
            <a:avLst>
              <a:gd name="adj" fmla="val 1558"/>
            </a:avLst>
          </a:prstGeom>
          <a:solidFill>
            <a:srgbClr val="FFFFFF"/>
          </a:solidFill>
          <a:ln w="12700">
            <a:solidFill>
              <a:srgbClr val="333333"/>
            </a:solidFill>
            <a:prstDash val="solid"/>
          </a:ln>
          <a:effectLst>
            <a:outerShdw sx="100000" sy="100000" kx="0" ky="0" algn="bl" rotWithShape="0" blurRad="76200" dist="25400" dir="16200000">
              <a:srgbClr val="000000">
                <a:alpha val="6000"/>
              </a:srgbClr>
            </a:outerShdw>
          </a:effectLst>
        </p:spPr>
      </p:sp>
      <p:pic>
        <p:nvPicPr>
          <p:cNvPr id="7" name="Image 0" descr="preencoded.png">    </p:cNvPr>
          <p:cNvPicPr>
            <a:picLocks noChangeAspect="1"/>
          </p:cNvPicPr>
          <p:nvPr/>
        </p:nvPicPr>
        <p:blipFill>
          <a:blip r:embed="rId1"/>
          <a:srcRect l="0" r="0" t="0" b="0"/>
          <a:stretch/>
        </p:blipFill>
        <p:spPr>
          <a:xfrm>
            <a:off x="822960" y="1627632"/>
            <a:ext cx="5166360" cy="3383280"/>
          </a:xfrm>
          <a:prstGeom prst="rect">
            <a:avLst/>
          </a:prstGeom>
        </p:spPr>
      </p:pic>
      <p:sp>
        <p:nvSpPr>
          <p:cNvPr id="8" name="Text 5"/>
          <p:cNvSpPr/>
          <p:nvPr/>
        </p:nvSpPr>
        <p:spPr>
          <a:xfrm>
            <a:off x="6355080" y="1261872"/>
            <a:ext cx="5349240" cy="256032"/>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Cơ Chế Clone-to-Draft v2 &amp; Xuất Bản Khẩn Cấp</a:t>
            </a:r>
            <a:endParaRPr lang="en-US" sz="1100" dirty="0"/>
          </a:p>
        </p:txBody>
      </p:sp>
      <p:sp>
        <p:nvSpPr>
          <p:cNvPr id="9" name="Shape 6"/>
          <p:cNvSpPr/>
          <p:nvPr/>
        </p:nvSpPr>
        <p:spPr>
          <a:xfrm>
            <a:off x="6355080" y="1554480"/>
            <a:ext cx="5106924" cy="3520440"/>
          </a:xfrm>
          <a:prstGeom prst="roundRect">
            <a:avLst>
              <a:gd name="adj" fmla="val 1558"/>
            </a:avLst>
          </a:prstGeom>
          <a:solidFill>
            <a:srgbClr val="FFFFFF"/>
          </a:solidFill>
          <a:ln w="12700">
            <a:solidFill>
              <a:srgbClr val="333333"/>
            </a:solidFill>
            <a:prstDash val="solid"/>
          </a:ln>
          <a:effectLst>
            <a:outerShdw sx="100000" sy="100000" kx="0" ky="0" algn="bl" rotWithShape="0" blurRad="76200" dist="25400" dir="16200000">
              <a:srgbClr val="000000">
                <a:alpha val="6000"/>
              </a:srgbClr>
            </a:outerShdw>
          </a:effectLst>
        </p:spPr>
      </p:sp>
      <p:pic>
        <p:nvPicPr>
          <p:cNvPr id="10" name="Image 1" descr="preencoded.png">    </p:cNvPr>
          <p:cNvPicPr>
            <a:picLocks noChangeAspect="1"/>
          </p:cNvPicPr>
          <p:nvPr/>
        </p:nvPicPr>
        <p:blipFill>
          <a:blip r:embed="rId2"/>
          <a:srcRect l="0" r="0" t="0" b="0"/>
          <a:stretch/>
        </p:blipFill>
        <p:spPr>
          <a:xfrm>
            <a:off x="6446520" y="1627632"/>
            <a:ext cx="4924044" cy="3383280"/>
          </a:xfrm>
          <a:prstGeom prst="rect">
            <a:avLst/>
          </a:prstGeom>
        </p:spPr>
      </p:pic>
      <p:sp>
        <p:nvSpPr>
          <p:cNvPr id="11" name="Shape 7"/>
          <p:cNvSpPr/>
          <p:nvPr/>
        </p:nvSpPr>
        <p:spPr>
          <a:xfrm>
            <a:off x="731520" y="5257800"/>
            <a:ext cx="10728655" cy="1143000"/>
          </a:xfrm>
          <a:prstGeom prst="roundRect">
            <a:avLst>
              <a:gd name="adj" fmla="val 4800"/>
            </a:avLst>
          </a:prstGeom>
          <a:solidFill>
            <a:srgbClr val="0F172A"/>
          </a:solidFill>
          <a:ln w="12700">
            <a:solidFill>
              <a:srgbClr val="333333"/>
            </a:solidFill>
            <a:prstDash val="solid"/>
          </a:ln>
        </p:spPr>
      </p:sp>
      <p:sp>
        <p:nvSpPr>
          <p:cNvPr id="12" name="Text 8"/>
          <p:cNvSpPr/>
          <p:nvPr/>
        </p:nvSpPr>
        <p:spPr>
          <a:xfrm>
            <a:off x="1005840" y="5349240"/>
            <a:ext cx="10241280" cy="960120"/>
          </a:xfrm>
          <a:prstGeom prst="rect">
            <a:avLst/>
          </a:prstGeom>
          <a:noFill/>
          <a:ln/>
        </p:spPr>
        <p:txBody>
          <a:bodyPr wrap="square" lIns="0" tIns="63500" rIns="63500" bIns="0" rtlCol="0" anchor="ctr"/>
          <a:lstStyle/>
          <a:p>
            <a:pPr indent="0" marL="0">
              <a:spcAft>
                <a:spcPts val="300"/>
              </a:spcAft>
              <a:buNone/>
            </a:pPr>
            <a:r>
              <a:rPr lang="en-US" sz="950" dirty="0">
                <a:solidFill>
                  <a:srgbClr val="CBD5E1"/>
                </a:solidFill>
                <a:latin typeface="Calibri" pitchFamily="34" charset="0"/>
                <a:ea typeface="Calibri" pitchFamily="34" charset="-122"/>
                <a:cs typeface="Calibri" pitchFamily="34" charset="-120"/>
              </a:rPr>
              <a:t>●  Phê duyệt độc lập: Moderator chuyển APPROVED hoặc CHANGES_REQUESTED kèm ghi chú chi tiết, không dùng REJECTED.</a:t>
            </a:r>
            <a:endParaRPr lang="en-US" sz="950" dirty="0"/>
          </a:p>
          <a:p>
            <a:pPr indent="0" marL="0">
              <a:spcAft>
                <a:spcPts val="300"/>
              </a:spcAft>
              <a:buNone/>
            </a:pPr>
            <a:r>
              <a:rPr lang="en-US" sz="950" dirty="0">
                <a:solidFill>
                  <a:srgbClr val="CBD5E1"/>
                </a:solidFill>
                <a:latin typeface="Calibri" pitchFamily="34" charset="0"/>
                <a:ea typeface="Calibri" pitchFamily="34" charset="-122"/>
                <a:cs typeface="Calibri" pitchFamily="34" charset="-120"/>
              </a:rPr>
              <a:t>●  Quyền xuất bản: Org Manager là tác nhân thẩm quyền duy nhất thực hiện Publish sau khi học liệu đã Approved.</a:t>
            </a:r>
            <a:endParaRPr lang="en-US" sz="950" dirty="0"/>
          </a:p>
          <a:p>
            <a:pPr indent="0" marL="0">
              <a:spcAft>
                <a:spcPts val="300"/>
              </a:spcAft>
              <a:buNone/>
            </a:pPr>
            <a:r>
              <a:rPr lang="en-US" sz="950" dirty="0">
                <a:solidFill>
                  <a:srgbClr val="CBD5E1"/>
                </a:solidFill>
                <a:latin typeface="Calibri" pitchFamily="34" charset="0"/>
                <a:ea typeface="Calibri" pitchFamily="34" charset="-122"/>
                <a:cs typeface="Calibri" pitchFamily="34" charset="-120"/>
              </a:rPr>
              <a:t>●  Clone-to-Draft v2 &amp; Emergency: Sửa bài đã xuất bản tạo bản v2, bắt buộc Archive v1; Admin xuất bản có AuditLog.</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lIns="0" tIns="0" rIns="0" bIns="0" rtlCol="0" anchor="ctr"/>
          <a:lstStyle/>
          <a:p>
            <a:pPr indent="0" marL="0">
              <a:buNone/>
            </a:pPr>
            <a:r>
              <a:rPr lang="en-US" sz="1100" b="1" spc="200" kern="0" dirty="0">
                <a:solidFill>
                  <a:srgbClr val="3B82F6"/>
                </a:solidFill>
                <a:latin typeface="Calibri" pitchFamily="34" charset="0"/>
                <a:ea typeface="Calibri" pitchFamily="34" charset="-122"/>
                <a:cs typeface="Calibri" pitchFamily="34" charset="-120"/>
              </a:rPr>
              <a:t>MÔ HÌNH CẤU TRÚC</a:t>
            </a:r>
            <a:endParaRPr lang="en-US" sz="1100" dirty="0"/>
          </a:p>
        </p:txBody>
      </p:sp>
      <p:sp>
        <p:nvSpPr>
          <p:cNvPr id="3" name="Text 1"/>
          <p:cNvSpPr/>
          <p:nvPr/>
        </p:nvSpPr>
        <p:spPr>
          <a:xfrm>
            <a:off x="731520" y="658368"/>
            <a:ext cx="91440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Sơ Đồ Lớp — Cấu Trúc Nội Dung &amp; Khóa Học</a:t>
            </a:r>
            <a:endParaRPr lang="en-US" sz="2400" dirty="0"/>
          </a:p>
        </p:txBody>
      </p:sp>
      <p:sp>
        <p:nvSpPr>
          <p:cNvPr id="4" name="Text 2"/>
          <p:cNvSpPr/>
          <p:nvPr/>
        </p:nvSpPr>
        <p:spPr>
          <a:xfrm>
            <a:off x="10789920" y="411480"/>
            <a:ext cx="731520" cy="274320"/>
          </a:xfrm>
          <a:prstGeom prst="rect">
            <a:avLst/>
          </a:prstGeom>
          <a:noFill/>
          <a:ln/>
        </p:spPr>
        <p:txBody>
          <a:bodyPr wrap="square" lIns="0" tIns="0" rIns="0" bIns="0" rtlCol="0" anchor="ctr"/>
          <a:lstStyle/>
          <a:p>
            <a:pPr algn="r" indent="0" marL="0">
              <a:buNone/>
            </a:pPr>
            <a:r>
              <a:rPr lang="en-US" sz="1100" b="1" dirty="0">
                <a:solidFill>
                  <a:srgbClr val="64748B"/>
                </a:solidFill>
                <a:latin typeface="Calibri" pitchFamily="34" charset="0"/>
                <a:ea typeface="Calibri" pitchFamily="34" charset="-122"/>
                <a:cs typeface="Calibri" pitchFamily="34" charset="-120"/>
              </a:rPr>
              <a:t>10 / 12</a:t>
            </a:r>
            <a:endParaRPr lang="en-US" sz="1100" dirty="0"/>
          </a:p>
        </p:txBody>
      </p:sp>
      <p:sp>
        <p:nvSpPr>
          <p:cNvPr id="5" name="Shape 3"/>
          <p:cNvSpPr/>
          <p:nvPr/>
        </p:nvSpPr>
        <p:spPr>
          <a:xfrm>
            <a:off x="731520" y="1325880"/>
            <a:ext cx="7315200" cy="5074920"/>
          </a:xfrm>
          <a:prstGeom prst="roundRect">
            <a:avLst>
              <a:gd name="adj" fmla="val 1081"/>
            </a:avLst>
          </a:prstGeom>
          <a:solidFill>
            <a:srgbClr val="FFFFFF"/>
          </a:solidFill>
          <a:ln w="12700">
            <a:solidFill>
              <a:srgbClr val="333333"/>
            </a:solidFill>
            <a:prstDash val="solid"/>
          </a:ln>
          <a:effectLst>
            <a:outerShdw sx="100000" sy="100000" kx="0" ky="0" algn="bl" rotWithShape="0" blurRad="76200" dist="25400" dir="16200000">
              <a:srgbClr val="000000">
                <a:alpha val="6000"/>
              </a:srgbClr>
            </a:outerShdw>
          </a:effectLst>
        </p:spPr>
      </p:sp>
      <p:pic>
        <p:nvPicPr>
          <p:cNvPr id="6" name="Image 0" descr="preencoded.png">    </p:cNvPr>
          <p:cNvPicPr>
            <a:picLocks noChangeAspect="1"/>
          </p:cNvPicPr>
          <p:nvPr/>
        </p:nvPicPr>
        <p:blipFill>
          <a:blip r:embed="rId1"/>
          <a:srcRect l="0" r="0" t="0" b="0"/>
          <a:stretch/>
        </p:blipFill>
        <p:spPr>
          <a:xfrm>
            <a:off x="868680" y="1417320"/>
            <a:ext cx="7040880" cy="4892040"/>
          </a:xfrm>
          <a:prstGeom prst="rect">
            <a:avLst/>
          </a:prstGeom>
        </p:spPr>
      </p:pic>
      <p:sp>
        <p:nvSpPr>
          <p:cNvPr id="7" name="Shape 4"/>
          <p:cNvSpPr/>
          <p:nvPr/>
        </p:nvSpPr>
        <p:spPr>
          <a:xfrm>
            <a:off x="8275320" y="1325880"/>
            <a:ext cx="3182112" cy="5074920"/>
          </a:xfrm>
          <a:prstGeom prst="roundRect">
            <a:avLst>
              <a:gd name="adj" fmla="val 1724"/>
            </a:avLst>
          </a:prstGeom>
          <a:solidFill>
            <a:srgbClr val="FFFFFF"/>
          </a:solidFill>
          <a:ln w="12700">
            <a:solidFill>
              <a:srgbClr val="333333"/>
            </a:solidFill>
            <a:prstDash val="solid"/>
          </a:ln>
          <a:effectLst>
            <a:outerShdw sx="100000" sy="100000" kx="0" ky="0" algn="bl" rotWithShape="0" blurRad="76200" dist="25400" dir="16200000">
              <a:srgbClr val="000000">
                <a:alpha val="6000"/>
              </a:srgbClr>
            </a:outerShdw>
          </a:effectLst>
        </p:spPr>
      </p:sp>
      <p:sp>
        <p:nvSpPr>
          <p:cNvPr id="8" name="Text 5"/>
          <p:cNvSpPr/>
          <p:nvPr/>
        </p:nvSpPr>
        <p:spPr>
          <a:xfrm>
            <a:off x="8503920" y="1508760"/>
            <a:ext cx="2743200" cy="320040"/>
          </a:xfrm>
          <a:prstGeom prst="rect">
            <a:avLst/>
          </a:prstGeom>
          <a:noFill/>
          <a:ln/>
        </p:spPr>
        <p:txBody>
          <a:bodyPr wrap="square" lIns="0" tIns="0" rIns="0" bIns="0" rtlCol="0" anchor="ctr"/>
          <a:lstStyle/>
          <a:p>
            <a:pPr indent="0" marL="0">
              <a:buNone/>
            </a:pPr>
            <a:r>
              <a:rPr lang="en-US" sz="1100" b="1" spc="100" kern="0" dirty="0">
                <a:solidFill>
                  <a:srgbClr val="3B82F6"/>
                </a:solidFill>
                <a:latin typeface="Calibri" pitchFamily="34" charset="0"/>
                <a:ea typeface="Calibri" pitchFamily="34" charset="-122"/>
                <a:cs typeface="Calibri" pitchFamily="34" charset="-120"/>
              </a:rPr>
              <a:t>ĐẶC TẢ LỚP NỘI DUNG</a:t>
            </a:r>
            <a:endParaRPr lang="en-US" sz="1100" dirty="0"/>
          </a:p>
        </p:txBody>
      </p:sp>
      <p:sp>
        <p:nvSpPr>
          <p:cNvPr id="9" name="Text 6"/>
          <p:cNvSpPr/>
          <p:nvPr/>
        </p:nvSpPr>
        <p:spPr>
          <a:xfrm>
            <a:off x="8503920" y="1920240"/>
            <a:ext cx="2743200"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  CURRENT vs TARGET</a:t>
            </a:r>
            <a:endParaRPr lang="en-US" sz="1050" dirty="0"/>
          </a:p>
        </p:txBody>
      </p:sp>
      <p:sp>
        <p:nvSpPr>
          <p:cNvPr id="10" name="Text 7"/>
          <p:cNvSpPr/>
          <p:nvPr/>
        </p:nvSpPr>
        <p:spPr>
          <a:xfrm>
            <a:off x="8732520" y="2176272"/>
            <a:ext cx="2514600" cy="5943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Nét liền cho thực thể CURRENT (schema.prisma) và nét đứt cho TARGET (Phase 2).</a:t>
            </a:r>
            <a:endParaRPr lang="en-US" sz="950" dirty="0"/>
          </a:p>
        </p:txBody>
      </p:sp>
      <p:sp>
        <p:nvSpPr>
          <p:cNvPr id="11" name="Text 8"/>
          <p:cNvSpPr/>
          <p:nvPr/>
        </p:nvSpPr>
        <p:spPr>
          <a:xfrm>
            <a:off x="8503920" y="2834640"/>
            <a:ext cx="2743200"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  Vòng đời 6 trạng thái</a:t>
            </a:r>
            <a:endParaRPr lang="en-US" sz="1050" dirty="0"/>
          </a:p>
        </p:txBody>
      </p:sp>
      <p:sp>
        <p:nvSpPr>
          <p:cNvPr id="12" name="Text 9"/>
          <p:cNvSpPr/>
          <p:nvPr/>
        </p:nvSpPr>
        <p:spPr>
          <a:xfrm>
            <a:off x="8732520" y="3090672"/>
            <a:ext cx="2514600" cy="5943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LessonRevision quản lý: DRAFT, IN_REVIEW, CHANGES_REQUESTED, APPROVED, PUBLISHED, ARCHIVED.</a:t>
            </a:r>
            <a:endParaRPr lang="en-US" sz="950" dirty="0"/>
          </a:p>
        </p:txBody>
      </p:sp>
      <p:sp>
        <p:nvSpPr>
          <p:cNvPr id="13" name="Text 10"/>
          <p:cNvSpPr/>
          <p:nvPr/>
        </p:nvSpPr>
        <p:spPr>
          <a:xfrm>
            <a:off x="8503920" y="3749040"/>
            <a:ext cx="2743200"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  Exercise thuộc Revision</a:t>
            </a:r>
            <a:endParaRPr lang="en-US" sz="1050" dirty="0"/>
          </a:p>
        </p:txBody>
      </p:sp>
      <p:sp>
        <p:nvSpPr>
          <p:cNvPr id="14" name="Text 11"/>
          <p:cNvSpPr/>
          <p:nvPr/>
        </p:nvSpPr>
        <p:spPr>
          <a:xfrm>
            <a:off x="8732520" y="4005072"/>
            <a:ext cx="2514600" cy="5943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Exercise liên kết trực tiếp với LessonRevision; khóa ngoại cũ giữ nhãn [CURRENT].</a:t>
            </a:r>
            <a:endParaRPr lang="en-US" sz="950" dirty="0"/>
          </a:p>
        </p:txBody>
      </p:sp>
      <p:sp>
        <p:nvSpPr>
          <p:cNvPr id="15" name="Text 12"/>
          <p:cNvSpPr/>
          <p:nvPr/>
        </p:nvSpPr>
        <p:spPr>
          <a:xfrm>
            <a:off x="8503920" y="4663440"/>
            <a:ext cx="2743200"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  Ràng buộc hiển thị Unit</a:t>
            </a:r>
            <a:endParaRPr lang="en-US" sz="1050" dirty="0"/>
          </a:p>
        </p:txBody>
      </p:sp>
      <p:sp>
        <p:nvSpPr>
          <p:cNvPr id="16" name="Text 13"/>
          <p:cNvSpPr/>
          <p:nvPr/>
        </p:nvSpPr>
        <p:spPr>
          <a:xfrm>
            <a:off x="8732520" y="4919472"/>
            <a:ext cx="2514600" cy="5943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Unit chỉ hiển thị khi đủ 4/4 Lesson Published, đảm bảo tính trọn vẹn chương trình.</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lIns="0" tIns="0" rIns="0" bIns="0" rtlCol="0" anchor="ctr"/>
          <a:lstStyle/>
          <a:p>
            <a:pPr indent="0" marL="0">
              <a:buNone/>
            </a:pPr>
            <a:r>
              <a:rPr lang="en-US" sz="1100" b="1" spc="200" kern="0" dirty="0">
                <a:solidFill>
                  <a:srgbClr val="3B82F6"/>
                </a:solidFill>
                <a:latin typeface="Calibri" pitchFamily="34" charset="0"/>
                <a:ea typeface="Calibri" pitchFamily="34" charset="-122"/>
                <a:cs typeface="Calibri" pitchFamily="34" charset="-120"/>
              </a:rPr>
              <a:t>MÔ HÌNH HỌC VIÊN</a:t>
            </a:r>
            <a:endParaRPr lang="en-US" sz="1100" dirty="0"/>
          </a:p>
        </p:txBody>
      </p:sp>
      <p:sp>
        <p:nvSpPr>
          <p:cNvPr id="3" name="Text 1"/>
          <p:cNvSpPr/>
          <p:nvPr/>
        </p:nvSpPr>
        <p:spPr>
          <a:xfrm>
            <a:off x="731520" y="658368"/>
            <a:ext cx="91440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Sơ Đồ Lớp — Học Viên, Đánh Giá &amp; Tiến Độ</a:t>
            </a:r>
            <a:endParaRPr lang="en-US" sz="2400" dirty="0"/>
          </a:p>
        </p:txBody>
      </p:sp>
      <p:sp>
        <p:nvSpPr>
          <p:cNvPr id="4" name="Text 2"/>
          <p:cNvSpPr/>
          <p:nvPr/>
        </p:nvSpPr>
        <p:spPr>
          <a:xfrm>
            <a:off x="10789920" y="411480"/>
            <a:ext cx="731520" cy="274320"/>
          </a:xfrm>
          <a:prstGeom prst="rect">
            <a:avLst/>
          </a:prstGeom>
          <a:noFill/>
          <a:ln/>
        </p:spPr>
        <p:txBody>
          <a:bodyPr wrap="square" lIns="0" tIns="0" rIns="0" bIns="0" rtlCol="0" anchor="ctr"/>
          <a:lstStyle/>
          <a:p>
            <a:pPr algn="r" indent="0" marL="0">
              <a:buNone/>
            </a:pPr>
            <a:r>
              <a:rPr lang="en-US" sz="1100" b="1" dirty="0">
                <a:solidFill>
                  <a:srgbClr val="64748B"/>
                </a:solidFill>
                <a:latin typeface="Calibri" pitchFamily="34" charset="0"/>
                <a:ea typeface="Calibri" pitchFamily="34" charset="-122"/>
                <a:cs typeface="Calibri" pitchFamily="34" charset="-120"/>
              </a:rPr>
              <a:t>11 / 12</a:t>
            </a:r>
            <a:endParaRPr lang="en-US" sz="1100" dirty="0"/>
          </a:p>
        </p:txBody>
      </p:sp>
      <p:sp>
        <p:nvSpPr>
          <p:cNvPr id="5" name="Shape 3"/>
          <p:cNvSpPr/>
          <p:nvPr/>
        </p:nvSpPr>
        <p:spPr>
          <a:xfrm>
            <a:off x="731520" y="1325880"/>
            <a:ext cx="7315200" cy="5074920"/>
          </a:xfrm>
          <a:prstGeom prst="roundRect">
            <a:avLst>
              <a:gd name="adj" fmla="val 1081"/>
            </a:avLst>
          </a:prstGeom>
          <a:solidFill>
            <a:srgbClr val="FFFFFF"/>
          </a:solidFill>
          <a:ln w="12700">
            <a:solidFill>
              <a:srgbClr val="333333"/>
            </a:solidFill>
            <a:prstDash val="solid"/>
          </a:ln>
          <a:effectLst>
            <a:outerShdw sx="100000" sy="100000" kx="0" ky="0" algn="bl" rotWithShape="0" blurRad="76200" dist="25400" dir="16200000">
              <a:srgbClr val="000000">
                <a:alpha val="6000"/>
              </a:srgbClr>
            </a:outerShdw>
          </a:effectLst>
        </p:spPr>
      </p:sp>
      <p:pic>
        <p:nvPicPr>
          <p:cNvPr id="6" name="Image 0" descr="preencoded.png">    </p:cNvPr>
          <p:cNvPicPr>
            <a:picLocks noChangeAspect="1"/>
          </p:cNvPicPr>
          <p:nvPr/>
        </p:nvPicPr>
        <p:blipFill>
          <a:blip r:embed="rId1"/>
          <a:srcRect l="0" r="0" t="0" b="0"/>
          <a:stretch/>
        </p:blipFill>
        <p:spPr>
          <a:xfrm>
            <a:off x="868680" y="1417320"/>
            <a:ext cx="7040880" cy="4892040"/>
          </a:xfrm>
          <a:prstGeom prst="rect">
            <a:avLst/>
          </a:prstGeom>
        </p:spPr>
      </p:pic>
      <p:sp>
        <p:nvSpPr>
          <p:cNvPr id="7" name="Shape 4"/>
          <p:cNvSpPr/>
          <p:nvPr/>
        </p:nvSpPr>
        <p:spPr>
          <a:xfrm>
            <a:off x="8275320" y="1325880"/>
            <a:ext cx="3182112" cy="5074920"/>
          </a:xfrm>
          <a:prstGeom prst="roundRect">
            <a:avLst>
              <a:gd name="adj" fmla="val 1724"/>
            </a:avLst>
          </a:prstGeom>
          <a:solidFill>
            <a:srgbClr val="FFFFFF"/>
          </a:solidFill>
          <a:ln w="12700">
            <a:solidFill>
              <a:srgbClr val="333333"/>
            </a:solidFill>
            <a:prstDash val="solid"/>
          </a:ln>
          <a:effectLst>
            <a:outerShdw sx="100000" sy="100000" kx="0" ky="0" algn="bl" rotWithShape="0" blurRad="76200" dist="25400" dir="16200000">
              <a:srgbClr val="000000">
                <a:alpha val="6000"/>
              </a:srgbClr>
            </a:outerShdw>
          </a:effectLst>
        </p:spPr>
      </p:sp>
      <p:sp>
        <p:nvSpPr>
          <p:cNvPr id="8" name="Text 5"/>
          <p:cNvSpPr/>
          <p:nvPr/>
        </p:nvSpPr>
        <p:spPr>
          <a:xfrm>
            <a:off x="8503920" y="1508760"/>
            <a:ext cx="2743200" cy="320040"/>
          </a:xfrm>
          <a:prstGeom prst="rect">
            <a:avLst/>
          </a:prstGeom>
          <a:noFill/>
          <a:ln/>
        </p:spPr>
        <p:txBody>
          <a:bodyPr wrap="square" lIns="0" tIns="0" rIns="0" bIns="0" rtlCol="0" anchor="ctr"/>
          <a:lstStyle/>
          <a:p>
            <a:pPr indent="0" marL="0">
              <a:buNone/>
            </a:pPr>
            <a:r>
              <a:rPr lang="en-US" sz="1100" b="1" spc="100" kern="0" dirty="0">
                <a:solidFill>
                  <a:srgbClr val="3B82F6"/>
                </a:solidFill>
                <a:latin typeface="Calibri" pitchFamily="34" charset="0"/>
                <a:ea typeface="Calibri" pitchFamily="34" charset="-122"/>
                <a:cs typeface="Calibri" pitchFamily="34" charset="-120"/>
              </a:rPr>
              <a:t>BẤT BIẾN DỮ LIỆU HỌC VIÊN</a:t>
            </a:r>
            <a:endParaRPr lang="en-US" sz="1100" dirty="0"/>
          </a:p>
        </p:txBody>
      </p:sp>
      <p:sp>
        <p:nvSpPr>
          <p:cNvPr id="9" name="Text 6"/>
          <p:cNvSpPr/>
          <p:nvPr/>
        </p:nvSpPr>
        <p:spPr>
          <a:xfrm>
            <a:off x="8503920" y="1920240"/>
            <a:ext cx="2743200"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  Tiến độ ≠ Năng lực</a:t>
            </a:r>
            <a:endParaRPr lang="en-US" sz="1050" dirty="0"/>
          </a:p>
        </p:txBody>
      </p:sp>
      <p:sp>
        <p:nvSpPr>
          <p:cNvPr id="10" name="Text 7"/>
          <p:cNvSpPr/>
          <p:nvPr/>
        </p:nvSpPr>
        <p:spPr>
          <a:xfrm>
            <a:off x="8732520" y="2176272"/>
            <a:ext cx="2514600" cy="5943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Tách bạch UserProgress (tiến độ tuyến tính) khỏi SkillProfile (năng lực đa chiều qua AssessmentResult).</a:t>
            </a:r>
            <a:endParaRPr lang="en-US" sz="950" dirty="0"/>
          </a:p>
        </p:txBody>
      </p:sp>
      <p:sp>
        <p:nvSpPr>
          <p:cNvPr id="11" name="Text 8"/>
          <p:cNvSpPr/>
          <p:nvPr/>
        </p:nvSpPr>
        <p:spPr>
          <a:xfrm>
            <a:off x="8503920" y="2834640"/>
            <a:ext cx="2743200"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  SRS tất định Policy B</a:t>
            </a:r>
            <a:endParaRPr lang="en-US" sz="1050" dirty="0"/>
          </a:p>
        </p:txBody>
      </p:sp>
      <p:sp>
        <p:nvSpPr>
          <p:cNvPr id="12" name="Text 9"/>
          <p:cNvSpPr/>
          <p:nvPr/>
        </p:nvSpPr>
        <p:spPr>
          <a:xfrm>
            <a:off x="8732520" y="3090672"/>
            <a:ext cx="2514600" cy="5943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UserVocabSrs thực thi chu kỳ ngày cố định 1, 3, 7, 14, 30 ngày; sai lập tức reset về mốc 1 ngày.</a:t>
            </a:r>
            <a:endParaRPr lang="en-US" sz="950" dirty="0"/>
          </a:p>
        </p:txBody>
      </p:sp>
      <p:sp>
        <p:nvSpPr>
          <p:cNvPr id="13" name="Text 10"/>
          <p:cNvSpPr/>
          <p:nvPr/>
        </p:nvSpPr>
        <p:spPr>
          <a:xfrm>
            <a:off x="8503920" y="3749040"/>
            <a:ext cx="2743200"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  Ghi chú trạng thái State</a:t>
            </a:r>
            <a:endParaRPr lang="en-US" sz="1050" dirty="0"/>
          </a:p>
        </p:txBody>
      </p:sp>
      <p:sp>
        <p:nvSpPr>
          <p:cNvPr id="14" name="Text 11"/>
          <p:cNvSpPr/>
          <p:nvPr/>
        </p:nvSpPr>
        <p:spPr>
          <a:xfrm>
            <a:off x="8732520" y="4005072"/>
            <a:ext cx="2514600" cy="5943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Retry usage và Jump cooldown 24h được mô hình hóa dưới dạng ghi chú logic gắn UserProgress.</a:t>
            </a:r>
            <a:endParaRPr lang="en-US" sz="950" dirty="0"/>
          </a:p>
        </p:txBody>
      </p:sp>
      <p:sp>
        <p:nvSpPr>
          <p:cNvPr id="15" name="Text 12"/>
          <p:cNvSpPr/>
          <p:nvPr/>
        </p:nvSpPr>
        <p:spPr>
          <a:xfrm>
            <a:off x="8503920" y="4663440"/>
            <a:ext cx="2743200"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  Kiểm toán an ninh</a:t>
            </a:r>
            <a:endParaRPr lang="en-US" sz="1050" dirty="0"/>
          </a:p>
        </p:txBody>
      </p:sp>
      <p:sp>
        <p:nvSpPr>
          <p:cNvPr id="16" name="Text 13"/>
          <p:cNvSpPr/>
          <p:nvPr/>
        </p:nvSpPr>
        <p:spPr>
          <a:xfrm>
            <a:off x="8732520" y="4919472"/>
            <a:ext cx="2514600" cy="5943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Mọi thay đổi vai trò hay can thiệp đặc quyền đều tạo bản ghi bất biến trong AuditLog.</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lIns="0" tIns="0" rIns="0" bIns="0" rtlCol="0" anchor="ctr"/>
          <a:lstStyle/>
          <a:p>
            <a:pPr indent="0" marL="0">
              <a:buNone/>
            </a:pPr>
            <a:r>
              <a:rPr lang="en-US" sz="1100" b="1" spc="200" kern="0" dirty="0">
                <a:solidFill>
                  <a:srgbClr val="3B82F6"/>
                </a:solidFill>
                <a:latin typeface="Calibri" pitchFamily="34" charset="0"/>
                <a:ea typeface="Calibri" pitchFamily="34" charset="-122"/>
                <a:cs typeface="Calibri" pitchFamily="34" charset="-120"/>
              </a:rPr>
              <a:t>TRUY VẾT YÊU CẦU</a:t>
            </a:r>
            <a:endParaRPr lang="en-US" sz="1100" dirty="0"/>
          </a:p>
        </p:txBody>
      </p:sp>
      <p:sp>
        <p:nvSpPr>
          <p:cNvPr id="3" name="Text 1"/>
          <p:cNvSpPr/>
          <p:nvPr/>
        </p:nvSpPr>
        <p:spPr>
          <a:xfrm>
            <a:off x="731520" y="658368"/>
            <a:ext cx="91440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Ma Trận Truy Vết Nghiệp Vụ Toàn Diện (Traceability Matrix)</a:t>
            </a:r>
            <a:endParaRPr lang="en-US" sz="2400" dirty="0"/>
          </a:p>
        </p:txBody>
      </p:sp>
      <p:sp>
        <p:nvSpPr>
          <p:cNvPr id="4" name="Text 2"/>
          <p:cNvSpPr/>
          <p:nvPr/>
        </p:nvSpPr>
        <p:spPr>
          <a:xfrm>
            <a:off x="10789920" y="411480"/>
            <a:ext cx="731520" cy="274320"/>
          </a:xfrm>
          <a:prstGeom prst="rect">
            <a:avLst/>
          </a:prstGeom>
          <a:noFill/>
          <a:ln/>
        </p:spPr>
        <p:txBody>
          <a:bodyPr wrap="square" lIns="0" tIns="0" rIns="0" bIns="0" rtlCol="0" anchor="ctr"/>
          <a:lstStyle/>
          <a:p>
            <a:pPr algn="r" indent="0" marL="0">
              <a:buNone/>
            </a:pPr>
            <a:r>
              <a:rPr lang="en-US" sz="1100" b="1" dirty="0">
                <a:solidFill>
                  <a:srgbClr val="64748B"/>
                </a:solidFill>
                <a:latin typeface="Calibri" pitchFamily="34" charset="0"/>
                <a:ea typeface="Calibri" pitchFamily="34" charset="-122"/>
                <a:cs typeface="Calibri" pitchFamily="34" charset="-120"/>
              </a:rPr>
              <a:t>12 / 12</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94360" y="1261872"/>
          <a:ext cx="10972800" cy="914400"/>
        </p:xfrm>
        <a:graphic>
          <a:graphicData uri="http://schemas.openxmlformats.org/drawingml/2006/table">
            <a:tbl>
              <a:tblPr/>
              <a:tblGrid>
                <a:gridCol w="777240"/>
                <a:gridCol w="3017520"/>
                <a:gridCol w="1920240"/>
                <a:gridCol w="2496312"/>
                <a:gridCol w="1965960"/>
              </a:tblGrid>
              <a:tr h="27432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UC ID</a:t>
                      </a:r>
                      <a:endParaRPr lang="en-US" sz="1000" dirty="0">
                        <a:latin typeface="Calibri" charset="0"/>
                        <a:ea typeface="Calibri" charset="0"/>
                        <a:cs typeface="Calibri" charset="0"/>
                      </a:endParaRPr>
                    </a:p>
                  </a:txBody>
                  <a:tcPr marL="63500" marR="63500" marT="38100" marB="38100">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Tên Ca Sử Dụng Chuẩn Tắc</a:t>
                      </a:r>
                      <a:endParaRPr lang="en-US" sz="1000" dirty="0">
                        <a:latin typeface="Calibri" charset="0"/>
                        <a:ea typeface="Calibri" charset="0"/>
                        <a:cs typeface="Calibri" charset="0"/>
                      </a:endParaRPr>
                    </a:p>
                  </a:txBody>
                  <a:tcPr marL="63500" marR="63500" marT="38100" marB="38100">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Sơ Đồ Hoạt Động</a:t>
                      </a:r>
                      <a:endParaRPr lang="en-US" sz="1000" dirty="0">
                        <a:latin typeface="Calibri" charset="0"/>
                        <a:ea typeface="Calibri" charset="0"/>
                        <a:cs typeface="Calibri" charset="0"/>
                      </a:endParaRPr>
                    </a:p>
                  </a:txBody>
                  <a:tcPr marL="63500" marR="63500" marT="38100" marB="38100">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Lớp Dữ Liệu</a:t>
                      </a:r>
                      <a:endParaRPr lang="en-US" sz="1000" dirty="0">
                        <a:latin typeface="Calibri" charset="0"/>
                        <a:ea typeface="Calibri" charset="0"/>
                        <a:cs typeface="Calibri" charset="0"/>
                      </a:endParaRPr>
                    </a:p>
                  </a:txBody>
                  <a:tcPr marL="63500" marR="63500" marT="38100" marB="38100">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Phạm Vi Triển Khai</a:t>
                      </a:r>
                      <a:endParaRPr lang="en-US" sz="1000" dirty="0">
                        <a:latin typeface="Calibri" charset="0"/>
                        <a:ea typeface="Calibri" charset="0"/>
                        <a:cs typeface="Calibri" charset="0"/>
                      </a:endParaRPr>
                    </a:p>
                  </a:txBody>
                  <a:tcPr marL="63500" marR="63500" marT="38100" marB="38100">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r>
              <a:tr h="274320">
                <a:tc>
                  <a:txBody>
                    <a:bodyPr/>
                    <a:lstStyle/>
                    <a:p>
                      <a:pPr algn="ctr" indent="0" marL="0">
                        <a:buNone/>
                      </a:pPr>
                      <a:r>
                        <a:rPr lang="en-US" sz="950" b="1" dirty="0">
                          <a:solidFill>
                            <a:srgbClr val="3B82F6"/>
                          </a:solidFill>
                          <a:latin typeface="Calibri" pitchFamily="34" charset="0"/>
                          <a:ea typeface="Calibri" pitchFamily="34" charset="-122"/>
                          <a:cs typeface="Calibri" pitchFamily="34" charset="-120"/>
                        </a:rPr>
                        <a:t>UC-01</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Authenticate &amp; Manage Session</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Profile, Role</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0B981"/>
                          </a:solidFill>
                          <a:latin typeface="Calibri" pitchFamily="34" charset="0"/>
                          <a:ea typeface="Calibri" pitchFamily="34" charset="-122"/>
                          <a:cs typeface="Calibri" pitchFamily="34" charset="-120"/>
                        </a:rPr>
                        <a:t>CORE (Phase 2 MVP)</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74320">
                <a:tc>
                  <a:txBody>
                    <a:bodyPr/>
                    <a:lstStyle/>
                    <a:p>
                      <a:pPr algn="ctr" indent="0" marL="0">
                        <a:buNone/>
                      </a:pPr>
                      <a:r>
                        <a:rPr lang="en-US" sz="950" b="1" dirty="0">
                          <a:solidFill>
                            <a:srgbClr val="3B82F6"/>
                          </a:solidFill>
                          <a:latin typeface="Calibri" pitchFamily="34" charset="0"/>
                          <a:ea typeface="Calibri" pitchFamily="34" charset="-122"/>
                          <a:cs typeface="Calibri" pitchFamily="34" charset="-120"/>
                        </a:rPr>
                        <a:t>UC-02</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Configure Goals &amp; Study Time</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Profile</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10B981"/>
                          </a:solidFill>
                          <a:latin typeface="Calibri" pitchFamily="34" charset="0"/>
                          <a:ea typeface="Calibri" pitchFamily="34" charset="-122"/>
                          <a:cs typeface="Calibri" pitchFamily="34" charset="-120"/>
                        </a:rPr>
                        <a:t>CORE (Phase 2 MVP)</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274320">
                <a:tc>
                  <a:txBody>
                    <a:bodyPr/>
                    <a:lstStyle/>
                    <a:p>
                      <a:pPr algn="ctr" indent="0" marL="0">
                        <a:buNone/>
                      </a:pPr>
                      <a:r>
                        <a:rPr lang="en-US" sz="950" b="1" dirty="0">
                          <a:solidFill>
                            <a:srgbClr val="3B82F6"/>
                          </a:solidFill>
                          <a:latin typeface="Calibri" pitchFamily="34" charset="0"/>
                          <a:ea typeface="Calibri" pitchFamily="34" charset="-122"/>
                          <a:cs typeface="Calibri" pitchFamily="34" charset="-120"/>
                        </a:rPr>
                        <a:t>UC-03</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Take Placement Test</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b="1" dirty="0">
                          <a:solidFill>
                            <a:srgbClr val="10B981"/>
                          </a:solidFill>
                          <a:latin typeface="Calibri" pitchFamily="34" charset="0"/>
                          <a:ea typeface="Calibri" pitchFamily="34" charset="-122"/>
                          <a:cs typeface="Calibri" pitchFamily="34" charset="-120"/>
                        </a:rPr>
                        <a:t>Slide 6</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AssessmentResult, SkillProfile</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0B981"/>
                          </a:solidFill>
                          <a:latin typeface="Calibri" pitchFamily="34" charset="0"/>
                          <a:ea typeface="Calibri" pitchFamily="34" charset="-122"/>
                          <a:cs typeface="Calibri" pitchFamily="34" charset="-120"/>
                        </a:rPr>
                        <a:t>CORE (Phase 2 MVP)</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74320">
                <a:tc>
                  <a:txBody>
                    <a:bodyPr/>
                    <a:lstStyle/>
                    <a:p>
                      <a:pPr algn="ctr" indent="0" marL="0">
                        <a:buNone/>
                      </a:pPr>
                      <a:r>
                        <a:rPr lang="en-US" sz="950" b="1" dirty="0">
                          <a:solidFill>
                            <a:srgbClr val="3B82F6"/>
                          </a:solidFill>
                          <a:latin typeface="Calibri" pitchFamily="34" charset="0"/>
                          <a:ea typeface="Calibri" pitchFamily="34" charset="-122"/>
                          <a:cs typeface="Calibri" pitchFamily="34" charset="-120"/>
                        </a:rPr>
                        <a:t>UC-04</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Browse Learning Path &amp; Conditional Jump</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b="1" dirty="0">
                          <a:solidFill>
                            <a:srgbClr val="10B981"/>
                          </a:solidFill>
                          <a:latin typeface="Calibri" pitchFamily="34" charset="0"/>
                          <a:ea typeface="Calibri" pitchFamily="34" charset="-122"/>
                          <a:cs typeface="Calibri" pitchFamily="34" charset="-120"/>
                        </a:rPr>
                        <a:t>Slide 8</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Course, Unit, Lesson, UserProgress</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10B981"/>
                          </a:solidFill>
                          <a:latin typeface="Calibri" pitchFamily="34" charset="0"/>
                          <a:ea typeface="Calibri" pitchFamily="34" charset="-122"/>
                          <a:cs typeface="Calibri" pitchFamily="34" charset="-120"/>
                        </a:rPr>
                        <a:t>CORE (Phase 2 MVP)</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274320">
                <a:tc>
                  <a:txBody>
                    <a:bodyPr/>
                    <a:lstStyle/>
                    <a:p>
                      <a:pPr algn="ctr" indent="0" marL="0">
                        <a:buNone/>
                      </a:pPr>
                      <a:r>
                        <a:rPr lang="en-US" sz="950" b="1" dirty="0">
                          <a:solidFill>
                            <a:srgbClr val="3B82F6"/>
                          </a:solidFill>
                          <a:latin typeface="Calibri" pitchFamily="34" charset="0"/>
                          <a:ea typeface="Calibri" pitchFamily="34" charset="-122"/>
                          <a:cs typeface="Calibri" pitchFamily="34" charset="-120"/>
                        </a:rPr>
                        <a:t>UC-05</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Complete Lesson Exercises &amp; Controlled Retry</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b="1" dirty="0">
                          <a:solidFill>
                            <a:srgbClr val="10B981"/>
                          </a:solidFill>
                          <a:latin typeface="Calibri" pitchFamily="34" charset="0"/>
                          <a:ea typeface="Calibri" pitchFamily="34" charset="-122"/>
                          <a:cs typeface="Calibri" pitchFamily="34" charset="-120"/>
                        </a:rPr>
                        <a:t>Slide 7</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Lesson, Exercise, UserProgress</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0B981"/>
                          </a:solidFill>
                          <a:latin typeface="Calibri" pitchFamily="34" charset="0"/>
                          <a:ea typeface="Calibri" pitchFamily="34" charset="-122"/>
                          <a:cs typeface="Calibri" pitchFamily="34" charset="-120"/>
                        </a:rPr>
                        <a:t>CORE (Phase 2 MVP)</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74320">
                <a:tc>
                  <a:txBody>
                    <a:bodyPr/>
                    <a:lstStyle/>
                    <a:p>
                      <a:pPr algn="ctr" indent="0" marL="0">
                        <a:buNone/>
                      </a:pPr>
                      <a:r>
                        <a:rPr lang="en-US" sz="950" b="1" dirty="0">
                          <a:solidFill>
                            <a:srgbClr val="3B82F6"/>
                          </a:solidFill>
                          <a:latin typeface="Calibri" pitchFamily="34" charset="0"/>
                          <a:ea typeface="Calibri" pitchFamily="34" charset="-122"/>
                          <a:cs typeface="Calibri" pitchFamily="34" charset="-120"/>
                        </a:rPr>
                        <a:t>UC-06</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Spaced Repetition Review (SRS)</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Vocabulary, UserVocabSrs, ReviewLog</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10B981"/>
                          </a:solidFill>
                          <a:latin typeface="Calibri" pitchFamily="34" charset="0"/>
                          <a:ea typeface="Calibri" pitchFamily="34" charset="-122"/>
                          <a:cs typeface="Calibri" pitchFamily="34" charset="-120"/>
                        </a:rPr>
                        <a:t>CORE (Phase 2 MVP)</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274320">
                <a:tc>
                  <a:txBody>
                    <a:bodyPr/>
                    <a:lstStyle/>
                    <a:p>
                      <a:pPr algn="ctr" indent="0" marL="0">
                        <a:buNone/>
                      </a:pPr>
                      <a:r>
                        <a:rPr lang="en-US" sz="950" b="1" dirty="0">
                          <a:solidFill>
                            <a:srgbClr val="3B82F6"/>
                          </a:solidFill>
                          <a:latin typeface="Calibri" pitchFamily="34" charset="0"/>
                          <a:ea typeface="Calibri" pitchFamily="34" charset="-122"/>
                          <a:cs typeface="Calibri" pitchFamily="34" charset="-120"/>
                        </a:rPr>
                        <a:t>UC-07</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Track Progress, Mastery &amp; Streak</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b="1" dirty="0">
                          <a:solidFill>
                            <a:srgbClr val="10B981"/>
                          </a:solidFill>
                          <a:latin typeface="Calibri" pitchFamily="34" charset="0"/>
                          <a:ea typeface="Calibri" pitchFamily="34" charset="-122"/>
                          <a:cs typeface="Calibri" pitchFamily="34" charset="-120"/>
                        </a:rPr>
                        <a:t>Slide 7</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Profile, UserProgress</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0B981"/>
                          </a:solidFill>
                          <a:latin typeface="Calibri" pitchFamily="34" charset="0"/>
                          <a:ea typeface="Calibri" pitchFamily="34" charset="-122"/>
                          <a:cs typeface="Calibri" pitchFamily="34" charset="-120"/>
                        </a:rPr>
                        <a:t>CORE (Phase 2 MVP)</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74320">
                <a:tc>
                  <a:txBody>
                    <a:bodyPr/>
                    <a:lstStyle/>
                    <a:p>
                      <a:pPr algn="ctr" indent="0" marL="0">
                        <a:buNone/>
                      </a:pPr>
                      <a:r>
                        <a:rPr lang="en-US" sz="950" b="1" dirty="0">
                          <a:solidFill>
                            <a:srgbClr val="3B82F6"/>
                          </a:solidFill>
                          <a:latin typeface="Calibri" pitchFamily="34" charset="0"/>
                          <a:ea typeface="Calibri" pitchFamily="34" charset="-122"/>
                          <a:cs typeface="Calibri" pitchFamily="34" charset="-120"/>
                        </a:rPr>
                        <a:t>UC-08</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Create &amp; Edit Lesson Draft</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b="1" dirty="0">
                          <a:solidFill>
                            <a:srgbClr val="10B981"/>
                          </a:solidFill>
                          <a:latin typeface="Calibri" pitchFamily="34" charset="0"/>
                          <a:ea typeface="Calibri" pitchFamily="34" charset="-122"/>
                          <a:cs typeface="Calibri" pitchFamily="34" charset="-120"/>
                        </a:rPr>
                        <a:t>Slide 9</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Lesson, LessonRevision, Exercise</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10B981"/>
                          </a:solidFill>
                          <a:latin typeface="Calibri" pitchFamily="34" charset="0"/>
                          <a:ea typeface="Calibri" pitchFamily="34" charset="-122"/>
                          <a:cs typeface="Calibri" pitchFamily="34" charset="-120"/>
                        </a:rPr>
                        <a:t>CORE (Phase 2 MVP)</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274320">
                <a:tc>
                  <a:txBody>
                    <a:bodyPr/>
                    <a:lstStyle/>
                    <a:p>
                      <a:pPr algn="ctr" indent="0" marL="0">
                        <a:buNone/>
                      </a:pPr>
                      <a:r>
                        <a:rPr lang="en-US" sz="950" b="1" dirty="0">
                          <a:solidFill>
                            <a:srgbClr val="3B82F6"/>
                          </a:solidFill>
                          <a:latin typeface="Calibri" pitchFamily="34" charset="0"/>
                          <a:ea typeface="Calibri" pitchFamily="34" charset="-122"/>
                          <a:cs typeface="Calibri" pitchFamily="34" charset="-120"/>
                        </a:rPr>
                        <a:t>UC-09</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Review &amp; Moderate Content</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b="1" dirty="0">
                          <a:solidFill>
                            <a:srgbClr val="10B981"/>
                          </a:solidFill>
                          <a:latin typeface="Calibri" pitchFamily="34" charset="0"/>
                          <a:ea typeface="Calibri" pitchFamily="34" charset="-122"/>
                          <a:cs typeface="Calibri" pitchFamily="34" charset="-120"/>
                        </a:rPr>
                        <a:t>Slide 9</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LessonRevision, AuditLog</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0B981"/>
                          </a:solidFill>
                          <a:latin typeface="Calibri" pitchFamily="34" charset="0"/>
                          <a:ea typeface="Calibri" pitchFamily="34" charset="-122"/>
                          <a:cs typeface="Calibri" pitchFamily="34" charset="-120"/>
                        </a:rPr>
                        <a:t>CORE (Phase 2 MVP)</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74320">
                <a:tc>
                  <a:txBody>
                    <a:bodyPr/>
                    <a:lstStyle/>
                    <a:p>
                      <a:pPr algn="ctr" indent="0" marL="0">
                        <a:buNone/>
                      </a:pPr>
                      <a:r>
                        <a:rPr lang="en-US" sz="950" b="1" dirty="0">
                          <a:solidFill>
                            <a:srgbClr val="3B82F6"/>
                          </a:solidFill>
                          <a:latin typeface="Calibri" pitchFamily="34" charset="0"/>
                          <a:ea typeface="Calibri" pitchFamily="34" charset="-122"/>
                          <a:cs typeface="Calibri" pitchFamily="34" charset="-120"/>
                        </a:rPr>
                        <a:t>UC-10</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Publish Approved Content</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b="1" dirty="0">
                          <a:solidFill>
                            <a:srgbClr val="10B981"/>
                          </a:solidFill>
                          <a:latin typeface="Calibri" pitchFamily="34" charset="0"/>
                          <a:ea typeface="Calibri" pitchFamily="34" charset="-122"/>
                          <a:cs typeface="Calibri" pitchFamily="34" charset="-120"/>
                        </a:rPr>
                        <a:t>Slide 9</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Unit, Lesson, LessonRevision, AuditLog</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10B981"/>
                          </a:solidFill>
                          <a:latin typeface="Calibri" pitchFamily="34" charset="0"/>
                          <a:ea typeface="Calibri" pitchFamily="34" charset="-122"/>
                          <a:cs typeface="Calibri" pitchFamily="34" charset="-120"/>
                        </a:rPr>
                        <a:t>CORE (Phase 2 MVP)</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274320">
                <a:tc>
                  <a:txBody>
                    <a:bodyPr/>
                    <a:lstStyle/>
                    <a:p>
                      <a:pPr algn="ctr" indent="0" marL="0">
                        <a:buNone/>
                      </a:pPr>
                      <a:r>
                        <a:rPr lang="en-US" sz="950" b="1" dirty="0">
                          <a:solidFill>
                            <a:srgbClr val="3B82F6"/>
                          </a:solidFill>
                          <a:latin typeface="Calibri" pitchFamily="34" charset="0"/>
                          <a:ea typeface="Calibri" pitchFamily="34" charset="-122"/>
                          <a:cs typeface="Calibri" pitchFamily="34" charset="-120"/>
                        </a:rPr>
                        <a:t>UC-11</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Manage Accounts &amp; Roles</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Profile, Role, AuditLog</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0B981"/>
                          </a:solidFill>
                          <a:latin typeface="Calibri" pitchFamily="34" charset="0"/>
                          <a:ea typeface="Calibri" pitchFamily="34" charset="-122"/>
                          <a:cs typeface="Calibri" pitchFamily="34" charset="-120"/>
                        </a:rPr>
                        <a:t>CORE (Phase 2 MVP)</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74320">
                <a:tc>
                  <a:txBody>
                    <a:bodyPr/>
                    <a:lstStyle/>
                    <a:p>
                      <a:pPr algn="ctr" indent="0" marL="0">
                        <a:buNone/>
                      </a:pPr>
                      <a:r>
                        <a:rPr lang="en-US" sz="950" b="1" dirty="0">
                          <a:solidFill>
                            <a:srgbClr val="3B82F6"/>
                          </a:solidFill>
                          <a:latin typeface="Calibri" pitchFamily="34" charset="0"/>
                          <a:ea typeface="Calibri" pitchFamily="34" charset="-122"/>
                          <a:cs typeface="Calibri" pitchFamily="34" charset="-120"/>
                        </a:rPr>
                        <a:t>UC-12</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View System Reports</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UserProgress, AuditLog</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10B981"/>
                          </a:solidFill>
                          <a:latin typeface="Calibri" pitchFamily="34" charset="0"/>
                          <a:ea typeface="Calibri" pitchFamily="34" charset="-122"/>
                          <a:cs typeface="Calibri" pitchFamily="34" charset="-120"/>
                        </a:rPr>
                        <a:t>CORE (Phase 2 MVP)</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274320">
                <a:tc>
                  <a:txBody>
                    <a:bodyPr/>
                    <a:lstStyle/>
                    <a:p>
                      <a:pPr algn="ctr" indent="0" marL="0">
                        <a:buNone/>
                      </a:pPr>
                      <a:r>
                        <a:rPr lang="en-US" sz="950" b="1" dirty="0">
                          <a:solidFill>
                            <a:srgbClr val="3B82F6"/>
                          </a:solidFill>
                          <a:latin typeface="Calibri" pitchFamily="34" charset="0"/>
                          <a:ea typeface="Calibri" pitchFamily="34" charset="-122"/>
                          <a:cs typeface="Calibri" pitchFamily="34" charset="-120"/>
                        </a:rPr>
                        <a:t>UC-13</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View &amp; Audit Security Logs</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AuditLog</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0B981"/>
                          </a:solidFill>
                          <a:latin typeface="Calibri" pitchFamily="34" charset="0"/>
                          <a:ea typeface="Calibri" pitchFamily="34" charset="-122"/>
                          <a:cs typeface="Calibri" pitchFamily="34" charset="-120"/>
                        </a:rPr>
                        <a:t>CORE (Phase 2 MVP)</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74320">
                <a:tc>
                  <a:txBody>
                    <a:bodyPr/>
                    <a:lstStyle/>
                    <a:p>
                      <a:pPr algn="ctr" indent="0" marL="0">
                        <a:buNone/>
                      </a:pPr>
                      <a:r>
                        <a:rPr lang="en-US" sz="950" b="1" dirty="0">
                          <a:solidFill>
                            <a:srgbClr val="3B82F6"/>
                          </a:solidFill>
                          <a:latin typeface="Calibri" pitchFamily="34" charset="0"/>
                          <a:ea typeface="Calibri" pitchFamily="34" charset="-122"/>
                          <a:cs typeface="Calibri" pitchFamily="34" charset="-120"/>
                        </a:rPr>
                        <a:t>UC-14</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Handle Support Tickets</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06B6D4"/>
                          </a:solidFill>
                          <a:latin typeface="Calibri" pitchFamily="34" charset="0"/>
                          <a:ea typeface="Calibri" pitchFamily="34" charset="-122"/>
                          <a:cs typeface="Calibri" pitchFamily="34" charset="-120"/>
                        </a:rPr>
                        <a:t>MVP (Điều phối hỗ trợ)</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274320">
                <a:tc>
                  <a:txBody>
                    <a:bodyPr/>
                    <a:lstStyle/>
                    <a:p>
                      <a:pPr algn="ctr" indent="0" marL="0">
                        <a:buNone/>
                      </a:pPr>
                      <a:r>
                        <a:rPr lang="en-US" sz="950" b="1" dirty="0">
                          <a:solidFill>
                            <a:srgbClr val="3B82F6"/>
                          </a:solidFill>
                          <a:latin typeface="Calibri" pitchFamily="34" charset="0"/>
                          <a:ea typeface="Calibri" pitchFamily="34" charset="-122"/>
                          <a:cs typeface="Calibri" pitchFamily="34" charset="-120"/>
                        </a:rPr>
                        <a:t>UC-15</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Manage Cohorts &amp; Group Progress</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64748B"/>
                          </a:solidFill>
                          <a:latin typeface="Calibri" pitchFamily="34" charset="0"/>
                          <a:ea typeface="Calibri" pitchFamily="34" charset="-122"/>
                          <a:cs typeface="Calibri" pitchFamily="34" charset="-120"/>
                        </a:rPr>
                        <a:t>FUTURE EXTENSION</a:t>
                      </a:r>
                      <a:endParaRPr lang="en-US" sz="95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6" name="Text 3"/>
          <p:cNvSpPr/>
          <p:nvPr/>
        </p:nvSpPr>
        <p:spPr>
          <a:xfrm>
            <a:off x="731520" y="6199632"/>
            <a:ext cx="10728655"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Ghi chú: Cột Sơ đồ hoạt động dẫn chiếu slide có biểu đồ thực tế; các Use Case còn lại đánh dấu '—'. UC-14 và UC-15 không ánh xạ lớp thực thể nội bộ.</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Lingora — Mô Hình Hóa Hệ Thống &amp; Đặc Tả Nghiệp Vụ</dc:title>
  <dc:subject>PptxGenJS Presentation</dc:subject>
  <dc:creator>Lingora Team</dc:creator>
  <cp:lastModifiedBy>Lingora Team</cp:lastModifiedBy>
  <cp:revision>1</cp:revision>
  <dcterms:created xsi:type="dcterms:W3CDTF">2026-10-04T15:10:12Z</dcterms:created>
  <dcterms:modified xsi:type="dcterms:W3CDTF">2026-10-04T15:10:12Z</dcterms:modified>
</cp:coreProperties>
</file>