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Cô và Hội đồng. Bài báo cáo này tập trung vào phân tích và mô hình hóa hệ thống Lingora dưới các góc nhìn chuẩn mực của Kỹ thuật Phần mềm: Ca sử dụng (Use Case), Sơ đồ hoạt động (Activity Diagram), Sơ đồ lớp (Class Diagram) và Ma trận truy vết (Traceability Matrix). Toàn bộ mô hình tuân thủ tuyệt đối các nguyên tắc thiết kế bất biến và kiến trúc đã được thẩm định.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Lingora được tổ chức thành ba phân hệ nghiệp vụ chính: Learning, Content và Admin &amp; Support. Sáu vai trò người dùng được định danh chuẩn mực, thực thi triệt để nguyên tắc Phân tách nhiệm vụ (Separation of Duties). UC-14 giải quyết bài toán tiếp nhận hỗ trợ ở mức MVP, trong khi UC-15 quản lý nhóm được định vị là phần mở rộng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ca sử dụng tổng quan phản ánh toàn bộ 15 ca sử dụng của hệ thống Lingora. Sáu vai trò người dùng đều kế thừa từ Authenticated User để sử dụng chung cơ chế xác thực UC-01 mà không làm rối sơ đồ. Các phân hệ Learning, Content và Administration được phân tách độc lập, phản ánh đúng kiến trúc mô-đun.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học viên tập trung vào trải nghiệm học tập sư phạm chuẩn mực. Bước đột phá là Lesson Content Viewer được gắn chặt vào UC-05 thông qua quan hệ Include, đảm bảo học viên không thể làm bài tập mà không xem bài học. Làm lại có kiểm soát (Retry) và thử thách nhảy cấp (Jump) được mô hình hóa là các quan hệ Extend với điều kiện mở rộng rõ ràng.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nội dung và quản trị thể hiện sự phân định trách nhiệm rõ ràng theo nguyên tắc SoD. Không một cá nhân nào có thể vừa tạo nội dung vừa tự phê duyệt và xuất bản. Các hành động can thiệp đặc quyền của Administrator đều phải để lại dấu vết kiểm toán bất biến qua quan hệ Include với AuditLog.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đánh giá chẩn đoán đầu vào được tách thành luồng chuẩn và các nhánh ngoại lệ. Hệ thống sử dụng đúng 30 câu hỏi do chuyên gia tuyển chọn, ánh xạ qua Mapping A để xác định Unit khởi đầu. Khi học viên chọn Skip, hệ thống gán Unit 1 chưa xác minh mà không sinh dữ liệu đánh giá giả mạo. Khi Retake từ trang cá nhân, kết quả mới được thêm vào lịch sử thay vì ghi đè kết quả cũ.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 trình học tập cốt lõi yêu cầu Unit phải đạt chuẩn đóng băng 4/4 bài học trước khi mở cho học viên. Điểm cải tiến sư phạm lớn nhất là sự hiện diện của Lesson Content Viewer trước phần bài tập. Cơ chế làm lại bài sai tuân theo công thức kiểm soát chặt chẽ với trần điểm 70%, bảo đảm tính nghiêm túc học thuật đồng thời vẫn duy trì động lực học tập qua cập nhật Streak và SRS.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Thử thách Conditional Jump cho phép người học có trình độ vượt cấp mà không phải làm tuần tự. Để ngăn chặn gian lận thử sai, hệ thống áp đặt thời gian chờ Cooldown 24 giờ khi làm trượt. Khi đạt ngưỡng khắt khe 95%, các đơn vị học đi qua nhận cờ SKIPPED_BY_JUMP và Unit đích mở khóa UNLOCKED. Các nội dung nhảy qua tuyệt đối không được cấp chứng chỉ CEFR nếu không làm bài thi chuẩn hóa tương ứng.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quản trị nội dung kết hợp giữa tính toàn vẹn sư phạm và khả năng xử lý sự cố. Cơ chế Clone-to-Draft đảm bảo quá trình chỉnh sửa không làm gián đoạn bài học đang phát hành cho học viên. Organizational Manager chỉ mở Unit khi đủ điều kiện đóng băng 4/4 bài học. Administrator có quyền xuất bản khẩn cấp nhưng hành động này luôn được kiểm soát chặt chẽ bằng nhật ký kiểm toán.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cấu trúc nội dung phân tách minh bạch giữa các thực thể hiện hữu trong schema.prisma và các thực thể mục tiêu cho giai đoạn nâng cấp Phase 2. Thực thể LessonRevision là hạt nhân cho cơ chế Clone-to-Draft, giúp quản lý trạng thái kiểm duyệt nội dung mà không gây phá vỡ các liên kết bài tập hiện hành.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học viên phản ánh nguyên lý bất biến cốt lõi: Tiến độ học tập không đồng nhất với Năng lực thực tế. UserProgress ghi nhận việc hoàn thành bài học, trong khi AssessmentResult và SkillProfile lưu trữ điểm thi chẩn đoán và nhảy cấp. Các trạng thái về hạn mức Retry và thời gian chờ Jump được đóng gói trong logic nghiệp vụ của các lớp liên quan.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truy vết bảo đảm tính nhất quán xuyên suốt từ 15 Ca sử dụng đến các sơ đồ hoạt động và sơ đồ lớp. Chỉ các Use Case có sơ đồ hoạt động thực tế trong deck mới được liên kết tới slide tương ứng (Slide 6, 7, 8, 9), các ca sử dụng còn lại được đánh dấu gạch ngang trung thực, không bịa đặt liên kết không tồn tại.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97135" cy="3474720"/>
          </a:xfrm>
          <a:prstGeom prst="rect">
            <a:avLst/>
          </a:prstGeom>
          <a:noFill/>
        </p:spPr>
        <p:txBody>
          <a:bodyPr wrap="square">
            <a:spAutoFit/>
          </a:bodyPr>
          <a:lstStyle/>
          <a:p>
            <a:pPr>
              <a:spcAft>
                <a:spcPts val="1200"/>
              </a:spcAft>
              <a:defRPr sz="1500" b="1">
                <a:solidFill>
                  <a:srgbClr val="0284C7"/>
                </a:solidFill>
                <a:latin typeface="Segoe UI"/>
              </a:defRPr>
            </a:pPr>
            <a:r>
              <a:t>LINGORA PLATFORM</a:t>
            </a:r>
          </a:p>
          <a:p>
            <a:pPr>
              <a:spcAft>
                <a:spcPts val="1600"/>
              </a:spcAft>
              <a:defRPr sz="3000" b="1">
                <a:solidFill>
                  <a:srgbClr val="0F172A"/>
                </a:solidFill>
                <a:latin typeface="Segoe UI"/>
              </a:defRPr>
            </a:pPr>
            <a:r>
              <a:t>Phân Tích &amp; Mô Hình Hóa Hệ Thống</a:t>
            </a:r>
            <a:br/>
            <a:r>
              <a:t>Nền Tảng Học Ngoại Ngữ Trực Tuyến</a:t>
            </a:r>
          </a:p>
          <a:p>
            <a:pPr>
              <a:spcAft>
                <a:spcPts val="2800"/>
              </a:spcAft>
              <a:defRPr sz="1500">
                <a:solidFill>
                  <a:srgbClr val="475569"/>
                </a:solidFill>
                <a:latin typeface="Segoe UI"/>
              </a:defRPr>
            </a:pPr>
            <a:r>
              <a:t>Use Case Diagram · Activity Diagram · Class Diagram · Traceability Matrix</a:t>
            </a:r>
          </a:p>
          <a:p>
            <a:pPr>
              <a:defRPr sz="1200">
                <a:solidFill>
                  <a:srgbClr val="94A3B8"/>
                </a:solidFill>
                <a:latin typeface="Segoe UI"/>
              </a:defRPr>
            </a:pPr>
            <a:r>
              <a:t>Báo cáo Chuyên đề Kỹ thuật Phần mềm — Thiết kế Hệ thống Lingora</a:t>
            </a:r>
          </a:p>
        </p:txBody>
      </p:sp>
      <p:sp>
        <p:nvSpPr>
          <p:cNvPr id="4" name="Rounded Rectangle 3"/>
          <p:cNvSpPr/>
          <p:nvPr/>
        </p:nvSpPr>
        <p:spPr>
          <a:xfrm>
            <a:off x="731520" y="6217920"/>
            <a:ext cx="1664208" cy="292608"/>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2563EB"/>
                </a:solidFill>
                <a:latin typeface="Segoe UI"/>
              </a:defRPr>
            </a:pPr>
            <a:r>
              <a:t>Learner</a:t>
            </a:r>
          </a:p>
        </p:txBody>
      </p:sp>
      <p:sp>
        <p:nvSpPr>
          <p:cNvPr id="5" name="Rounded Rectangle 4"/>
          <p:cNvSpPr/>
          <p:nvPr/>
        </p:nvSpPr>
        <p:spPr>
          <a:xfrm>
            <a:off x="2542032" y="6217920"/>
            <a:ext cx="1664208" cy="292608"/>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EA580C"/>
                </a:solidFill>
                <a:latin typeface="Segoe UI"/>
              </a:defRPr>
            </a:pPr>
            <a:r>
              <a:t>Lesson Creator</a:t>
            </a:r>
          </a:p>
        </p:txBody>
      </p:sp>
      <p:sp>
        <p:nvSpPr>
          <p:cNvPr id="6" name="Rounded Rectangle 5"/>
          <p:cNvSpPr/>
          <p:nvPr/>
        </p:nvSpPr>
        <p:spPr>
          <a:xfrm>
            <a:off x="4352544" y="6217920"/>
            <a:ext cx="1664208" cy="292608"/>
          </a:xfrm>
          <a:prstGeom prst="roundRect">
            <a:avLst/>
          </a:prstGeom>
          <a:solidFill>
            <a:srgbClr val="FFFFFF"/>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16A34A"/>
                </a:solidFill>
                <a:latin typeface="Segoe UI"/>
              </a:defRPr>
            </a:pPr>
            <a:r>
              <a:t>Moderator</a:t>
            </a:r>
          </a:p>
        </p:txBody>
      </p:sp>
      <p:sp>
        <p:nvSpPr>
          <p:cNvPr id="7" name="Rounded Rectangle 6"/>
          <p:cNvSpPr/>
          <p:nvPr/>
        </p:nvSpPr>
        <p:spPr>
          <a:xfrm>
            <a:off x="6163056" y="6217920"/>
            <a:ext cx="1664208" cy="292608"/>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7C3AED"/>
                </a:solidFill>
                <a:latin typeface="Segoe UI"/>
              </a:defRPr>
            </a:pPr>
            <a:r>
              <a:t>Org Manager</a:t>
            </a:r>
          </a:p>
        </p:txBody>
      </p:sp>
      <p:sp>
        <p:nvSpPr>
          <p:cNvPr id="8" name="Rounded Rectangle 7"/>
          <p:cNvSpPr/>
          <p:nvPr/>
        </p:nvSpPr>
        <p:spPr>
          <a:xfrm>
            <a:off x="7973568" y="6217920"/>
            <a:ext cx="1664208" cy="292608"/>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0D9488"/>
                </a:solidFill>
                <a:latin typeface="Segoe UI"/>
              </a:defRPr>
            </a:pPr>
            <a:r>
              <a:t>Operations Staff</a:t>
            </a:r>
          </a:p>
        </p:txBody>
      </p:sp>
      <p:sp>
        <p:nvSpPr>
          <p:cNvPr id="9" name="Rounded Rectangle 8"/>
          <p:cNvSpPr/>
          <p:nvPr/>
        </p:nvSpPr>
        <p:spPr>
          <a:xfrm>
            <a:off x="9784080" y="6217920"/>
            <a:ext cx="1664208" cy="292608"/>
          </a:xfrm>
          <a:prstGeom prst="roundRect">
            <a:avLst/>
          </a:prstGeom>
          <a:solidFill>
            <a:srgbClr val="FFFFFF"/>
          </a:solidFill>
          <a:ln w="1524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9F1239"/>
                </a:solidFill>
                <a:latin typeface="Segoe UI"/>
              </a:defRPr>
            </a:pPr>
            <a:r>
              <a:t>Administrator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0284C7"/>
                </a:solidFill>
                <a:latin typeface="Segoe UI"/>
              </a:defRPr>
            </a:pPr>
            <a:r>
              <a:t>OVERVIEW</a:t>
            </a:r>
          </a:p>
          <a:p>
            <a:pPr>
              <a:defRPr sz="1800" b="1">
                <a:solidFill>
                  <a:srgbClr val="0F172A"/>
                </a:solidFill>
                <a:latin typeface="Segoe UI"/>
              </a:defRPr>
            </a:pPr>
            <a:r>
              <a:t>Tổng Quan Kiến Trúc Nghiệp Vụ &amp; Ranh Giới Vai Trò</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02 / 12</a:t>
            </a:r>
          </a:p>
        </p:txBody>
      </p:sp>
      <p:sp>
        <p:nvSpPr>
          <p:cNvPr id="5" name="Rounded Rectangle 4"/>
          <p:cNvSpPr/>
          <p:nvPr/>
        </p:nvSpPr>
        <p:spPr>
          <a:xfrm>
            <a:off x="731520" y="6327648"/>
            <a:ext cx="1664208" cy="292608"/>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2563EB"/>
                </a:solidFill>
                <a:latin typeface="Segoe UI"/>
              </a:defRPr>
            </a:pPr>
            <a:r>
              <a:t>Learner</a:t>
            </a:r>
          </a:p>
        </p:txBody>
      </p:sp>
      <p:sp>
        <p:nvSpPr>
          <p:cNvPr id="6" name="Rounded Rectangle 5"/>
          <p:cNvSpPr/>
          <p:nvPr/>
        </p:nvSpPr>
        <p:spPr>
          <a:xfrm>
            <a:off x="2542032" y="6327648"/>
            <a:ext cx="1664208" cy="292608"/>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EA580C"/>
                </a:solidFill>
                <a:latin typeface="Segoe UI"/>
              </a:defRPr>
            </a:pPr>
            <a:r>
              <a:t>Lesson Creator</a:t>
            </a:r>
          </a:p>
        </p:txBody>
      </p:sp>
      <p:sp>
        <p:nvSpPr>
          <p:cNvPr id="7" name="Rounded Rectangle 6"/>
          <p:cNvSpPr/>
          <p:nvPr/>
        </p:nvSpPr>
        <p:spPr>
          <a:xfrm>
            <a:off x="4352544" y="6327648"/>
            <a:ext cx="1664208" cy="292608"/>
          </a:xfrm>
          <a:prstGeom prst="roundRect">
            <a:avLst/>
          </a:prstGeom>
          <a:solidFill>
            <a:srgbClr val="FFFFFF"/>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16A34A"/>
                </a:solidFill>
                <a:latin typeface="Segoe UI"/>
              </a:defRPr>
            </a:pPr>
            <a:r>
              <a:t>Moderator</a:t>
            </a:r>
          </a:p>
        </p:txBody>
      </p:sp>
      <p:sp>
        <p:nvSpPr>
          <p:cNvPr id="8" name="Rounded Rectangle 7"/>
          <p:cNvSpPr/>
          <p:nvPr/>
        </p:nvSpPr>
        <p:spPr>
          <a:xfrm>
            <a:off x="6163056" y="6327648"/>
            <a:ext cx="1664208" cy="292608"/>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7C3AED"/>
                </a:solidFill>
                <a:latin typeface="Segoe UI"/>
              </a:defRPr>
            </a:pPr>
            <a:r>
              <a:t>Org Manager</a:t>
            </a:r>
          </a:p>
        </p:txBody>
      </p:sp>
      <p:sp>
        <p:nvSpPr>
          <p:cNvPr id="9" name="Rounded Rectangle 8"/>
          <p:cNvSpPr/>
          <p:nvPr/>
        </p:nvSpPr>
        <p:spPr>
          <a:xfrm>
            <a:off x="7973568" y="6327648"/>
            <a:ext cx="1664208" cy="292608"/>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0D9488"/>
                </a:solidFill>
                <a:latin typeface="Segoe UI"/>
              </a:defRPr>
            </a:pPr>
            <a:r>
              <a:t>Operations Staff</a:t>
            </a:r>
          </a:p>
        </p:txBody>
      </p:sp>
      <p:sp>
        <p:nvSpPr>
          <p:cNvPr id="10" name="Rounded Rectangle 9"/>
          <p:cNvSpPr/>
          <p:nvPr/>
        </p:nvSpPr>
        <p:spPr>
          <a:xfrm>
            <a:off x="9784080" y="6327648"/>
            <a:ext cx="1664208" cy="292608"/>
          </a:xfrm>
          <a:prstGeom prst="roundRect">
            <a:avLst/>
          </a:prstGeom>
          <a:solidFill>
            <a:srgbClr val="FFFFFF"/>
          </a:solidFill>
          <a:ln w="1524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9F1239"/>
                </a:solidFill>
                <a:latin typeface="Segoe UI"/>
              </a:defRPr>
            </a:pPr>
            <a:r>
              <a:t>Administrator</a:t>
            </a:r>
          </a:p>
        </p:txBody>
      </p:sp>
      <p:sp>
        <p:nvSpPr>
          <p:cNvPr id="11" name="Rounded Rectangle 10"/>
          <p:cNvSpPr/>
          <p:nvPr/>
        </p:nvSpPr>
        <p:spPr>
          <a:xfrm>
            <a:off x="731520" y="1143000"/>
            <a:ext cx="3429000" cy="3977639"/>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200"/>
              </a:spcAft>
              <a:defRPr sz="1100" b="1">
                <a:solidFill>
                  <a:srgbClr val="2563EB"/>
                </a:solidFill>
                <a:latin typeface="Segoe UI"/>
              </a:defRPr>
            </a:pPr>
            <a:r>
              <a:t>LEARNING PACKAGE</a:t>
            </a:r>
          </a:p>
          <a:p>
            <a:pPr>
              <a:spcAft>
                <a:spcPts val="800"/>
              </a:spcAft>
              <a:defRPr sz="950">
                <a:solidFill>
                  <a:srgbClr val="475569"/>
                </a:solidFill>
                <a:latin typeface="Segoe UI"/>
              </a:defRPr>
            </a:pPr>
            <a:r>
              <a:t>Phân hệ Học tập Cốt lõi</a:t>
            </a:r>
          </a:p>
          <a:p>
            <a:pPr>
              <a:spcAft>
                <a:spcPts val="250"/>
              </a:spcAft>
              <a:defRPr sz="819">
                <a:solidFill>
                  <a:srgbClr val="0F172A"/>
                </a:solidFill>
                <a:latin typeface="Segoe UI"/>
              </a:defRPr>
            </a:pPr>
            <a:r>
              <a:t>• Xác thực &amp; Phiên (UC-01): Đăng ký, đăng nhập và quản lý phiên.</a:t>
            </a:r>
          </a:p>
          <a:p>
            <a:pPr>
              <a:spcAft>
                <a:spcPts val="250"/>
              </a:spcAft>
              <a:defRPr sz="819">
                <a:solidFill>
                  <a:srgbClr val="0F172A"/>
                </a:solidFill>
                <a:latin typeface="Segoe UI"/>
              </a:defRPr>
            </a:pPr>
            <a:r>
              <a:t>• Mục tiêu học (UC-02): Thiết lập thời lượng và mục tiêu ngày.</a:t>
            </a:r>
          </a:p>
          <a:p>
            <a:pPr>
              <a:spcAft>
                <a:spcPts val="250"/>
              </a:spcAft>
              <a:defRPr sz="819">
                <a:solidFill>
                  <a:srgbClr val="0F172A"/>
                </a:solidFill>
                <a:latin typeface="Segoe UI"/>
              </a:defRPr>
            </a:pPr>
            <a:r>
              <a:t>• Chẩn đoán đầu vào (UC-03): 30 câu hỏi, xác định starting point.</a:t>
            </a:r>
          </a:p>
          <a:p>
            <a:pPr>
              <a:spcAft>
                <a:spcPts val="250"/>
              </a:spcAft>
              <a:defRPr sz="819">
                <a:solidFill>
                  <a:srgbClr val="0F172A"/>
                </a:solidFill>
                <a:latin typeface="Segoe UI"/>
              </a:defRPr>
            </a:pPr>
            <a:r>
              <a:t>• Lộ trình học (UC-04): Duyệt cây bài học, thử thách Jump.</a:t>
            </a:r>
          </a:p>
          <a:p>
            <a:pPr>
              <a:spcAft>
                <a:spcPts val="250"/>
              </a:spcAft>
              <a:defRPr sz="819">
                <a:solidFill>
                  <a:srgbClr val="0F172A"/>
                </a:solidFill>
                <a:latin typeface="Segoe UI"/>
              </a:defRPr>
            </a:pPr>
            <a:r>
              <a:t>• Bài học &amp; Bài tập (UC-05): Viewer lý thuyết trước, bài tập sau.</a:t>
            </a:r>
          </a:p>
          <a:p>
            <a:pPr>
              <a:spcAft>
                <a:spcPts val="250"/>
              </a:spcAft>
              <a:defRPr sz="819">
                <a:solidFill>
                  <a:srgbClr val="0F172A"/>
                </a:solidFill>
                <a:latin typeface="Segoe UI"/>
              </a:defRPr>
            </a:pPr>
            <a:r>
              <a:t>• Ôn tập SRS (UC-06): Lặp lại ngắt quãng củng cố từ vựng.</a:t>
            </a:r>
          </a:p>
          <a:p>
            <a:pPr>
              <a:spcAft>
                <a:spcPts val="250"/>
              </a:spcAft>
              <a:defRPr sz="819">
                <a:solidFill>
                  <a:srgbClr val="0F172A"/>
                </a:solidFill>
                <a:latin typeface="Segoe UI"/>
              </a:defRPr>
            </a:pPr>
            <a:r>
              <a:t>• Tiến độ &amp; Streak (UC-07): Theo dõi chuỗi ngày và hoàn thành.</a:t>
            </a:r>
          </a:p>
        </p:txBody>
      </p:sp>
      <p:sp>
        <p:nvSpPr>
          <p:cNvPr id="12" name="Rounded Rectangle 11"/>
          <p:cNvSpPr/>
          <p:nvPr/>
        </p:nvSpPr>
        <p:spPr>
          <a:xfrm>
            <a:off x="4379976" y="1143000"/>
            <a:ext cx="3429000" cy="3977639"/>
          </a:xfrm>
          <a:prstGeom prst="roundRect">
            <a:avLst/>
          </a:prstGeom>
          <a:solidFill>
            <a:srgbClr val="FFF7ED"/>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200"/>
              </a:spcAft>
              <a:defRPr sz="1100" b="1">
                <a:solidFill>
                  <a:srgbClr val="EA580C"/>
                </a:solidFill>
                <a:latin typeface="Segoe UI"/>
              </a:defRPr>
            </a:pPr>
            <a:r>
              <a:t>CONTENT PACKAGE</a:t>
            </a:r>
          </a:p>
          <a:p>
            <a:pPr>
              <a:spcAft>
                <a:spcPts val="800"/>
              </a:spcAft>
              <a:defRPr sz="950">
                <a:solidFill>
                  <a:srgbClr val="475569"/>
                </a:solidFill>
                <a:latin typeface="Segoe UI"/>
              </a:defRPr>
            </a:pPr>
            <a:r>
              <a:t>Phân hệ Quản trị Nội dung</a:t>
            </a:r>
          </a:p>
          <a:p>
            <a:pPr>
              <a:spcAft>
                <a:spcPts val="250"/>
              </a:spcAft>
              <a:defRPr sz="819">
                <a:solidFill>
                  <a:srgbClr val="0F172A"/>
                </a:solidFill>
                <a:latin typeface="Segoe UI"/>
              </a:defRPr>
            </a:pPr>
            <a:r>
              <a:t>• Soạn thảo bài học (UC-08): Tạo dự thảo và bộ bài tập tương tác.</a:t>
            </a:r>
          </a:p>
          <a:p>
            <a:pPr>
              <a:spcAft>
                <a:spcPts val="250"/>
              </a:spcAft>
              <a:defRPr sz="819">
                <a:solidFill>
                  <a:srgbClr val="0F172A"/>
                </a:solidFill>
                <a:latin typeface="Segoe UI"/>
              </a:defRPr>
            </a:pPr>
            <a:r>
              <a:t>• Kiểm duyệt nội dung (UC-09): Phê duyệt hoặc phản hồi yêu cầu sửa.</a:t>
            </a:r>
          </a:p>
          <a:p>
            <a:pPr>
              <a:spcAft>
                <a:spcPts val="250"/>
              </a:spcAft>
              <a:defRPr sz="819">
                <a:solidFill>
                  <a:srgbClr val="0F172A"/>
                </a:solidFill>
                <a:latin typeface="Segoe UI"/>
              </a:defRPr>
            </a:pPr>
            <a:r>
              <a:t>• Xuất bản nội dung (UC-10): Kích hoạt hiển thị cho toàn hệ thống.</a:t>
            </a:r>
          </a:p>
          <a:p>
            <a:pPr>
              <a:spcAft>
                <a:spcPts val="250"/>
              </a:spcAft>
              <a:defRPr sz="819">
                <a:solidFill>
                  <a:srgbClr val="0F172A"/>
                </a:solidFill>
                <a:latin typeface="Segoe UI"/>
              </a:defRPr>
            </a:pPr>
            <a:r>
              <a:t>• Quy trình Clone-to-Draft: Bản sửa đổi độc lập, bảo toàn lịch sử.</a:t>
            </a:r>
          </a:p>
          <a:p>
            <a:pPr>
              <a:spcAft>
                <a:spcPts val="250"/>
              </a:spcAft>
              <a:defRPr sz="819">
                <a:solidFill>
                  <a:srgbClr val="0F172A"/>
                </a:solidFill>
                <a:latin typeface="Segoe UI"/>
              </a:defRPr>
            </a:pPr>
            <a:r>
              <a:t>• Điều kiện đóng băng Unit: Đủ 4/4 bài học xuất bản mới mở Unit.</a:t>
            </a:r>
          </a:p>
          <a:p>
            <a:pPr>
              <a:spcAft>
                <a:spcPts val="250"/>
              </a:spcAft>
              <a:defRPr sz="819">
                <a:solidFill>
                  <a:srgbClr val="0F172A"/>
                </a:solidFill>
                <a:latin typeface="Segoe UI"/>
              </a:defRPr>
            </a:pPr>
            <a:r>
              <a:t>• Phân tách SoD nghiêm ngặt: Creator không tự duyệt bài của mình.</a:t>
            </a:r>
          </a:p>
          <a:p>
            <a:pPr>
              <a:spcAft>
                <a:spcPts val="250"/>
              </a:spcAft>
              <a:defRPr sz="819">
                <a:solidFill>
                  <a:srgbClr val="0F172A"/>
                </a:solidFill>
                <a:latin typeface="Segoe UI"/>
              </a:defRPr>
            </a:pPr>
            <a:r>
              <a:t>• Xuất bản khẩn cấp (Admin): Can thiệp trực tiếp có ghi AuditLog.</a:t>
            </a:r>
          </a:p>
        </p:txBody>
      </p:sp>
      <p:sp>
        <p:nvSpPr>
          <p:cNvPr id="13" name="Rounded Rectangle 12"/>
          <p:cNvSpPr/>
          <p:nvPr/>
        </p:nvSpPr>
        <p:spPr>
          <a:xfrm>
            <a:off x="8028432" y="1143000"/>
            <a:ext cx="3429000" cy="3977639"/>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spcAft>
                <a:spcPts val="200"/>
              </a:spcAft>
              <a:defRPr sz="1100" b="1">
                <a:solidFill>
                  <a:srgbClr val="16A34A"/>
                </a:solidFill>
                <a:latin typeface="Segoe UI"/>
              </a:defRPr>
            </a:pPr>
            <a:r>
              <a:t>ADMIN &amp; SUPPORT</a:t>
            </a:r>
          </a:p>
          <a:p>
            <a:pPr>
              <a:spcAft>
                <a:spcPts val="800"/>
              </a:spcAft>
              <a:defRPr sz="950">
                <a:solidFill>
                  <a:srgbClr val="475569"/>
                </a:solidFill>
                <a:latin typeface="Segoe UI"/>
              </a:defRPr>
            </a:pPr>
            <a:r>
              <a:t>Phân hệ Vận hành &amp; Hệ thống</a:t>
            </a:r>
          </a:p>
          <a:p>
            <a:pPr>
              <a:spcAft>
                <a:spcPts val="250"/>
              </a:spcAft>
              <a:defRPr sz="819">
                <a:solidFill>
                  <a:srgbClr val="0F172A"/>
                </a:solidFill>
                <a:latin typeface="Segoe UI"/>
              </a:defRPr>
            </a:pPr>
            <a:r>
              <a:t>• Quản lý tài khoản (UC-11): Phân quyền chuẩn 6 vai trò hệ thống.</a:t>
            </a:r>
          </a:p>
          <a:p>
            <a:pPr>
              <a:spcAft>
                <a:spcPts val="250"/>
              </a:spcAft>
              <a:defRPr sz="819">
                <a:solidFill>
                  <a:srgbClr val="0F172A"/>
                </a:solidFill>
                <a:latin typeface="Segoe UI"/>
              </a:defRPr>
            </a:pPr>
            <a:r>
              <a:t>• Báo cáo vận hành (UC-12): Thống kê hoạt động và tỷ lệ hoàn thành.</a:t>
            </a:r>
          </a:p>
          <a:p>
            <a:pPr>
              <a:spcAft>
                <a:spcPts val="250"/>
              </a:spcAft>
              <a:defRPr sz="819">
                <a:solidFill>
                  <a:srgbClr val="0F172A"/>
                </a:solidFill>
                <a:latin typeface="Segoe UI"/>
              </a:defRPr>
            </a:pPr>
            <a:r>
              <a:t>• Kiểm toán an ninh (UC-13): AuditLog ghi nhận mọi thay đổi nhạy cảm.</a:t>
            </a:r>
          </a:p>
          <a:p>
            <a:pPr>
              <a:spcAft>
                <a:spcPts val="250"/>
              </a:spcAft>
              <a:defRPr sz="819">
                <a:solidFill>
                  <a:srgbClr val="0F172A"/>
                </a:solidFill>
                <a:latin typeface="Segoe UI"/>
              </a:defRPr>
            </a:pPr>
            <a:r>
              <a:t>• Hỗ trợ kỹ thuật (UC-14): Ticket tiếp nhận sự cố (Phạm vi MVP).</a:t>
            </a:r>
          </a:p>
          <a:p>
            <a:pPr>
              <a:spcAft>
                <a:spcPts val="250"/>
              </a:spcAft>
              <a:defRPr sz="819">
                <a:solidFill>
                  <a:srgbClr val="0F172A"/>
                </a:solidFill>
                <a:latin typeface="Segoe UI"/>
              </a:defRPr>
            </a:pPr>
            <a:r>
              <a:t>• Quản lý nhóm (UC-15): Cohort/Lớp học (Ranh giới Future).</a:t>
            </a:r>
          </a:p>
          <a:p>
            <a:pPr>
              <a:spcAft>
                <a:spcPts val="250"/>
              </a:spcAft>
              <a:defRPr sz="819">
                <a:solidFill>
                  <a:srgbClr val="0F172A"/>
                </a:solidFill>
                <a:latin typeface="Segoe UI"/>
              </a:defRPr>
            </a:pPr>
            <a:r>
              <a:t>• Nguyên tắc toàn vẹn: Tiến độ tuyến tính tách biệt Năng lực.</a:t>
            </a:r>
          </a:p>
          <a:p>
            <a:pPr>
              <a:spcAft>
                <a:spcPts val="250"/>
              </a:spcAft>
              <a:defRPr sz="819">
                <a:solidFill>
                  <a:srgbClr val="0F172A"/>
                </a:solidFill>
                <a:latin typeface="Segoe UI"/>
              </a:defRPr>
            </a:pPr>
            <a:r>
              <a:t>• Khả năng mở rộng: Thiết kế Module hóa sẵn sàng Phase 2.</a:t>
            </a:r>
          </a:p>
        </p:txBody>
      </p:sp>
      <p:sp>
        <p:nvSpPr>
          <p:cNvPr id="14" name="TextBox 13"/>
          <p:cNvSpPr txBox="1"/>
          <p:nvPr/>
        </p:nvSpPr>
        <p:spPr>
          <a:xfrm>
            <a:off x="731520" y="5303520"/>
            <a:ext cx="10728655" cy="411480"/>
          </a:xfrm>
          <a:prstGeom prst="rect">
            <a:avLst/>
          </a:prstGeom>
          <a:noFill/>
        </p:spPr>
        <p:txBody>
          <a:bodyPr wrap="square">
            <a:spAutoFit/>
          </a:bodyPr>
          <a:lstStyle/>
          <a:p>
            <a:pPr algn="ctr">
              <a:defRPr sz="950">
                <a:solidFill>
                  <a:srgbClr val="475569"/>
                </a:solidFill>
                <a:latin typeface="Segoe UI"/>
              </a:defRPr>
            </a:pPr>
            <a:r>
              <a:t>Ranh giới phạm vi: UC-14 Xử lý phản hồi thuộc phạm vi MVP điều phối hỗ trợ; UC-15 Quản lý nhóm thuộc Future Extension (viền xám). Phân tách nhiệm vụ (SoD) giữa các vai trò được thực thi tuyệt đối.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0284C7"/>
                </a:solidFill>
                <a:latin typeface="Segoe UI"/>
              </a:defRPr>
            </a:pPr>
            <a:r>
              <a:t>USE CASE</a:t>
            </a:r>
          </a:p>
          <a:p>
            <a:pPr>
              <a:defRPr sz="1800" b="1">
                <a:solidFill>
                  <a:srgbClr val="0F172A"/>
                </a:solidFill>
                <a:latin typeface="Segoe UI"/>
              </a:defRPr>
            </a:pPr>
            <a:r>
              <a:t>Sơ Đồ Ca Sử Dụng Tổng Quan (Overall Use Case Diagram)</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03 / 12</a:t>
            </a:r>
          </a:p>
        </p:txBody>
      </p:sp>
      <p:sp>
        <p:nvSpPr>
          <p:cNvPr id="5" name="Rounded Rectangle 4"/>
          <p:cNvSpPr/>
          <p:nvPr/>
        </p:nvSpPr>
        <p:spPr>
          <a:xfrm>
            <a:off x="731520" y="6327648"/>
            <a:ext cx="1664208" cy="292608"/>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2563EB"/>
                </a:solidFill>
                <a:latin typeface="Segoe UI"/>
              </a:defRPr>
            </a:pPr>
            <a:r>
              <a:t>Learner</a:t>
            </a:r>
          </a:p>
        </p:txBody>
      </p:sp>
      <p:sp>
        <p:nvSpPr>
          <p:cNvPr id="6" name="Rounded Rectangle 5"/>
          <p:cNvSpPr/>
          <p:nvPr/>
        </p:nvSpPr>
        <p:spPr>
          <a:xfrm>
            <a:off x="2542032" y="6327648"/>
            <a:ext cx="1664208" cy="292608"/>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EA580C"/>
                </a:solidFill>
                <a:latin typeface="Segoe UI"/>
              </a:defRPr>
            </a:pPr>
            <a:r>
              <a:t>Lesson Creator</a:t>
            </a:r>
          </a:p>
        </p:txBody>
      </p:sp>
      <p:sp>
        <p:nvSpPr>
          <p:cNvPr id="7" name="Rounded Rectangle 6"/>
          <p:cNvSpPr/>
          <p:nvPr/>
        </p:nvSpPr>
        <p:spPr>
          <a:xfrm>
            <a:off x="4352544" y="6327648"/>
            <a:ext cx="1664208" cy="292608"/>
          </a:xfrm>
          <a:prstGeom prst="roundRect">
            <a:avLst/>
          </a:prstGeom>
          <a:solidFill>
            <a:srgbClr val="FFFFFF"/>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16A34A"/>
                </a:solidFill>
                <a:latin typeface="Segoe UI"/>
              </a:defRPr>
            </a:pPr>
            <a:r>
              <a:t>Moderator</a:t>
            </a:r>
          </a:p>
        </p:txBody>
      </p:sp>
      <p:sp>
        <p:nvSpPr>
          <p:cNvPr id="8" name="Rounded Rectangle 7"/>
          <p:cNvSpPr/>
          <p:nvPr/>
        </p:nvSpPr>
        <p:spPr>
          <a:xfrm>
            <a:off x="6163056" y="6327648"/>
            <a:ext cx="1664208" cy="292608"/>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7C3AED"/>
                </a:solidFill>
                <a:latin typeface="Segoe UI"/>
              </a:defRPr>
            </a:pPr>
            <a:r>
              <a:t>Org Manager</a:t>
            </a:r>
          </a:p>
        </p:txBody>
      </p:sp>
      <p:sp>
        <p:nvSpPr>
          <p:cNvPr id="9" name="Rounded Rectangle 8"/>
          <p:cNvSpPr/>
          <p:nvPr/>
        </p:nvSpPr>
        <p:spPr>
          <a:xfrm>
            <a:off x="7973568" y="6327648"/>
            <a:ext cx="1664208" cy="292608"/>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0D9488"/>
                </a:solidFill>
                <a:latin typeface="Segoe UI"/>
              </a:defRPr>
            </a:pPr>
            <a:r>
              <a:t>Operations Staff</a:t>
            </a:r>
          </a:p>
        </p:txBody>
      </p:sp>
      <p:sp>
        <p:nvSpPr>
          <p:cNvPr id="10" name="Rounded Rectangle 9"/>
          <p:cNvSpPr/>
          <p:nvPr/>
        </p:nvSpPr>
        <p:spPr>
          <a:xfrm>
            <a:off x="9784080" y="6327648"/>
            <a:ext cx="1664208" cy="292608"/>
          </a:xfrm>
          <a:prstGeom prst="roundRect">
            <a:avLst/>
          </a:prstGeom>
          <a:solidFill>
            <a:srgbClr val="FFFFFF"/>
          </a:solidFill>
          <a:ln w="1524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9F1239"/>
                </a:solidFill>
                <a:latin typeface="Segoe UI"/>
              </a:defRPr>
            </a:pPr>
            <a:r>
              <a:t>Administrator</a:t>
            </a:r>
          </a:p>
        </p:txBody>
      </p:sp>
      <p:sp>
        <p:nvSpPr>
          <p:cNvPr id="11" name="Rounded Rectangle 10"/>
          <p:cNvSpPr/>
          <p:nvPr/>
        </p:nvSpPr>
        <p:spPr>
          <a:xfrm>
            <a:off x="731520" y="1143000"/>
            <a:ext cx="7132320"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2-usecase-overall.png"/>
          <p:cNvPicPr>
            <a:picLocks noChangeAspect="1"/>
          </p:cNvPicPr>
          <p:nvPr/>
        </p:nvPicPr>
        <p:blipFill>
          <a:blip r:embed="rId2"/>
          <a:stretch>
            <a:fillRect/>
          </a:stretch>
        </p:blipFill>
        <p:spPr>
          <a:xfrm>
            <a:off x="3584877" y="1280160"/>
            <a:ext cx="1425604" cy="4709160"/>
          </a:xfrm>
          <a:prstGeom prst="rect">
            <a:avLst/>
          </a:prstGeom>
        </p:spPr>
      </p:pic>
      <p:sp>
        <p:nvSpPr>
          <p:cNvPr id="13" name="Rounded Rectangle 12"/>
          <p:cNvSpPr/>
          <p:nvPr/>
        </p:nvSpPr>
        <p:spPr>
          <a:xfrm>
            <a:off x="8046720" y="1143000"/>
            <a:ext cx="3413455"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100" b="1">
                <a:solidFill>
                  <a:srgbClr val="0F172A"/>
                </a:solidFill>
                <a:latin typeface="Segoe UI"/>
              </a:defRPr>
            </a:pPr>
            <a:r>
              <a:t>Ý CHÍNH NGHIỆP VỤ</a:t>
            </a:r>
          </a:p>
          <a:p>
            <a:pPr>
              <a:spcAft>
                <a:spcPts val="200"/>
              </a:spcAft>
              <a:defRPr sz="950" b="1">
                <a:solidFill>
                  <a:srgbClr val="0284C7"/>
                </a:solidFill>
                <a:latin typeface="Segoe UI"/>
              </a:defRPr>
            </a:pPr>
            <a:r>
              <a:t>• Actor cha Authenticated User</a:t>
            </a:r>
          </a:p>
          <a:p>
            <a:pPr>
              <a:spcAft>
                <a:spcPts val="800"/>
              </a:spcAft>
              <a:defRPr sz="900">
                <a:solidFill>
                  <a:srgbClr val="475569"/>
                </a:solidFill>
                <a:latin typeface="Segoe UI"/>
              </a:defRPr>
            </a:pPr>
            <a:r>
              <a:t>Được kế thừa bởi 6 vai trò, tránh lặp đường nối đăng nhập (UC-01).</a:t>
            </a:r>
          </a:p>
          <a:p>
            <a:pPr>
              <a:spcAft>
                <a:spcPts val="200"/>
              </a:spcAft>
              <a:defRPr sz="950" b="1">
                <a:solidFill>
                  <a:srgbClr val="0284C7"/>
                </a:solidFill>
                <a:latin typeface="Segoe UI"/>
              </a:defRPr>
            </a:pPr>
            <a:r>
              <a:t>• Ranh giới 3 phân hệ rõ ràng</a:t>
            </a:r>
          </a:p>
          <a:p>
            <a:pPr>
              <a:spcAft>
                <a:spcPts val="800"/>
              </a:spcAft>
              <a:defRPr sz="900">
                <a:solidFill>
                  <a:srgbClr val="475569"/>
                </a:solidFill>
                <a:latin typeface="Segoe UI"/>
              </a:defRPr>
            </a:pPr>
            <a:r>
              <a:t>Phân định minh bạch giữa Learning, Content và Administration.</a:t>
            </a:r>
          </a:p>
          <a:p>
            <a:pPr>
              <a:spcAft>
                <a:spcPts val="200"/>
              </a:spcAft>
              <a:defRPr sz="950" b="1">
                <a:solidFill>
                  <a:srgbClr val="0284C7"/>
                </a:solidFill>
                <a:latin typeface="Segoe UI"/>
              </a:defRPr>
            </a:pPr>
            <a:r>
              <a:t>• Quan hệ Include chặt chẽ</a:t>
            </a:r>
          </a:p>
          <a:p>
            <a:pPr>
              <a:spcAft>
                <a:spcPts val="800"/>
              </a:spcAft>
              <a:defRPr sz="900">
                <a:solidFill>
                  <a:srgbClr val="475569"/>
                </a:solidFill>
                <a:latin typeface="Segoe UI"/>
              </a:defRPr>
            </a:pPr>
            <a:r>
              <a:t>Học lý thuyết và xem giải thích được tích hợp liền mạch vào bài học.</a:t>
            </a:r>
          </a:p>
          <a:p>
            <a:pPr>
              <a:spcAft>
                <a:spcPts val="200"/>
              </a:spcAft>
              <a:defRPr sz="950" b="1">
                <a:solidFill>
                  <a:srgbClr val="0284C7"/>
                </a:solidFill>
                <a:latin typeface="Segoe UI"/>
              </a:defRPr>
            </a:pPr>
            <a:r>
              <a:t>• Ranh giới UC-14 &amp; UC-15</a:t>
            </a:r>
          </a:p>
          <a:p>
            <a:pPr>
              <a:spcAft>
                <a:spcPts val="800"/>
              </a:spcAft>
              <a:defRPr sz="900">
                <a:solidFill>
                  <a:srgbClr val="475569"/>
                </a:solidFill>
                <a:latin typeface="Segoe UI"/>
              </a:defRPr>
            </a:pPr>
            <a:r>
              <a:t>UC-14 điều phối ở mức MVP; UC-15 định vị là mở rộng tương lai.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0284C7"/>
                </a:solidFill>
                <a:latin typeface="Segoe UI"/>
              </a:defRPr>
            </a:pPr>
            <a:r>
              <a:t>USE CASE</a:t>
            </a:r>
          </a:p>
          <a:p>
            <a:pPr>
              <a:defRPr sz="1800" b="1">
                <a:solidFill>
                  <a:srgbClr val="0F172A"/>
                </a:solidFill>
                <a:latin typeface="Segoe UI"/>
              </a:defRPr>
            </a:pPr>
            <a:r>
              <a:t>Sơ Đồ Ca Sử Dụng Chi Tiết — Phân Hệ Học Viên (Learner)</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04 / 12</a:t>
            </a:r>
          </a:p>
        </p:txBody>
      </p:sp>
      <p:sp>
        <p:nvSpPr>
          <p:cNvPr id="5" name="Rounded Rectangle 4"/>
          <p:cNvSpPr/>
          <p:nvPr/>
        </p:nvSpPr>
        <p:spPr>
          <a:xfrm>
            <a:off x="731520" y="6327648"/>
            <a:ext cx="1664208" cy="292608"/>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2563EB"/>
                </a:solidFill>
                <a:latin typeface="Segoe UI"/>
              </a:defRPr>
            </a:pPr>
            <a:r>
              <a:t>Learner</a:t>
            </a:r>
          </a:p>
        </p:txBody>
      </p:sp>
      <p:sp>
        <p:nvSpPr>
          <p:cNvPr id="6" name="Rounded Rectangle 5"/>
          <p:cNvSpPr/>
          <p:nvPr/>
        </p:nvSpPr>
        <p:spPr>
          <a:xfrm>
            <a:off x="2542032"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Lesson Creator</a:t>
            </a:r>
          </a:p>
        </p:txBody>
      </p:sp>
      <p:sp>
        <p:nvSpPr>
          <p:cNvPr id="7" name="Rounded Rectangle 6"/>
          <p:cNvSpPr/>
          <p:nvPr/>
        </p:nvSpPr>
        <p:spPr>
          <a:xfrm>
            <a:off x="4352544"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Moderator</a:t>
            </a:r>
          </a:p>
        </p:txBody>
      </p:sp>
      <p:sp>
        <p:nvSpPr>
          <p:cNvPr id="8" name="Rounded Rectangle 7"/>
          <p:cNvSpPr/>
          <p:nvPr/>
        </p:nvSpPr>
        <p:spPr>
          <a:xfrm>
            <a:off x="6163056"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Org Manager</a:t>
            </a:r>
          </a:p>
        </p:txBody>
      </p:sp>
      <p:sp>
        <p:nvSpPr>
          <p:cNvPr id="9" name="Rounded Rectangle 8"/>
          <p:cNvSpPr/>
          <p:nvPr/>
        </p:nvSpPr>
        <p:spPr>
          <a:xfrm>
            <a:off x="7973568"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Operations Staff</a:t>
            </a:r>
          </a:p>
        </p:txBody>
      </p:sp>
      <p:sp>
        <p:nvSpPr>
          <p:cNvPr id="10" name="Rounded Rectangle 9"/>
          <p:cNvSpPr/>
          <p:nvPr/>
        </p:nvSpPr>
        <p:spPr>
          <a:xfrm>
            <a:off x="9784080"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Administrator</a:t>
            </a:r>
          </a:p>
        </p:txBody>
      </p:sp>
      <p:sp>
        <p:nvSpPr>
          <p:cNvPr id="11" name="Rounded Rectangle 10"/>
          <p:cNvSpPr/>
          <p:nvPr/>
        </p:nvSpPr>
        <p:spPr>
          <a:xfrm>
            <a:off x="731520" y="1143000"/>
            <a:ext cx="7132320"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3-usecase-learner.png"/>
          <p:cNvPicPr>
            <a:picLocks noChangeAspect="1"/>
          </p:cNvPicPr>
          <p:nvPr/>
        </p:nvPicPr>
        <p:blipFill>
          <a:blip r:embed="rId2"/>
          <a:stretch>
            <a:fillRect/>
          </a:stretch>
        </p:blipFill>
        <p:spPr>
          <a:xfrm>
            <a:off x="1819297" y="1280160"/>
            <a:ext cx="4956764" cy="4709160"/>
          </a:xfrm>
          <a:prstGeom prst="rect">
            <a:avLst/>
          </a:prstGeom>
        </p:spPr>
      </p:pic>
      <p:sp>
        <p:nvSpPr>
          <p:cNvPr id="13" name="Rounded Rectangle 12"/>
          <p:cNvSpPr/>
          <p:nvPr/>
        </p:nvSpPr>
        <p:spPr>
          <a:xfrm>
            <a:off x="8046720" y="1143000"/>
            <a:ext cx="3413455"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100" b="1">
                <a:solidFill>
                  <a:srgbClr val="0F172A"/>
                </a:solidFill>
                <a:latin typeface="Segoe UI"/>
              </a:defRPr>
            </a:pPr>
            <a:r>
              <a:t>Ý CHÍNH NGHIỆP VỤ</a:t>
            </a:r>
          </a:p>
          <a:p>
            <a:pPr>
              <a:spcAft>
                <a:spcPts val="200"/>
              </a:spcAft>
              <a:defRPr sz="950" b="1">
                <a:solidFill>
                  <a:srgbClr val="0284C7"/>
                </a:solidFill>
                <a:latin typeface="Segoe UI"/>
              </a:defRPr>
            </a:pPr>
            <a:r>
              <a:t>• Lesson Content Viewer bắt buộc</a:t>
            </a:r>
          </a:p>
          <a:p>
            <a:pPr>
              <a:spcAft>
                <a:spcPts val="800"/>
              </a:spcAft>
              <a:defRPr sz="900">
                <a:solidFill>
                  <a:srgbClr val="475569"/>
                </a:solidFill>
                <a:latin typeface="Segoe UI"/>
              </a:defRPr>
            </a:pPr>
            <a:r>
              <a:t>Include trực tiếp vào UC-05, học viên phải nạp lý thuyết trước bài tập.</a:t>
            </a:r>
          </a:p>
          <a:p>
            <a:pPr>
              <a:spcAft>
                <a:spcPts val="200"/>
              </a:spcAft>
              <a:defRPr sz="950" b="1">
                <a:solidFill>
                  <a:srgbClr val="0284C7"/>
                </a:solidFill>
                <a:latin typeface="Segoe UI"/>
              </a:defRPr>
            </a:pPr>
            <a:r>
              <a:t>• Controlled Retry là Extend</a:t>
            </a:r>
          </a:p>
          <a:p>
            <a:pPr>
              <a:spcAft>
                <a:spcPts val="800"/>
              </a:spcAft>
              <a:defRPr sz="900">
                <a:solidFill>
                  <a:srgbClr val="475569"/>
                </a:solidFill>
                <a:latin typeface="Segoe UI"/>
              </a:defRPr>
            </a:pPr>
            <a:r>
              <a:t>Làm lại câu sai có kiểm soát hạn mức, tối đa 70% điểm công nhận.</a:t>
            </a:r>
          </a:p>
          <a:p>
            <a:pPr>
              <a:spcAft>
                <a:spcPts val="200"/>
              </a:spcAft>
              <a:defRPr sz="950" b="1">
                <a:solidFill>
                  <a:srgbClr val="0284C7"/>
                </a:solidFill>
                <a:latin typeface="Segoe UI"/>
              </a:defRPr>
            </a:pPr>
            <a:r>
              <a:t>• Conditional Jump độc lập</a:t>
            </a:r>
          </a:p>
          <a:p>
            <a:pPr>
              <a:spcAft>
                <a:spcPts val="800"/>
              </a:spcAft>
              <a:defRPr sz="900">
                <a:solidFill>
                  <a:srgbClr val="475569"/>
                </a:solidFill>
                <a:latin typeface="Segoe UI"/>
              </a:defRPr>
            </a:pPr>
            <a:r>
              <a:t>Extend từ lộ trình UC-04, thử thách nhảy cấp với ngưỡng đạt 95%.</a:t>
            </a:r>
          </a:p>
          <a:p>
            <a:pPr>
              <a:spcAft>
                <a:spcPts val="200"/>
              </a:spcAft>
              <a:defRPr sz="950" b="1">
                <a:solidFill>
                  <a:srgbClr val="0284C7"/>
                </a:solidFill>
                <a:latin typeface="Segoe UI"/>
              </a:defRPr>
            </a:pPr>
            <a:r>
              <a:t>• Chu trình học tập khép kín</a:t>
            </a:r>
          </a:p>
          <a:p>
            <a:pPr>
              <a:spcAft>
                <a:spcPts val="800"/>
              </a:spcAft>
              <a:defRPr sz="900">
                <a:solidFill>
                  <a:srgbClr val="475569"/>
                </a:solidFill>
                <a:latin typeface="Segoe UI"/>
              </a:defRPr>
            </a:pPr>
            <a:r>
              <a:t>Từ chẩn đoán (UC-03), học bài (UC-05), ôn tập SRS (UC-06) đến Streak (UC-07).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0284C7"/>
                </a:solidFill>
                <a:latin typeface="Segoe UI"/>
              </a:defRPr>
            </a:pPr>
            <a:r>
              <a:t>USE CASE</a:t>
            </a:r>
          </a:p>
          <a:p>
            <a:pPr>
              <a:defRPr sz="1800" b="1">
                <a:solidFill>
                  <a:srgbClr val="0F172A"/>
                </a:solidFill>
                <a:latin typeface="Segoe UI"/>
              </a:defRPr>
            </a:pPr>
            <a:r>
              <a:t>Sơ Đồ Ca Sử Dụng Chi Tiết — Phân Hệ Nội Dung &amp; Quản Trị</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05 / 12</a:t>
            </a:r>
          </a:p>
        </p:txBody>
      </p:sp>
      <p:sp>
        <p:nvSpPr>
          <p:cNvPr id="5" name="Rounded Rectangle 4"/>
          <p:cNvSpPr/>
          <p:nvPr/>
        </p:nvSpPr>
        <p:spPr>
          <a:xfrm>
            <a:off x="731520"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Learner</a:t>
            </a:r>
          </a:p>
        </p:txBody>
      </p:sp>
      <p:sp>
        <p:nvSpPr>
          <p:cNvPr id="6" name="Rounded Rectangle 5"/>
          <p:cNvSpPr/>
          <p:nvPr/>
        </p:nvSpPr>
        <p:spPr>
          <a:xfrm>
            <a:off x="2542032" y="6327648"/>
            <a:ext cx="1664208" cy="292608"/>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EA580C"/>
                </a:solidFill>
                <a:latin typeface="Segoe UI"/>
              </a:defRPr>
            </a:pPr>
            <a:r>
              <a:t>Lesson Creator</a:t>
            </a:r>
          </a:p>
        </p:txBody>
      </p:sp>
      <p:sp>
        <p:nvSpPr>
          <p:cNvPr id="7" name="Rounded Rectangle 6"/>
          <p:cNvSpPr/>
          <p:nvPr/>
        </p:nvSpPr>
        <p:spPr>
          <a:xfrm>
            <a:off x="4352544" y="6327648"/>
            <a:ext cx="1664208" cy="292608"/>
          </a:xfrm>
          <a:prstGeom prst="roundRect">
            <a:avLst/>
          </a:prstGeom>
          <a:solidFill>
            <a:srgbClr val="FFFFFF"/>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16A34A"/>
                </a:solidFill>
                <a:latin typeface="Segoe UI"/>
              </a:defRPr>
            </a:pPr>
            <a:r>
              <a:t>Moderator</a:t>
            </a:r>
          </a:p>
        </p:txBody>
      </p:sp>
      <p:sp>
        <p:nvSpPr>
          <p:cNvPr id="8" name="Rounded Rectangle 7"/>
          <p:cNvSpPr/>
          <p:nvPr/>
        </p:nvSpPr>
        <p:spPr>
          <a:xfrm>
            <a:off x="6163056" y="6327648"/>
            <a:ext cx="1664208" cy="292608"/>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7C3AED"/>
                </a:solidFill>
                <a:latin typeface="Segoe UI"/>
              </a:defRPr>
            </a:pPr>
            <a:r>
              <a:t>Org Manager</a:t>
            </a:r>
          </a:p>
        </p:txBody>
      </p:sp>
      <p:sp>
        <p:nvSpPr>
          <p:cNvPr id="9" name="Rounded Rectangle 8"/>
          <p:cNvSpPr/>
          <p:nvPr/>
        </p:nvSpPr>
        <p:spPr>
          <a:xfrm>
            <a:off x="7973568" y="6327648"/>
            <a:ext cx="1664208" cy="292608"/>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0D9488"/>
                </a:solidFill>
                <a:latin typeface="Segoe UI"/>
              </a:defRPr>
            </a:pPr>
            <a:r>
              <a:t>Operations Staff</a:t>
            </a:r>
          </a:p>
        </p:txBody>
      </p:sp>
      <p:sp>
        <p:nvSpPr>
          <p:cNvPr id="10" name="Rounded Rectangle 9"/>
          <p:cNvSpPr/>
          <p:nvPr/>
        </p:nvSpPr>
        <p:spPr>
          <a:xfrm>
            <a:off x="9784080" y="6327648"/>
            <a:ext cx="1664208" cy="292608"/>
          </a:xfrm>
          <a:prstGeom prst="roundRect">
            <a:avLst/>
          </a:prstGeom>
          <a:solidFill>
            <a:srgbClr val="FFFFFF"/>
          </a:solidFill>
          <a:ln w="1524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9F1239"/>
                </a:solidFill>
                <a:latin typeface="Segoe UI"/>
              </a:defRPr>
            </a:pPr>
            <a:r>
              <a:t>Administrator</a:t>
            </a:r>
          </a:p>
        </p:txBody>
      </p:sp>
      <p:sp>
        <p:nvSpPr>
          <p:cNvPr id="11" name="Rounded Rectangle 10"/>
          <p:cNvSpPr/>
          <p:nvPr/>
        </p:nvSpPr>
        <p:spPr>
          <a:xfrm>
            <a:off x="731520" y="1143000"/>
            <a:ext cx="7132320"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4-usecase-content-admin.png"/>
          <p:cNvPicPr>
            <a:picLocks noChangeAspect="1"/>
          </p:cNvPicPr>
          <p:nvPr/>
        </p:nvPicPr>
        <p:blipFill>
          <a:blip r:embed="rId2"/>
          <a:stretch>
            <a:fillRect/>
          </a:stretch>
        </p:blipFill>
        <p:spPr>
          <a:xfrm>
            <a:off x="2537355" y="1280160"/>
            <a:ext cx="3520648" cy="4709160"/>
          </a:xfrm>
          <a:prstGeom prst="rect">
            <a:avLst/>
          </a:prstGeom>
        </p:spPr>
      </p:pic>
      <p:sp>
        <p:nvSpPr>
          <p:cNvPr id="13" name="Rounded Rectangle 12"/>
          <p:cNvSpPr/>
          <p:nvPr/>
        </p:nvSpPr>
        <p:spPr>
          <a:xfrm>
            <a:off x="8046720" y="1143000"/>
            <a:ext cx="3413455"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100" b="1">
                <a:solidFill>
                  <a:srgbClr val="0F172A"/>
                </a:solidFill>
                <a:latin typeface="Segoe UI"/>
              </a:defRPr>
            </a:pPr>
            <a:r>
              <a:t>Ý CHÍNH NGHIỆP VỤ</a:t>
            </a:r>
          </a:p>
          <a:p>
            <a:pPr>
              <a:spcAft>
                <a:spcPts val="200"/>
              </a:spcAft>
              <a:defRPr sz="950" b="1">
                <a:solidFill>
                  <a:srgbClr val="0284C7"/>
                </a:solidFill>
                <a:latin typeface="Segoe UI"/>
              </a:defRPr>
            </a:pPr>
            <a:r>
              <a:t>• Phân tách nhiệm vụ (SoD)</a:t>
            </a:r>
          </a:p>
          <a:p>
            <a:pPr>
              <a:spcAft>
                <a:spcPts val="800"/>
              </a:spcAft>
              <a:defRPr sz="900">
                <a:solidFill>
                  <a:srgbClr val="475569"/>
                </a:solidFill>
                <a:latin typeface="Segoe UI"/>
              </a:defRPr>
            </a:pPr>
            <a:r>
              <a:t>Creator soạn thảo (UC-08), Moderator duyệt (UC-09), Org Manager xuất bản (UC-10).</a:t>
            </a:r>
          </a:p>
          <a:p>
            <a:pPr>
              <a:spcAft>
                <a:spcPts val="200"/>
              </a:spcAft>
              <a:defRPr sz="950" b="1">
                <a:solidFill>
                  <a:srgbClr val="0284C7"/>
                </a:solidFill>
                <a:latin typeface="Segoe UI"/>
              </a:defRPr>
            </a:pPr>
            <a:r>
              <a:t>• Quy trình xuất bản nghiêm ngặt</a:t>
            </a:r>
          </a:p>
          <a:p>
            <a:pPr>
              <a:spcAft>
                <a:spcPts val="800"/>
              </a:spcAft>
              <a:defRPr sz="900">
                <a:solidFill>
                  <a:srgbClr val="475569"/>
                </a:solidFill>
                <a:latin typeface="Segoe UI"/>
              </a:defRPr>
            </a:pPr>
            <a:r>
              <a:t>Tổ chức xuất bản yêu cầu kiểm tra điều kiện đóng băng 4/4 bài học của Unit.</a:t>
            </a:r>
          </a:p>
          <a:p>
            <a:pPr>
              <a:spcAft>
                <a:spcPts val="200"/>
              </a:spcAft>
              <a:defRPr sz="950" b="1">
                <a:solidFill>
                  <a:srgbClr val="0284C7"/>
                </a:solidFill>
                <a:latin typeface="Segoe UI"/>
              </a:defRPr>
            </a:pPr>
            <a:r>
              <a:t>• Xuất bản khẩn cấp có Audit</a:t>
            </a:r>
          </a:p>
          <a:p>
            <a:pPr>
              <a:spcAft>
                <a:spcPts val="800"/>
              </a:spcAft>
              <a:defRPr sz="900">
                <a:solidFill>
                  <a:srgbClr val="475569"/>
                </a:solidFill>
                <a:latin typeface="Segoe UI"/>
              </a:defRPr>
            </a:pPr>
            <a:r>
              <a:t>Admin có quyền Emergency Publish nhưng bắt buộc ghi nhận lý do vào AuditLog.</a:t>
            </a:r>
          </a:p>
          <a:p>
            <a:pPr>
              <a:spcAft>
                <a:spcPts val="200"/>
              </a:spcAft>
              <a:defRPr sz="950" b="1">
                <a:solidFill>
                  <a:srgbClr val="0284C7"/>
                </a:solidFill>
                <a:latin typeface="Segoe UI"/>
              </a:defRPr>
            </a:pPr>
            <a:r>
              <a:t>• Hỗ trợ kỹ thuật &amp; Vận hành</a:t>
            </a:r>
          </a:p>
          <a:p>
            <a:pPr>
              <a:spcAft>
                <a:spcPts val="800"/>
              </a:spcAft>
              <a:defRPr sz="900">
                <a:solidFill>
                  <a:srgbClr val="475569"/>
                </a:solidFill>
                <a:latin typeface="Segoe UI"/>
              </a:defRPr>
            </a:pPr>
            <a:r>
              <a:t>Operations Staff điều phối ticket (UC-14), Admin theo dõi an ninh (UC-13).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10B981"/>
                </a:solidFill>
                <a:latin typeface="Segoe UI"/>
              </a:defRPr>
            </a:pPr>
            <a:r>
              <a:t>ACTIVITY</a:t>
            </a:r>
          </a:p>
          <a:p>
            <a:pPr>
              <a:defRPr sz="1800" b="1">
                <a:solidFill>
                  <a:srgbClr val="0F172A"/>
                </a:solidFill>
                <a:latin typeface="Segoe UI"/>
              </a:defRPr>
            </a:pPr>
            <a:r>
              <a:t>Sơ Đồ Hoạt Động — Đánh Giá Chẩn Đoán Đầu Vào (Diagnostic Test)</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06 / 12</a:t>
            </a:r>
          </a:p>
        </p:txBody>
      </p:sp>
      <p:sp>
        <p:nvSpPr>
          <p:cNvPr id="5" name="Rounded Rectangle 4"/>
          <p:cNvSpPr/>
          <p:nvPr/>
        </p:nvSpPr>
        <p:spPr>
          <a:xfrm>
            <a:off x="731520" y="6419088"/>
            <a:ext cx="1664208" cy="292608"/>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2563EB"/>
                </a:solidFill>
                <a:latin typeface="Segoe UI"/>
              </a:defRPr>
            </a:pPr>
            <a:r>
              <a:t>Learner</a:t>
            </a:r>
          </a:p>
        </p:txBody>
      </p:sp>
      <p:sp>
        <p:nvSpPr>
          <p:cNvPr id="6" name="Rounded Rectangle 5"/>
          <p:cNvSpPr/>
          <p:nvPr/>
        </p:nvSpPr>
        <p:spPr>
          <a:xfrm>
            <a:off x="2542032"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Lesson Creator</a:t>
            </a:r>
          </a:p>
        </p:txBody>
      </p:sp>
      <p:sp>
        <p:nvSpPr>
          <p:cNvPr id="7" name="Rounded Rectangle 6"/>
          <p:cNvSpPr/>
          <p:nvPr/>
        </p:nvSpPr>
        <p:spPr>
          <a:xfrm>
            <a:off x="4352544"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Moderator</a:t>
            </a:r>
          </a:p>
        </p:txBody>
      </p:sp>
      <p:sp>
        <p:nvSpPr>
          <p:cNvPr id="8" name="Rounded Rectangle 7"/>
          <p:cNvSpPr/>
          <p:nvPr/>
        </p:nvSpPr>
        <p:spPr>
          <a:xfrm>
            <a:off x="6163056"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Org Manager</a:t>
            </a:r>
          </a:p>
        </p:txBody>
      </p:sp>
      <p:sp>
        <p:nvSpPr>
          <p:cNvPr id="9" name="Rounded Rectangle 8"/>
          <p:cNvSpPr/>
          <p:nvPr/>
        </p:nvSpPr>
        <p:spPr>
          <a:xfrm>
            <a:off x="7973568"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Operations Staff</a:t>
            </a:r>
          </a:p>
        </p:txBody>
      </p:sp>
      <p:sp>
        <p:nvSpPr>
          <p:cNvPr id="10" name="Rounded Rectangle 9"/>
          <p:cNvSpPr/>
          <p:nvPr/>
        </p:nvSpPr>
        <p:spPr>
          <a:xfrm>
            <a:off x="9784080"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Administrator</a:t>
            </a:r>
          </a:p>
        </p:txBody>
      </p:sp>
      <p:sp>
        <p:nvSpPr>
          <p:cNvPr id="11" name="Rounded Rectangle 10"/>
          <p:cNvSpPr/>
          <p:nvPr/>
        </p:nvSpPr>
        <p:spPr>
          <a:xfrm>
            <a:off x="731520" y="1115568"/>
            <a:ext cx="5230368"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188720"/>
            <a:ext cx="4956048" cy="274320"/>
          </a:xfrm>
          <a:prstGeom prst="rect">
            <a:avLst/>
          </a:prstGeom>
          <a:noFill/>
        </p:spPr>
        <p:txBody>
          <a:bodyPr wrap="none" lIns="0" tIns="0" rIns="0" bIns="0">
            <a:spAutoFit/>
          </a:bodyPr>
          <a:lstStyle/>
          <a:p>
            <a:pPr>
              <a:defRPr sz="1000" b="1">
                <a:solidFill>
                  <a:srgbClr val="0F172A"/>
                </a:solidFill>
                <a:latin typeface="Segoe UI"/>
              </a:defRPr>
            </a:pPr>
            <a:r>
              <a:t>Luồng Chẩn Đoán Chính (30 Câu Hỏi → Xác Định Vị Trí)</a:t>
            </a:r>
          </a:p>
        </p:txBody>
      </p:sp>
      <p:pic>
        <p:nvPicPr>
          <p:cNvPr id="13" name="Picture 12" descr="05a-activity-placement-flow.png"/>
          <p:cNvPicPr>
            <a:picLocks noChangeAspect="1"/>
          </p:cNvPicPr>
          <p:nvPr/>
        </p:nvPicPr>
        <p:blipFill>
          <a:blip r:embed="rId2"/>
          <a:stretch>
            <a:fillRect/>
          </a:stretch>
        </p:blipFill>
        <p:spPr>
          <a:xfrm>
            <a:off x="1707790" y="1463040"/>
            <a:ext cx="3277826" cy="3364992"/>
          </a:xfrm>
          <a:prstGeom prst="rect">
            <a:avLst/>
          </a:prstGeom>
        </p:spPr>
      </p:pic>
      <p:sp>
        <p:nvSpPr>
          <p:cNvPr id="14" name="Rounded Rectangle 13"/>
          <p:cNvSpPr/>
          <p:nvPr/>
        </p:nvSpPr>
        <p:spPr>
          <a:xfrm>
            <a:off x="6229807" y="1115568"/>
            <a:ext cx="5230368"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6967" y="1188720"/>
            <a:ext cx="4956048" cy="274320"/>
          </a:xfrm>
          <a:prstGeom prst="rect">
            <a:avLst/>
          </a:prstGeom>
          <a:noFill/>
        </p:spPr>
        <p:txBody>
          <a:bodyPr wrap="none" lIns="0" tIns="0" rIns="0" bIns="0">
            <a:spAutoFit/>
          </a:bodyPr>
          <a:lstStyle/>
          <a:p>
            <a:pPr>
              <a:defRPr sz="1000" b="1">
                <a:solidFill>
                  <a:srgbClr val="0F172A"/>
                </a:solidFill>
                <a:latin typeface="Segoe UI"/>
              </a:defRPr>
            </a:pPr>
            <a:r>
              <a:t>Nhánh Bỏ Qua (Skip) &amp; Nhánh Làm Lại (Retake)</a:t>
            </a:r>
          </a:p>
        </p:txBody>
      </p:sp>
      <p:pic>
        <p:nvPicPr>
          <p:cNvPr id="16" name="Picture 15" descr="05b-activity-placement-branches.png"/>
          <p:cNvPicPr>
            <a:picLocks noChangeAspect="1"/>
          </p:cNvPicPr>
          <p:nvPr/>
        </p:nvPicPr>
        <p:blipFill>
          <a:blip r:embed="rId3"/>
          <a:stretch>
            <a:fillRect/>
          </a:stretch>
        </p:blipFill>
        <p:spPr>
          <a:xfrm>
            <a:off x="6339535" y="2367936"/>
            <a:ext cx="5010912" cy="1555199"/>
          </a:xfrm>
          <a:prstGeom prst="rect">
            <a:avLst/>
          </a:prstGeom>
        </p:spPr>
      </p:pic>
      <p:sp>
        <p:nvSpPr>
          <p:cNvPr id="17" name="Rounded Rectangle 16"/>
          <p:cNvSpPr/>
          <p:nvPr/>
        </p:nvSpPr>
        <p:spPr>
          <a:xfrm>
            <a:off x="731520" y="5047488"/>
            <a:ext cx="10728655" cy="12618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73152"/>
          <a:lstStyle/>
          <a:p>
            <a:pPr algn="ctr">
              <a:spcAft>
                <a:spcPts val="400"/>
              </a:spcAft>
              <a:defRPr sz="950" b="1">
                <a:solidFill>
                  <a:srgbClr val="0F172A"/>
                </a:solidFill>
                <a:latin typeface="Segoe UI"/>
              </a:defRPr>
            </a:pPr>
            <a:r>
              <a:t>Ý CHÍNH NGHIỆP VỤ &amp; QUY TẮC RÀNG BUỘC</a:t>
            </a:r>
          </a:p>
          <a:p>
            <a:pPr>
              <a:spcAft>
                <a:spcPts val="200"/>
              </a:spcAft>
              <a:defRPr sz="880">
                <a:solidFill>
                  <a:srgbClr val="475569"/>
                </a:solidFill>
                <a:latin typeface="Segoe UI"/>
              </a:defRPr>
            </a:pPr>
            <a:r>
              <a:t>• Chuẩn hóa 30 câu hỏi chuyên gia: Điểm thô 0–30, thang Mapping A: 0-7 (U1), 8-12 (U2), 13-17 (U3), 18-22 (U4), 23-26 (U5), 27-30 (U6)</a:t>
            </a:r>
          </a:p>
          <a:p>
            <a:pPr>
              <a:spcAft>
                <a:spcPts val="200"/>
              </a:spcAft>
              <a:defRPr sz="880">
                <a:solidFill>
                  <a:srgbClr val="475569"/>
                </a:solidFill>
                <a:latin typeface="Segoe UI"/>
              </a:defRPr>
            </a:pPr>
            <a:r>
              <a:t>• Nhánh Bỏ qua (Skip Test): Gán mặc định Unit 1, selfReportedLevel = UNVERIFIED, KHÔNG tạo bản ghi rác trong AssessmentResult/SkillProfile</a:t>
            </a:r>
          </a:p>
          <a:p>
            <a:pPr>
              <a:spcAft>
                <a:spcPts val="200"/>
              </a:spcAft>
              <a:defRPr sz="880">
                <a:solidFill>
                  <a:srgbClr val="475569"/>
                </a:solidFill>
                <a:latin typeface="Segoe UI"/>
              </a:defRPr>
            </a:pPr>
            <a:r>
              <a:t>• Nhánh Làm lại (Retake từ Profile): Lưu bản ghi AssessmentResult mới độc lập, không ghi đè lịch sử, cập nhật vị trí bắt đầu mới nhất</a:t>
            </a:r>
          </a:p>
          <a:p>
            <a:pPr>
              <a:spcAft>
                <a:spcPts val="200"/>
              </a:spcAft>
              <a:defRPr sz="880">
                <a:solidFill>
                  <a:srgbClr val="475569"/>
                </a:solidFill>
                <a:latin typeface="Segoe UI"/>
              </a:defRPr>
            </a:pPr>
            <a:r>
              <a:t>• Tính bất biến dữ liệu: Bản ghi kết quả đánh giá không bao giờ bị sửa đổi hay xóa bỏ sau khi đã nộp bài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10B981"/>
                </a:solidFill>
                <a:latin typeface="Segoe UI"/>
              </a:defRPr>
            </a:pPr>
            <a:r>
              <a:t>ACTIVITY</a:t>
            </a:r>
          </a:p>
          <a:p>
            <a:pPr>
              <a:defRPr sz="1800" b="1">
                <a:solidFill>
                  <a:srgbClr val="0F172A"/>
                </a:solidFill>
                <a:latin typeface="Segoe UI"/>
              </a:defRPr>
            </a:pPr>
            <a:r>
              <a:t>Sơ Đồ Hoạt Động — Chu Trình Học Bài &amp; Làm Lại Có Kiểm Soát</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07 / 12</a:t>
            </a:r>
          </a:p>
        </p:txBody>
      </p:sp>
      <p:sp>
        <p:nvSpPr>
          <p:cNvPr id="5" name="Rounded Rectangle 4"/>
          <p:cNvSpPr/>
          <p:nvPr/>
        </p:nvSpPr>
        <p:spPr>
          <a:xfrm>
            <a:off x="731520" y="6419088"/>
            <a:ext cx="1664208" cy="292608"/>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2563EB"/>
                </a:solidFill>
                <a:latin typeface="Segoe UI"/>
              </a:defRPr>
            </a:pPr>
            <a:r>
              <a:t>Learner</a:t>
            </a:r>
          </a:p>
        </p:txBody>
      </p:sp>
      <p:sp>
        <p:nvSpPr>
          <p:cNvPr id="6" name="Rounded Rectangle 5"/>
          <p:cNvSpPr/>
          <p:nvPr/>
        </p:nvSpPr>
        <p:spPr>
          <a:xfrm>
            <a:off x="2542032"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Lesson Creator</a:t>
            </a:r>
          </a:p>
        </p:txBody>
      </p:sp>
      <p:sp>
        <p:nvSpPr>
          <p:cNvPr id="7" name="Rounded Rectangle 6"/>
          <p:cNvSpPr/>
          <p:nvPr/>
        </p:nvSpPr>
        <p:spPr>
          <a:xfrm>
            <a:off x="4352544"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Moderator</a:t>
            </a:r>
          </a:p>
        </p:txBody>
      </p:sp>
      <p:sp>
        <p:nvSpPr>
          <p:cNvPr id="8" name="Rounded Rectangle 7"/>
          <p:cNvSpPr/>
          <p:nvPr/>
        </p:nvSpPr>
        <p:spPr>
          <a:xfrm>
            <a:off x="6163056"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Org Manager</a:t>
            </a:r>
          </a:p>
        </p:txBody>
      </p:sp>
      <p:sp>
        <p:nvSpPr>
          <p:cNvPr id="9" name="Rounded Rectangle 8"/>
          <p:cNvSpPr/>
          <p:nvPr/>
        </p:nvSpPr>
        <p:spPr>
          <a:xfrm>
            <a:off x="7973568"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Operations Staff</a:t>
            </a:r>
          </a:p>
        </p:txBody>
      </p:sp>
      <p:sp>
        <p:nvSpPr>
          <p:cNvPr id="10" name="Rounded Rectangle 9"/>
          <p:cNvSpPr/>
          <p:nvPr/>
        </p:nvSpPr>
        <p:spPr>
          <a:xfrm>
            <a:off x="9784080"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Administrator</a:t>
            </a:r>
          </a:p>
        </p:txBody>
      </p:sp>
      <p:sp>
        <p:nvSpPr>
          <p:cNvPr id="11" name="Rounded Rectangle 10"/>
          <p:cNvSpPr/>
          <p:nvPr/>
        </p:nvSpPr>
        <p:spPr>
          <a:xfrm>
            <a:off x="731520" y="1115568"/>
            <a:ext cx="5230368"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188720"/>
            <a:ext cx="4956048" cy="274320"/>
          </a:xfrm>
          <a:prstGeom prst="rect">
            <a:avLst/>
          </a:prstGeom>
          <a:noFill/>
        </p:spPr>
        <p:txBody>
          <a:bodyPr wrap="none" lIns="0" tIns="0" rIns="0" bIns="0">
            <a:spAutoFit/>
          </a:bodyPr>
          <a:lstStyle/>
          <a:p>
            <a:pPr>
              <a:defRPr sz="1000" b="1">
                <a:solidFill>
                  <a:srgbClr val="0F172A"/>
                </a:solidFill>
                <a:latin typeface="Segoe UI"/>
              </a:defRPr>
            </a:pPr>
            <a:r>
              <a:t>Luồng Học Chính (Kiểm Tra Đóng Băng 4/4 → Viewer → Bài Tập)</a:t>
            </a:r>
          </a:p>
        </p:txBody>
      </p:sp>
      <p:pic>
        <p:nvPicPr>
          <p:cNvPr id="13" name="Picture 12" descr="06a-activity-learning-main.png"/>
          <p:cNvPicPr>
            <a:picLocks noChangeAspect="1"/>
          </p:cNvPicPr>
          <p:nvPr/>
        </p:nvPicPr>
        <p:blipFill>
          <a:blip r:embed="rId2"/>
          <a:stretch>
            <a:fillRect/>
          </a:stretch>
        </p:blipFill>
        <p:spPr>
          <a:xfrm>
            <a:off x="841248" y="1492587"/>
            <a:ext cx="5010912" cy="3305896"/>
          </a:xfrm>
          <a:prstGeom prst="rect">
            <a:avLst/>
          </a:prstGeom>
        </p:spPr>
      </p:pic>
      <p:sp>
        <p:nvSpPr>
          <p:cNvPr id="14" name="Rounded Rectangle 13"/>
          <p:cNvSpPr/>
          <p:nvPr/>
        </p:nvSpPr>
        <p:spPr>
          <a:xfrm>
            <a:off x="6229807" y="1115568"/>
            <a:ext cx="5230368"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6967" y="1188720"/>
            <a:ext cx="4956048" cy="274320"/>
          </a:xfrm>
          <a:prstGeom prst="rect">
            <a:avLst/>
          </a:prstGeom>
          <a:noFill/>
        </p:spPr>
        <p:txBody>
          <a:bodyPr wrap="none" lIns="0" tIns="0" rIns="0" bIns="0">
            <a:spAutoFit/>
          </a:bodyPr>
          <a:lstStyle/>
          <a:p>
            <a:pPr>
              <a:defRPr sz="1000" b="1">
                <a:solidFill>
                  <a:srgbClr val="0F172A"/>
                </a:solidFill>
                <a:latin typeface="Segoe UI"/>
              </a:defRPr>
            </a:pPr>
            <a:r>
              <a:t>Luồng Làm Lại Có Kiểm Soát (Controlled Retry Flow)</a:t>
            </a:r>
          </a:p>
        </p:txBody>
      </p:sp>
      <p:pic>
        <p:nvPicPr>
          <p:cNvPr id="16" name="Picture 15" descr="06b-activity-learning-retry.png"/>
          <p:cNvPicPr>
            <a:picLocks noChangeAspect="1"/>
          </p:cNvPicPr>
          <p:nvPr/>
        </p:nvPicPr>
        <p:blipFill>
          <a:blip r:embed="rId3"/>
          <a:stretch>
            <a:fillRect/>
          </a:stretch>
        </p:blipFill>
        <p:spPr>
          <a:xfrm>
            <a:off x="6339535" y="1610277"/>
            <a:ext cx="5010912" cy="3070516"/>
          </a:xfrm>
          <a:prstGeom prst="rect">
            <a:avLst/>
          </a:prstGeom>
        </p:spPr>
      </p:pic>
      <p:sp>
        <p:nvSpPr>
          <p:cNvPr id="17" name="Rounded Rectangle 16"/>
          <p:cNvSpPr/>
          <p:nvPr/>
        </p:nvSpPr>
        <p:spPr>
          <a:xfrm>
            <a:off x="731520" y="5047488"/>
            <a:ext cx="10728655" cy="12618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73152"/>
          <a:lstStyle/>
          <a:p>
            <a:pPr algn="ctr">
              <a:spcAft>
                <a:spcPts val="400"/>
              </a:spcAft>
              <a:defRPr sz="950" b="1">
                <a:solidFill>
                  <a:srgbClr val="0F172A"/>
                </a:solidFill>
                <a:latin typeface="Segoe UI"/>
              </a:defRPr>
            </a:pPr>
            <a:r>
              <a:t>Ý CHÍNH NGHIỆP VỤ &amp; QUY TẮC RÀNG BUỘC</a:t>
            </a:r>
          </a:p>
          <a:p>
            <a:pPr>
              <a:spcAft>
                <a:spcPts val="200"/>
              </a:spcAft>
              <a:defRPr sz="880">
                <a:solidFill>
                  <a:srgbClr val="475569"/>
                </a:solidFill>
                <a:latin typeface="Segoe UI"/>
              </a:defRPr>
            </a:pPr>
            <a:r>
              <a:t>• Tiền điều kiện Unit đóng băng: Unit chỉ mở khóa khi đủ 4/4 bài học ở trạng thái PUBLISHED; chặn học nếu nội dung chưa hoàn chỉnh</a:t>
            </a:r>
          </a:p>
          <a:p>
            <a:pPr>
              <a:spcAft>
                <a:spcPts val="200"/>
              </a:spcAft>
              <a:defRPr sz="880">
                <a:solidFill>
                  <a:srgbClr val="475569"/>
                </a:solidFill>
                <a:latin typeface="Segoe UI"/>
              </a:defRPr>
            </a:pPr>
            <a:r>
              <a:t>• Bắt buộc qua Lesson Content Viewer: Học viên phải tiếp thu từ vựng và ngữ pháp trước khi được phép nộp đáp án bài tập</a:t>
            </a:r>
          </a:p>
          <a:p>
            <a:pPr>
              <a:spcAft>
                <a:spcPts val="200"/>
              </a:spcAft>
              <a:defRPr sz="880">
                <a:solidFill>
                  <a:srgbClr val="475569"/>
                </a:solidFill>
                <a:latin typeface="Segoe UI"/>
              </a:defRPr>
            </a:pPr>
            <a:r>
              <a:t>• Công thức hạn mức Controlled Retry: Hạn mức làm lại = max(1, floor(N * 0.10)); điểm làm lại đúng chỉ công nhận tối đa 70%</a:t>
            </a:r>
          </a:p>
          <a:p>
            <a:pPr>
              <a:spcAft>
                <a:spcPts val="200"/>
              </a:spcAft>
              <a:defRPr sz="880">
                <a:solidFill>
                  <a:srgbClr val="475569"/>
                </a:solidFill>
                <a:latin typeface="Segoe UI"/>
              </a:defRPr>
            </a:pPr>
            <a:r>
              <a:t>• Cập nhật trạng thái nguyên tử: Hoàn thành bài học ghi nhận tiến độ, kích hoạt thuật toán SRS và cộng chuỗi ngày học Streak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10B981"/>
                </a:solidFill>
                <a:latin typeface="Segoe UI"/>
              </a:defRPr>
            </a:pPr>
            <a:r>
              <a:t>ACTIVITY</a:t>
            </a:r>
          </a:p>
          <a:p>
            <a:pPr>
              <a:defRPr sz="1800" b="1">
                <a:solidFill>
                  <a:srgbClr val="0F172A"/>
                </a:solidFill>
                <a:latin typeface="Segoe UI"/>
              </a:defRPr>
            </a:pPr>
            <a:r>
              <a:t>Sơ Đồ Hoạt Động — Thử Thách Nhảy Cấp (Conditional Jump)</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08 / 12</a:t>
            </a:r>
          </a:p>
        </p:txBody>
      </p:sp>
      <p:sp>
        <p:nvSpPr>
          <p:cNvPr id="5" name="Rounded Rectangle 4"/>
          <p:cNvSpPr/>
          <p:nvPr/>
        </p:nvSpPr>
        <p:spPr>
          <a:xfrm>
            <a:off x="731520" y="6419088"/>
            <a:ext cx="1664208" cy="292608"/>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2563EB"/>
                </a:solidFill>
                <a:latin typeface="Segoe UI"/>
              </a:defRPr>
            </a:pPr>
            <a:r>
              <a:t>Learner</a:t>
            </a:r>
          </a:p>
        </p:txBody>
      </p:sp>
      <p:sp>
        <p:nvSpPr>
          <p:cNvPr id="6" name="Rounded Rectangle 5"/>
          <p:cNvSpPr/>
          <p:nvPr/>
        </p:nvSpPr>
        <p:spPr>
          <a:xfrm>
            <a:off x="2542032"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Lesson Creator</a:t>
            </a:r>
          </a:p>
        </p:txBody>
      </p:sp>
      <p:sp>
        <p:nvSpPr>
          <p:cNvPr id="7" name="Rounded Rectangle 6"/>
          <p:cNvSpPr/>
          <p:nvPr/>
        </p:nvSpPr>
        <p:spPr>
          <a:xfrm>
            <a:off x="4352544"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Moderator</a:t>
            </a:r>
          </a:p>
        </p:txBody>
      </p:sp>
      <p:sp>
        <p:nvSpPr>
          <p:cNvPr id="8" name="Rounded Rectangle 7"/>
          <p:cNvSpPr/>
          <p:nvPr/>
        </p:nvSpPr>
        <p:spPr>
          <a:xfrm>
            <a:off x="6163056"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Org Manager</a:t>
            </a:r>
          </a:p>
        </p:txBody>
      </p:sp>
      <p:sp>
        <p:nvSpPr>
          <p:cNvPr id="9" name="Rounded Rectangle 8"/>
          <p:cNvSpPr/>
          <p:nvPr/>
        </p:nvSpPr>
        <p:spPr>
          <a:xfrm>
            <a:off x="7973568"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Operations Staff</a:t>
            </a:r>
          </a:p>
        </p:txBody>
      </p:sp>
      <p:sp>
        <p:nvSpPr>
          <p:cNvPr id="10" name="Rounded Rectangle 9"/>
          <p:cNvSpPr/>
          <p:nvPr/>
        </p:nvSpPr>
        <p:spPr>
          <a:xfrm>
            <a:off x="9784080"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Administrator</a:t>
            </a:r>
          </a:p>
        </p:txBody>
      </p:sp>
      <p:sp>
        <p:nvSpPr>
          <p:cNvPr id="11" name="Rounded Rectangle 10"/>
          <p:cNvSpPr/>
          <p:nvPr/>
        </p:nvSpPr>
        <p:spPr>
          <a:xfrm>
            <a:off x="731520" y="1115568"/>
            <a:ext cx="5230368"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188720"/>
            <a:ext cx="4956048" cy="274320"/>
          </a:xfrm>
          <a:prstGeom prst="rect">
            <a:avLst/>
          </a:prstGeom>
          <a:noFill/>
        </p:spPr>
        <p:txBody>
          <a:bodyPr wrap="none" lIns="0" tIns="0" rIns="0" bIns="0">
            <a:spAutoFit/>
          </a:bodyPr>
          <a:lstStyle/>
          <a:p>
            <a:pPr>
              <a:defRPr sz="1000" b="1">
                <a:solidFill>
                  <a:srgbClr val="0F172A"/>
                </a:solidFill>
                <a:latin typeface="Segoe UI"/>
              </a:defRPr>
            </a:pPr>
            <a:r>
              <a:t>Kiểm Tra Cooldown 24h &amp; Thực Hiện Bài Thi Jump</a:t>
            </a:r>
          </a:p>
        </p:txBody>
      </p:sp>
      <p:pic>
        <p:nvPicPr>
          <p:cNvPr id="13" name="Picture 12" descr="07a-activity-jump-check.png"/>
          <p:cNvPicPr>
            <a:picLocks noChangeAspect="1"/>
          </p:cNvPicPr>
          <p:nvPr/>
        </p:nvPicPr>
        <p:blipFill>
          <a:blip r:embed="rId2"/>
          <a:stretch>
            <a:fillRect/>
          </a:stretch>
        </p:blipFill>
        <p:spPr>
          <a:xfrm>
            <a:off x="841248" y="1966852"/>
            <a:ext cx="5010912" cy="2357367"/>
          </a:xfrm>
          <a:prstGeom prst="rect">
            <a:avLst/>
          </a:prstGeom>
        </p:spPr>
      </p:pic>
      <p:sp>
        <p:nvSpPr>
          <p:cNvPr id="14" name="Rounded Rectangle 13"/>
          <p:cNvSpPr/>
          <p:nvPr/>
        </p:nvSpPr>
        <p:spPr>
          <a:xfrm>
            <a:off x="6229807" y="1115568"/>
            <a:ext cx="5230368"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6967" y="1188720"/>
            <a:ext cx="4956048" cy="274320"/>
          </a:xfrm>
          <a:prstGeom prst="rect">
            <a:avLst/>
          </a:prstGeom>
          <a:noFill/>
        </p:spPr>
        <p:txBody>
          <a:bodyPr wrap="none" lIns="0" tIns="0" rIns="0" bIns="0">
            <a:spAutoFit/>
          </a:bodyPr>
          <a:lstStyle/>
          <a:p>
            <a:pPr>
              <a:defRPr sz="1000" b="1">
                <a:solidFill>
                  <a:srgbClr val="0F172A"/>
                </a:solidFill>
                <a:latin typeface="Segoe UI"/>
              </a:defRPr>
            </a:pPr>
            <a:r>
              <a:t>Xử Lý Kết Quả: Vượt Cấp (Đỗ ≥95%) vs Khóa Phạt (Trượt &lt;95%)</a:t>
            </a:r>
          </a:p>
        </p:txBody>
      </p:sp>
      <p:pic>
        <p:nvPicPr>
          <p:cNvPr id="16" name="Picture 15" descr="07b-activity-jump-result.png"/>
          <p:cNvPicPr>
            <a:picLocks noChangeAspect="1"/>
          </p:cNvPicPr>
          <p:nvPr/>
        </p:nvPicPr>
        <p:blipFill>
          <a:blip r:embed="rId3"/>
          <a:stretch>
            <a:fillRect/>
          </a:stretch>
        </p:blipFill>
        <p:spPr>
          <a:xfrm>
            <a:off x="6339535" y="2138924"/>
            <a:ext cx="5010912" cy="2013223"/>
          </a:xfrm>
          <a:prstGeom prst="rect">
            <a:avLst/>
          </a:prstGeom>
        </p:spPr>
      </p:pic>
      <p:sp>
        <p:nvSpPr>
          <p:cNvPr id="17" name="Rounded Rectangle 16"/>
          <p:cNvSpPr/>
          <p:nvPr/>
        </p:nvSpPr>
        <p:spPr>
          <a:xfrm>
            <a:off x="731520" y="5047488"/>
            <a:ext cx="10728655" cy="12618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73152"/>
          <a:lstStyle/>
          <a:p>
            <a:pPr algn="ctr">
              <a:spcAft>
                <a:spcPts val="400"/>
              </a:spcAft>
              <a:defRPr sz="950" b="1">
                <a:solidFill>
                  <a:srgbClr val="0F172A"/>
                </a:solidFill>
                <a:latin typeface="Segoe UI"/>
              </a:defRPr>
            </a:pPr>
            <a:r>
              <a:t>Ý CHÍNH NGHIỆP VỤ &amp; QUY TẮC RÀNG BUỘC</a:t>
            </a:r>
          </a:p>
          <a:p>
            <a:pPr>
              <a:spcAft>
                <a:spcPts val="200"/>
              </a:spcAft>
              <a:defRPr sz="880">
                <a:solidFill>
                  <a:srgbClr val="475569"/>
                </a:solidFill>
                <a:latin typeface="Segoe UI"/>
              </a:defRPr>
            </a:pPr>
            <a:r>
              <a:t>• Kiểm tra thời gian chờ Cooldown: Chặn truy cập bài thi Jump nếu còn trong thời hạn 24 giờ sau lần thi trượt gần nhất</a:t>
            </a:r>
          </a:p>
          <a:p>
            <a:pPr>
              <a:spcAft>
                <a:spcPts val="200"/>
              </a:spcAft>
              <a:defRPr sz="880">
                <a:solidFill>
                  <a:srgbClr val="475569"/>
                </a:solidFill>
                <a:latin typeface="Segoe UI"/>
              </a:defRPr>
            </a:pPr>
            <a:r>
              <a:t>• Bản ghi đánh giá độc lập: Tạo AssessmentResult (type: JUMP, deliveryMode: JUMP), ghi nhận điểm và thời gian làm bài</a:t>
            </a:r>
          </a:p>
          <a:p>
            <a:pPr>
              <a:spcAft>
                <a:spcPts val="200"/>
              </a:spcAft>
              <a:defRPr sz="880">
                <a:solidFill>
                  <a:srgbClr val="475569"/>
                </a:solidFill>
                <a:latin typeface="Segoe UI"/>
              </a:defRPr>
            </a:pPr>
            <a:r>
              <a:t>• Quy chế đỗ vượt cấp (≥95%): Gán SKIPPED_BY_JUMP (by_jump = true) cho bài/unit đi qua; mở khóa UNLOCKED cho Unit đích; KHÔNG cấp chứng chỉ</a:t>
            </a:r>
          </a:p>
          <a:p>
            <a:pPr>
              <a:spcAft>
                <a:spcPts val="200"/>
              </a:spcAft>
              <a:defRPr sz="880">
                <a:solidFill>
                  <a:srgbClr val="475569"/>
                </a:solidFill>
                <a:latin typeface="Segoe UI"/>
              </a:defRPr>
            </a:pPr>
            <a:r>
              <a:t>• Hình phạt khi trượt (&lt;95%): Khóa thử thách Jump 24 giờ; giữ nguyên vị trí học tập hiện tại; khuyến nghị học theo lộ trình chuẩn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10B981"/>
                </a:solidFill>
                <a:latin typeface="Segoe UI"/>
              </a:defRPr>
            </a:pPr>
            <a:r>
              <a:t>ACTIVITY</a:t>
            </a:r>
          </a:p>
          <a:p>
            <a:pPr>
              <a:defRPr sz="1800" b="1">
                <a:solidFill>
                  <a:srgbClr val="0F172A"/>
                </a:solidFill>
                <a:latin typeface="Segoe UI"/>
              </a:defRPr>
            </a:pPr>
            <a:r>
              <a:t>Sơ Đồ Hoạt Động — Quản Trị &amp; Xuất Bản Nội Dung (Content Governance)</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09 / 12</a:t>
            </a:r>
          </a:p>
        </p:txBody>
      </p:sp>
      <p:sp>
        <p:nvSpPr>
          <p:cNvPr id="5" name="Rounded Rectangle 4"/>
          <p:cNvSpPr/>
          <p:nvPr/>
        </p:nvSpPr>
        <p:spPr>
          <a:xfrm>
            <a:off x="731520"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Learner</a:t>
            </a:r>
          </a:p>
        </p:txBody>
      </p:sp>
      <p:sp>
        <p:nvSpPr>
          <p:cNvPr id="6" name="Rounded Rectangle 5"/>
          <p:cNvSpPr/>
          <p:nvPr/>
        </p:nvSpPr>
        <p:spPr>
          <a:xfrm>
            <a:off x="2542032" y="6419088"/>
            <a:ext cx="1664208" cy="292608"/>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EA580C"/>
                </a:solidFill>
                <a:latin typeface="Segoe UI"/>
              </a:defRPr>
            </a:pPr>
            <a:r>
              <a:t>Lesson Creator</a:t>
            </a:r>
          </a:p>
        </p:txBody>
      </p:sp>
      <p:sp>
        <p:nvSpPr>
          <p:cNvPr id="7" name="Rounded Rectangle 6"/>
          <p:cNvSpPr/>
          <p:nvPr/>
        </p:nvSpPr>
        <p:spPr>
          <a:xfrm>
            <a:off x="4352544" y="6419088"/>
            <a:ext cx="1664208" cy="292608"/>
          </a:xfrm>
          <a:prstGeom prst="roundRect">
            <a:avLst/>
          </a:prstGeom>
          <a:solidFill>
            <a:srgbClr val="FFFFFF"/>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16A34A"/>
                </a:solidFill>
                <a:latin typeface="Segoe UI"/>
              </a:defRPr>
            </a:pPr>
            <a:r>
              <a:t>Moderator</a:t>
            </a:r>
          </a:p>
        </p:txBody>
      </p:sp>
      <p:sp>
        <p:nvSpPr>
          <p:cNvPr id="8" name="Rounded Rectangle 7"/>
          <p:cNvSpPr/>
          <p:nvPr/>
        </p:nvSpPr>
        <p:spPr>
          <a:xfrm>
            <a:off x="6163056" y="6419088"/>
            <a:ext cx="1664208" cy="292608"/>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7C3AED"/>
                </a:solidFill>
                <a:latin typeface="Segoe UI"/>
              </a:defRPr>
            </a:pPr>
            <a:r>
              <a:t>Org Manager</a:t>
            </a:r>
          </a:p>
        </p:txBody>
      </p:sp>
      <p:sp>
        <p:nvSpPr>
          <p:cNvPr id="9" name="Rounded Rectangle 8"/>
          <p:cNvSpPr/>
          <p:nvPr/>
        </p:nvSpPr>
        <p:spPr>
          <a:xfrm>
            <a:off x="7973568" y="641908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Operations Staff</a:t>
            </a:r>
          </a:p>
        </p:txBody>
      </p:sp>
      <p:sp>
        <p:nvSpPr>
          <p:cNvPr id="10" name="Rounded Rectangle 9"/>
          <p:cNvSpPr/>
          <p:nvPr/>
        </p:nvSpPr>
        <p:spPr>
          <a:xfrm>
            <a:off x="9784080" y="6419088"/>
            <a:ext cx="1664208" cy="292608"/>
          </a:xfrm>
          <a:prstGeom prst="roundRect">
            <a:avLst/>
          </a:prstGeom>
          <a:solidFill>
            <a:srgbClr val="FFFFFF"/>
          </a:solidFill>
          <a:ln w="1524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9F1239"/>
                </a:solidFill>
                <a:latin typeface="Segoe UI"/>
              </a:defRPr>
            </a:pPr>
            <a:r>
              <a:t>Administrator</a:t>
            </a:r>
          </a:p>
        </p:txBody>
      </p:sp>
      <p:sp>
        <p:nvSpPr>
          <p:cNvPr id="11" name="Rounded Rectangle 10"/>
          <p:cNvSpPr/>
          <p:nvPr/>
        </p:nvSpPr>
        <p:spPr>
          <a:xfrm>
            <a:off x="731520" y="1115568"/>
            <a:ext cx="5230368"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188720"/>
            <a:ext cx="4956048" cy="274320"/>
          </a:xfrm>
          <a:prstGeom prst="rect">
            <a:avLst/>
          </a:prstGeom>
          <a:noFill/>
        </p:spPr>
        <p:txBody>
          <a:bodyPr wrap="none" lIns="0" tIns="0" rIns="0" bIns="0">
            <a:spAutoFit/>
          </a:bodyPr>
          <a:lstStyle/>
          <a:p>
            <a:pPr>
              <a:defRPr sz="1000" b="1">
                <a:solidFill>
                  <a:srgbClr val="0F172A"/>
                </a:solidFill>
                <a:latin typeface="Segoe UI"/>
              </a:defRPr>
            </a:pPr>
            <a:r>
              <a:t>Quy Trình Xuất Bản Chính Thức (Creator → Moderator → Org Manager)</a:t>
            </a:r>
          </a:p>
        </p:txBody>
      </p:sp>
      <p:pic>
        <p:nvPicPr>
          <p:cNvPr id="13" name="Picture 12" descr="08a-activity-governance-main.png"/>
          <p:cNvPicPr>
            <a:picLocks noChangeAspect="1"/>
          </p:cNvPicPr>
          <p:nvPr/>
        </p:nvPicPr>
        <p:blipFill>
          <a:blip r:embed="rId2"/>
          <a:stretch>
            <a:fillRect/>
          </a:stretch>
        </p:blipFill>
        <p:spPr>
          <a:xfrm>
            <a:off x="841248" y="2473066"/>
            <a:ext cx="5010912" cy="1344938"/>
          </a:xfrm>
          <a:prstGeom prst="rect">
            <a:avLst/>
          </a:prstGeom>
        </p:spPr>
      </p:pic>
      <p:sp>
        <p:nvSpPr>
          <p:cNvPr id="14" name="Rounded Rectangle 13"/>
          <p:cNvSpPr/>
          <p:nvPr/>
        </p:nvSpPr>
        <p:spPr>
          <a:xfrm>
            <a:off x="6229807" y="1115568"/>
            <a:ext cx="5230368"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6967" y="1188720"/>
            <a:ext cx="4956048" cy="274320"/>
          </a:xfrm>
          <a:prstGeom prst="rect">
            <a:avLst/>
          </a:prstGeom>
          <a:noFill/>
        </p:spPr>
        <p:txBody>
          <a:bodyPr wrap="none" lIns="0" tIns="0" rIns="0" bIns="0">
            <a:spAutoFit/>
          </a:bodyPr>
          <a:lstStyle/>
          <a:p>
            <a:pPr>
              <a:defRPr sz="1000" b="1">
                <a:solidFill>
                  <a:srgbClr val="0F172A"/>
                </a:solidFill>
                <a:latin typeface="Segoe UI"/>
              </a:defRPr>
            </a:pPr>
            <a:r>
              <a:t>Cơ Chế Clone-to-Draft &amp; Xuất Bản Khẩn Cấp (Emergency Publish)</a:t>
            </a:r>
          </a:p>
        </p:txBody>
      </p:sp>
      <p:pic>
        <p:nvPicPr>
          <p:cNvPr id="16" name="Picture 15" descr="08b-activity-governance-branches.png"/>
          <p:cNvPicPr>
            <a:picLocks noChangeAspect="1"/>
          </p:cNvPicPr>
          <p:nvPr/>
        </p:nvPicPr>
        <p:blipFill>
          <a:blip r:embed="rId3"/>
          <a:stretch>
            <a:fillRect/>
          </a:stretch>
        </p:blipFill>
        <p:spPr>
          <a:xfrm>
            <a:off x="6339535" y="1919707"/>
            <a:ext cx="5010912" cy="2451657"/>
          </a:xfrm>
          <a:prstGeom prst="rect">
            <a:avLst/>
          </a:prstGeom>
        </p:spPr>
      </p:pic>
      <p:sp>
        <p:nvSpPr>
          <p:cNvPr id="17" name="Rounded Rectangle 16"/>
          <p:cNvSpPr/>
          <p:nvPr/>
        </p:nvSpPr>
        <p:spPr>
          <a:xfrm>
            <a:off x="731520" y="5047488"/>
            <a:ext cx="10728655" cy="12618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73152"/>
          <a:lstStyle/>
          <a:p>
            <a:pPr algn="ctr">
              <a:spcAft>
                <a:spcPts val="400"/>
              </a:spcAft>
              <a:defRPr sz="950" b="1">
                <a:solidFill>
                  <a:srgbClr val="0F172A"/>
                </a:solidFill>
                <a:latin typeface="Segoe UI"/>
              </a:defRPr>
            </a:pPr>
            <a:r>
              <a:t>Ý CHÍNH NGHIỆP VỤ &amp; QUY TẮC RÀNG BUỘC</a:t>
            </a:r>
          </a:p>
          <a:p>
            <a:pPr>
              <a:spcAft>
                <a:spcPts val="200"/>
              </a:spcAft>
              <a:defRPr sz="880">
                <a:solidFill>
                  <a:srgbClr val="475569"/>
                </a:solidFill>
                <a:latin typeface="Segoe UI"/>
              </a:defRPr>
            </a:pPr>
            <a:r>
              <a:t>• Cơ chế Clone-to-Draft: Khi cần sửa bài đã PUBLISHED, hệ thống sao chép ra bản DRAFT mới, giữ nguyên bài hiện tại cho học viên</a:t>
            </a:r>
          </a:p>
          <a:p>
            <a:pPr>
              <a:spcAft>
                <a:spcPts val="200"/>
              </a:spcAft>
              <a:defRPr sz="880">
                <a:solidFill>
                  <a:srgbClr val="475569"/>
                </a:solidFill>
                <a:latin typeface="Segoe UI"/>
              </a:defRPr>
            </a:pPr>
            <a:r>
              <a:t>• Kiểm duyệt độc lập (Moderator): Đánh giá chất lượng nội dung, phê duyệt (APPROVED) hoặc yêu cầu chỉnh sửa (REJECTED)</a:t>
            </a:r>
          </a:p>
          <a:p>
            <a:pPr>
              <a:spcAft>
                <a:spcPts val="200"/>
              </a:spcAft>
              <a:defRPr sz="880">
                <a:solidFill>
                  <a:srgbClr val="475569"/>
                </a:solidFill>
                <a:latin typeface="Segoe UI"/>
              </a:defRPr>
            </a:pPr>
            <a:r>
              <a:t>• Thẩm quyền xuất bản (Org Manager): Kiểm tra điều kiện tiên quyết 4/4 bài học con hoàn chỉnh trước khi kích hoạt mở Unit</a:t>
            </a:r>
          </a:p>
          <a:p>
            <a:pPr>
              <a:spcAft>
                <a:spcPts val="200"/>
              </a:spcAft>
              <a:defRPr sz="880">
                <a:solidFill>
                  <a:srgbClr val="475569"/>
                </a:solidFill>
                <a:latin typeface="Segoe UI"/>
              </a:defRPr>
            </a:pPr>
            <a:r>
              <a:t>• Can thiệp khẩn cấp (Administrator): Emergency Publish sửa lỗi trực tiếp trên môi trường live, bắt buộc giải trình vào AuditLog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8B5CF6"/>
                </a:solidFill>
                <a:latin typeface="Segoe UI"/>
              </a:defRPr>
            </a:pPr>
            <a:r>
              <a:t>CLASS</a:t>
            </a:r>
          </a:p>
          <a:p>
            <a:pPr>
              <a:defRPr sz="1800" b="1">
                <a:solidFill>
                  <a:srgbClr val="0F172A"/>
                </a:solidFill>
                <a:latin typeface="Segoe UI"/>
              </a:defRPr>
            </a:pPr>
            <a:r>
              <a:t>Sơ Đồ Lớp — Phân Hệ Cấu Trúc Nội Dung &amp; Khóa Học</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10 / 12</a:t>
            </a:r>
          </a:p>
        </p:txBody>
      </p:sp>
      <p:sp>
        <p:nvSpPr>
          <p:cNvPr id="5" name="Rounded Rectangle 4"/>
          <p:cNvSpPr/>
          <p:nvPr/>
        </p:nvSpPr>
        <p:spPr>
          <a:xfrm>
            <a:off x="731520"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Learner</a:t>
            </a:r>
          </a:p>
        </p:txBody>
      </p:sp>
      <p:sp>
        <p:nvSpPr>
          <p:cNvPr id="6" name="Rounded Rectangle 5"/>
          <p:cNvSpPr/>
          <p:nvPr/>
        </p:nvSpPr>
        <p:spPr>
          <a:xfrm>
            <a:off x="2542032" y="6327648"/>
            <a:ext cx="1664208" cy="292608"/>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EA580C"/>
                </a:solidFill>
                <a:latin typeface="Segoe UI"/>
              </a:defRPr>
            </a:pPr>
            <a:r>
              <a:t>Lesson Creator</a:t>
            </a:r>
          </a:p>
        </p:txBody>
      </p:sp>
      <p:sp>
        <p:nvSpPr>
          <p:cNvPr id="7" name="Rounded Rectangle 6"/>
          <p:cNvSpPr/>
          <p:nvPr/>
        </p:nvSpPr>
        <p:spPr>
          <a:xfrm>
            <a:off x="4352544" y="6327648"/>
            <a:ext cx="1664208" cy="292608"/>
          </a:xfrm>
          <a:prstGeom prst="roundRect">
            <a:avLst/>
          </a:prstGeom>
          <a:solidFill>
            <a:srgbClr val="FFFFFF"/>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16A34A"/>
                </a:solidFill>
                <a:latin typeface="Segoe UI"/>
              </a:defRPr>
            </a:pPr>
            <a:r>
              <a:t>Moderator</a:t>
            </a:r>
          </a:p>
        </p:txBody>
      </p:sp>
      <p:sp>
        <p:nvSpPr>
          <p:cNvPr id="8" name="Rounded Rectangle 7"/>
          <p:cNvSpPr/>
          <p:nvPr/>
        </p:nvSpPr>
        <p:spPr>
          <a:xfrm>
            <a:off x="6163056" y="6327648"/>
            <a:ext cx="1664208" cy="292608"/>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7C3AED"/>
                </a:solidFill>
                <a:latin typeface="Segoe UI"/>
              </a:defRPr>
            </a:pPr>
            <a:r>
              <a:t>Org Manager</a:t>
            </a:r>
          </a:p>
        </p:txBody>
      </p:sp>
      <p:sp>
        <p:nvSpPr>
          <p:cNvPr id="9" name="Rounded Rectangle 8"/>
          <p:cNvSpPr/>
          <p:nvPr/>
        </p:nvSpPr>
        <p:spPr>
          <a:xfrm>
            <a:off x="7973568"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Operations Staff</a:t>
            </a:r>
          </a:p>
        </p:txBody>
      </p:sp>
      <p:sp>
        <p:nvSpPr>
          <p:cNvPr id="10" name="Rounded Rectangle 9"/>
          <p:cNvSpPr/>
          <p:nvPr/>
        </p:nvSpPr>
        <p:spPr>
          <a:xfrm>
            <a:off x="9784080"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Administrator</a:t>
            </a:r>
          </a:p>
        </p:txBody>
      </p:sp>
      <p:sp>
        <p:nvSpPr>
          <p:cNvPr id="11" name="Rounded Rectangle 10"/>
          <p:cNvSpPr/>
          <p:nvPr/>
        </p:nvSpPr>
        <p:spPr>
          <a:xfrm>
            <a:off x="731520" y="1143000"/>
            <a:ext cx="7132320"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9-class-content.png"/>
          <p:cNvPicPr>
            <a:picLocks noChangeAspect="1"/>
          </p:cNvPicPr>
          <p:nvPr/>
        </p:nvPicPr>
        <p:blipFill>
          <a:blip r:embed="rId2"/>
          <a:stretch>
            <a:fillRect/>
          </a:stretch>
        </p:blipFill>
        <p:spPr>
          <a:xfrm>
            <a:off x="868680" y="2031900"/>
            <a:ext cx="6858000" cy="3205679"/>
          </a:xfrm>
          <a:prstGeom prst="rect">
            <a:avLst/>
          </a:prstGeom>
        </p:spPr>
      </p:pic>
      <p:sp>
        <p:nvSpPr>
          <p:cNvPr id="13" name="Rounded Rectangle 12"/>
          <p:cNvSpPr/>
          <p:nvPr/>
        </p:nvSpPr>
        <p:spPr>
          <a:xfrm>
            <a:off x="8046720" y="1143000"/>
            <a:ext cx="3413455"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100" b="1">
                <a:solidFill>
                  <a:srgbClr val="0F172A"/>
                </a:solidFill>
                <a:latin typeface="Segoe UI"/>
              </a:defRPr>
            </a:pPr>
            <a:r>
              <a:t>Ý CHÍNH NGHIỆP VỤ</a:t>
            </a:r>
          </a:p>
          <a:p>
            <a:pPr>
              <a:spcAft>
                <a:spcPts val="200"/>
              </a:spcAft>
              <a:defRPr sz="950" b="1">
                <a:solidFill>
                  <a:srgbClr val="0284C7"/>
                </a:solidFill>
                <a:latin typeface="Segoe UI"/>
              </a:defRPr>
            </a:pPr>
            <a:r>
              <a:t>• Phân định CURRENT vs TARGET</a:t>
            </a:r>
          </a:p>
          <a:p>
            <a:pPr>
              <a:spcAft>
                <a:spcPts val="800"/>
              </a:spcAft>
              <a:defRPr sz="900">
                <a:solidFill>
                  <a:srgbClr val="475569"/>
                </a:solidFill>
                <a:latin typeface="Segoe UI"/>
              </a:defRPr>
            </a:pPr>
            <a:r>
              <a:t>CURRENT (viền xanh: Course, Unit, Lesson, Exercise) vs TARGET (viền cam: LessonRevision).</a:t>
            </a:r>
          </a:p>
          <a:p>
            <a:pPr>
              <a:spcAft>
                <a:spcPts val="200"/>
              </a:spcAft>
              <a:defRPr sz="950" b="1">
                <a:solidFill>
                  <a:srgbClr val="0284C7"/>
                </a:solidFill>
                <a:latin typeface="Segoe UI"/>
              </a:defRPr>
            </a:pPr>
            <a:r>
              <a:t>• Chuẩn hóa cấu trúc phân cấp</a:t>
            </a:r>
          </a:p>
          <a:p>
            <a:pPr>
              <a:spcAft>
                <a:spcPts val="800"/>
              </a:spcAft>
              <a:defRPr sz="900">
                <a:solidFill>
                  <a:srgbClr val="475569"/>
                </a:solidFill>
                <a:latin typeface="Segoe UI"/>
              </a:defRPr>
            </a:pPr>
            <a:r>
              <a:t>Course chứa Units, Unit chứa Lessons, Lesson gắn với Exercise và Vocabulary.</a:t>
            </a:r>
          </a:p>
          <a:p>
            <a:pPr>
              <a:spcAft>
                <a:spcPts val="200"/>
              </a:spcAft>
              <a:defRPr sz="950" b="1">
                <a:solidFill>
                  <a:srgbClr val="0284C7"/>
                </a:solidFill>
                <a:latin typeface="Segoe UI"/>
              </a:defRPr>
            </a:pPr>
            <a:r>
              <a:t>• Thực thể LessonRevision (Target)</a:t>
            </a:r>
          </a:p>
          <a:p>
            <a:pPr>
              <a:spcAft>
                <a:spcPts val="800"/>
              </a:spcAft>
              <a:defRPr sz="900">
                <a:solidFill>
                  <a:srgbClr val="475569"/>
                </a:solidFill>
                <a:latin typeface="Segoe UI"/>
              </a:defRPr>
            </a:pPr>
            <a:r>
              <a:t>Quản lý vòng đời dự thảo (DRAFT, SUBMITTED, APPROVED, PUBLISHED) và phiên bản.</a:t>
            </a:r>
          </a:p>
          <a:p>
            <a:pPr>
              <a:spcAft>
                <a:spcPts val="200"/>
              </a:spcAft>
              <a:defRPr sz="950" b="1">
                <a:solidFill>
                  <a:srgbClr val="0284C7"/>
                </a:solidFill>
                <a:latin typeface="Segoe UI"/>
              </a:defRPr>
            </a:pPr>
            <a:r>
              <a:t>• Bảo đảm tính toàn vẹn tham chiếu</a:t>
            </a:r>
          </a:p>
          <a:p>
            <a:pPr>
              <a:spcAft>
                <a:spcPts val="800"/>
              </a:spcAft>
              <a:defRPr sz="900">
                <a:solidFill>
                  <a:srgbClr val="475569"/>
                </a:solidFill>
                <a:latin typeface="Segoe UI"/>
              </a:defRPr>
            </a:pPr>
            <a:r>
              <a:t>Khóa ngoại unit_id, lesson_revision_id được thiết kế chặt chẽ bảo vệ dữ liệu nội dung.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8B5CF6"/>
                </a:solidFill>
                <a:latin typeface="Segoe UI"/>
              </a:defRPr>
            </a:pPr>
            <a:r>
              <a:t>CLASS</a:t>
            </a:r>
          </a:p>
          <a:p>
            <a:pPr>
              <a:defRPr sz="1800" b="1">
                <a:solidFill>
                  <a:srgbClr val="0F172A"/>
                </a:solidFill>
                <a:latin typeface="Segoe UI"/>
              </a:defRPr>
            </a:pPr>
            <a:r>
              <a:t>Sơ Đồ Lớp — Phân Hệ Học Viên, Đánh Giá &amp; Tiến Độ</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11 / 12</a:t>
            </a:r>
          </a:p>
        </p:txBody>
      </p:sp>
      <p:sp>
        <p:nvSpPr>
          <p:cNvPr id="5" name="Rounded Rectangle 4"/>
          <p:cNvSpPr/>
          <p:nvPr/>
        </p:nvSpPr>
        <p:spPr>
          <a:xfrm>
            <a:off x="731520" y="6327648"/>
            <a:ext cx="1664208" cy="292608"/>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2563EB"/>
                </a:solidFill>
                <a:latin typeface="Segoe UI"/>
              </a:defRPr>
            </a:pPr>
            <a:r>
              <a:t>Learner</a:t>
            </a:r>
          </a:p>
        </p:txBody>
      </p:sp>
      <p:sp>
        <p:nvSpPr>
          <p:cNvPr id="6" name="Rounded Rectangle 5"/>
          <p:cNvSpPr/>
          <p:nvPr/>
        </p:nvSpPr>
        <p:spPr>
          <a:xfrm>
            <a:off x="2542032"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Lesson Creator</a:t>
            </a:r>
          </a:p>
        </p:txBody>
      </p:sp>
      <p:sp>
        <p:nvSpPr>
          <p:cNvPr id="7" name="Rounded Rectangle 6"/>
          <p:cNvSpPr/>
          <p:nvPr/>
        </p:nvSpPr>
        <p:spPr>
          <a:xfrm>
            <a:off x="4352544"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Moderator</a:t>
            </a:r>
          </a:p>
        </p:txBody>
      </p:sp>
      <p:sp>
        <p:nvSpPr>
          <p:cNvPr id="8" name="Rounded Rectangle 7"/>
          <p:cNvSpPr/>
          <p:nvPr/>
        </p:nvSpPr>
        <p:spPr>
          <a:xfrm>
            <a:off x="6163056" y="6327648"/>
            <a:ext cx="1664208" cy="292608"/>
          </a:xfrm>
          <a:prstGeom prst="roundRect">
            <a:avLst/>
          </a:prstGeom>
          <a:solidFill>
            <a:srgbClr val="F1F5F9"/>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0">
                <a:solidFill>
                  <a:srgbClr val="94A3B8"/>
                </a:solidFill>
                <a:latin typeface="Segoe UI"/>
              </a:defRPr>
            </a:pPr>
            <a:r>
              <a:t>Org Manager</a:t>
            </a:r>
          </a:p>
        </p:txBody>
      </p:sp>
      <p:sp>
        <p:nvSpPr>
          <p:cNvPr id="9" name="Rounded Rectangle 8"/>
          <p:cNvSpPr/>
          <p:nvPr/>
        </p:nvSpPr>
        <p:spPr>
          <a:xfrm>
            <a:off x="7973568" y="6327648"/>
            <a:ext cx="1664208" cy="292608"/>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0D9488"/>
                </a:solidFill>
                <a:latin typeface="Segoe UI"/>
              </a:defRPr>
            </a:pPr>
            <a:r>
              <a:t>Operations Staff</a:t>
            </a:r>
          </a:p>
        </p:txBody>
      </p:sp>
      <p:sp>
        <p:nvSpPr>
          <p:cNvPr id="10" name="Rounded Rectangle 9"/>
          <p:cNvSpPr/>
          <p:nvPr/>
        </p:nvSpPr>
        <p:spPr>
          <a:xfrm>
            <a:off x="9784080" y="6327648"/>
            <a:ext cx="1664208" cy="292608"/>
          </a:xfrm>
          <a:prstGeom prst="roundRect">
            <a:avLst/>
          </a:prstGeom>
          <a:solidFill>
            <a:srgbClr val="FFFFFF"/>
          </a:solidFill>
          <a:ln w="1524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9F1239"/>
                </a:solidFill>
                <a:latin typeface="Segoe UI"/>
              </a:defRPr>
            </a:pPr>
            <a:r>
              <a:t>Administrator</a:t>
            </a:r>
          </a:p>
        </p:txBody>
      </p:sp>
      <p:sp>
        <p:nvSpPr>
          <p:cNvPr id="11" name="Rounded Rectangle 10"/>
          <p:cNvSpPr/>
          <p:nvPr/>
        </p:nvSpPr>
        <p:spPr>
          <a:xfrm>
            <a:off x="731520" y="1143000"/>
            <a:ext cx="7132320"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0-class-learner-assessment.png"/>
          <p:cNvPicPr>
            <a:picLocks noChangeAspect="1"/>
          </p:cNvPicPr>
          <p:nvPr/>
        </p:nvPicPr>
        <p:blipFill>
          <a:blip r:embed="rId2"/>
          <a:stretch>
            <a:fillRect/>
          </a:stretch>
        </p:blipFill>
        <p:spPr>
          <a:xfrm>
            <a:off x="868680" y="1431418"/>
            <a:ext cx="6858000" cy="4406642"/>
          </a:xfrm>
          <a:prstGeom prst="rect">
            <a:avLst/>
          </a:prstGeom>
        </p:spPr>
      </p:pic>
      <p:sp>
        <p:nvSpPr>
          <p:cNvPr id="13" name="Rounded Rectangle 12"/>
          <p:cNvSpPr/>
          <p:nvPr/>
        </p:nvSpPr>
        <p:spPr>
          <a:xfrm>
            <a:off x="8046720" y="1143000"/>
            <a:ext cx="3413455" cy="4983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spcAft>
                <a:spcPts val="1200"/>
              </a:spcAft>
              <a:defRPr sz="1100" b="1">
                <a:solidFill>
                  <a:srgbClr val="0F172A"/>
                </a:solidFill>
                <a:latin typeface="Segoe UI"/>
              </a:defRPr>
            </a:pPr>
            <a:r>
              <a:t>Ý CHÍNH NGHIỆP VỤ</a:t>
            </a:r>
          </a:p>
          <a:p>
            <a:pPr>
              <a:spcAft>
                <a:spcPts val="200"/>
              </a:spcAft>
              <a:defRPr sz="950" b="1">
                <a:solidFill>
                  <a:srgbClr val="0284C7"/>
                </a:solidFill>
                <a:latin typeface="Segoe UI"/>
              </a:defRPr>
            </a:pPr>
            <a:r>
              <a:t>• Bất biến Tiến độ ≠ Năng lực</a:t>
            </a:r>
          </a:p>
          <a:p>
            <a:pPr>
              <a:spcAft>
                <a:spcPts val="800"/>
              </a:spcAft>
              <a:defRPr sz="900">
                <a:solidFill>
                  <a:srgbClr val="475569"/>
                </a:solidFill>
                <a:latin typeface="Segoe UI"/>
              </a:defRPr>
            </a:pPr>
            <a:r>
              <a:t>Tách bạch UserProgress (tiến độ tuyến tính) và SkillProfile/AssessmentResult (năng lực thực).</a:t>
            </a:r>
          </a:p>
          <a:p>
            <a:pPr>
              <a:spcAft>
                <a:spcPts val="200"/>
              </a:spcAft>
              <a:defRPr sz="950" b="1">
                <a:solidFill>
                  <a:srgbClr val="0284C7"/>
                </a:solidFill>
                <a:latin typeface="Segoe UI"/>
              </a:defRPr>
            </a:pPr>
            <a:r>
              <a:t>• Thực thể mục tiêu Phase 2</a:t>
            </a:r>
          </a:p>
          <a:p>
            <a:pPr>
              <a:spcAft>
                <a:spcPts val="800"/>
              </a:spcAft>
              <a:defRPr sz="900">
                <a:solidFill>
                  <a:srgbClr val="475569"/>
                </a:solidFill>
                <a:latin typeface="Segoe UI"/>
              </a:defRPr>
            </a:pPr>
            <a:r>
              <a:t>AssessmentResult lưu vết bài thi chẩn đoán/Jump; SkillProfile phản ánh hồ sơ kỹ năng.</a:t>
            </a:r>
          </a:p>
          <a:p>
            <a:pPr>
              <a:spcAft>
                <a:spcPts val="200"/>
              </a:spcAft>
              <a:defRPr sz="950" b="1">
                <a:solidFill>
                  <a:srgbClr val="0284C7"/>
                </a:solidFill>
                <a:latin typeface="Segoe UI"/>
              </a:defRPr>
            </a:pPr>
            <a:r>
              <a:t>• Trạng thái Jump &amp; Retry</a:t>
            </a:r>
          </a:p>
          <a:p>
            <a:pPr>
              <a:spcAft>
                <a:spcPts val="800"/>
              </a:spcAft>
              <a:defRPr sz="900">
                <a:solidFill>
                  <a:srgbClr val="475569"/>
                </a:solidFill>
                <a:latin typeface="Segoe UI"/>
              </a:defRPr>
            </a:pPr>
            <a:r>
              <a:t>Mô hình hóa các cờ SKIPPED_BY_JUMP, thời gian cooldown 24h và hạn mức làm lại.</a:t>
            </a:r>
          </a:p>
          <a:p>
            <a:pPr>
              <a:spcAft>
                <a:spcPts val="200"/>
              </a:spcAft>
              <a:defRPr sz="950" b="1">
                <a:solidFill>
                  <a:srgbClr val="0284C7"/>
                </a:solidFill>
                <a:latin typeface="Segoe UI"/>
              </a:defRPr>
            </a:pPr>
            <a:r>
              <a:t>• Mô hình ôn tập ngắt quãng SRS</a:t>
            </a:r>
          </a:p>
          <a:p>
            <a:pPr>
              <a:spcAft>
                <a:spcPts val="800"/>
              </a:spcAft>
              <a:defRPr sz="900">
                <a:solidFill>
                  <a:srgbClr val="475569"/>
                </a:solidFill>
                <a:latin typeface="Segoe UI"/>
              </a:defRPr>
            </a:pPr>
            <a:r>
              <a:t>UserVocabSrs và ReviewLog quản lý lịch ôn tập theo đường cong lãng quên.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058400" cy="777240"/>
          </a:xfrm>
          <a:prstGeom prst="rect">
            <a:avLst/>
          </a:prstGeom>
          <a:noFill/>
        </p:spPr>
        <p:txBody>
          <a:bodyPr wrap="square" lIns="0" tIns="0" rIns="0" bIns="0">
            <a:spAutoFit/>
          </a:bodyPr>
          <a:lstStyle/>
          <a:p>
            <a:pPr>
              <a:spcAft>
                <a:spcPts val="200"/>
              </a:spcAft>
              <a:defRPr sz="950" b="1">
                <a:solidFill>
                  <a:srgbClr val="F59E0B"/>
                </a:solidFill>
                <a:latin typeface="Segoe UI"/>
              </a:defRPr>
            </a:pPr>
            <a:r>
              <a:t>TRACEABILITY</a:t>
            </a:r>
          </a:p>
          <a:p>
            <a:pPr>
              <a:defRPr sz="1800" b="1">
                <a:solidFill>
                  <a:srgbClr val="0F172A"/>
                </a:solidFill>
                <a:latin typeface="Segoe UI"/>
              </a:defRPr>
            </a:pPr>
            <a:r>
              <a:t>Ma Trận Truy Vết Nghiệp Vụ Toàn Diện (Traceability Matrix)</a:t>
            </a:r>
          </a:p>
        </p:txBody>
      </p:sp>
      <p:sp>
        <p:nvSpPr>
          <p:cNvPr id="4" name="TextBox 3"/>
          <p:cNvSpPr txBox="1"/>
          <p:nvPr/>
        </p:nvSpPr>
        <p:spPr>
          <a:xfrm>
            <a:off x="10789920" y="320040"/>
            <a:ext cx="670255" cy="365760"/>
          </a:xfrm>
          <a:prstGeom prst="rect">
            <a:avLst/>
          </a:prstGeom>
          <a:noFill/>
        </p:spPr>
        <p:txBody>
          <a:bodyPr wrap="none" lIns="0" tIns="0" rIns="0" bIns="0">
            <a:spAutoFit/>
          </a:bodyPr>
          <a:lstStyle/>
          <a:p>
            <a:pPr algn="r">
              <a:defRPr sz="1100" b="1">
                <a:solidFill>
                  <a:srgbClr val="64748B"/>
                </a:solidFill>
                <a:latin typeface="Segoe UI"/>
              </a:defRPr>
            </a:pPr>
            <a:r>
              <a:t>12 / 12</a:t>
            </a:r>
          </a:p>
        </p:txBody>
      </p:sp>
      <p:sp>
        <p:nvSpPr>
          <p:cNvPr id="5" name="Rounded Rectangle 4"/>
          <p:cNvSpPr/>
          <p:nvPr/>
        </p:nvSpPr>
        <p:spPr>
          <a:xfrm>
            <a:off x="731520" y="6327648"/>
            <a:ext cx="1664208" cy="292608"/>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2563EB"/>
                </a:solidFill>
                <a:latin typeface="Segoe UI"/>
              </a:defRPr>
            </a:pPr>
            <a:r>
              <a:t>Learner</a:t>
            </a:r>
          </a:p>
        </p:txBody>
      </p:sp>
      <p:sp>
        <p:nvSpPr>
          <p:cNvPr id="6" name="Rounded Rectangle 5"/>
          <p:cNvSpPr/>
          <p:nvPr/>
        </p:nvSpPr>
        <p:spPr>
          <a:xfrm>
            <a:off x="2542032" y="6327648"/>
            <a:ext cx="1664208" cy="292608"/>
          </a:xfrm>
          <a:prstGeom prst="roundRect">
            <a:avLst/>
          </a:prstGeom>
          <a:solidFill>
            <a:srgbClr val="FFFFFF"/>
          </a:solidFill>
          <a:ln w="1524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EA580C"/>
                </a:solidFill>
                <a:latin typeface="Segoe UI"/>
              </a:defRPr>
            </a:pPr>
            <a:r>
              <a:t>Lesson Creator</a:t>
            </a:r>
          </a:p>
        </p:txBody>
      </p:sp>
      <p:sp>
        <p:nvSpPr>
          <p:cNvPr id="7" name="Rounded Rectangle 6"/>
          <p:cNvSpPr/>
          <p:nvPr/>
        </p:nvSpPr>
        <p:spPr>
          <a:xfrm>
            <a:off x="4352544" y="6327648"/>
            <a:ext cx="1664208" cy="292608"/>
          </a:xfrm>
          <a:prstGeom prst="roundRect">
            <a:avLst/>
          </a:prstGeom>
          <a:solidFill>
            <a:srgbClr val="FFFFFF"/>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16A34A"/>
                </a:solidFill>
                <a:latin typeface="Segoe UI"/>
              </a:defRPr>
            </a:pPr>
            <a:r>
              <a:t>Moderator</a:t>
            </a:r>
          </a:p>
        </p:txBody>
      </p:sp>
      <p:sp>
        <p:nvSpPr>
          <p:cNvPr id="8" name="Rounded Rectangle 7"/>
          <p:cNvSpPr/>
          <p:nvPr/>
        </p:nvSpPr>
        <p:spPr>
          <a:xfrm>
            <a:off x="6163056" y="6327648"/>
            <a:ext cx="1664208" cy="292608"/>
          </a:xfrm>
          <a:prstGeom prst="roundRect">
            <a:avLst/>
          </a:prstGeom>
          <a:solidFill>
            <a:srgbClr val="FFFF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7C3AED"/>
                </a:solidFill>
                <a:latin typeface="Segoe UI"/>
              </a:defRPr>
            </a:pPr>
            <a:r>
              <a:t>Org Manager</a:t>
            </a:r>
          </a:p>
        </p:txBody>
      </p:sp>
      <p:sp>
        <p:nvSpPr>
          <p:cNvPr id="9" name="Rounded Rectangle 8"/>
          <p:cNvSpPr/>
          <p:nvPr/>
        </p:nvSpPr>
        <p:spPr>
          <a:xfrm>
            <a:off x="7973568" y="6327648"/>
            <a:ext cx="1664208" cy="292608"/>
          </a:xfrm>
          <a:prstGeom prst="roundRect">
            <a:avLst/>
          </a:prstGeom>
          <a:solidFill>
            <a:srgbClr val="FFFFFF"/>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0D9488"/>
                </a:solidFill>
                <a:latin typeface="Segoe UI"/>
              </a:defRPr>
            </a:pPr>
            <a:r>
              <a:t>Operations Staff</a:t>
            </a:r>
          </a:p>
        </p:txBody>
      </p:sp>
      <p:sp>
        <p:nvSpPr>
          <p:cNvPr id="10" name="Rounded Rectangle 9"/>
          <p:cNvSpPr/>
          <p:nvPr/>
        </p:nvSpPr>
        <p:spPr>
          <a:xfrm>
            <a:off x="9784080" y="6327648"/>
            <a:ext cx="1664208" cy="292608"/>
          </a:xfrm>
          <a:prstGeom prst="roundRect">
            <a:avLst/>
          </a:prstGeom>
          <a:solidFill>
            <a:srgbClr val="FFFFFF"/>
          </a:solidFill>
          <a:ln w="1524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none" tIns="36576" bIns="18288" lIns="45720" rIns="45720"/>
          <a:lstStyle/>
          <a:p>
            <a:pPr algn="ctr">
              <a:defRPr sz="850" b="1">
                <a:solidFill>
                  <a:srgbClr val="9F1239"/>
                </a:solidFill>
                <a:latin typeface="Segoe UI"/>
              </a:defRPr>
            </a:pPr>
            <a:r>
              <a:t>Administrator</a:t>
            </a:r>
          </a:p>
        </p:txBody>
      </p:sp>
      <p:graphicFrame>
        <p:nvGraphicFramePr>
          <p:cNvPr id="11" name="Table 10"/>
          <p:cNvGraphicFramePr>
            <a:graphicFrameLocks noGrp="1"/>
          </p:cNvGraphicFramePr>
          <p:nvPr/>
        </p:nvGraphicFramePr>
        <p:xfrm>
          <a:off x="731520" y="1143000"/>
          <a:ext cx="10728655" cy="4983480"/>
        </p:xfrm>
        <a:graphic>
          <a:graphicData uri="http://schemas.openxmlformats.org/drawingml/2006/table">
            <a:tbl>
              <a:tblPr firstRow="1" bandRow="1">
                <a:tableStyleId>{5C22544A-7EE6-4342-B048-85BDC9FD1C3A}</a:tableStyleId>
              </a:tblPr>
              <a:tblGrid>
                <a:gridCol w="914400"/>
                <a:gridCol w="2926080"/>
                <a:gridCol w="2103120"/>
                <a:gridCol w="2743200"/>
                <a:gridCol w="2041855"/>
              </a:tblGrid>
              <a:tr h="311467">
                <a:tc>
                  <a:txBody>
                    <a:bodyPr/>
                    <a:lstStyle/>
                    <a:p>
                      <a:pPr algn="ctr">
                        <a:defRPr sz="950" b="1">
                          <a:solidFill>
                            <a:srgbClr val="FFFFFF"/>
                          </a:solidFill>
                          <a:latin typeface="Segoe UI"/>
                        </a:defRPr>
                      </a:pPr>
                      <a:r>
                        <a:t>UC ID</a:t>
                      </a:r>
                    </a:p>
                  </a:txBody>
                  <a:tcPr>
                    <a:solidFill>
                      <a:srgbClr val="0F172A"/>
                    </a:solidFill>
                  </a:tcPr>
                </a:tc>
                <a:tc>
                  <a:txBody>
                    <a:bodyPr/>
                    <a:lstStyle/>
                    <a:p>
                      <a:pPr algn="ctr">
                        <a:defRPr sz="950" b="1">
                          <a:solidFill>
                            <a:srgbClr val="FFFFFF"/>
                          </a:solidFill>
                          <a:latin typeface="Segoe UI"/>
                        </a:defRPr>
                      </a:pPr>
                      <a:r>
                        <a:t>Tên Ca Sử Dụng (Use Case)</a:t>
                      </a:r>
                    </a:p>
                  </a:txBody>
                  <a:tcPr>
                    <a:solidFill>
                      <a:srgbClr val="0F172A"/>
                    </a:solidFill>
                  </a:tcPr>
                </a:tc>
                <a:tc>
                  <a:txBody>
                    <a:bodyPr/>
                    <a:lstStyle/>
                    <a:p>
                      <a:pPr algn="ctr">
                        <a:defRPr sz="950" b="1">
                          <a:solidFill>
                            <a:srgbClr val="FFFFFF"/>
                          </a:solidFill>
                          <a:latin typeface="Segoe UI"/>
                        </a:defRPr>
                      </a:pPr>
                      <a:r>
                        <a:t>Sơ Đồ Hoạt Động (Slide)</a:t>
                      </a:r>
                    </a:p>
                  </a:txBody>
                  <a:tcPr>
                    <a:solidFill>
                      <a:srgbClr val="0F172A"/>
                    </a:solidFill>
                  </a:tcPr>
                </a:tc>
                <a:tc>
                  <a:txBody>
                    <a:bodyPr/>
                    <a:lstStyle/>
                    <a:p>
                      <a:pPr algn="ctr">
                        <a:defRPr sz="950" b="1">
                          <a:solidFill>
                            <a:srgbClr val="FFFFFF"/>
                          </a:solidFill>
                          <a:latin typeface="Segoe UI"/>
                        </a:defRPr>
                      </a:pPr>
                      <a:r>
                        <a:t>Lớp Dữ Liệu Liên Quan</a:t>
                      </a:r>
                    </a:p>
                  </a:txBody>
                  <a:tcPr>
                    <a:solidFill>
                      <a:srgbClr val="0F172A"/>
                    </a:solidFill>
                  </a:tcPr>
                </a:tc>
                <a:tc>
                  <a:txBody>
                    <a:bodyPr/>
                    <a:lstStyle/>
                    <a:p>
                      <a:pPr algn="ctr">
                        <a:defRPr sz="950" b="1">
                          <a:solidFill>
                            <a:srgbClr val="FFFFFF"/>
                          </a:solidFill>
                          <a:latin typeface="Segoe UI"/>
                        </a:defRPr>
                      </a:pPr>
                      <a:r>
                        <a:t>Phạm Vi Triển Khai</a:t>
                      </a:r>
                    </a:p>
                  </a:txBody>
                  <a:tcPr>
                    <a:solidFill>
                      <a:srgbClr val="0F172A"/>
                    </a:solidFill>
                  </a:tcPr>
                </a:tc>
              </a:tr>
              <a:tr h="311467">
                <a:tc>
                  <a:txBody>
                    <a:bodyPr/>
                    <a:lstStyle/>
                    <a:p>
                      <a:pPr algn="ctr">
                        <a:defRPr sz="819" b="1">
                          <a:solidFill>
                            <a:srgbClr val="2563EB"/>
                          </a:solidFill>
                          <a:latin typeface="Segoe UI"/>
                        </a:defRPr>
                      </a:pPr>
                      <a:r>
                        <a:t>UC-01</a:t>
                      </a:r>
                    </a:p>
                  </a:txBody>
                  <a:tcPr marT="27432" marB="27432" marL="54864" marR="54864">
                    <a:solidFill>
                      <a:srgbClr val="FFFFFF"/>
                    </a:solidFill>
                  </a:tcPr>
                </a:tc>
                <a:tc>
                  <a:txBody>
                    <a:bodyPr/>
                    <a:lstStyle/>
                    <a:p>
                      <a:pPr>
                        <a:defRPr sz="819">
                          <a:solidFill>
                            <a:srgbClr val="0F172A"/>
                          </a:solidFill>
                          <a:latin typeface="Segoe UI"/>
                        </a:defRPr>
                      </a:pPr>
                      <a:r>
                        <a:t>Authenticate &amp; Manage Session</a:t>
                      </a:r>
                    </a:p>
                  </a:txBody>
                  <a:tcPr marT="27432" marB="27432" marL="54864" marR="54864">
                    <a:solidFill>
                      <a:srgbClr val="FFFFFF"/>
                    </a:solidFill>
                  </a:tcPr>
                </a:tc>
                <a:tc>
                  <a:txBody>
                    <a:bodyPr/>
                    <a:lstStyle/>
                    <a:p>
                      <a:pPr>
                        <a:defRPr sz="819">
                          <a:solidFill>
                            <a:srgbClr val="0F172A"/>
                          </a:solidFill>
                          <a:latin typeface="Segoe UI"/>
                        </a:defRPr>
                      </a:pPr>
                      <a:r>
                        <a:t>—</a:t>
                      </a:r>
                    </a:p>
                  </a:txBody>
                  <a:tcPr marT="27432" marB="27432" marL="54864" marR="54864">
                    <a:solidFill>
                      <a:srgbClr val="FFFFFF"/>
                    </a:solidFill>
                  </a:tcPr>
                </a:tc>
                <a:tc>
                  <a:txBody>
                    <a:bodyPr/>
                    <a:lstStyle/>
                    <a:p>
                      <a:pPr>
                        <a:defRPr sz="819">
                          <a:solidFill>
                            <a:srgbClr val="0F172A"/>
                          </a:solidFill>
                          <a:latin typeface="Segoe UI"/>
                        </a:defRPr>
                      </a:pPr>
                      <a:r>
                        <a:t>Profile, Role</a:t>
                      </a:r>
                    </a:p>
                  </a:txBody>
                  <a:tcPr marT="27432" marB="27432" marL="54864" marR="54864">
                    <a:solidFill>
                      <a:srgbClr val="FFFFFF"/>
                    </a:solidFill>
                  </a:tcPr>
                </a:tc>
                <a:tc>
                  <a:txBody>
                    <a:bodyPr/>
                    <a:lstStyle/>
                    <a:p>
                      <a:pPr algn="ctr">
                        <a:defRPr sz="819" b="1">
                          <a:solidFill>
                            <a:srgbClr val="16A34A"/>
                          </a:solidFill>
                          <a:latin typeface="Segoe UI"/>
                        </a:defRPr>
                      </a:pPr>
                      <a:r>
                        <a:t>CORE (Phase 2 MVP)</a:t>
                      </a:r>
                    </a:p>
                  </a:txBody>
                  <a:tcPr marT="27432" marB="27432" marL="54864" marR="54864">
                    <a:solidFill>
                      <a:srgbClr val="FFFFFF"/>
                    </a:solidFill>
                  </a:tcPr>
                </a:tc>
              </a:tr>
              <a:tr h="311467">
                <a:tc>
                  <a:txBody>
                    <a:bodyPr/>
                    <a:lstStyle/>
                    <a:p>
                      <a:pPr algn="ctr">
                        <a:defRPr sz="819" b="1">
                          <a:solidFill>
                            <a:srgbClr val="2563EB"/>
                          </a:solidFill>
                          <a:latin typeface="Segoe UI"/>
                        </a:defRPr>
                      </a:pPr>
                      <a:r>
                        <a:t>UC-02</a:t>
                      </a:r>
                    </a:p>
                  </a:txBody>
                  <a:tcPr marT="27432" marB="27432" marL="54864" marR="54864">
                    <a:solidFill>
                      <a:srgbClr val="F1F5F9"/>
                    </a:solidFill>
                  </a:tcPr>
                </a:tc>
                <a:tc>
                  <a:txBody>
                    <a:bodyPr/>
                    <a:lstStyle/>
                    <a:p>
                      <a:pPr>
                        <a:defRPr sz="819">
                          <a:solidFill>
                            <a:srgbClr val="0F172A"/>
                          </a:solidFill>
                          <a:latin typeface="Segoe UI"/>
                        </a:defRPr>
                      </a:pPr>
                      <a:r>
                        <a:t>Configure Goals &amp; Study Time</a:t>
                      </a:r>
                    </a:p>
                  </a:txBody>
                  <a:tcPr marT="27432" marB="27432" marL="54864" marR="54864">
                    <a:solidFill>
                      <a:srgbClr val="F1F5F9"/>
                    </a:solidFill>
                  </a:tcPr>
                </a:tc>
                <a:tc>
                  <a:txBody>
                    <a:bodyPr/>
                    <a:lstStyle/>
                    <a:p>
                      <a:pPr>
                        <a:defRPr sz="819">
                          <a:solidFill>
                            <a:srgbClr val="0F172A"/>
                          </a:solidFill>
                          <a:latin typeface="Segoe UI"/>
                        </a:defRPr>
                      </a:pPr>
                      <a:r>
                        <a:t>—</a:t>
                      </a:r>
                    </a:p>
                  </a:txBody>
                  <a:tcPr marT="27432" marB="27432" marL="54864" marR="54864">
                    <a:solidFill>
                      <a:srgbClr val="F1F5F9"/>
                    </a:solidFill>
                  </a:tcPr>
                </a:tc>
                <a:tc>
                  <a:txBody>
                    <a:bodyPr/>
                    <a:lstStyle/>
                    <a:p>
                      <a:pPr>
                        <a:defRPr sz="819">
                          <a:solidFill>
                            <a:srgbClr val="0F172A"/>
                          </a:solidFill>
                          <a:latin typeface="Segoe UI"/>
                        </a:defRPr>
                      </a:pPr>
                      <a:r>
                        <a:t>Profile</a:t>
                      </a:r>
                    </a:p>
                  </a:txBody>
                  <a:tcPr marT="27432" marB="27432" marL="54864" marR="54864">
                    <a:solidFill>
                      <a:srgbClr val="F1F5F9"/>
                    </a:solidFill>
                  </a:tcPr>
                </a:tc>
                <a:tc>
                  <a:txBody>
                    <a:bodyPr/>
                    <a:lstStyle/>
                    <a:p>
                      <a:pPr algn="ctr">
                        <a:defRPr sz="819" b="1">
                          <a:solidFill>
                            <a:srgbClr val="16A34A"/>
                          </a:solidFill>
                          <a:latin typeface="Segoe UI"/>
                        </a:defRPr>
                      </a:pPr>
                      <a:r>
                        <a:t>CORE (Phase 2 MVP)</a:t>
                      </a:r>
                    </a:p>
                  </a:txBody>
                  <a:tcPr marT="27432" marB="27432" marL="54864" marR="54864">
                    <a:solidFill>
                      <a:srgbClr val="F1F5F9"/>
                    </a:solidFill>
                  </a:tcPr>
                </a:tc>
              </a:tr>
              <a:tr h="311467">
                <a:tc>
                  <a:txBody>
                    <a:bodyPr/>
                    <a:lstStyle/>
                    <a:p>
                      <a:pPr algn="ctr">
                        <a:defRPr sz="819" b="1">
                          <a:solidFill>
                            <a:srgbClr val="2563EB"/>
                          </a:solidFill>
                          <a:latin typeface="Segoe UI"/>
                        </a:defRPr>
                      </a:pPr>
                      <a:r>
                        <a:t>UC-03</a:t>
                      </a:r>
                    </a:p>
                  </a:txBody>
                  <a:tcPr marT="27432" marB="27432" marL="54864" marR="54864">
                    <a:solidFill>
                      <a:srgbClr val="FFFFFF"/>
                    </a:solidFill>
                  </a:tcPr>
                </a:tc>
                <a:tc>
                  <a:txBody>
                    <a:bodyPr/>
                    <a:lstStyle/>
                    <a:p>
                      <a:pPr>
                        <a:defRPr sz="819">
                          <a:solidFill>
                            <a:srgbClr val="0F172A"/>
                          </a:solidFill>
                          <a:latin typeface="Segoe UI"/>
                        </a:defRPr>
                      </a:pPr>
                      <a:r>
                        <a:t>Take Placement Test</a:t>
                      </a:r>
                    </a:p>
                  </a:txBody>
                  <a:tcPr marT="27432" marB="27432" marL="54864" marR="54864">
                    <a:solidFill>
                      <a:srgbClr val="FFFFFF"/>
                    </a:solidFill>
                  </a:tcPr>
                </a:tc>
                <a:tc>
                  <a:txBody>
                    <a:bodyPr/>
                    <a:lstStyle/>
                    <a:p>
                      <a:pPr>
                        <a:defRPr sz="819" b="1">
                          <a:solidFill>
                            <a:srgbClr val="10B981"/>
                          </a:solidFill>
                          <a:latin typeface="Segoe UI"/>
                        </a:defRPr>
                      </a:pPr>
                      <a:r>
                        <a:t>Slide 6 (Diagnostic Test)</a:t>
                      </a:r>
                    </a:p>
                  </a:txBody>
                  <a:tcPr marT="27432" marB="27432" marL="54864" marR="54864">
                    <a:solidFill>
                      <a:srgbClr val="FFFFFF"/>
                    </a:solidFill>
                  </a:tcPr>
                </a:tc>
                <a:tc>
                  <a:txBody>
                    <a:bodyPr/>
                    <a:lstStyle/>
                    <a:p>
                      <a:pPr>
                        <a:defRPr sz="819">
                          <a:solidFill>
                            <a:srgbClr val="0F172A"/>
                          </a:solidFill>
                          <a:latin typeface="Segoe UI"/>
                        </a:defRPr>
                      </a:pPr>
                      <a:r>
                        <a:t>AssessmentResult, SkillProfile</a:t>
                      </a:r>
                    </a:p>
                  </a:txBody>
                  <a:tcPr marT="27432" marB="27432" marL="54864" marR="54864">
                    <a:solidFill>
                      <a:srgbClr val="FFFFFF"/>
                    </a:solidFill>
                  </a:tcPr>
                </a:tc>
                <a:tc>
                  <a:txBody>
                    <a:bodyPr/>
                    <a:lstStyle/>
                    <a:p>
                      <a:pPr algn="ctr">
                        <a:defRPr sz="819" b="1">
                          <a:solidFill>
                            <a:srgbClr val="16A34A"/>
                          </a:solidFill>
                          <a:latin typeface="Segoe UI"/>
                        </a:defRPr>
                      </a:pPr>
                      <a:r>
                        <a:t>CORE (Phase 2 MVP)</a:t>
                      </a:r>
                    </a:p>
                  </a:txBody>
                  <a:tcPr marT="27432" marB="27432" marL="54864" marR="54864">
                    <a:solidFill>
                      <a:srgbClr val="FFFFFF"/>
                    </a:solidFill>
                  </a:tcPr>
                </a:tc>
              </a:tr>
              <a:tr h="311467">
                <a:tc>
                  <a:txBody>
                    <a:bodyPr/>
                    <a:lstStyle/>
                    <a:p>
                      <a:pPr algn="ctr">
                        <a:defRPr sz="819" b="1">
                          <a:solidFill>
                            <a:srgbClr val="2563EB"/>
                          </a:solidFill>
                          <a:latin typeface="Segoe UI"/>
                        </a:defRPr>
                      </a:pPr>
                      <a:r>
                        <a:t>UC-04</a:t>
                      </a:r>
                    </a:p>
                  </a:txBody>
                  <a:tcPr marT="27432" marB="27432" marL="54864" marR="54864">
                    <a:solidFill>
                      <a:srgbClr val="F1F5F9"/>
                    </a:solidFill>
                  </a:tcPr>
                </a:tc>
                <a:tc>
                  <a:txBody>
                    <a:bodyPr/>
                    <a:lstStyle/>
                    <a:p>
                      <a:pPr>
                        <a:defRPr sz="819">
                          <a:solidFill>
                            <a:srgbClr val="0F172A"/>
                          </a:solidFill>
                          <a:latin typeface="Segoe UI"/>
                        </a:defRPr>
                      </a:pPr>
                      <a:r>
                        <a:t>Browse Learning Path &amp; Progress</a:t>
                      </a:r>
                    </a:p>
                  </a:txBody>
                  <a:tcPr marT="27432" marB="27432" marL="54864" marR="54864">
                    <a:solidFill>
                      <a:srgbClr val="F1F5F9"/>
                    </a:solidFill>
                  </a:tcPr>
                </a:tc>
                <a:tc>
                  <a:txBody>
                    <a:bodyPr/>
                    <a:lstStyle/>
                    <a:p>
                      <a:pPr>
                        <a:defRPr sz="819" b="1">
                          <a:solidFill>
                            <a:srgbClr val="10B981"/>
                          </a:solidFill>
                          <a:latin typeface="Segoe UI"/>
                        </a:defRPr>
                      </a:pPr>
                      <a:r>
                        <a:t>Slide 8 (Conditional Jump)</a:t>
                      </a:r>
                    </a:p>
                  </a:txBody>
                  <a:tcPr marT="27432" marB="27432" marL="54864" marR="54864">
                    <a:solidFill>
                      <a:srgbClr val="F1F5F9"/>
                    </a:solidFill>
                  </a:tcPr>
                </a:tc>
                <a:tc>
                  <a:txBody>
                    <a:bodyPr/>
                    <a:lstStyle/>
                    <a:p>
                      <a:pPr>
                        <a:defRPr sz="819">
                          <a:solidFill>
                            <a:srgbClr val="0F172A"/>
                          </a:solidFill>
                          <a:latin typeface="Segoe UI"/>
                        </a:defRPr>
                      </a:pPr>
                      <a:r>
                        <a:t>Course, Unit, Lesson, UserProgress</a:t>
                      </a:r>
                    </a:p>
                  </a:txBody>
                  <a:tcPr marT="27432" marB="27432" marL="54864" marR="54864">
                    <a:solidFill>
                      <a:srgbClr val="F1F5F9"/>
                    </a:solidFill>
                  </a:tcPr>
                </a:tc>
                <a:tc>
                  <a:txBody>
                    <a:bodyPr/>
                    <a:lstStyle/>
                    <a:p>
                      <a:pPr algn="ctr">
                        <a:defRPr sz="819" b="1">
                          <a:solidFill>
                            <a:srgbClr val="16A34A"/>
                          </a:solidFill>
                          <a:latin typeface="Segoe UI"/>
                        </a:defRPr>
                      </a:pPr>
                      <a:r>
                        <a:t>CORE (Phase 2 MVP)</a:t>
                      </a:r>
                    </a:p>
                  </a:txBody>
                  <a:tcPr marT="27432" marB="27432" marL="54864" marR="54864">
                    <a:solidFill>
                      <a:srgbClr val="F1F5F9"/>
                    </a:solidFill>
                  </a:tcPr>
                </a:tc>
              </a:tr>
              <a:tr h="311467">
                <a:tc>
                  <a:txBody>
                    <a:bodyPr/>
                    <a:lstStyle/>
                    <a:p>
                      <a:pPr algn="ctr">
                        <a:defRPr sz="819" b="1">
                          <a:solidFill>
                            <a:srgbClr val="2563EB"/>
                          </a:solidFill>
                          <a:latin typeface="Segoe UI"/>
                        </a:defRPr>
                      </a:pPr>
                      <a:r>
                        <a:t>UC-05</a:t>
                      </a:r>
                    </a:p>
                  </a:txBody>
                  <a:tcPr marT="27432" marB="27432" marL="54864" marR="54864">
                    <a:solidFill>
                      <a:srgbClr val="FFFFFF"/>
                    </a:solidFill>
                  </a:tcPr>
                </a:tc>
                <a:tc>
                  <a:txBody>
                    <a:bodyPr/>
                    <a:lstStyle/>
                    <a:p>
                      <a:pPr>
                        <a:defRPr sz="819">
                          <a:solidFill>
                            <a:srgbClr val="0F172A"/>
                          </a:solidFill>
                          <a:latin typeface="Segoe UI"/>
                        </a:defRPr>
                      </a:pPr>
                      <a:r>
                        <a:t>Complete Lesson &amp; Exercises</a:t>
                      </a:r>
                    </a:p>
                  </a:txBody>
                  <a:tcPr marT="27432" marB="27432" marL="54864" marR="54864">
                    <a:solidFill>
                      <a:srgbClr val="FFFFFF"/>
                    </a:solidFill>
                  </a:tcPr>
                </a:tc>
                <a:tc>
                  <a:txBody>
                    <a:bodyPr/>
                    <a:lstStyle/>
                    <a:p>
                      <a:pPr>
                        <a:defRPr sz="819" b="1">
                          <a:solidFill>
                            <a:srgbClr val="10B981"/>
                          </a:solidFill>
                          <a:latin typeface="Segoe UI"/>
                        </a:defRPr>
                      </a:pPr>
                      <a:r>
                        <a:t>Slide 7 (Learning &amp; Retry)</a:t>
                      </a:r>
                    </a:p>
                  </a:txBody>
                  <a:tcPr marT="27432" marB="27432" marL="54864" marR="54864">
                    <a:solidFill>
                      <a:srgbClr val="FFFFFF"/>
                    </a:solidFill>
                  </a:tcPr>
                </a:tc>
                <a:tc>
                  <a:txBody>
                    <a:bodyPr/>
                    <a:lstStyle/>
                    <a:p>
                      <a:pPr>
                        <a:defRPr sz="819">
                          <a:solidFill>
                            <a:srgbClr val="0F172A"/>
                          </a:solidFill>
                          <a:latin typeface="Segoe UI"/>
                        </a:defRPr>
                      </a:pPr>
                      <a:r>
                        <a:t>Lesson, Exercise, UserProgress</a:t>
                      </a:r>
                    </a:p>
                  </a:txBody>
                  <a:tcPr marT="27432" marB="27432" marL="54864" marR="54864">
                    <a:solidFill>
                      <a:srgbClr val="FFFFFF"/>
                    </a:solidFill>
                  </a:tcPr>
                </a:tc>
                <a:tc>
                  <a:txBody>
                    <a:bodyPr/>
                    <a:lstStyle/>
                    <a:p>
                      <a:pPr algn="ctr">
                        <a:defRPr sz="819" b="1">
                          <a:solidFill>
                            <a:srgbClr val="16A34A"/>
                          </a:solidFill>
                          <a:latin typeface="Segoe UI"/>
                        </a:defRPr>
                      </a:pPr>
                      <a:r>
                        <a:t>CORE (Phase 2 MVP)</a:t>
                      </a:r>
                    </a:p>
                  </a:txBody>
                  <a:tcPr marT="27432" marB="27432" marL="54864" marR="54864">
                    <a:solidFill>
                      <a:srgbClr val="FFFFFF"/>
                    </a:solidFill>
                  </a:tcPr>
                </a:tc>
              </a:tr>
              <a:tr h="311467">
                <a:tc>
                  <a:txBody>
                    <a:bodyPr/>
                    <a:lstStyle/>
                    <a:p>
                      <a:pPr algn="ctr">
                        <a:defRPr sz="819" b="1">
                          <a:solidFill>
                            <a:srgbClr val="2563EB"/>
                          </a:solidFill>
                          <a:latin typeface="Segoe UI"/>
                        </a:defRPr>
                      </a:pPr>
                      <a:r>
                        <a:t>UC-06</a:t>
                      </a:r>
                    </a:p>
                  </a:txBody>
                  <a:tcPr marT="27432" marB="27432" marL="54864" marR="54864">
                    <a:solidFill>
                      <a:srgbClr val="F1F5F9"/>
                    </a:solidFill>
                  </a:tcPr>
                </a:tc>
                <a:tc>
                  <a:txBody>
                    <a:bodyPr/>
                    <a:lstStyle/>
                    <a:p>
                      <a:pPr>
                        <a:defRPr sz="819">
                          <a:solidFill>
                            <a:srgbClr val="0F172A"/>
                          </a:solidFill>
                          <a:latin typeface="Segoe UI"/>
                        </a:defRPr>
                      </a:pPr>
                      <a:r>
                        <a:t>Spaced Repetition Review (SRS)</a:t>
                      </a:r>
                    </a:p>
                  </a:txBody>
                  <a:tcPr marT="27432" marB="27432" marL="54864" marR="54864">
                    <a:solidFill>
                      <a:srgbClr val="F1F5F9"/>
                    </a:solidFill>
                  </a:tcPr>
                </a:tc>
                <a:tc>
                  <a:txBody>
                    <a:bodyPr/>
                    <a:lstStyle/>
                    <a:p>
                      <a:pPr>
                        <a:defRPr sz="819">
                          <a:solidFill>
                            <a:srgbClr val="0F172A"/>
                          </a:solidFill>
                          <a:latin typeface="Segoe UI"/>
                        </a:defRPr>
                      </a:pPr>
                      <a:r>
                        <a:t>—</a:t>
                      </a:r>
                    </a:p>
                  </a:txBody>
                  <a:tcPr marT="27432" marB="27432" marL="54864" marR="54864">
                    <a:solidFill>
                      <a:srgbClr val="F1F5F9"/>
                    </a:solidFill>
                  </a:tcPr>
                </a:tc>
                <a:tc>
                  <a:txBody>
                    <a:bodyPr/>
                    <a:lstStyle/>
                    <a:p>
                      <a:pPr>
                        <a:defRPr sz="819">
                          <a:solidFill>
                            <a:srgbClr val="0F172A"/>
                          </a:solidFill>
                          <a:latin typeface="Segoe UI"/>
                        </a:defRPr>
                      </a:pPr>
                      <a:r>
                        <a:t>Vocabulary, UserVocabSrs, ReviewLog</a:t>
                      </a:r>
                    </a:p>
                  </a:txBody>
                  <a:tcPr marT="27432" marB="27432" marL="54864" marR="54864">
                    <a:solidFill>
                      <a:srgbClr val="F1F5F9"/>
                    </a:solidFill>
                  </a:tcPr>
                </a:tc>
                <a:tc>
                  <a:txBody>
                    <a:bodyPr/>
                    <a:lstStyle/>
                    <a:p>
                      <a:pPr algn="ctr">
                        <a:defRPr sz="819" b="1">
                          <a:solidFill>
                            <a:srgbClr val="16A34A"/>
                          </a:solidFill>
                          <a:latin typeface="Segoe UI"/>
                        </a:defRPr>
                      </a:pPr>
                      <a:r>
                        <a:t>CORE (Phase 2 MVP)</a:t>
                      </a:r>
                    </a:p>
                  </a:txBody>
                  <a:tcPr marT="27432" marB="27432" marL="54864" marR="54864">
                    <a:solidFill>
                      <a:srgbClr val="F1F5F9"/>
                    </a:solidFill>
                  </a:tcPr>
                </a:tc>
              </a:tr>
              <a:tr h="311467">
                <a:tc>
                  <a:txBody>
                    <a:bodyPr/>
                    <a:lstStyle/>
                    <a:p>
                      <a:pPr algn="ctr">
                        <a:defRPr sz="819" b="1">
                          <a:solidFill>
                            <a:srgbClr val="2563EB"/>
                          </a:solidFill>
                          <a:latin typeface="Segoe UI"/>
                        </a:defRPr>
                      </a:pPr>
                      <a:r>
                        <a:t>UC-07</a:t>
                      </a:r>
                    </a:p>
                  </a:txBody>
                  <a:tcPr marT="27432" marB="27432" marL="54864" marR="54864">
                    <a:solidFill>
                      <a:srgbClr val="FFFFFF"/>
                    </a:solidFill>
                  </a:tcPr>
                </a:tc>
                <a:tc>
                  <a:txBody>
                    <a:bodyPr/>
                    <a:lstStyle/>
                    <a:p>
                      <a:pPr>
                        <a:defRPr sz="819">
                          <a:solidFill>
                            <a:srgbClr val="0F172A"/>
                          </a:solidFill>
                          <a:latin typeface="Segoe UI"/>
                        </a:defRPr>
                      </a:pPr>
                      <a:r>
                        <a:t>Track Learning Progress &amp; Streak</a:t>
                      </a:r>
                    </a:p>
                  </a:txBody>
                  <a:tcPr marT="27432" marB="27432" marL="54864" marR="54864">
                    <a:solidFill>
                      <a:srgbClr val="FFFFFF"/>
                    </a:solidFill>
                  </a:tcPr>
                </a:tc>
                <a:tc>
                  <a:txBody>
                    <a:bodyPr/>
                    <a:lstStyle/>
                    <a:p>
                      <a:pPr>
                        <a:defRPr sz="819" b="1">
                          <a:solidFill>
                            <a:srgbClr val="10B981"/>
                          </a:solidFill>
                          <a:latin typeface="Segoe UI"/>
                        </a:defRPr>
                      </a:pPr>
                      <a:r>
                        <a:t>Slide 7 (Streak Update)</a:t>
                      </a:r>
                    </a:p>
                  </a:txBody>
                  <a:tcPr marT="27432" marB="27432" marL="54864" marR="54864">
                    <a:solidFill>
                      <a:srgbClr val="FFFFFF"/>
                    </a:solidFill>
                  </a:tcPr>
                </a:tc>
                <a:tc>
                  <a:txBody>
                    <a:bodyPr/>
                    <a:lstStyle/>
                    <a:p>
                      <a:pPr>
                        <a:defRPr sz="819">
                          <a:solidFill>
                            <a:srgbClr val="0F172A"/>
                          </a:solidFill>
                          <a:latin typeface="Segoe UI"/>
                        </a:defRPr>
                      </a:pPr>
                      <a:r>
                        <a:t>Profile, UserProgress</a:t>
                      </a:r>
                    </a:p>
                  </a:txBody>
                  <a:tcPr marT="27432" marB="27432" marL="54864" marR="54864">
                    <a:solidFill>
                      <a:srgbClr val="FFFFFF"/>
                    </a:solidFill>
                  </a:tcPr>
                </a:tc>
                <a:tc>
                  <a:txBody>
                    <a:bodyPr/>
                    <a:lstStyle/>
                    <a:p>
                      <a:pPr algn="ctr">
                        <a:defRPr sz="819" b="1">
                          <a:solidFill>
                            <a:srgbClr val="16A34A"/>
                          </a:solidFill>
                          <a:latin typeface="Segoe UI"/>
                        </a:defRPr>
                      </a:pPr>
                      <a:r>
                        <a:t>CORE (Phase 2 MVP)</a:t>
                      </a:r>
                    </a:p>
                  </a:txBody>
                  <a:tcPr marT="27432" marB="27432" marL="54864" marR="54864">
                    <a:solidFill>
                      <a:srgbClr val="FFFFFF"/>
                    </a:solidFill>
                  </a:tcPr>
                </a:tc>
              </a:tr>
              <a:tr h="311467">
                <a:tc>
                  <a:txBody>
                    <a:bodyPr/>
                    <a:lstStyle/>
                    <a:p>
                      <a:pPr algn="ctr">
                        <a:defRPr sz="819" b="1">
                          <a:solidFill>
                            <a:srgbClr val="2563EB"/>
                          </a:solidFill>
                          <a:latin typeface="Segoe UI"/>
                        </a:defRPr>
                      </a:pPr>
                      <a:r>
                        <a:t>UC-08</a:t>
                      </a:r>
                    </a:p>
                  </a:txBody>
                  <a:tcPr marT="27432" marB="27432" marL="54864" marR="54864">
                    <a:solidFill>
                      <a:srgbClr val="F1F5F9"/>
                    </a:solidFill>
                  </a:tcPr>
                </a:tc>
                <a:tc>
                  <a:txBody>
                    <a:bodyPr/>
                    <a:lstStyle/>
                    <a:p>
                      <a:pPr>
                        <a:defRPr sz="819">
                          <a:solidFill>
                            <a:srgbClr val="0F172A"/>
                          </a:solidFill>
                          <a:latin typeface="Segoe UI"/>
                        </a:defRPr>
                      </a:pPr>
                      <a:r>
                        <a:t>Create &amp; Edit Lesson Draft</a:t>
                      </a:r>
                    </a:p>
                  </a:txBody>
                  <a:tcPr marT="27432" marB="27432" marL="54864" marR="54864">
                    <a:solidFill>
                      <a:srgbClr val="F1F5F9"/>
                    </a:solidFill>
                  </a:tcPr>
                </a:tc>
                <a:tc>
                  <a:txBody>
                    <a:bodyPr/>
                    <a:lstStyle/>
                    <a:p>
                      <a:pPr>
                        <a:defRPr sz="819" b="1">
                          <a:solidFill>
                            <a:srgbClr val="10B981"/>
                          </a:solidFill>
                          <a:latin typeface="Segoe UI"/>
                        </a:defRPr>
                      </a:pPr>
                      <a:r>
                        <a:t>Slide 9 (Governance &amp; Clone)</a:t>
                      </a:r>
                    </a:p>
                  </a:txBody>
                  <a:tcPr marT="27432" marB="27432" marL="54864" marR="54864">
                    <a:solidFill>
                      <a:srgbClr val="F1F5F9"/>
                    </a:solidFill>
                  </a:tcPr>
                </a:tc>
                <a:tc>
                  <a:txBody>
                    <a:bodyPr/>
                    <a:lstStyle/>
                    <a:p>
                      <a:pPr>
                        <a:defRPr sz="819">
                          <a:solidFill>
                            <a:srgbClr val="0F172A"/>
                          </a:solidFill>
                          <a:latin typeface="Segoe UI"/>
                        </a:defRPr>
                      </a:pPr>
                      <a:r>
                        <a:t>Lesson, LessonRevision, Exercise</a:t>
                      </a:r>
                    </a:p>
                  </a:txBody>
                  <a:tcPr marT="27432" marB="27432" marL="54864" marR="54864">
                    <a:solidFill>
                      <a:srgbClr val="F1F5F9"/>
                    </a:solidFill>
                  </a:tcPr>
                </a:tc>
                <a:tc>
                  <a:txBody>
                    <a:bodyPr/>
                    <a:lstStyle/>
                    <a:p>
                      <a:pPr algn="ctr">
                        <a:defRPr sz="819" b="1">
                          <a:solidFill>
                            <a:srgbClr val="16A34A"/>
                          </a:solidFill>
                          <a:latin typeface="Segoe UI"/>
                        </a:defRPr>
                      </a:pPr>
                      <a:r>
                        <a:t>CORE (Phase 2 MVP)</a:t>
                      </a:r>
                    </a:p>
                  </a:txBody>
                  <a:tcPr marT="27432" marB="27432" marL="54864" marR="54864">
                    <a:solidFill>
                      <a:srgbClr val="F1F5F9"/>
                    </a:solidFill>
                  </a:tcPr>
                </a:tc>
              </a:tr>
              <a:tr h="311467">
                <a:tc>
                  <a:txBody>
                    <a:bodyPr/>
                    <a:lstStyle/>
                    <a:p>
                      <a:pPr algn="ctr">
                        <a:defRPr sz="819" b="1">
                          <a:solidFill>
                            <a:srgbClr val="2563EB"/>
                          </a:solidFill>
                          <a:latin typeface="Segoe UI"/>
                        </a:defRPr>
                      </a:pPr>
                      <a:r>
                        <a:t>UC-09</a:t>
                      </a:r>
                    </a:p>
                  </a:txBody>
                  <a:tcPr marT="27432" marB="27432" marL="54864" marR="54864">
                    <a:solidFill>
                      <a:srgbClr val="FFFFFF"/>
                    </a:solidFill>
                  </a:tcPr>
                </a:tc>
                <a:tc>
                  <a:txBody>
                    <a:bodyPr/>
                    <a:lstStyle/>
                    <a:p>
                      <a:pPr>
                        <a:defRPr sz="819">
                          <a:solidFill>
                            <a:srgbClr val="0F172A"/>
                          </a:solidFill>
                          <a:latin typeface="Segoe UI"/>
                        </a:defRPr>
                      </a:pPr>
                      <a:r>
                        <a:t>Review &amp; Moderate Content</a:t>
                      </a:r>
                    </a:p>
                  </a:txBody>
                  <a:tcPr marT="27432" marB="27432" marL="54864" marR="54864">
                    <a:solidFill>
                      <a:srgbClr val="FFFFFF"/>
                    </a:solidFill>
                  </a:tcPr>
                </a:tc>
                <a:tc>
                  <a:txBody>
                    <a:bodyPr/>
                    <a:lstStyle/>
                    <a:p>
                      <a:pPr>
                        <a:defRPr sz="819" b="1">
                          <a:solidFill>
                            <a:srgbClr val="10B981"/>
                          </a:solidFill>
                          <a:latin typeface="Segoe UI"/>
                        </a:defRPr>
                      </a:pPr>
                      <a:r>
                        <a:t>Slide 9 (Moderator Review)</a:t>
                      </a:r>
                    </a:p>
                  </a:txBody>
                  <a:tcPr marT="27432" marB="27432" marL="54864" marR="54864">
                    <a:solidFill>
                      <a:srgbClr val="FFFFFF"/>
                    </a:solidFill>
                  </a:tcPr>
                </a:tc>
                <a:tc>
                  <a:txBody>
                    <a:bodyPr/>
                    <a:lstStyle/>
                    <a:p>
                      <a:pPr>
                        <a:defRPr sz="819">
                          <a:solidFill>
                            <a:srgbClr val="0F172A"/>
                          </a:solidFill>
                          <a:latin typeface="Segoe UI"/>
                        </a:defRPr>
                      </a:pPr>
                      <a:r>
                        <a:t>LessonRevision, AuditLog</a:t>
                      </a:r>
                    </a:p>
                  </a:txBody>
                  <a:tcPr marT="27432" marB="27432" marL="54864" marR="54864">
                    <a:solidFill>
                      <a:srgbClr val="FFFFFF"/>
                    </a:solidFill>
                  </a:tcPr>
                </a:tc>
                <a:tc>
                  <a:txBody>
                    <a:bodyPr/>
                    <a:lstStyle/>
                    <a:p>
                      <a:pPr algn="ctr">
                        <a:defRPr sz="819" b="1">
                          <a:solidFill>
                            <a:srgbClr val="16A34A"/>
                          </a:solidFill>
                          <a:latin typeface="Segoe UI"/>
                        </a:defRPr>
                      </a:pPr>
                      <a:r>
                        <a:t>CORE (Phase 2 MVP)</a:t>
                      </a:r>
                    </a:p>
                  </a:txBody>
                  <a:tcPr marT="27432" marB="27432" marL="54864" marR="54864">
                    <a:solidFill>
                      <a:srgbClr val="FFFFFF"/>
                    </a:solidFill>
                  </a:tcPr>
                </a:tc>
              </a:tr>
              <a:tr h="311467">
                <a:tc>
                  <a:txBody>
                    <a:bodyPr/>
                    <a:lstStyle/>
                    <a:p>
                      <a:pPr algn="ctr">
                        <a:defRPr sz="819" b="1">
                          <a:solidFill>
                            <a:srgbClr val="2563EB"/>
                          </a:solidFill>
                          <a:latin typeface="Segoe UI"/>
                        </a:defRPr>
                      </a:pPr>
                      <a:r>
                        <a:t>UC-10</a:t>
                      </a:r>
                    </a:p>
                  </a:txBody>
                  <a:tcPr marT="27432" marB="27432" marL="54864" marR="54864">
                    <a:solidFill>
                      <a:srgbClr val="F1F5F9"/>
                    </a:solidFill>
                  </a:tcPr>
                </a:tc>
                <a:tc>
                  <a:txBody>
                    <a:bodyPr/>
                    <a:lstStyle/>
                    <a:p>
                      <a:pPr>
                        <a:defRPr sz="819">
                          <a:solidFill>
                            <a:srgbClr val="0F172A"/>
                          </a:solidFill>
                          <a:latin typeface="Segoe UI"/>
                        </a:defRPr>
                      </a:pPr>
                      <a:r>
                        <a:t>Publish Approved Content</a:t>
                      </a:r>
                    </a:p>
                  </a:txBody>
                  <a:tcPr marT="27432" marB="27432" marL="54864" marR="54864">
                    <a:solidFill>
                      <a:srgbClr val="F1F5F9"/>
                    </a:solidFill>
                  </a:tcPr>
                </a:tc>
                <a:tc>
                  <a:txBody>
                    <a:bodyPr/>
                    <a:lstStyle/>
                    <a:p>
                      <a:pPr>
                        <a:defRPr sz="819" b="1">
                          <a:solidFill>
                            <a:srgbClr val="10B981"/>
                          </a:solidFill>
                          <a:latin typeface="Segoe UI"/>
                        </a:defRPr>
                      </a:pPr>
                      <a:r>
                        <a:t>Slide 9 (Org Mgr 4/4 Unit)</a:t>
                      </a:r>
                    </a:p>
                  </a:txBody>
                  <a:tcPr marT="27432" marB="27432" marL="54864" marR="54864">
                    <a:solidFill>
                      <a:srgbClr val="F1F5F9"/>
                    </a:solidFill>
                  </a:tcPr>
                </a:tc>
                <a:tc>
                  <a:txBody>
                    <a:bodyPr/>
                    <a:lstStyle/>
                    <a:p>
                      <a:pPr>
                        <a:defRPr sz="819">
                          <a:solidFill>
                            <a:srgbClr val="0F172A"/>
                          </a:solidFill>
                          <a:latin typeface="Segoe UI"/>
                        </a:defRPr>
                      </a:pPr>
                      <a:r>
                        <a:t>Unit, Lesson, LessonRevision, AuditLog</a:t>
                      </a:r>
                    </a:p>
                  </a:txBody>
                  <a:tcPr marT="27432" marB="27432" marL="54864" marR="54864">
                    <a:solidFill>
                      <a:srgbClr val="F1F5F9"/>
                    </a:solidFill>
                  </a:tcPr>
                </a:tc>
                <a:tc>
                  <a:txBody>
                    <a:bodyPr/>
                    <a:lstStyle/>
                    <a:p>
                      <a:pPr algn="ctr">
                        <a:defRPr sz="819" b="1">
                          <a:solidFill>
                            <a:srgbClr val="16A34A"/>
                          </a:solidFill>
                          <a:latin typeface="Segoe UI"/>
                        </a:defRPr>
                      </a:pPr>
                      <a:r>
                        <a:t>CORE (Phase 2 MVP)</a:t>
                      </a:r>
                    </a:p>
                  </a:txBody>
                  <a:tcPr marT="27432" marB="27432" marL="54864" marR="54864">
                    <a:solidFill>
                      <a:srgbClr val="F1F5F9"/>
                    </a:solidFill>
                  </a:tcPr>
                </a:tc>
              </a:tr>
              <a:tr h="311467">
                <a:tc>
                  <a:txBody>
                    <a:bodyPr/>
                    <a:lstStyle/>
                    <a:p>
                      <a:pPr algn="ctr">
                        <a:defRPr sz="819" b="1">
                          <a:solidFill>
                            <a:srgbClr val="2563EB"/>
                          </a:solidFill>
                          <a:latin typeface="Segoe UI"/>
                        </a:defRPr>
                      </a:pPr>
                      <a:r>
                        <a:t>UC-11</a:t>
                      </a:r>
                    </a:p>
                  </a:txBody>
                  <a:tcPr marT="27432" marB="27432" marL="54864" marR="54864">
                    <a:solidFill>
                      <a:srgbClr val="FFFFFF"/>
                    </a:solidFill>
                  </a:tcPr>
                </a:tc>
                <a:tc>
                  <a:txBody>
                    <a:bodyPr/>
                    <a:lstStyle/>
                    <a:p>
                      <a:pPr>
                        <a:defRPr sz="819">
                          <a:solidFill>
                            <a:srgbClr val="0F172A"/>
                          </a:solidFill>
                          <a:latin typeface="Segoe UI"/>
                        </a:defRPr>
                      </a:pPr>
                      <a:r>
                        <a:t>Manage Accounts &amp; Roles</a:t>
                      </a:r>
                    </a:p>
                  </a:txBody>
                  <a:tcPr marT="27432" marB="27432" marL="54864" marR="54864">
                    <a:solidFill>
                      <a:srgbClr val="FFFFFF"/>
                    </a:solidFill>
                  </a:tcPr>
                </a:tc>
                <a:tc>
                  <a:txBody>
                    <a:bodyPr/>
                    <a:lstStyle/>
                    <a:p>
                      <a:pPr>
                        <a:defRPr sz="819">
                          <a:solidFill>
                            <a:srgbClr val="0F172A"/>
                          </a:solidFill>
                          <a:latin typeface="Segoe UI"/>
                        </a:defRPr>
                      </a:pPr>
                      <a:r>
                        <a:t>—</a:t>
                      </a:r>
                    </a:p>
                  </a:txBody>
                  <a:tcPr marT="27432" marB="27432" marL="54864" marR="54864">
                    <a:solidFill>
                      <a:srgbClr val="FFFFFF"/>
                    </a:solidFill>
                  </a:tcPr>
                </a:tc>
                <a:tc>
                  <a:txBody>
                    <a:bodyPr/>
                    <a:lstStyle/>
                    <a:p>
                      <a:pPr>
                        <a:defRPr sz="819">
                          <a:solidFill>
                            <a:srgbClr val="0F172A"/>
                          </a:solidFill>
                          <a:latin typeface="Segoe UI"/>
                        </a:defRPr>
                      </a:pPr>
                      <a:r>
                        <a:t>Profile, Role, AuditLog</a:t>
                      </a:r>
                    </a:p>
                  </a:txBody>
                  <a:tcPr marT="27432" marB="27432" marL="54864" marR="54864">
                    <a:solidFill>
                      <a:srgbClr val="FFFFFF"/>
                    </a:solidFill>
                  </a:tcPr>
                </a:tc>
                <a:tc>
                  <a:txBody>
                    <a:bodyPr/>
                    <a:lstStyle/>
                    <a:p>
                      <a:pPr algn="ctr">
                        <a:defRPr sz="819" b="1">
                          <a:solidFill>
                            <a:srgbClr val="16A34A"/>
                          </a:solidFill>
                          <a:latin typeface="Segoe UI"/>
                        </a:defRPr>
                      </a:pPr>
                      <a:r>
                        <a:t>CORE (Phase 2 MVP)</a:t>
                      </a:r>
                    </a:p>
                  </a:txBody>
                  <a:tcPr marT="27432" marB="27432" marL="54864" marR="54864">
                    <a:solidFill>
                      <a:srgbClr val="FFFFFF"/>
                    </a:solidFill>
                  </a:tcPr>
                </a:tc>
              </a:tr>
              <a:tr h="311467">
                <a:tc>
                  <a:txBody>
                    <a:bodyPr/>
                    <a:lstStyle/>
                    <a:p>
                      <a:pPr algn="ctr">
                        <a:defRPr sz="819" b="1">
                          <a:solidFill>
                            <a:srgbClr val="2563EB"/>
                          </a:solidFill>
                          <a:latin typeface="Segoe UI"/>
                        </a:defRPr>
                      </a:pPr>
                      <a:r>
                        <a:t>UC-12</a:t>
                      </a:r>
                    </a:p>
                  </a:txBody>
                  <a:tcPr marT="27432" marB="27432" marL="54864" marR="54864">
                    <a:solidFill>
                      <a:srgbClr val="F1F5F9"/>
                    </a:solidFill>
                  </a:tcPr>
                </a:tc>
                <a:tc>
                  <a:txBody>
                    <a:bodyPr/>
                    <a:lstStyle/>
                    <a:p>
                      <a:pPr>
                        <a:defRPr sz="819">
                          <a:solidFill>
                            <a:srgbClr val="0F172A"/>
                          </a:solidFill>
                          <a:latin typeface="Segoe UI"/>
                        </a:defRPr>
                      </a:pPr>
                      <a:r>
                        <a:t>View System Operational Reports</a:t>
                      </a:r>
                    </a:p>
                  </a:txBody>
                  <a:tcPr marT="27432" marB="27432" marL="54864" marR="54864">
                    <a:solidFill>
                      <a:srgbClr val="F1F5F9"/>
                    </a:solidFill>
                  </a:tcPr>
                </a:tc>
                <a:tc>
                  <a:txBody>
                    <a:bodyPr/>
                    <a:lstStyle/>
                    <a:p>
                      <a:pPr>
                        <a:defRPr sz="819">
                          <a:solidFill>
                            <a:srgbClr val="0F172A"/>
                          </a:solidFill>
                          <a:latin typeface="Segoe UI"/>
                        </a:defRPr>
                      </a:pPr>
                      <a:r>
                        <a:t>—</a:t>
                      </a:r>
                    </a:p>
                  </a:txBody>
                  <a:tcPr marT="27432" marB="27432" marL="54864" marR="54864">
                    <a:solidFill>
                      <a:srgbClr val="F1F5F9"/>
                    </a:solidFill>
                  </a:tcPr>
                </a:tc>
                <a:tc>
                  <a:txBody>
                    <a:bodyPr/>
                    <a:lstStyle/>
                    <a:p>
                      <a:pPr>
                        <a:defRPr sz="819">
                          <a:solidFill>
                            <a:srgbClr val="0F172A"/>
                          </a:solidFill>
                          <a:latin typeface="Segoe UI"/>
                        </a:defRPr>
                      </a:pPr>
                      <a:r>
                        <a:t>UserProgress, AuditLog</a:t>
                      </a:r>
                    </a:p>
                  </a:txBody>
                  <a:tcPr marT="27432" marB="27432" marL="54864" marR="54864">
                    <a:solidFill>
                      <a:srgbClr val="F1F5F9"/>
                    </a:solidFill>
                  </a:tcPr>
                </a:tc>
                <a:tc>
                  <a:txBody>
                    <a:bodyPr/>
                    <a:lstStyle/>
                    <a:p>
                      <a:pPr algn="ctr">
                        <a:defRPr sz="819" b="1">
                          <a:solidFill>
                            <a:srgbClr val="16A34A"/>
                          </a:solidFill>
                          <a:latin typeface="Segoe UI"/>
                        </a:defRPr>
                      </a:pPr>
                      <a:r>
                        <a:t>CORE (Phase 2 MVP)</a:t>
                      </a:r>
                    </a:p>
                  </a:txBody>
                  <a:tcPr marT="27432" marB="27432" marL="54864" marR="54864">
                    <a:solidFill>
                      <a:srgbClr val="F1F5F9"/>
                    </a:solidFill>
                  </a:tcPr>
                </a:tc>
              </a:tr>
              <a:tr h="311467">
                <a:tc>
                  <a:txBody>
                    <a:bodyPr/>
                    <a:lstStyle/>
                    <a:p>
                      <a:pPr algn="ctr">
                        <a:defRPr sz="819" b="1">
                          <a:solidFill>
                            <a:srgbClr val="2563EB"/>
                          </a:solidFill>
                          <a:latin typeface="Segoe UI"/>
                        </a:defRPr>
                      </a:pPr>
                      <a:r>
                        <a:t>UC-13</a:t>
                      </a:r>
                    </a:p>
                  </a:txBody>
                  <a:tcPr marT="27432" marB="27432" marL="54864" marR="54864">
                    <a:solidFill>
                      <a:srgbClr val="FFFFFF"/>
                    </a:solidFill>
                  </a:tcPr>
                </a:tc>
                <a:tc>
                  <a:txBody>
                    <a:bodyPr/>
                    <a:lstStyle/>
                    <a:p>
                      <a:pPr>
                        <a:defRPr sz="819">
                          <a:solidFill>
                            <a:srgbClr val="0F172A"/>
                          </a:solidFill>
                          <a:latin typeface="Segoe UI"/>
                        </a:defRPr>
                      </a:pPr>
                      <a:r>
                        <a:t>View &amp; Audit Security Logs</a:t>
                      </a:r>
                    </a:p>
                  </a:txBody>
                  <a:tcPr marT="27432" marB="27432" marL="54864" marR="54864">
                    <a:solidFill>
                      <a:srgbClr val="FFFFFF"/>
                    </a:solidFill>
                  </a:tcPr>
                </a:tc>
                <a:tc>
                  <a:txBody>
                    <a:bodyPr/>
                    <a:lstStyle/>
                    <a:p>
                      <a:pPr>
                        <a:defRPr sz="819">
                          <a:solidFill>
                            <a:srgbClr val="0F172A"/>
                          </a:solidFill>
                          <a:latin typeface="Segoe UI"/>
                        </a:defRPr>
                      </a:pPr>
                      <a:r>
                        <a:t>—</a:t>
                      </a:r>
                    </a:p>
                  </a:txBody>
                  <a:tcPr marT="27432" marB="27432" marL="54864" marR="54864">
                    <a:solidFill>
                      <a:srgbClr val="FFFFFF"/>
                    </a:solidFill>
                  </a:tcPr>
                </a:tc>
                <a:tc>
                  <a:txBody>
                    <a:bodyPr/>
                    <a:lstStyle/>
                    <a:p>
                      <a:pPr>
                        <a:defRPr sz="819">
                          <a:solidFill>
                            <a:srgbClr val="0F172A"/>
                          </a:solidFill>
                          <a:latin typeface="Segoe UI"/>
                        </a:defRPr>
                      </a:pPr>
                      <a:r>
                        <a:t>AuditLog</a:t>
                      </a:r>
                    </a:p>
                  </a:txBody>
                  <a:tcPr marT="27432" marB="27432" marL="54864" marR="54864">
                    <a:solidFill>
                      <a:srgbClr val="FFFFFF"/>
                    </a:solidFill>
                  </a:tcPr>
                </a:tc>
                <a:tc>
                  <a:txBody>
                    <a:bodyPr/>
                    <a:lstStyle/>
                    <a:p>
                      <a:pPr algn="ctr">
                        <a:defRPr sz="819" b="1">
                          <a:solidFill>
                            <a:srgbClr val="16A34A"/>
                          </a:solidFill>
                          <a:latin typeface="Segoe UI"/>
                        </a:defRPr>
                      </a:pPr>
                      <a:r>
                        <a:t>CORE (Phase 2 MVP)</a:t>
                      </a:r>
                    </a:p>
                  </a:txBody>
                  <a:tcPr marT="27432" marB="27432" marL="54864" marR="54864">
                    <a:solidFill>
                      <a:srgbClr val="FFFFFF"/>
                    </a:solidFill>
                  </a:tcPr>
                </a:tc>
              </a:tr>
              <a:tr h="311467">
                <a:tc>
                  <a:txBody>
                    <a:bodyPr/>
                    <a:lstStyle/>
                    <a:p>
                      <a:pPr algn="ctr">
                        <a:defRPr sz="819" b="1">
                          <a:solidFill>
                            <a:srgbClr val="2563EB"/>
                          </a:solidFill>
                          <a:latin typeface="Segoe UI"/>
                        </a:defRPr>
                      </a:pPr>
                      <a:r>
                        <a:t>UC-14</a:t>
                      </a:r>
                    </a:p>
                  </a:txBody>
                  <a:tcPr marT="27432" marB="27432" marL="54864" marR="54864">
                    <a:solidFill>
                      <a:srgbClr val="F1F5F9"/>
                    </a:solidFill>
                  </a:tcPr>
                </a:tc>
                <a:tc>
                  <a:txBody>
                    <a:bodyPr/>
                    <a:lstStyle/>
                    <a:p>
                      <a:pPr>
                        <a:defRPr sz="819">
                          <a:solidFill>
                            <a:srgbClr val="0F172A"/>
                          </a:solidFill>
                          <a:latin typeface="Segoe UI"/>
                        </a:defRPr>
                      </a:pPr>
                      <a:r>
                        <a:t>Handle Support Ticket</a:t>
                      </a:r>
                    </a:p>
                  </a:txBody>
                  <a:tcPr marT="27432" marB="27432" marL="54864" marR="54864">
                    <a:solidFill>
                      <a:srgbClr val="F1F5F9"/>
                    </a:solidFill>
                  </a:tcPr>
                </a:tc>
                <a:tc>
                  <a:txBody>
                    <a:bodyPr/>
                    <a:lstStyle/>
                    <a:p>
                      <a:pPr>
                        <a:defRPr sz="819">
                          <a:solidFill>
                            <a:srgbClr val="0F172A"/>
                          </a:solidFill>
                          <a:latin typeface="Segoe UI"/>
                        </a:defRPr>
                      </a:pPr>
                      <a:r>
                        <a:t>—</a:t>
                      </a:r>
                    </a:p>
                  </a:txBody>
                  <a:tcPr marT="27432" marB="27432" marL="54864" marR="54864">
                    <a:solidFill>
                      <a:srgbClr val="F1F5F9"/>
                    </a:solidFill>
                  </a:tcPr>
                </a:tc>
                <a:tc>
                  <a:txBody>
                    <a:bodyPr/>
                    <a:lstStyle/>
                    <a:p>
                      <a:pPr>
                        <a:defRPr sz="819">
                          <a:solidFill>
                            <a:srgbClr val="0F172A"/>
                          </a:solidFill>
                          <a:latin typeface="Segoe UI"/>
                        </a:defRPr>
                      </a:pPr>
                      <a:r>
                        <a:t>SupportTicket (MVP Boundary)</a:t>
                      </a:r>
                    </a:p>
                  </a:txBody>
                  <a:tcPr marT="27432" marB="27432" marL="54864" marR="54864">
                    <a:solidFill>
                      <a:srgbClr val="F1F5F9"/>
                    </a:solidFill>
                  </a:tcPr>
                </a:tc>
                <a:tc>
                  <a:txBody>
                    <a:bodyPr/>
                    <a:lstStyle/>
                    <a:p>
                      <a:pPr algn="ctr">
                        <a:defRPr sz="819" b="1">
                          <a:solidFill>
                            <a:srgbClr val="0D9488"/>
                          </a:solidFill>
                          <a:latin typeface="Segoe UI"/>
                        </a:defRPr>
                      </a:pPr>
                      <a:r>
                        <a:t>MVP (Coordination)</a:t>
                      </a:r>
                    </a:p>
                  </a:txBody>
                  <a:tcPr marT="27432" marB="27432" marL="54864" marR="54864">
                    <a:solidFill>
                      <a:srgbClr val="F1F5F9"/>
                    </a:solidFill>
                  </a:tcPr>
                </a:tc>
              </a:tr>
              <a:tr h="311475">
                <a:tc>
                  <a:txBody>
                    <a:bodyPr/>
                    <a:lstStyle/>
                    <a:p>
                      <a:pPr algn="ctr">
                        <a:defRPr sz="819" b="1">
                          <a:solidFill>
                            <a:srgbClr val="2563EB"/>
                          </a:solidFill>
                          <a:latin typeface="Segoe UI"/>
                        </a:defRPr>
                      </a:pPr>
                      <a:r>
                        <a:t>UC-15</a:t>
                      </a:r>
                    </a:p>
                  </a:txBody>
                  <a:tcPr marT="27432" marB="27432" marL="54864" marR="54864">
                    <a:solidFill>
                      <a:srgbClr val="FFFFFF"/>
                    </a:solidFill>
                  </a:tcPr>
                </a:tc>
                <a:tc>
                  <a:txBody>
                    <a:bodyPr/>
                    <a:lstStyle/>
                    <a:p>
                      <a:pPr>
                        <a:defRPr sz="819">
                          <a:solidFill>
                            <a:srgbClr val="0F172A"/>
                          </a:solidFill>
                          <a:latin typeface="Segoe UI"/>
                        </a:defRPr>
                      </a:pPr>
                      <a:r>
                        <a:t>Manage Cohorts &amp; Groups</a:t>
                      </a:r>
                    </a:p>
                  </a:txBody>
                  <a:tcPr marT="27432" marB="27432" marL="54864" marR="54864">
                    <a:solidFill>
                      <a:srgbClr val="FFFFFF"/>
                    </a:solidFill>
                  </a:tcPr>
                </a:tc>
                <a:tc>
                  <a:txBody>
                    <a:bodyPr/>
                    <a:lstStyle/>
                    <a:p>
                      <a:pPr>
                        <a:defRPr sz="819">
                          <a:solidFill>
                            <a:srgbClr val="0F172A"/>
                          </a:solidFill>
                          <a:latin typeface="Segoe UI"/>
                        </a:defRPr>
                      </a:pPr>
                      <a:r>
                        <a:t>—</a:t>
                      </a:r>
                    </a:p>
                  </a:txBody>
                  <a:tcPr marT="27432" marB="27432" marL="54864" marR="54864">
                    <a:solidFill>
                      <a:srgbClr val="FFFFFF"/>
                    </a:solidFill>
                  </a:tcPr>
                </a:tc>
                <a:tc>
                  <a:txBody>
                    <a:bodyPr/>
                    <a:lstStyle/>
                    <a:p>
                      <a:pPr>
                        <a:defRPr sz="819">
                          <a:solidFill>
                            <a:srgbClr val="0F172A"/>
                          </a:solidFill>
                          <a:latin typeface="Segoe UI"/>
                        </a:defRPr>
                      </a:pPr>
                      <a:r>
                        <a:t>Cohort, CohortMember</a:t>
                      </a:r>
                    </a:p>
                  </a:txBody>
                  <a:tcPr marT="27432" marB="27432" marL="54864" marR="54864">
                    <a:solidFill>
                      <a:srgbClr val="FFFFFF"/>
                    </a:solidFill>
                  </a:tcPr>
                </a:tc>
                <a:tc>
                  <a:txBody>
                    <a:bodyPr/>
                    <a:lstStyle/>
                    <a:p>
                      <a:pPr algn="ctr">
                        <a:defRPr sz="819" b="1">
                          <a:solidFill>
                            <a:srgbClr val="9CA3AF"/>
                          </a:solidFill>
                          <a:latin typeface="Segoe UI"/>
                        </a:defRPr>
                      </a:pPr>
                      <a:r>
                        <a:t>FUTURE EXTENSION</a:t>
                      </a:r>
                    </a:p>
                  </a:txBody>
                  <a:tcPr marT="27432" marB="27432" marL="54864" marR="54864">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