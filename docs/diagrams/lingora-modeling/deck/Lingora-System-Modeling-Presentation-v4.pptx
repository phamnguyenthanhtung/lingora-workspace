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mừng Hội đồng và Thầy Cô. Bài báo cáo này tập trung chuyên sâu vào phân tích và mô hình hóa hệ thống Lingora dưới các góc nhìn chuẩn mực của Kỹ thuật Phần mềm: Ca sử dụng (Use Case), Sơ đồ hoạt động (Activity Diagram), Sơ đồ lớp (Class Diagram) và Ma trận truy vết (Traceability Matrix). Toàn bộ mô hình tuân thủ thiết kế khóa M2 và Master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Lingora được phân rã thành ba gói kiến trúc nghiệp vụ rõ ràng: Learning, Content, và Administration. Mô hình chuẩn hóa 6 vai trò chính thức, trong đó UC-14 xử lý khiếu nại ở mức MVP điều phối hỗ trợ, và UC-15 quản lý nhóm được định vị là phần mở rộng tương lai (Future Extension). Các nguyên tắc phân tách nhiệm vụ được đảm bảo triệt để.</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góc nhìn Use Case tổng quan, 6 vai trò chuyên biệt đều kế thừa từ Authenticated User để dùng chung cơ chế xác thực UC-01. Ranh giới hệ thống phân định rõ ràng giữa Learning (UC-01 đến 07), Content (UC-08 đến 10), và Administration (UC-11 đến 14). UC-15 được phân lập hoàn toàn thành khối Future Extension độc lập, không gây phụ thuộc ngược vào lõi.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ca sử dụng của học viên thể hiện chu trình học tập khép kín. Điểm mấu chốt được chuẩn hóa là bước Lesson Content Viewer được include trực tiếp vào UC-05 trước khi làm bài tập. Controlled Retry là luồng extend có kiểm soát điểm, và Conditional Jump Challenge là một năng lực vượt cấp mở rộng từ UC-04 có quy chế bảo vệ nghiêm ngặt.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hệ quản trị và kiểm duyệt thực thi nghiêm ngặt nguyên tắc Phân tách nhiệm vụ (Separation of Duties). Lesson Creator tạo bản nháp nhưng không có quyền tự duyệt; Moderator kiểm duyệt đạt chất lượng; Organizational Manager là người duy nhất có thẩm quyền xuất bản chính thức. Administrator chỉ xuất bản khẩn cấp khi có lý do chính đáng và bắt buộc ghi nhận AuditLog.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đánh giá chẩn đoán đầu vào thực hiện chuẩn hóa trên bộ 30 câu hỏi được hội đồng chuyên môn tuyển chọn thủ công. Thang điểm thô 0-30 điểm được ánh xạ qua Mapping A để chỉ định Unit bắt đầu từ 1 đến 6. Trường hợp bỏ qua bài kiểm tra sẽ được gán Unit 1 mặc định với trạng thái chưa xác minh, không tạo bản ghi rác trong SkillProfile.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luồng hoạt động trung tâm gồm chính xác 14 bước. Điểm chốt then chốt là học viên bắt buộc đi qua bước 2 và 3 (Lesson Content Viewer) để học từ vựng và ngữ pháp trước khi bước vào làm bài tập. Cơ chế làm lại bài sai tuân theo công thức max(1, floor(N*0.10)) với mức điểm trần 70%, bảo đảm tính công bằng học thuật và kích hoạt chuỗi Streak.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Thử thách Jump Challenge là một hoạt động kiểm tra độc lập tách biệt khỏi bài học thông thường. Để vượt cấp, học viên phải đạt điểm số tuyệt đối từ 95% trở lên. Khi đỗ, các bài học đi qua được gắn cờ SKIPPED_BY_JUMP, và Unit đích được mở khóa ở trạng thái UNLOCKED. Nếu thất bại, hệ thống khóa làm lại 24 giờ để tránh lạm dụng thử sai liên tục.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trị nội dung thực hiện chu trình kiểm duyệt khép kín qua 5 làn bơi tương ứng với các vai trò. Cơ chế Clone-to-Draft tạo bản sửa đổi độc lập giúp bảo toàn tính bất biến của bài học đang phát hành. Một Unit chỉ được kích hoạt mở cho học viên khi hội đủ điều kiện đóng băng: 4 trên 4 bài học con đã được xuất bản hoàn tất.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phân hệ nội dung phân định rõ giữa thực thể hiện tại trong schema.prisma và thiết kế mục tiêu Phase 2. Trong đó, LessonRevision là thực thể đích quan trọng giúp lưu vết lịch sử các phiên bản nội dung và khóa ngoại unit_id, lesson_revision_id được chuẩn hóa để đảm bảo quan hệ phân cấp chặt chẽ Course - Unit - Lesson.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lớp trạng thái học viên phản ánh tính liêm chính trong dữ liệu học tập. Bất biến quan trọng được mô hình hóa là sự bóc tách giữa UserProgress (tiến độ hoàn thành tuyến tính) và SkillProfile (năng lực kỹ năng thực tế qua AssessmentResult). Các trạng thái Retry allowance và Jump cooldown được mô hình hóa dưới dạng ghi chú thuộc tính hành vi.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 trận truy vết là mắt xích liên kết toàn diện giữa 15 Ca sử dụng nghiệp vụ với các sơ đồ động (Activity/Sequence) và mô hình tĩnh (Class Diagram). Toàn bộ 13 ca sử dụng đầu tiên thuộc phạm vi cốt lõi đã có liên kết trực tiếp tới cấu trúc dữ liệu và luồng kiểm thử, bảo đảm không có tính năng nào bị bỏ sót hay tự tạo ngoài đặc tả.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828800"/>
            <a:ext cx="9448495" cy="3200400"/>
          </a:xfrm>
          <a:prstGeom prst="rect">
            <a:avLst/>
          </a:prstGeom>
          <a:noFill/>
        </p:spPr>
        <p:txBody>
          <a:bodyPr wrap="square">
            <a:spAutoFit/>
          </a:bodyPr>
          <a:lstStyle/>
          <a:p>
            <a:pPr>
              <a:spcAft>
                <a:spcPts val="1200"/>
              </a:spcAft>
              <a:defRPr sz="1600" b="1">
                <a:solidFill>
                  <a:srgbClr val="0284C7"/>
                </a:solidFill>
                <a:latin typeface="Segoe UI"/>
              </a:defRPr>
            </a:pPr>
            <a:r>
              <a:t>LINGORA PLATFORM</a:t>
            </a:r>
          </a:p>
          <a:p>
            <a:pPr>
              <a:spcAft>
                <a:spcPts val="1600"/>
              </a:spcAft>
              <a:defRPr sz="3200" b="1">
                <a:solidFill>
                  <a:srgbClr val="0F172A"/>
                </a:solidFill>
                <a:latin typeface="Segoe UI"/>
              </a:defRPr>
            </a:pPr>
            <a:r>
              <a:t>Phân Tích &amp; Mô Hình Hóa Hệ Thống</a:t>
            </a:r>
            <a:br/>
            <a:r>
              <a:t>Nền Tảng Học Ngoại Ngữ Trực Tuyến</a:t>
            </a:r>
          </a:p>
          <a:p>
            <a:pPr>
              <a:spcAft>
                <a:spcPts val="2800"/>
              </a:spcAft>
              <a:defRPr sz="1600">
                <a:solidFill>
                  <a:srgbClr val="475569"/>
                </a:solidFill>
                <a:latin typeface="Segoe UI"/>
              </a:defRPr>
            </a:pPr>
            <a:r>
              <a:t>Use Case · Activity Diagram · Class Diagram · Traceability</a:t>
            </a:r>
          </a:p>
          <a:p>
            <a:pPr>
              <a:defRPr sz="1200">
                <a:solidFill>
                  <a:srgbClr val="94A3B8"/>
                </a:solidFill>
                <a:latin typeface="Segoe UI"/>
              </a:defRPr>
            </a:pPr>
            <a:r>
              <a:t>Báo cáo Chuyên đề Kỹ thuật Phần mềm (Phase 1 / M2 Locked Baseline — Deck v4)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PHÂN RÃ HỆ THỐNG</a:t>
            </a:r>
          </a:p>
          <a:p>
            <a:pPr>
              <a:defRPr sz="2000" b="1">
                <a:solidFill>
                  <a:srgbClr val="0F172A"/>
                </a:solidFill>
                <a:latin typeface="Segoe UI"/>
              </a:defRPr>
            </a:pPr>
            <a:r>
              <a:t>Tổng Quan Kiến Trúc Nghiệp Vụ &amp; Ranh Giới Vai Trò</a:t>
            </a:r>
          </a:p>
        </p:txBody>
      </p:sp>
      <p:sp>
        <p:nvSpPr>
          <p:cNvPr id="3" name="Rounded Rectangle 2"/>
          <p:cNvSpPr/>
          <p:nvPr/>
        </p:nvSpPr>
        <p:spPr>
          <a:xfrm>
            <a:off x="731520" y="1234440"/>
            <a:ext cx="3429000" cy="384048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300" b="1">
                <a:solidFill>
                  <a:srgbClr val="2563EB"/>
                </a:solidFill>
                <a:latin typeface="Segoe UI"/>
              </a:defRPr>
            </a:pPr>
            <a:r>
              <a:t>LEARNING PACKAGE</a:t>
            </a:r>
          </a:p>
          <a:p>
            <a:pPr>
              <a:spcAft>
                <a:spcPts val="1000"/>
              </a:spcAft>
              <a:defRPr sz="1000">
                <a:solidFill>
                  <a:srgbClr val="475569"/>
                </a:solidFill>
                <a:latin typeface="Segoe UI"/>
              </a:defRPr>
            </a:pPr>
            <a:r>
              <a:t>Phân hệ Học tập Cốt lõi</a:t>
            </a:r>
          </a:p>
          <a:p>
            <a:pPr>
              <a:spcAft>
                <a:spcPts val="300"/>
              </a:spcAft>
              <a:defRPr sz="950">
                <a:solidFill>
                  <a:srgbClr val="0F172A"/>
                </a:solidFill>
                <a:latin typeface="Segoe UI"/>
              </a:defRPr>
            </a:pPr>
            <a:r>
              <a:t>• Xác thực &amp; quản lý phiên học viên (UC-01)</a:t>
            </a:r>
          </a:p>
          <a:p>
            <a:pPr>
              <a:spcAft>
                <a:spcPts val="300"/>
              </a:spcAft>
              <a:defRPr sz="950">
                <a:solidFill>
                  <a:srgbClr val="0F172A"/>
                </a:solidFill>
                <a:latin typeface="Segoe UI"/>
              </a:defRPr>
            </a:pPr>
            <a:r>
              <a:t>• Thiết lập mục tiêu &amp; thời lượng học (UC-02)</a:t>
            </a:r>
          </a:p>
          <a:p>
            <a:pPr>
              <a:spcAft>
                <a:spcPts val="300"/>
              </a:spcAft>
              <a:defRPr sz="950">
                <a:solidFill>
                  <a:srgbClr val="0F172A"/>
                </a:solidFill>
                <a:latin typeface="Segoe UI"/>
              </a:defRPr>
            </a:pPr>
            <a:r>
              <a:t>• Đánh giá chẩn đoán đầu vào (UC-03)</a:t>
            </a:r>
          </a:p>
          <a:p>
            <a:pPr>
              <a:spcAft>
                <a:spcPts val="300"/>
              </a:spcAft>
              <a:defRPr sz="950">
                <a:solidFill>
                  <a:srgbClr val="0F172A"/>
                </a:solidFill>
                <a:latin typeface="Segoe UI"/>
              </a:defRPr>
            </a:pPr>
            <a:r>
              <a:t>• Khám phá lộ trình học &amp; cây kỹ năng (UC-04)</a:t>
            </a:r>
          </a:p>
          <a:p>
            <a:pPr>
              <a:spcAft>
                <a:spcPts val="300"/>
              </a:spcAft>
              <a:defRPr sz="950">
                <a:solidFill>
                  <a:srgbClr val="0F172A"/>
                </a:solidFill>
                <a:latin typeface="Segoe UI"/>
              </a:defRPr>
            </a:pPr>
            <a:r>
              <a:t>• Học lý thuyết (Viewer) &amp; làm bài tập (UC-05)</a:t>
            </a:r>
          </a:p>
          <a:p>
            <a:pPr>
              <a:spcAft>
                <a:spcPts val="300"/>
              </a:spcAft>
              <a:defRPr sz="950">
                <a:solidFill>
                  <a:srgbClr val="0F172A"/>
                </a:solidFill>
                <a:latin typeface="Segoe UI"/>
              </a:defRPr>
            </a:pPr>
            <a:r>
              <a:t>• Ôn tập lặp lại ngắt quãng SRS (UC-06)</a:t>
            </a:r>
          </a:p>
          <a:p>
            <a:pPr>
              <a:spcAft>
                <a:spcPts val="300"/>
              </a:spcAft>
              <a:defRPr sz="950">
                <a:solidFill>
                  <a:srgbClr val="0F172A"/>
                </a:solidFill>
                <a:latin typeface="Segoe UI"/>
              </a:defRPr>
            </a:pPr>
            <a:r>
              <a:t>• Theo dõi tiến độ &amp; chuỗi ngày học Streak (UC-07)</a:t>
            </a:r>
          </a:p>
        </p:txBody>
      </p:sp>
      <p:sp>
        <p:nvSpPr>
          <p:cNvPr id="4" name="Rounded Rectangle 3"/>
          <p:cNvSpPr/>
          <p:nvPr/>
        </p:nvSpPr>
        <p:spPr>
          <a:xfrm>
            <a:off x="4379976" y="1234440"/>
            <a:ext cx="3429000" cy="3840480"/>
          </a:xfrm>
          <a:prstGeom prst="roundRect">
            <a:avLst/>
          </a:prstGeom>
          <a:solidFill>
            <a:srgbClr val="FFF7ED"/>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300" b="1">
                <a:solidFill>
                  <a:srgbClr val="EA580C"/>
                </a:solidFill>
                <a:latin typeface="Segoe UI"/>
              </a:defRPr>
            </a:pPr>
            <a:r>
              <a:t>CONTENT PACKAGE</a:t>
            </a:r>
          </a:p>
          <a:p>
            <a:pPr>
              <a:spcAft>
                <a:spcPts val="1000"/>
              </a:spcAft>
              <a:defRPr sz="1000">
                <a:solidFill>
                  <a:srgbClr val="475569"/>
                </a:solidFill>
                <a:latin typeface="Segoe UI"/>
              </a:defRPr>
            </a:pPr>
            <a:r>
              <a:t>Phân hệ Quản trị Nội dung</a:t>
            </a:r>
          </a:p>
          <a:p>
            <a:pPr>
              <a:spcAft>
                <a:spcPts val="300"/>
              </a:spcAft>
              <a:defRPr sz="950">
                <a:solidFill>
                  <a:srgbClr val="0F172A"/>
                </a:solidFill>
                <a:latin typeface="Segoe UI"/>
              </a:defRPr>
            </a:pPr>
            <a:r>
              <a:t>• Lập kế hoạch &amp; soạn thảo bài học (UC-08)</a:t>
            </a:r>
          </a:p>
          <a:p>
            <a:pPr>
              <a:spcAft>
                <a:spcPts val="300"/>
              </a:spcAft>
              <a:defRPr sz="950">
                <a:solidFill>
                  <a:srgbClr val="0F172A"/>
                </a:solidFill>
                <a:latin typeface="Segoe UI"/>
              </a:defRPr>
            </a:pPr>
            <a:r>
              <a:t>• Soạn thảo bài tập &amp; từ vựng đi kèm (UC-08)</a:t>
            </a:r>
          </a:p>
          <a:p>
            <a:pPr>
              <a:spcAft>
                <a:spcPts val="300"/>
              </a:spcAft>
              <a:defRPr sz="950">
                <a:solidFill>
                  <a:srgbClr val="0F172A"/>
                </a:solidFill>
                <a:latin typeface="Segoe UI"/>
              </a:defRPr>
            </a:pPr>
            <a:r>
              <a:t>• Đệ trình &amp; kiểm duyệt nội dung (UC-09)</a:t>
            </a:r>
          </a:p>
          <a:p>
            <a:pPr>
              <a:spcAft>
                <a:spcPts val="300"/>
              </a:spcAft>
              <a:defRPr sz="950">
                <a:solidFill>
                  <a:srgbClr val="0F172A"/>
                </a:solidFill>
                <a:latin typeface="Segoe UI"/>
              </a:defRPr>
            </a:pPr>
            <a:r>
              <a:t>• Phê duyệt hoặc yêu cầu chỉnh sửa (UC-09)</a:t>
            </a:r>
          </a:p>
          <a:p>
            <a:pPr>
              <a:spcAft>
                <a:spcPts val="300"/>
              </a:spcAft>
              <a:defRPr sz="950">
                <a:solidFill>
                  <a:srgbClr val="0F172A"/>
                </a:solidFill>
                <a:latin typeface="Segoe UI"/>
              </a:defRPr>
            </a:pPr>
            <a:r>
              <a:t>• Xuất bản bài học đã duyệt (UC-10)</a:t>
            </a:r>
          </a:p>
          <a:p>
            <a:pPr>
              <a:spcAft>
                <a:spcPts val="300"/>
              </a:spcAft>
              <a:defRPr sz="950">
                <a:solidFill>
                  <a:srgbClr val="0F172A"/>
                </a:solidFill>
                <a:latin typeface="Segoe UI"/>
              </a:defRPr>
            </a:pPr>
            <a:r>
              <a:t>• Cơ chế Clone-to-Draft bảo toàn lịch sử</a:t>
            </a:r>
          </a:p>
          <a:p>
            <a:pPr>
              <a:spcAft>
                <a:spcPts val="300"/>
              </a:spcAft>
              <a:defRPr sz="950">
                <a:solidFill>
                  <a:srgbClr val="0F172A"/>
                </a:solidFill>
                <a:latin typeface="Segoe UI"/>
              </a:defRPr>
            </a:pPr>
            <a:r>
              <a:t>• Xuất bản khẩn cấp có giải trình &amp; audit (Admin)</a:t>
            </a:r>
          </a:p>
        </p:txBody>
      </p:sp>
      <p:sp>
        <p:nvSpPr>
          <p:cNvPr id="5" name="Rounded Rectangle 4"/>
          <p:cNvSpPr/>
          <p:nvPr/>
        </p:nvSpPr>
        <p:spPr>
          <a:xfrm>
            <a:off x="8028432" y="1234440"/>
            <a:ext cx="3429000" cy="384048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spcAft>
                <a:spcPts val="200"/>
              </a:spcAft>
              <a:defRPr sz="1300" b="1">
                <a:solidFill>
                  <a:srgbClr val="16A34A"/>
                </a:solidFill>
                <a:latin typeface="Segoe UI"/>
              </a:defRPr>
            </a:pPr>
            <a:r>
              <a:t>ADMIN &amp; SUPPORT</a:t>
            </a:r>
          </a:p>
          <a:p>
            <a:pPr>
              <a:spcAft>
                <a:spcPts val="1000"/>
              </a:spcAft>
              <a:defRPr sz="1000">
                <a:solidFill>
                  <a:srgbClr val="475569"/>
                </a:solidFill>
                <a:latin typeface="Segoe UI"/>
              </a:defRPr>
            </a:pPr>
            <a:r>
              <a:t>Phân hệ Vận hành &amp; Hệ thống</a:t>
            </a:r>
          </a:p>
          <a:p>
            <a:pPr>
              <a:spcAft>
                <a:spcPts val="300"/>
              </a:spcAft>
              <a:defRPr sz="950">
                <a:solidFill>
                  <a:srgbClr val="0F172A"/>
                </a:solidFill>
                <a:latin typeface="Segoe UI"/>
              </a:defRPr>
            </a:pPr>
            <a:r>
              <a:t>• Quản lý tài khoản &amp; phân quyền 6 vai trò (UC-11)</a:t>
            </a:r>
          </a:p>
          <a:p>
            <a:pPr>
              <a:spcAft>
                <a:spcPts val="300"/>
              </a:spcAft>
              <a:defRPr sz="950">
                <a:solidFill>
                  <a:srgbClr val="0F172A"/>
                </a:solidFill>
                <a:latin typeface="Segoe UI"/>
              </a:defRPr>
            </a:pPr>
            <a:r>
              <a:t>• Báo cáo tổng hợp vận hành hệ thống (UC-12)</a:t>
            </a:r>
          </a:p>
          <a:p>
            <a:pPr>
              <a:spcAft>
                <a:spcPts val="300"/>
              </a:spcAft>
              <a:defRPr sz="950">
                <a:solidFill>
                  <a:srgbClr val="0F172A"/>
                </a:solidFill>
                <a:latin typeface="Segoe UI"/>
              </a:defRPr>
            </a:pPr>
            <a:r>
              <a:t>• Nhật ký kiểm toán an ninh AuditLog (UC-13)</a:t>
            </a:r>
          </a:p>
          <a:p>
            <a:pPr>
              <a:spcAft>
                <a:spcPts val="300"/>
              </a:spcAft>
              <a:defRPr sz="950">
                <a:solidFill>
                  <a:srgbClr val="0F172A"/>
                </a:solidFill>
                <a:latin typeface="Segoe UI"/>
              </a:defRPr>
            </a:pPr>
            <a:r>
              <a:t>• Tiếp nhận &amp; điều phối hỗ trợ (UC-14 MVP)</a:t>
            </a:r>
          </a:p>
          <a:p>
            <a:pPr>
              <a:spcAft>
                <a:spcPts val="300"/>
              </a:spcAft>
              <a:defRPr sz="950">
                <a:solidFill>
                  <a:srgbClr val="0F172A"/>
                </a:solidFill>
                <a:latin typeface="Segoe UI"/>
              </a:defRPr>
            </a:pPr>
            <a:r>
              <a:t>• Ranh giới mở rộng nhóm/cohort (UC-15 Future)</a:t>
            </a:r>
          </a:p>
          <a:p>
            <a:pPr>
              <a:spcAft>
                <a:spcPts val="300"/>
              </a:spcAft>
              <a:defRPr sz="950">
                <a:solidFill>
                  <a:srgbClr val="0F172A"/>
                </a:solidFill>
                <a:latin typeface="Segoe UI"/>
              </a:defRPr>
            </a:pPr>
            <a:r>
              <a:t>• Thực thi nguyên tắc phân tách nhiệm vụ (SoD)</a:t>
            </a:r>
          </a:p>
          <a:p>
            <a:pPr>
              <a:spcAft>
                <a:spcPts val="300"/>
              </a:spcAft>
              <a:defRPr sz="950">
                <a:solidFill>
                  <a:srgbClr val="0F172A"/>
                </a:solidFill>
                <a:latin typeface="Segoe UI"/>
              </a:defRPr>
            </a:pPr>
            <a:r>
              <a:t>• Bất biến bảo vệ tính toàn vẹn dữ liệu</a:t>
            </a:r>
          </a:p>
        </p:txBody>
      </p:sp>
      <p:sp>
        <p:nvSpPr>
          <p:cNvPr id="6" name="Rounded Rectangle 5"/>
          <p:cNvSpPr/>
          <p:nvPr/>
        </p:nvSpPr>
        <p:spPr>
          <a:xfrm>
            <a:off x="731520" y="5257800"/>
            <a:ext cx="1691640" cy="50292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2563EB"/>
                </a:solidFill>
                <a:latin typeface="Segoe UI"/>
              </a:defRPr>
            </a:pPr>
            <a:r>
              <a:t>Learner</a:t>
            </a:r>
          </a:p>
        </p:txBody>
      </p:sp>
      <p:sp>
        <p:nvSpPr>
          <p:cNvPr id="7" name="Rounded Rectangle 6"/>
          <p:cNvSpPr/>
          <p:nvPr/>
        </p:nvSpPr>
        <p:spPr>
          <a:xfrm>
            <a:off x="2551176" y="5257800"/>
            <a:ext cx="1691640" cy="502920"/>
          </a:xfrm>
          <a:prstGeom prst="roundRect">
            <a:avLst/>
          </a:prstGeom>
          <a:solidFill>
            <a:srgbClr val="FFFFFF"/>
          </a:solidFill>
          <a:ln w="1905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EA580C"/>
                </a:solidFill>
                <a:latin typeface="Segoe UI"/>
              </a:defRPr>
            </a:pPr>
            <a:r>
              <a:t>Lesson Creator</a:t>
            </a:r>
          </a:p>
        </p:txBody>
      </p:sp>
      <p:sp>
        <p:nvSpPr>
          <p:cNvPr id="8" name="Rounded Rectangle 7"/>
          <p:cNvSpPr/>
          <p:nvPr/>
        </p:nvSpPr>
        <p:spPr>
          <a:xfrm>
            <a:off x="4370832" y="5257800"/>
            <a:ext cx="1691640" cy="50292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6A34A"/>
                </a:solidFill>
                <a:latin typeface="Segoe UI"/>
              </a:defRPr>
            </a:pPr>
            <a:r>
              <a:t>Moderator</a:t>
            </a:r>
          </a:p>
        </p:txBody>
      </p:sp>
      <p:sp>
        <p:nvSpPr>
          <p:cNvPr id="9" name="Rounded Rectangle 8"/>
          <p:cNvSpPr/>
          <p:nvPr/>
        </p:nvSpPr>
        <p:spPr>
          <a:xfrm>
            <a:off x="6190488" y="5257800"/>
            <a:ext cx="1691640" cy="50292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7C3AED"/>
                </a:solidFill>
                <a:latin typeface="Segoe UI"/>
              </a:defRPr>
            </a:pPr>
            <a:r>
              <a:t>Org Manager</a:t>
            </a:r>
          </a:p>
        </p:txBody>
      </p:sp>
      <p:sp>
        <p:nvSpPr>
          <p:cNvPr id="10" name="Rounded Rectangle 9"/>
          <p:cNvSpPr/>
          <p:nvPr/>
        </p:nvSpPr>
        <p:spPr>
          <a:xfrm>
            <a:off x="8010144" y="5257800"/>
            <a:ext cx="1691640" cy="502920"/>
          </a:xfrm>
          <a:prstGeom prst="roundRect">
            <a:avLst/>
          </a:prstGeom>
          <a:solidFill>
            <a:srgbClr val="FFFFFF"/>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D9488"/>
                </a:solidFill>
                <a:latin typeface="Segoe UI"/>
              </a:defRPr>
            </a:pPr>
            <a:r>
              <a:t>Operations Staff</a:t>
            </a:r>
          </a:p>
        </p:txBody>
      </p:sp>
      <p:sp>
        <p:nvSpPr>
          <p:cNvPr id="11" name="Rounded Rectangle 10"/>
          <p:cNvSpPr/>
          <p:nvPr/>
        </p:nvSpPr>
        <p:spPr>
          <a:xfrm>
            <a:off x="9829800" y="5257800"/>
            <a:ext cx="1691640" cy="502920"/>
          </a:xfrm>
          <a:prstGeom prst="roundRect">
            <a:avLst/>
          </a:prstGeom>
          <a:solidFill>
            <a:srgbClr val="FFFFFF"/>
          </a:solidFill>
          <a:ln w="19050">
            <a:solidFill>
              <a:srgbClr val="9F123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9F1239"/>
                </a:solidFill>
                <a:latin typeface="Segoe UI"/>
              </a:defRPr>
            </a:pPr>
            <a:r>
              <a:t>Administrator</a:t>
            </a:r>
          </a:p>
        </p:txBody>
      </p:sp>
      <p:sp>
        <p:nvSpPr>
          <p:cNvPr id="12" name="TextBox 11"/>
          <p:cNvSpPr txBox="1"/>
          <p:nvPr/>
        </p:nvSpPr>
        <p:spPr>
          <a:xfrm>
            <a:off x="731520" y="5897880"/>
            <a:ext cx="10728655" cy="457200"/>
          </a:xfrm>
          <a:prstGeom prst="rect">
            <a:avLst/>
          </a:prstGeom>
          <a:noFill/>
        </p:spPr>
        <p:txBody>
          <a:bodyPr wrap="square">
            <a:spAutoFit/>
          </a:bodyPr>
          <a:lstStyle/>
          <a:p>
            <a:pPr algn="ctr">
              <a:defRPr sz="1000">
                <a:solidFill>
                  <a:srgbClr val="475569"/>
                </a:solidFill>
                <a:latin typeface="Segoe UI"/>
              </a:defRPr>
            </a:pPr>
            <a:r>
              <a:t>Phân định phạm vi: UC-14 Support Ticket thuộc MVP (điều phối hỗ trợ). UC-15 Cohort / Group Management thuộc Future Extension (viền đứt, xám). Ranh giới vai trò thực thi nghiêm ngặt SoD.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CA SỬ DỤNG</a:t>
            </a:r>
          </a:p>
          <a:p>
            <a:pPr>
              <a:defRPr sz="2000" b="1">
                <a:solidFill>
                  <a:srgbClr val="0F172A"/>
                </a:solidFill>
                <a:latin typeface="Segoe UI"/>
              </a:defRPr>
            </a:pPr>
            <a:r>
              <a:t>Sơ Đồ Ca Sử Dụng Tổng Quan (Overall Use Case Diagram)</a:t>
            </a:r>
          </a:p>
        </p:txBody>
      </p:sp>
      <p:pic>
        <p:nvPicPr>
          <p:cNvPr id="3" name="Picture 2" descr="02-usecase-overall.png"/>
          <p:cNvPicPr>
            <a:picLocks noChangeAspect="1"/>
          </p:cNvPicPr>
          <p:nvPr/>
        </p:nvPicPr>
        <p:blipFill>
          <a:blip r:embed="rId2"/>
          <a:stretch>
            <a:fillRect/>
          </a:stretch>
        </p:blipFill>
        <p:spPr>
          <a:xfrm>
            <a:off x="4501447" y="1234440"/>
            <a:ext cx="3188800" cy="4937760"/>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6 tác nhân kế thừa Authenticated User · 15 Use Case nghiệp vụ · Phân tách 3 gói kiến trúc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CA SỬ DỤNG</a:t>
            </a:r>
          </a:p>
          <a:p>
            <a:pPr>
              <a:defRPr sz="2000" b="1">
                <a:solidFill>
                  <a:srgbClr val="0F172A"/>
                </a:solidFill>
                <a:latin typeface="Segoe UI"/>
              </a:defRPr>
            </a:pPr>
            <a:r>
              <a:t>Sơ Đồ Ca Sử Dụng Chi Tiết — Phân Hệ Học Viên (Learner)</a:t>
            </a:r>
          </a:p>
        </p:txBody>
      </p:sp>
      <p:pic>
        <p:nvPicPr>
          <p:cNvPr id="3" name="Picture 2" descr="03-usecase-learner.png"/>
          <p:cNvPicPr>
            <a:picLocks noChangeAspect="1"/>
          </p:cNvPicPr>
          <p:nvPr/>
        </p:nvPicPr>
        <p:blipFill>
          <a:blip r:embed="rId2"/>
          <a:stretch>
            <a:fillRect/>
          </a:stretch>
        </p:blipFill>
        <p:spPr>
          <a:xfrm>
            <a:off x="3497957" y="1234440"/>
            <a:ext cx="5195780" cy="4937760"/>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Bao gồm Lesson Content Viewer trước bài tập · Controlled Retry &amp; Conditional Jump là luồng mở rộng (extend)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CA SỬ DỤNG</a:t>
            </a:r>
          </a:p>
          <a:p>
            <a:pPr>
              <a:defRPr sz="2000" b="1">
                <a:solidFill>
                  <a:srgbClr val="0F172A"/>
                </a:solidFill>
                <a:latin typeface="Segoe UI"/>
              </a:defRPr>
            </a:pPr>
            <a:r>
              <a:t>Sơ Đồ Ca Sử Dụng Chi Tiết — Phân Hệ Nội Dung &amp; Quản Trị</a:t>
            </a:r>
          </a:p>
        </p:txBody>
      </p:sp>
      <p:pic>
        <p:nvPicPr>
          <p:cNvPr id="3" name="Picture 2" descr="04-usecase-content-admin.png"/>
          <p:cNvPicPr>
            <a:picLocks noChangeAspect="1"/>
          </p:cNvPicPr>
          <p:nvPr/>
        </p:nvPicPr>
        <p:blipFill>
          <a:blip r:embed="rId2"/>
          <a:stretch>
            <a:fillRect/>
          </a:stretch>
        </p:blipFill>
        <p:spPr>
          <a:xfrm>
            <a:off x="4082719" y="1234440"/>
            <a:ext cx="4026255" cy="4937760"/>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Thực thi nguyên tắc SoD (Creator ≠ Moderator ≠ Org Manager) · Admin Emergency Publish bắt buộc AuditLog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LUỒNG HOẠT ĐỘNG</a:t>
            </a:r>
          </a:p>
          <a:p>
            <a:pPr>
              <a:defRPr sz="2000" b="1">
                <a:solidFill>
                  <a:srgbClr val="0F172A"/>
                </a:solidFill>
                <a:latin typeface="Segoe UI"/>
              </a:defRPr>
            </a:pPr>
            <a:r>
              <a:t>Sơ Đồ Hoạt Động — Đánh Giá Chẩn Đoán Đầu Vào (Diagnostic Test)</a:t>
            </a:r>
          </a:p>
        </p:txBody>
      </p:sp>
      <p:pic>
        <p:nvPicPr>
          <p:cNvPr id="3" name="Picture 2" descr="05-activity-placement.png"/>
          <p:cNvPicPr>
            <a:picLocks noChangeAspect="1"/>
          </p:cNvPicPr>
          <p:nvPr/>
        </p:nvPicPr>
        <p:blipFill>
          <a:blip r:embed="rId2"/>
          <a:stretch>
            <a:fillRect/>
          </a:stretch>
        </p:blipFill>
        <p:spPr>
          <a:xfrm>
            <a:off x="1248123" y="1234440"/>
            <a:ext cx="9695448" cy="4937760"/>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Chuẩn hóa đúng 30 câu hỏi chuyên gia · Thang điểm 0–30 · Mapping A sang Unit 1–6 · Bất biến xuất xứ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LUỒNG HOẠT ĐỘNG</a:t>
            </a:r>
          </a:p>
          <a:p>
            <a:pPr>
              <a:defRPr sz="2000" b="1">
                <a:solidFill>
                  <a:srgbClr val="0F172A"/>
                </a:solidFill>
                <a:latin typeface="Segoe UI"/>
              </a:defRPr>
            </a:pPr>
            <a:r>
              <a:t>Sơ Đồ Hoạt Động — Hoàn Thành Bài Học &amp; Bài Tập (14 Bước)</a:t>
            </a:r>
          </a:p>
        </p:txBody>
      </p:sp>
      <p:pic>
        <p:nvPicPr>
          <p:cNvPr id="3" name="Picture 2" descr="06-activity-learning.png"/>
          <p:cNvPicPr>
            <a:picLocks noChangeAspect="1"/>
          </p:cNvPicPr>
          <p:nvPr/>
        </p:nvPicPr>
        <p:blipFill>
          <a:blip r:embed="rId2"/>
          <a:stretch>
            <a:fillRect/>
          </a:stretch>
        </p:blipFill>
        <p:spPr>
          <a:xfrm>
            <a:off x="3592371" y="1234440"/>
            <a:ext cx="5006951" cy="4937760"/>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Bắt buộc qua Lesson Content Viewer · Hạn mức Retry max(1, floor(N*0.10)) trần 70% · Cập nhật Streak &amp; SRS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LUỒNG HOẠT ĐỘNG</a:t>
            </a:r>
          </a:p>
          <a:p>
            <a:pPr>
              <a:defRPr sz="2000" b="1">
                <a:solidFill>
                  <a:srgbClr val="0F172A"/>
                </a:solidFill>
                <a:latin typeface="Segoe UI"/>
              </a:defRPr>
            </a:pPr>
            <a:r>
              <a:t>Sơ Đồ Hoạt Động — Thử Thách Nhảy Cấp (Conditional Jump)</a:t>
            </a:r>
          </a:p>
        </p:txBody>
      </p:sp>
      <p:pic>
        <p:nvPicPr>
          <p:cNvPr id="3" name="Picture 2" descr="07-activity-jump.png"/>
          <p:cNvPicPr>
            <a:picLocks noChangeAspect="1"/>
          </p:cNvPicPr>
          <p:nvPr/>
        </p:nvPicPr>
        <p:blipFill>
          <a:blip r:embed="rId2"/>
          <a:stretch>
            <a:fillRect/>
          </a:stretch>
        </p:blipFill>
        <p:spPr>
          <a:xfrm>
            <a:off x="1045636" y="1234440"/>
            <a:ext cx="10100423" cy="4937760"/>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Ngưỡng đỗ ≥95% · Cooldown 24h khi trượt · Đơn vị nhảy qua nhận SKIPPED_BY_JUMP · Mở khóa UNLOCKED cho Unit đích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LUỒNG HOẠT ĐỘNG</a:t>
            </a:r>
          </a:p>
          <a:p>
            <a:pPr>
              <a:defRPr sz="2000" b="1">
                <a:solidFill>
                  <a:srgbClr val="0F172A"/>
                </a:solidFill>
                <a:latin typeface="Segoe UI"/>
              </a:defRPr>
            </a:pPr>
            <a:r>
              <a:t>Sơ Đồ Hoạt Động — Quản Trị &amp; Xuất Bản Nội Dung (Content Governance)</a:t>
            </a:r>
          </a:p>
        </p:txBody>
      </p:sp>
      <p:pic>
        <p:nvPicPr>
          <p:cNvPr id="3" name="Picture 2" descr="08-activity-governance.png"/>
          <p:cNvPicPr>
            <a:picLocks noChangeAspect="1"/>
          </p:cNvPicPr>
          <p:nvPr/>
        </p:nvPicPr>
        <p:blipFill>
          <a:blip r:embed="rId2"/>
          <a:stretch>
            <a:fillRect/>
          </a:stretch>
        </p:blipFill>
        <p:spPr>
          <a:xfrm>
            <a:off x="731520" y="1918153"/>
            <a:ext cx="10728655" cy="3570333"/>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Vòng đời Clone-to-Draft · Moderator phê duyệt · Org Manager kiểm tra điều kiện 4/4 bài học trước khi mở Unit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CẤU TRÚC DỮ LIỆU</a:t>
            </a:r>
          </a:p>
          <a:p>
            <a:pPr>
              <a:defRPr sz="2000" b="1">
                <a:solidFill>
                  <a:srgbClr val="0F172A"/>
                </a:solidFill>
                <a:latin typeface="Segoe UI"/>
              </a:defRPr>
            </a:pPr>
            <a:r>
              <a:t>Sơ Đồ Lớp — Phân Hệ Cấu Trúc Nội Dung &amp; Khóa Học</a:t>
            </a:r>
          </a:p>
        </p:txBody>
      </p:sp>
      <p:pic>
        <p:nvPicPr>
          <p:cNvPr id="3" name="Picture 2" descr="09-class-content.png"/>
          <p:cNvPicPr>
            <a:picLocks noChangeAspect="1"/>
          </p:cNvPicPr>
          <p:nvPr/>
        </p:nvPicPr>
        <p:blipFill>
          <a:blip r:embed="rId2"/>
          <a:stretch>
            <a:fillRect/>
          </a:stretch>
        </p:blipFill>
        <p:spPr>
          <a:xfrm>
            <a:off x="731520" y="1365216"/>
            <a:ext cx="10728655" cy="4676206"/>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Phân định rõ &lt;&lt;CURRENT&gt;&gt; (schema.prisma) và &lt;&lt;TARGET (PHASE 2)&gt;&gt; (LessonRevision, unit_id, lesson_revision_id)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MÔ HÌNH HÓA CẤU TRÚC DỮ LIỆU</a:t>
            </a:r>
          </a:p>
          <a:p>
            <a:pPr>
              <a:defRPr sz="2000" b="1">
                <a:solidFill>
                  <a:srgbClr val="0F172A"/>
                </a:solidFill>
                <a:latin typeface="Segoe UI"/>
              </a:defRPr>
            </a:pPr>
            <a:r>
              <a:t>Sơ Đồ Lớp — Phân Hệ Học Viên, Đánh Giá &amp; Tiến Độ</a:t>
            </a:r>
          </a:p>
        </p:txBody>
      </p:sp>
      <p:pic>
        <p:nvPicPr>
          <p:cNvPr id="3" name="Picture 2" descr="10-class-learner-assessment.png"/>
          <p:cNvPicPr>
            <a:picLocks noChangeAspect="1"/>
          </p:cNvPicPr>
          <p:nvPr/>
        </p:nvPicPr>
        <p:blipFill>
          <a:blip r:embed="rId2"/>
          <a:stretch>
            <a:fillRect/>
          </a:stretch>
        </p:blipFill>
        <p:spPr>
          <a:xfrm>
            <a:off x="2152312" y="1234440"/>
            <a:ext cx="7887070" cy="4937760"/>
          </a:xfrm>
          <a:prstGeom prst="rect">
            <a:avLst/>
          </a:prstGeom>
        </p:spPr>
      </p:pic>
      <p:sp>
        <p:nvSpPr>
          <p:cNvPr id="4" name="TextBox 3"/>
          <p:cNvSpPr txBox="1"/>
          <p:nvPr/>
        </p:nvSpPr>
        <p:spPr>
          <a:xfrm>
            <a:off x="731520" y="6309360"/>
            <a:ext cx="10728655" cy="365760"/>
          </a:xfrm>
          <a:prstGeom prst="rect">
            <a:avLst/>
          </a:prstGeom>
          <a:noFill/>
        </p:spPr>
        <p:txBody>
          <a:bodyPr wrap="square">
            <a:spAutoFit/>
          </a:bodyPr>
          <a:lstStyle/>
          <a:p>
            <a:pPr algn="ctr">
              <a:defRPr sz="1100" b="1">
                <a:solidFill>
                  <a:srgbClr val="475569"/>
                </a:solidFill>
                <a:latin typeface="Segoe UI"/>
              </a:defRPr>
            </a:pPr>
            <a:r>
              <a:t>Bảo toàn bất biến: Tiến độ ≠ Năng lực · Thực thể mục tiêu AssessmentResult &amp; SkillProfile · Trạng thái Retry/Jump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spcAft>
                <a:spcPts val="200"/>
              </a:spcAft>
              <a:defRPr sz="1000" b="1">
                <a:solidFill>
                  <a:srgbClr val="0284C7"/>
                </a:solidFill>
                <a:latin typeface="Segoe UI"/>
              </a:defRPr>
            </a:pPr>
            <a:r>
              <a:t>KIỂM ĐỊNH &amp; XÁC MINH</a:t>
            </a:r>
          </a:p>
          <a:p>
            <a:pPr>
              <a:defRPr sz="2000" b="1">
                <a:solidFill>
                  <a:srgbClr val="0F172A"/>
                </a:solidFill>
                <a:latin typeface="Segoe UI"/>
              </a:defRPr>
            </a:pPr>
            <a:r>
              <a:t>Ma Trận Truy Vết Nghiệp Vụ Toàn Diện (Traceability Matrix)</a:t>
            </a:r>
          </a:p>
        </p:txBody>
      </p:sp>
      <p:graphicFrame>
        <p:nvGraphicFramePr>
          <p:cNvPr id="3" name="Table 2"/>
          <p:cNvGraphicFramePr>
            <a:graphicFrameLocks noGrp="1"/>
          </p:cNvGraphicFramePr>
          <p:nvPr/>
        </p:nvGraphicFramePr>
        <p:xfrm>
          <a:off x="731520" y="1234440"/>
          <a:ext cx="10728655" cy="4937760"/>
        </p:xfrm>
        <a:graphic>
          <a:graphicData uri="http://schemas.openxmlformats.org/drawingml/2006/table">
            <a:tbl>
              <a:tblPr firstRow="1" bandRow="1">
                <a:tableStyleId>{5C22544A-7EE6-4342-B048-85BDC9FD1C3A}</a:tableStyleId>
              </a:tblPr>
              <a:tblGrid>
                <a:gridCol w="1005840"/>
                <a:gridCol w="2926080"/>
                <a:gridCol w="2011680"/>
                <a:gridCol w="2743200"/>
                <a:gridCol w="2041855"/>
              </a:tblGrid>
              <a:tr h="308610">
                <a:tc>
                  <a:txBody>
                    <a:bodyPr/>
                    <a:lstStyle/>
                    <a:p>
                      <a:pPr algn="ctr">
                        <a:defRPr sz="1000" b="1">
                          <a:solidFill>
                            <a:srgbClr val="FFFFFF"/>
                          </a:solidFill>
                          <a:latin typeface="Segoe UI"/>
                        </a:defRPr>
                      </a:pPr>
                      <a:r>
                        <a:t>UC ID</a:t>
                      </a:r>
                    </a:p>
                  </a:txBody>
                  <a:tcPr>
                    <a:solidFill>
                      <a:srgbClr val="0F172A"/>
                    </a:solidFill>
                  </a:tcPr>
                </a:tc>
                <a:tc>
                  <a:txBody>
                    <a:bodyPr/>
                    <a:lstStyle/>
                    <a:p>
                      <a:pPr algn="ctr">
                        <a:defRPr sz="1000" b="1">
                          <a:solidFill>
                            <a:srgbClr val="FFFFFF"/>
                          </a:solidFill>
                          <a:latin typeface="Segoe UI"/>
                        </a:defRPr>
                      </a:pPr>
                      <a:r>
                        <a:t>Tên Ca Sử Dụng (Use Case)</a:t>
                      </a:r>
                    </a:p>
                  </a:txBody>
                  <a:tcPr>
                    <a:solidFill>
                      <a:srgbClr val="0F172A"/>
                    </a:solidFill>
                  </a:tcPr>
                </a:tc>
                <a:tc>
                  <a:txBody>
                    <a:bodyPr/>
                    <a:lstStyle/>
                    <a:p>
                      <a:pPr algn="ctr">
                        <a:defRPr sz="1000" b="1">
                          <a:solidFill>
                            <a:srgbClr val="FFFFFF"/>
                          </a:solidFill>
                          <a:latin typeface="Segoe UI"/>
                        </a:defRPr>
                      </a:pPr>
                      <a:r>
                        <a:t>Sơ Đồ Hoạt Động</a:t>
                      </a:r>
                    </a:p>
                  </a:txBody>
                  <a:tcPr>
                    <a:solidFill>
                      <a:srgbClr val="0F172A"/>
                    </a:solidFill>
                  </a:tcPr>
                </a:tc>
                <a:tc>
                  <a:txBody>
                    <a:bodyPr/>
                    <a:lstStyle/>
                    <a:p>
                      <a:pPr algn="ctr">
                        <a:defRPr sz="1000" b="1">
                          <a:solidFill>
                            <a:srgbClr val="FFFFFF"/>
                          </a:solidFill>
                          <a:latin typeface="Segoe UI"/>
                        </a:defRPr>
                      </a:pPr>
                      <a:r>
                        <a:t>Lớp Dữ Liệu Liên Quan</a:t>
                      </a:r>
                    </a:p>
                  </a:txBody>
                  <a:tcPr>
                    <a:solidFill>
                      <a:srgbClr val="0F172A"/>
                    </a:solidFill>
                  </a:tcPr>
                </a:tc>
                <a:tc>
                  <a:txBody>
                    <a:bodyPr/>
                    <a:lstStyle/>
                    <a:p>
                      <a:pPr algn="ctr">
                        <a:defRPr sz="1000" b="1">
                          <a:solidFill>
                            <a:srgbClr val="FFFFFF"/>
                          </a:solidFill>
                          <a:latin typeface="Segoe UI"/>
                        </a:defRPr>
                      </a:pPr>
                      <a:r>
                        <a:t>Phạm Vi Triển Khai</a:t>
                      </a:r>
                    </a:p>
                  </a:txBody>
                  <a:tcPr>
                    <a:solidFill>
                      <a:srgbClr val="0F172A"/>
                    </a:solidFill>
                  </a:tcPr>
                </a:tc>
              </a:tr>
              <a:tr h="308610">
                <a:tc>
                  <a:txBody>
                    <a:bodyPr/>
                    <a:lstStyle/>
                    <a:p>
                      <a:pPr algn="ctr">
                        <a:defRPr sz="850" b="1">
                          <a:solidFill>
                            <a:srgbClr val="2563EB"/>
                          </a:solidFill>
                          <a:latin typeface="Segoe UI"/>
                        </a:defRPr>
                      </a:pPr>
                      <a:r>
                        <a:t>UC-01</a:t>
                      </a:r>
                    </a:p>
                  </a:txBody>
                  <a:tcPr>
                    <a:solidFill>
                      <a:srgbClr val="FFFFFF"/>
                    </a:solidFill>
                  </a:tcPr>
                </a:tc>
                <a:tc>
                  <a:txBody>
                    <a:bodyPr/>
                    <a:lstStyle/>
                    <a:p>
                      <a:pPr>
                        <a:defRPr sz="850">
                          <a:solidFill>
                            <a:srgbClr val="0F172A"/>
                          </a:solidFill>
                          <a:latin typeface="Segoe UI"/>
                        </a:defRPr>
                      </a:pPr>
                      <a:r>
                        <a:t>Authenticate &amp; Manage Session</a:t>
                      </a:r>
                    </a:p>
                  </a:txBody>
                  <a:tcPr>
                    <a:solidFill>
                      <a:srgbClr val="FFFFFF"/>
                    </a:solidFill>
                  </a:tcPr>
                </a:tc>
                <a:tc>
                  <a:txBody>
                    <a:bodyPr/>
                    <a:lstStyle/>
                    <a:p>
                      <a:pPr>
                        <a:defRPr sz="850">
                          <a:solidFill>
                            <a:srgbClr val="0F172A"/>
                          </a:solidFill>
                          <a:latin typeface="Segoe UI"/>
                        </a:defRPr>
                      </a:pPr>
                      <a:r>
                        <a:t>Activity: Learner Journey</a:t>
                      </a:r>
                    </a:p>
                  </a:txBody>
                  <a:tcPr>
                    <a:solidFill>
                      <a:srgbClr val="FFFFFF"/>
                    </a:solidFill>
                  </a:tcPr>
                </a:tc>
                <a:tc>
                  <a:txBody>
                    <a:bodyPr/>
                    <a:lstStyle/>
                    <a:p>
                      <a:pPr>
                        <a:defRPr sz="850">
                          <a:solidFill>
                            <a:srgbClr val="0F172A"/>
                          </a:solidFill>
                          <a:latin typeface="Segoe UI"/>
                        </a:defRPr>
                      </a:pPr>
                      <a:r>
                        <a:t>Profile, Role</a:t>
                      </a:r>
                    </a:p>
                  </a:txBody>
                  <a:tcPr>
                    <a:solidFill>
                      <a:srgbClr val="FFFFFF"/>
                    </a:solidFill>
                  </a:tcPr>
                </a:tc>
                <a:tc>
                  <a:txBody>
                    <a:bodyPr/>
                    <a:lstStyle/>
                    <a:p>
                      <a:pPr algn="ctr">
                        <a:defRPr sz="850" b="1">
                          <a:solidFill>
                            <a:srgbClr val="16A34A"/>
                          </a:solidFill>
                          <a:latin typeface="Segoe UI"/>
                        </a:defRPr>
                      </a:pPr>
                      <a:r>
                        <a:t>CORE (Phase 2 MVP)</a:t>
                      </a:r>
                    </a:p>
                  </a:txBody>
                  <a:tcPr>
                    <a:solidFill>
                      <a:srgbClr val="FFFFFF"/>
                    </a:solidFill>
                  </a:tcPr>
                </a:tc>
              </a:tr>
              <a:tr h="308610">
                <a:tc>
                  <a:txBody>
                    <a:bodyPr/>
                    <a:lstStyle/>
                    <a:p>
                      <a:pPr algn="ctr">
                        <a:defRPr sz="850" b="1">
                          <a:solidFill>
                            <a:srgbClr val="2563EB"/>
                          </a:solidFill>
                          <a:latin typeface="Segoe UI"/>
                        </a:defRPr>
                      </a:pPr>
                      <a:r>
                        <a:t>UC-02</a:t>
                      </a:r>
                    </a:p>
                  </a:txBody>
                  <a:tcPr>
                    <a:solidFill>
                      <a:srgbClr val="F1F5F9"/>
                    </a:solidFill>
                  </a:tcPr>
                </a:tc>
                <a:tc>
                  <a:txBody>
                    <a:bodyPr/>
                    <a:lstStyle/>
                    <a:p>
                      <a:pPr>
                        <a:defRPr sz="850">
                          <a:solidFill>
                            <a:srgbClr val="0F172A"/>
                          </a:solidFill>
                          <a:latin typeface="Segoe UI"/>
                        </a:defRPr>
                      </a:pPr>
                      <a:r>
                        <a:t>Configure Goals &amp; Study Time</a:t>
                      </a:r>
                    </a:p>
                  </a:txBody>
                  <a:tcPr>
                    <a:solidFill>
                      <a:srgbClr val="F1F5F9"/>
                    </a:solidFill>
                  </a:tcPr>
                </a:tc>
                <a:tc>
                  <a:txBody>
                    <a:bodyPr/>
                    <a:lstStyle/>
                    <a:p>
                      <a:pPr>
                        <a:defRPr sz="850">
                          <a:solidFill>
                            <a:srgbClr val="0F172A"/>
                          </a:solidFill>
                          <a:latin typeface="Segoe UI"/>
                        </a:defRPr>
                      </a:pPr>
                      <a:r>
                        <a:t>Activity: Learner Journey</a:t>
                      </a:r>
                    </a:p>
                  </a:txBody>
                  <a:tcPr>
                    <a:solidFill>
                      <a:srgbClr val="F1F5F9"/>
                    </a:solidFill>
                  </a:tcPr>
                </a:tc>
                <a:tc>
                  <a:txBody>
                    <a:bodyPr/>
                    <a:lstStyle/>
                    <a:p>
                      <a:pPr>
                        <a:defRPr sz="850">
                          <a:solidFill>
                            <a:srgbClr val="0F172A"/>
                          </a:solidFill>
                          <a:latin typeface="Segoe UI"/>
                        </a:defRPr>
                      </a:pPr>
                      <a:r>
                        <a:t>Profile</a:t>
                      </a:r>
                    </a:p>
                  </a:txBody>
                  <a:tcPr>
                    <a:solidFill>
                      <a:srgbClr val="F1F5F9"/>
                    </a:solidFill>
                  </a:tcPr>
                </a:tc>
                <a:tc>
                  <a:txBody>
                    <a:bodyPr/>
                    <a:lstStyle/>
                    <a:p>
                      <a:pPr algn="ctr">
                        <a:defRPr sz="850" b="1">
                          <a:solidFill>
                            <a:srgbClr val="16A34A"/>
                          </a:solidFill>
                          <a:latin typeface="Segoe UI"/>
                        </a:defRPr>
                      </a:pPr>
                      <a:r>
                        <a:t>CORE (Phase 2 MVP)</a:t>
                      </a:r>
                    </a:p>
                  </a:txBody>
                  <a:tcPr>
                    <a:solidFill>
                      <a:srgbClr val="F1F5F9"/>
                    </a:solidFill>
                  </a:tcPr>
                </a:tc>
              </a:tr>
              <a:tr h="308610">
                <a:tc>
                  <a:txBody>
                    <a:bodyPr/>
                    <a:lstStyle/>
                    <a:p>
                      <a:pPr algn="ctr">
                        <a:defRPr sz="850" b="1">
                          <a:solidFill>
                            <a:srgbClr val="2563EB"/>
                          </a:solidFill>
                          <a:latin typeface="Segoe UI"/>
                        </a:defRPr>
                      </a:pPr>
                      <a:r>
                        <a:t>UC-03</a:t>
                      </a:r>
                    </a:p>
                  </a:txBody>
                  <a:tcPr>
                    <a:solidFill>
                      <a:srgbClr val="FFFFFF"/>
                    </a:solidFill>
                  </a:tcPr>
                </a:tc>
                <a:tc>
                  <a:txBody>
                    <a:bodyPr/>
                    <a:lstStyle/>
                    <a:p>
                      <a:pPr>
                        <a:defRPr sz="850">
                          <a:solidFill>
                            <a:srgbClr val="0F172A"/>
                          </a:solidFill>
                          <a:latin typeface="Segoe UI"/>
                        </a:defRPr>
                      </a:pPr>
                      <a:r>
                        <a:t>Take Placement Test</a:t>
                      </a:r>
                    </a:p>
                  </a:txBody>
                  <a:tcPr>
                    <a:solidFill>
                      <a:srgbClr val="FFFFFF"/>
                    </a:solidFill>
                  </a:tcPr>
                </a:tc>
                <a:tc>
                  <a:txBody>
                    <a:bodyPr/>
                    <a:lstStyle/>
                    <a:p>
                      <a:pPr>
                        <a:defRPr sz="850">
                          <a:solidFill>
                            <a:srgbClr val="0F172A"/>
                          </a:solidFill>
                          <a:latin typeface="Segoe UI"/>
                        </a:defRPr>
                      </a:pPr>
                      <a:r>
                        <a:t>05-activity-placement (Slide 6)</a:t>
                      </a:r>
                    </a:p>
                  </a:txBody>
                  <a:tcPr>
                    <a:solidFill>
                      <a:srgbClr val="FFFFFF"/>
                    </a:solidFill>
                  </a:tcPr>
                </a:tc>
                <a:tc>
                  <a:txBody>
                    <a:bodyPr/>
                    <a:lstStyle/>
                    <a:p>
                      <a:pPr>
                        <a:defRPr sz="850">
                          <a:solidFill>
                            <a:srgbClr val="0F172A"/>
                          </a:solidFill>
                          <a:latin typeface="Segoe UI"/>
                        </a:defRPr>
                      </a:pPr>
                      <a:r>
                        <a:t>AssessmentResult, SkillProfile</a:t>
                      </a:r>
                    </a:p>
                  </a:txBody>
                  <a:tcPr>
                    <a:solidFill>
                      <a:srgbClr val="FFFFFF"/>
                    </a:solidFill>
                  </a:tcPr>
                </a:tc>
                <a:tc>
                  <a:txBody>
                    <a:bodyPr/>
                    <a:lstStyle/>
                    <a:p>
                      <a:pPr algn="ctr">
                        <a:defRPr sz="850" b="1">
                          <a:solidFill>
                            <a:srgbClr val="16A34A"/>
                          </a:solidFill>
                          <a:latin typeface="Segoe UI"/>
                        </a:defRPr>
                      </a:pPr>
                      <a:r>
                        <a:t>CORE (Phase 2 MVP)</a:t>
                      </a:r>
                    </a:p>
                  </a:txBody>
                  <a:tcPr>
                    <a:solidFill>
                      <a:srgbClr val="FFFFFF"/>
                    </a:solidFill>
                  </a:tcPr>
                </a:tc>
              </a:tr>
              <a:tr h="308610">
                <a:tc>
                  <a:txBody>
                    <a:bodyPr/>
                    <a:lstStyle/>
                    <a:p>
                      <a:pPr algn="ctr">
                        <a:defRPr sz="850" b="1">
                          <a:solidFill>
                            <a:srgbClr val="2563EB"/>
                          </a:solidFill>
                          <a:latin typeface="Segoe UI"/>
                        </a:defRPr>
                      </a:pPr>
                      <a:r>
                        <a:t>UC-04</a:t>
                      </a:r>
                    </a:p>
                  </a:txBody>
                  <a:tcPr>
                    <a:solidFill>
                      <a:srgbClr val="F1F5F9"/>
                    </a:solidFill>
                  </a:tcPr>
                </a:tc>
                <a:tc>
                  <a:txBody>
                    <a:bodyPr/>
                    <a:lstStyle/>
                    <a:p>
                      <a:pPr>
                        <a:defRPr sz="850">
                          <a:solidFill>
                            <a:srgbClr val="0F172A"/>
                          </a:solidFill>
                          <a:latin typeface="Segoe UI"/>
                        </a:defRPr>
                      </a:pPr>
                      <a:r>
                        <a:t>Browse Learning Path &amp; Progress</a:t>
                      </a:r>
                    </a:p>
                  </a:txBody>
                  <a:tcPr>
                    <a:solidFill>
                      <a:srgbClr val="F1F5F9"/>
                    </a:solidFill>
                  </a:tcPr>
                </a:tc>
                <a:tc>
                  <a:txBody>
                    <a:bodyPr/>
                    <a:lstStyle/>
                    <a:p>
                      <a:pPr>
                        <a:defRPr sz="850">
                          <a:solidFill>
                            <a:srgbClr val="0F172A"/>
                          </a:solidFill>
                          <a:latin typeface="Segoe UI"/>
                        </a:defRPr>
                      </a:pPr>
                      <a:r>
                        <a:t>07-activity-jump (Slide 8)</a:t>
                      </a:r>
                    </a:p>
                  </a:txBody>
                  <a:tcPr>
                    <a:solidFill>
                      <a:srgbClr val="F1F5F9"/>
                    </a:solidFill>
                  </a:tcPr>
                </a:tc>
                <a:tc>
                  <a:txBody>
                    <a:bodyPr/>
                    <a:lstStyle/>
                    <a:p>
                      <a:pPr>
                        <a:defRPr sz="850">
                          <a:solidFill>
                            <a:srgbClr val="0F172A"/>
                          </a:solidFill>
                          <a:latin typeface="Segoe UI"/>
                        </a:defRPr>
                      </a:pPr>
                      <a:r>
                        <a:t>Course, Unit, Lesson, UserProgress</a:t>
                      </a:r>
                    </a:p>
                  </a:txBody>
                  <a:tcPr>
                    <a:solidFill>
                      <a:srgbClr val="F1F5F9"/>
                    </a:solidFill>
                  </a:tcPr>
                </a:tc>
                <a:tc>
                  <a:txBody>
                    <a:bodyPr/>
                    <a:lstStyle/>
                    <a:p>
                      <a:pPr algn="ctr">
                        <a:defRPr sz="850" b="1">
                          <a:solidFill>
                            <a:srgbClr val="16A34A"/>
                          </a:solidFill>
                          <a:latin typeface="Segoe UI"/>
                        </a:defRPr>
                      </a:pPr>
                      <a:r>
                        <a:t>CORE (Phase 2 MVP)</a:t>
                      </a:r>
                    </a:p>
                  </a:txBody>
                  <a:tcPr>
                    <a:solidFill>
                      <a:srgbClr val="F1F5F9"/>
                    </a:solidFill>
                  </a:tcPr>
                </a:tc>
              </a:tr>
              <a:tr h="308610">
                <a:tc>
                  <a:txBody>
                    <a:bodyPr/>
                    <a:lstStyle/>
                    <a:p>
                      <a:pPr algn="ctr">
                        <a:defRPr sz="850" b="1">
                          <a:solidFill>
                            <a:srgbClr val="2563EB"/>
                          </a:solidFill>
                          <a:latin typeface="Segoe UI"/>
                        </a:defRPr>
                      </a:pPr>
                      <a:r>
                        <a:t>UC-05</a:t>
                      </a:r>
                    </a:p>
                  </a:txBody>
                  <a:tcPr>
                    <a:solidFill>
                      <a:srgbClr val="FFFFFF"/>
                    </a:solidFill>
                  </a:tcPr>
                </a:tc>
                <a:tc>
                  <a:txBody>
                    <a:bodyPr/>
                    <a:lstStyle/>
                    <a:p>
                      <a:pPr>
                        <a:defRPr sz="850">
                          <a:solidFill>
                            <a:srgbClr val="0F172A"/>
                          </a:solidFill>
                          <a:latin typeface="Segoe UI"/>
                        </a:defRPr>
                      </a:pPr>
                      <a:r>
                        <a:t>Complete Lesson &amp; Exercises</a:t>
                      </a:r>
                    </a:p>
                  </a:txBody>
                  <a:tcPr>
                    <a:solidFill>
                      <a:srgbClr val="FFFFFF"/>
                    </a:solidFill>
                  </a:tcPr>
                </a:tc>
                <a:tc>
                  <a:txBody>
                    <a:bodyPr/>
                    <a:lstStyle/>
                    <a:p>
                      <a:pPr>
                        <a:defRPr sz="850">
                          <a:solidFill>
                            <a:srgbClr val="0F172A"/>
                          </a:solidFill>
                          <a:latin typeface="Segoe UI"/>
                        </a:defRPr>
                      </a:pPr>
                      <a:r>
                        <a:t>06-activity-learning (Slide 7)</a:t>
                      </a:r>
                    </a:p>
                  </a:txBody>
                  <a:tcPr>
                    <a:solidFill>
                      <a:srgbClr val="FFFFFF"/>
                    </a:solidFill>
                  </a:tcPr>
                </a:tc>
                <a:tc>
                  <a:txBody>
                    <a:bodyPr/>
                    <a:lstStyle/>
                    <a:p>
                      <a:pPr>
                        <a:defRPr sz="850">
                          <a:solidFill>
                            <a:srgbClr val="0F172A"/>
                          </a:solidFill>
                          <a:latin typeface="Segoe UI"/>
                        </a:defRPr>
                      </a:pPr>
                      <a:r>
                        <a:t>Lesson, Exercise, UserProgress</a:t>
                      </a:r>
                    </a:p>
                  </a:txBody>
                  <a:tcPr>
                    <a:solidFill>
                      <a:srgbClr val="FFFFFF"/>
                    </a:solidFill>
                  </a:tcPr>
                </a:tc>
                <a:tc>
                  <a:txBody>
                    <a:bodyPr/>
                    <a:lstStyle/>
                    <a:p>
                      <a:pPr algn="ctr">
                        <a:defRPr sz="850" b="1">
                          <a:solidFill>
                            <a:srgbClr val="16A34A"/>
                          </a:solidFill>
                          <a:latin typeface="Segoe UI"/>
                        </a:defRPr>
                      </a:pPr>
                      <a:r>
                        <a:t>CORE (Phase 2 MVP)</a:t>
                      </a:r>
                    </a:p>
                  </a:txBody>
                  <a:tcPr>
                    <a:solidFill>
                      <a:srgbClr val="FFFFFF"/>
                    </a:solidFill>
                  </a:tcPr>
                </a:tc>
              </a:tr>
              <a:tr h="308610">
                <a:tc>
                  <a:txBody>
                    <a:bodyPr/>
                    <a:lstStyle/>
                    <a:p>
                      <a:pPr algn="ctr">
                        <a:defRPr sz="850" b="1">
                          <a:solidFill>
                            <a:srgbClr val="2563EB"/>
                          </a:solidFill>
                          <a:latin typeface="Segoe UI"/>
                        </a:defRPr>
                      </a:pPr>
                      <a:r>
                        <a:t>UC-06</a:t>
                      </a:r>
                    </a:p>
                  </a:txBody>
                  <a:tcPr>
                    <a:solidFill>
                      <a:srgbClr val="F1F5F9"/>
                    </a:solidFill>
                  </a:tcPr>
                </a:tc>
                <a:tc>
                  <a:txBody>
                    <a:bodyPr/>
                    <a:lstStyle/>
                    <a:p>
                      <a:pPr>
                        <a:defRPr sz="850">
                          <a:solidFill>
                            <a:srgbClr val="0F172A"/>
                          </a:solidFill>
                          <a:latin typeface="Segoe UI"/>
                        </a:defRPr>
                      </a:pPr>
                      <a:r>
                        <a:t>Spaced Repetition Review (SRS)</a:t>
                      </a:r>
                    </a:p>
                  </a:txBody>
                  <a:tcPr>
                    <a:solidFill>
                      <a:srgbClr val="F1F5F9"/>
                    </a:solidFill>
                  </a:tcPr>
                </a:tc>
                <a:tc>
                  <a:txBody>
                    <a:bodyPr/>
                    <a:lstStyle/>
                    <a:p>
                      <a:pPr>
                        <a:defRPr sz="850">
                          <a:solidFill>
                            <a:srgbClr val="0F172A"/>
                          </a:solidFill>
                          <a:latin typeface="Segoe UI"/>
                        </a:defRPr>
                      </a:pPr>
                      <a:r>
                        <a:t>Activity: SRS Review Flow</a:t>
                      </a:r>
                    </a:p>
                  </a:txBody>
                  <a:tcPr>
                    <a:solidFill>
                      <a:srgbClr val="F1F5F9"/>
                    </a:solidFill>
                  </a:tcPr>
                </a:tc>
                <a:tc>
                  <a:txBody>
                    <a:bodyPr/>
                    <a:lstStyle/>
                    <a:p>
                      <a:pPr>
                        <a:defRPr sz="850">
                          <a:solidFill>
                            <a:srgbClr val="0F172A"/>
                          </a:solidFill>
                          <a:latin typeface="Segoe UI"/>
                        </a:defRPr>
                      </a:pPr>
                      <a:r>
                        <a:t>Vocabulary, UserVocabSrs, ReviewLog</a:t>
                      </a:r>
                    </a:p>
                  </a:txBody>
                  <a:tcPr>
                    <a:solidFill>
                      <a:srgbClr val="F1F5F9"/>
                    </a:solidFill>
                  </a:tcPr>
                </a:tc>
                <a:tc>
                  <a:txBody>
                    <a:bodyPr/>
                    <a:lstStyle/>
                    <a:p>
                      <a:pPr algn="ctr">
                        <a:defRPr sz="850" b="1">
                          <a:solidFill>
                            <a:srgbClr val="16A34A"/>
                          </a:solidFill>
                          <a:latin typeface="Segoe UI"/>
                        </a:defRPr>
                      </a:pPr>
                      <a:r>
                        <a:t>CORE (Phase 2 MVP)</a:t>
                      </a:r>
                    </a:p>
                  </a:txBody>
                  <a:tcPr>
                    <a:solidFill>
                      <a:srgbClr val="F1F5F9"/>
                    </a:solidFill>
                  </a:tcPr>
                </a:tc>
              </a:tr>
              <a:tr h="308610">
                <a:tc>
                  <a:txBody>
                    <a:bodyPr/>
                    <a:lstStyle/>
                    <a:p>
                      <a:pPr algn="ctr">
                        <a:defRPr sz="850" b="1">
                          <a:solidFill>
                            <a:srgbClr val="2563EB"/>
                          </a:solidFill>
                          <a:latin typeface="Segoe UI"/>
                        </a:defRPr>
                      </a:pPr>
                      <a:r>
                        <a:t>UC-07</a:t>
                      </a:r>
                    </a:p>
                  </a:txBody>
                  <a:tcPr>
                    <a:solidFill>
                      <a:srgbClr val="FFFFFF"/>
                    </a:solidFill>
                  </a:tcPr>
                </a:tc>
                <a:tc>
                  <a:txBody>
                    <a:bodyPr/>
                    <a:lstStyle/>
                    <a:p>
                      <a:pPr>
                        <a:defRPr sz="850">
                          <a:solidFill>
                            <a:srgbClr val="0F172A"/>
                          </a:solidFill>
                          <a:latin typeface="Segoe UI"/>
                        </a:defRPr>
                      </a:pPr>
                      <a:r>
                        <a:t>Track Learning Progress &amp; Streak</a:t>
                      </a:r>
                    </a:p>
                  </a:txBody>
                  <a:tcPr>
                    <a:solidFill>
                      <a:srgbClr val="FFFFFF"/>
                    </a:solidFill>
                  </a:tcPr>
                </a:tc>
                <a:tc>
                  <a:txBody>
                    <a:bodyPr/>
                    <a:lstStyle/>
                    <a:p>
                      <a:pPr>
                        <a:defRPr sz="850">
                          <a:solidFill>
                            <a:srgbClr val="0F172A"/>
                          </a:solidFill>
                          <a:latin typeface="Segoe UI"/>
                        </a:defRPr>
                      </a:pPr>
                      <a:r>
                        <a:t>06-activity-learning (Slide 7)</a:t>
                      </a:r>
                    </a:p>
                  </a:txBody>
                  <a:tcPr>
                    <a:solidFill>
                      <a:srgbClr val="FFFFFF"/>
                    </a:solidFill>
                  </a:tcPr>
                </a:tc>
                <a:tc>
                  <a:txBody>
                    <a:bodyPr/>
                    <a:lstStyle/>
                    <a:p>
                      <a:pPr>
                        <a:defRPr sz="850">
                          <a:solidFill>
                            <a:srgbClr val="0F172A"/>
                          </a:solidFill>
                          <a:latin typeface="Segoe UI"/>
                        </a:defRPr>
                      </a:pPr>
                      <a:r>
                        <a:t>Profile, UserProgress</a:t>
                      </a:r>
                    </a:p>
                  </a:txBody>
                  <a:tcPr>
                    <a:solidFill>
                      <a:srgbClr val="FFFFFF"/>
                    </a:solidFill>
                  </a:tcPr>
                </a:tc>
                <a:tc>
                  <a:txBody>
                    <a:bodyPr/>
                    <a:lstStyle/>
                    <a:p>
                      <a:pPr algn="ctr">
                        <a:defRPr sz="850" b="1">
                          <a:solidFill>
                            <a:srgbClr val="16A34A"/>
                          </a:solidFill>
                          <a:latin typeface="Segoe UI"/>
                        </a:defRPr>
                      </a:pPr>
                      <a:r>
                        <a:t>CORE (Phase 2 MVP)</a:t>
                      </a:r>
                    </a:p>
                  </a:txBody>
                  <a:tcPr>
                    <a:solidFill>
                      <a:srgbClr val="FFFFFF"/>
                    </a:solidFill>
                  </a:tcPr>
                </a:tc>
              </a:tr>
              <a:tr h="308610">
                <a:tc>
                  <a:txBody>
                    <a:bodyPr/>
                    <a:lstStyle/>
                    <a:p>
                      <a:pPr algn="ctr">
                        <a:defRPr sz="850" b="1">
                          <a:solidFill>
                            <a:srgbClr val="2563EB"/>
                          </a:solidFill>
                          <a:latin typeface="Segoe UI"/>
                        </a:defRPr>
                      </a:pPr>
                      <a:r>
                        <a:t>UC-08</a:t>
                      </a:r>
                    </a:p>
                  </a:txBody>
                  <a:tcPr>
                    <a:solidFill>
                      <a:srgbClr val="F1F5F9"/>
                    </a:solidFill>
                  </a:tcPr>
                </a:tc>
                <a:tc>
                  <a:txBody>
                    <a:bodyPr/>
                    <a:lstStyle/>
                    <a:p>
                      <a:pPr>
                        <a:defRPr sz="850">
                          <a:solidFill>
                            <a:srgbClr val="0F172A"/>
                          </a:solidFill>
                          <a:latin typeface="Segoe UI"/>
                        </a:defRPr>
                      </a:pPr>
                      <a:r>
                        <a:t>Create &amp; Edit Lesson Draft</a:t>
                      </a:r>
                    </a:p>
                  </a:txBody>
                  <a:tcPr>
                    <a:solidFill>
                      <a:srgbClr val="F1F5F9"/>
                    </a:solidFill>
                  </a:tcPr>
                </a:tc>
                <a:tc>
                  <a:txBody>
                    <a:bodyPr/>
                    <a:lstStyle/>
                    <a:p>
                      <a:pPr>
                        <a:defRPr sz="850">
                          <a:solidFill>
                            <a:srgbClr val="0F172A"/>
                          </a:solidFill>
                          <a:latin typeface="Segoe UI"/>
                        </a:defRPr>
                      </a:pPr>
                      <a:r>
                        <a:t>08-activity-governance (Slide 9)</a:t>
                      </a:r>
                    </a:p>
                  </a:txBody>
                  <a:tcPr>
                    <a:solidFill>
                      <a:srgbClr val="F1F5F9"/>
                    </a:solidFill>
                  </a:tcPr>
                </a:tc>
                <a:tc>
                  <a:txBody>
                    <a:bodyPr/>
                    <a:lstStyle/>
                    <a:p>
                      <a:pPr>
                        <a:defRPr sz="850">
                          <a:solidFill>
                            <a:srgbClr val="0F172A"/>
                          </a:solidFill>
                          <a:latin typeface="Segoe UI"/>
                        </a:defRPr>
                      </a:pPr>
                      <a:r>
                        <a:t>Lesson, LessonRevision, Exercise</a:t>
                      </a:r>
                    </a:p>
                  </a:txBody>
                  <a:tcPr>
                    <a:solidFill>
                      <a:srgbClr val="F1F5F9"/>
                    </a:solidFill>
                  </a:tcPr>
                </a:tc>
                <a:tc>
                  <a:txBody>
                    <a:bodyPr/>
                    <a:lstStyle/>
                    <a:p>
                      <a:pPr algn="ctr">
                        <a:defRPr sz="850" b="1">
                          <a:solidFill>
                            <a:srgbClr val="16A34A"/>
                          </a:solidFill>
                          <a:latin typeface="Segoe UI"/>
                        </a:defRPr>
                      </a:pPr>
                      <a:r>
                        <a:t>CORE (Phase 2 MVP)</a:t>
                      </a:r>
                    </a:p>
                  </a:txBody>
                  <a:tcPr>
                    <a:solidFill>
                      <a:srgbClr val="F1F5F9"/>
                    </a:solidFill>
                  </a:tcPr>
                </a:tc>
              </a:tr>
              <a:tr h="308610">
                <a:tc>
                  <a:txBody>
                    <a:bodyPr/>
                    <a:lstStyle/>
                    <a:p>
                      <a:pPr algn="ctr">
                        <a:defRPr sz="850" b="1">
                          <a:solidFill>
                            <a:srgbClr val="2563EB"/>
                          </a:solidFill>
                          <a:latin typeface="Segoe UI"/>
                        </a:defRPr>
                      </a:pPr>
                      <a:r>
                        <a:t>UC-09</a:t>
                      </a:r>
                    </a:p>
                  </a:txBody>
                  <a:tcPr>
                    <a:solidFill>
                      <a:srgbClr val="FFFFFF"/>
                    </a:solidFill>
                  </a:tcPr>
                </a:tc>
                <a:tc>
                  <a:txBody>
                    <a:bodyPr/>
                    <a:lstStyle/>
                    <a:p>
                      <a:pPr>
                        <a:defRPr sz="850">
                          <a:solidFill>
                            <a:srgbClr val="0F172A"/>
                          </a:solidFill>
                          <a:latin typeface="Segoe UI"/>
                        </a:defRPr>
                      </a:pPr>
                      <a:r>
                        <a:t>Review &amp; Moderate Content</a:t>
                      </a:r>
                    </a:p>
                  </a:txBody>
                  <a:tcPr>
                    <a:solidFill>
                      <a:srgbClr val="FFFFFF"/>
                    </a:solidFill>
                  </a:tcPr>
                </a:tc>
                <a:tc>
                  <a:txBody>
                    <a:bodyPr/>
                    <a:lstStyle/>
                    <a:p>
                      <a:pPr>
                        <a:defRPr sz="850">
                          <a:solidFill>
                            <a:srgbClr val="0F172A"/>
                          </a:solidFill>
                          <a:latin typeface="Segoe UI"/>
                        </a:defRPr>
                      </a:pPr>
                      <a:r>
                        <a:t>08-activity-governance (Slide 9)</a:t>
                      </a:r>
                    </a:p>
                  </a:txBody>
                  <a:tcPr>
                    <a:solidFill>
                      <a:srgbClr val="FFFFFF"/>
                    </a:solidFill>
                  </a:tcPr>
                </a:tc>
                <a:tc>
                  <a:txBody>
                    <a:bodyPr/>
                    <a:lstStyle/>
                    <a:p>
                      <a:pPr>
                        <a:defRPr sz="850">
                          <a:solidFill>
                            <a:srgbClr val="0F172A"/>
                          </a:solidFill>
                          <a:latin typeface="Segoe UI"/>
                        </a:defRPr>
                      </a:pPr>
                      <a:r>
                        <a:t>LessonRevision, AuditLog</a:t>
                      </a:r>
                    </a:p>
                  </a:txBody>
                  <a:tcPr>
                    <a:solidFill>
                      <a:srgbClr val="FFFFFF"/>
                    </a:solidFill>
                  </a:tcPr>
                </a:tc>
                <a:tc>
                  <a:txBody>
                    <a:bodyPr/>
                    <a:lstStyle/>
                    <a:p>
                      <a:pPr algn="ctr">
                        <a:defRPr sz="850" b="1">
                          <a:solidFill>
                            <a:srgbClr val="16A34A"/>
                          </a:solidFill>
                          <a:latin typeface="Segoe UI"/>
                        </a:defRPr>
                      </a:pPr>
                      <a:r>
                        <a:t>CORE (Phase 2 MVP)</a:t>
                      </a:r>
                    </a:p>
                  </a:txBody>
                  <a:tcPr>
                    <a:solidFill>
                      <a:srgbClr val="FFFFFF"/>
                    </a:solidFill>
                  </a:tcPr>
                </a:tc>
              </a:tr>
              <a:tr h="308610">
                <a:tc>
                  <a:txBody>
                    <a:bodyPr/>
                    <a:lstStyle/>
                    <a:p>
                      <a:pPr algn="ctr">
                        <a:defRPr sz="850" b="1">
                          <a:solidFill>
                            <a:srgbClr val="2563EB"/>
                          </a:solidFill>
                          <a:latin typeface="Segoe UI"/>
                        </a:defRPr>
                      </a:pPr>
                      <a:r>
                        <a:t>UC-10</a:t>
                      </a:r>
                    </a:p>
                  </a:txBody>
                  <a:tcPr>
                    <a:solidFill>
                      <a:srgbClr val="F1F5F9"/>
                    </a:solidFill>
                  </a:tcPr>
                </a:tc>
                <a:tc>
                  <a:txBody>
                    <a:bodyPr/>
                    <a:lstStyle/>
                    <a:p>
                      <a:pPr>
                        <a:defRPr sz="850">
                          <a:solidFill>
                            <a:srgbClr val="0F172A"/>
                          </a:solidFill>
                          <a:latin typeface="Segoe UI"/>
                        </a:defRPr>
                      </a:pPr>
                      <a:r>
                        <a:t>Publish Approved Content</a:t>
                      </a:r>
                    </a:p>
                  </a:txBody>
                  <a:tcPr>
                    <a:solidFill>
                      <a:srgbClr val="F1F5F9"/>
                    </a:solidFill>
                  </a:tcPr>
                </a:tc>
                <a:tc>
                  <a:txBody>
                    <a:bodyPr/>
                    <a:lstStyle/>
                    <a:p>
                      <a:pPr>
                        <a:defRPr sz="850">
                          <a:solidFill>
                            <a:srgbClr val="0F172A"/>
                          </a:solidFill>
                          <a:latin typeface="Segoe UI"/>
                        </a:defRPr>
                      </a:pPr>
                      <a:r>
                        <a:t>08-activity-governance (Slide 9)</a:t>
                      </a:r>
                    </a:p>
                  </a:txBody>
                  <a:tcPr>
                    <a:solidFill>
                      <a:srgbClr val="F1F5F9"/>
                    </a:solidFill>
                  </a:tcPr>
                </a:tc>
                <a:tc>
                  <a:txBody>
                    <a:bodyPr/>
                    <a:lstStyle/>
                    <a:p>
                      <a:pPr>
                        <a:defRPr sz="850">
                          <a:solidFill>
                            <a:srgbClr val="0F172A"/>
                          </a:solidFill>
                          <a:latin typeface="Segoe UI"/>
                        </a:defRPr>
                      </a:pPr>
                      <a:r>
                        <a:t>Unit, Lesson, LessonRevision, AuditLog</a:t>
                      </a:r>
                    </a:p>
                  </a:txBody>
                  <a:tcPr>
                    <a:solidFill>
                      <a:srgbClr val="F1F5F9"/>
                    </a:solidFill>
                  </a:tcPr>
                </a:tc>
                <a:tc>
                  <a:txBody>
                    <a:bodyPr/>
                    <a:lstStyle/>
                    <a:p>
                      <a:pPr algn="ctr">
                        <a:defRPr sz="850" b="1">
                          <a:solidFill>
                            <a:srgbClr val="16A34A"/>
                          </a:solidFill>
                          <a:latin typeface="Segoe UI"/>
                        </a:defRPr>
                      </a:pPr>
                      <a:r>
                        <a:t>CORE (Phase 2 MVP)</a:t>
                      </a:r>
                    </a:p>
                  </a:txBody>
                  <a:tcPr>
                    <a:solidFill>
                      <a:srgbClr val="F1F5F9"/>
                    </a:solidFill>
                  </a:tcPr>
                </a:tc>
              </a:tr>
              <a:tr h="308610">
                <a:tc>
                  <a:txBody>
                    <a:bodyPr/>
                    <a:lstStyle/>
                    <a:p>
                      <a:pPr algn="ctr">
                        <a:defRPr sz="850" b="1">
                          <a:solidFill>
                            <a:srgbClr val="2563EB"/>
                          </a:solidFill>
                          <a:latin typeface="Segoe UI"/>
                        </a:defRPr>
                      </a:pPr>
                      <a:r>
                        <a:t>UC-11</a:t>
                      </a:r>
                    </a:p>
                  </a:txBody>
                  <a:tcPr>
                    <a:solidFill>
                      <a:srgbClr val="FFFFFF"/>
                    </a:solidFill>
                  </a:tcPr>
                </a:tc>
                <a:tc>
                  <a:txBody>
                    <a:bodyPr/>
                    <a:lstStyle/>
                    <a:p>
                      <a:pPr>
                        <a:defRPr sz="850">
                          <a:solidFill>
                            <a:srgbClr val="0F172A"/>
                          </a:solidFill>
                          <a:latin typeface="Segoe UI"/>
                        </a:defRPr>
                      </a:pPr>
                      <a:r>
                        <a:t>Manage Accounts &amp; Roles</a:t>
                      </a:r>
                    </a:p>
                  </a:txBody>
                  <a:tcPr>
                    <a:solidFill>
                      <a:srgbClr val="FFFFFF"/>
                    </a:solidFill>
                  </a:tcPr>
                </a:tc>
                <a:tc>
                  <a:txBody>
                    <a:bodyPr/>
                    <a:lstStyle/>
                    <a:p>
                      <a:pPr>
                        <a:defRPr sz="850">
                          <a:solidFill>
                            <a:srgbClr val="0F172A"/>
                          </a:solidFill>
                          <a:latin typeface="Segoe UI"/>
                        </a:defRPr>
                      </a:pPr>
                      <a:r>
                        <a:t>Sequence: Admin Ops</a:t>
                      </a:r>
                    </a:p>
                  </a:txBody>
                  <a:tcPr>
                    <a:solidFill>
                      <a:srgbClr val="FFFFFF"/>
                    </a:solidFill>
                  </a:tcPr>
                </a:tc>
                <a:tc>
                  <a:txBody>
                    <a:bodyPr/>
                    <a:lstStyle/>
                    <a:p>
                      <a:pPr>
                        <a:defRPr sz="850">
                          <a:solidFill>
                            <a:srgbClr val="0F172A"/>
                          </a:solidFill>
                          <a:latin typeface="Segoe UI"/>
                        </a:defRPr>
                      </a:pPr>
                      <a:r>
                        <a:t>Profile, Role, AuditLog</a:t>
                      </a:r>
                    </a:p>
                  </a:txBody>
                  <a:tcPr>
                    <a:solidFill>
                      <a:srgbClr val="FFFFFF"/>
                    </a:solidFill>
                  </a:tcPr>
                </a:tc>
                <a:tc>
                  <a:txBody>
                    <a:bodyPr/>
                    <a:lstStyle/>
                    <a:p>
                      <a:pPr algn="ctr">
                        <a:defRPr sz="850" b="1">
                          <a:solidFill>
                            <a:srgbClr val="16A34A"/>
                          </a:solidFill>
                          <a:latin typeface="Segoe UI"/>
                        </a:defRPr>
                      </a:pPr>
                      <a:r>
                        <a:t>CORE (Phase 2 MVP)</a:t>
                      </a:r>
                    </a:p>
                  </a:txBody>
                  <a:tcPr>
                    <a:solidFill>
                      <a:srgbClr val="FFFFFF"/>
                    </a:solidFill>
                  </a:tcPr>
                </a:tc>
              </a:tr>
              <a:tr h="308610">
                <a:tc>
                  <a:txBody>
                    <a:bodyPr/>
                    <a:lstStyle/>
                    <a:p>
                      <a:pPr algn="ctr">
                        <a:defRPr sz="850" b="1">
                          <a:solidFill>
                            <a:srgbClr val="2563EB"/>
                          </a:solidFill>
                          <a:latin typeface="Segoe UI"/>
                        </a:defRPr>
                      </a:pPr>
                      <a:r>
                        <a:t>UC-12</a:t>
                      </a:r>
                    </a:p>
                  </a:txBody>
                  <a:tcPr>
                    <a:solidFill>
                      <a:srgbClr val="F1F5F9"/>
                    </a:solidFill>
                  </a:tcPr>
                </a:tc>
                <a:tc>
                  <a:txBody>
                    <a:bodyPr/>
                    <a:lstStyle/>
                    <a:p>
                      <a:pPr>
                        <a:defRPr sz="850">
                          <a:solidFill>
                            <a:srgbClr val="0F172A"/>
                          </a:solidFill>
                          <a:latin typeface="Segoe UI"/>
                        </a:defRPr>
                      </a:pPr>
                      <a:r>
                        <a:t>View System Operational Reports</a:t>
                      </a:r>
                    </a:p>
                  </a:txBody>
                  <a:tcPr>
                    <a:solidFill>
                      <a:srgbClr val="F1F5F9"/>
                    </a:solidFill>
                  </a:tcPr>
                </a:tc>
                <a:tc>
                  <a:txBody>
                    <a:bodyPr/>
                    <a:lstStyle/>
                    <a:p>
                      <a:pPr>
                        <a:defRPr sz="850">
                          <a:solidFill>
                            <a:srgbClr val="0F172A"/>
                          </a:solidFill>
                          <a:latin typeface="Segoe UI"/>
                        </a:defRPr>
                      </a:pPr>
                      <a:r>
                        <a:t>Sequence: Admin Ops</a:t>
                      </a:r>
                    </a:p>
                  </a:txBody>
                  <a:tcPr>
                    <a:solidFill>
                      <a:srgbClr val="F1F5F9"/>
                    </a:solidFill>
                  </a:tcPr>
                </a:tc>
                <a:tc>
                  <a:txBody>
                    <a:bodyPr/>
                    <a:lstStyle/>
                    <a:p>
                      <a:pPr>
                        <a:defRPr sz="850">
                          <a:solidFill>
                            <a:srgbClr val="0F172A"/>
                          </a:solidFill>
                          <a:latin typeface="Segoe UI"/>
                        </a:defRPr>
                      </a:pPr>
                      <a:r>
                        <a:t>UserProgress, AuditLog</a:t>
                      </a:r>
                    </a:p>
                  </a:txBody>
                  <a:tcPr>
                    <a:solidFill>
                      <a:srgbClr val="F1F5F9"/>
                    </a:solidFill>
                  </a:tcPr>
                </a:tc>
                <a:tc>
                  <a:txBody>
                    <a:bodyPr/>
                    <a:lstStyle/>
                    <a:p>
                      <a:pPr algn="ctr">
                        <a:defRPr sz="850" b="1">
                          <a:solidFill>
                            <a:srgbClr val="16A34A"/>
                          </a:solidFill>
                          <a:latin typeface="Segoe UI"/>
                        </a:defRPr>
                      </a:pPr>
                      <a:r>
                        <a:t>CORE (Phase 2 MVP)</a:t>
                      </a:r>
                    </a:p>
                  </a:txBody>
                  <a:tcPr>
                    <a:solidFill>
                      <a:srgbClr val="F1F5F9"/>
                    </a:solidFill>
                  </a:tcPr>
                </a:tc>
              </a:tr>
              <a:tr h="308610">
                <a:tc>
                  <a:txBody>
                    <a:bodyPr/>
                    <a:lstStyle/>
                    <a:p>
                      <a:pPr algn="ctr">
                        <a:defRPr sz="850" b="1">
                          <a:solidFill>
                            <a:srgbClr val="2563EB"/>
                          </a:solidFill>
                          <a:latin typeface="Segoe UI"/>
                        </a:defRPr>
                      </a:pPr>
                      <a:r>
                        <a:t>UC-13</a:t>
                      </a:r>
                    </a:p>
                  </a:txBody>
                  <a:tcPr>
                    <a:solidFill>
                      <a:srgbClr val="FFFFFF"/>
                    </a:solidFill>
                  </a:tcPr>
                </a:tc>
                <a:tc>
                  <a:txBody>
                    <a:bodyPr/>
                    <a:lstStyle/>
                    <a:p>
                      <a:pPr>
                        <a:defRPr sz="850">
                          <a:solidFill>
                            <a:srgbClr val="0F172A"/>
                          </a:solidFill>
                          <a:latin typeface="Segoe UI"/>
                        </a:defRPr>
                      </a:pPr>
                      <a:r>
                        <a:t>View &amp; Audit Security Logs</a:t>
                      </a:r>
                    </a:p>
                  </a:txBody>
                  <a:tcPr>
                    <a:solidFill>
                      <a:srgbClr val="FFFFFF"/>
                    </a:solidFill>
                  </a:tcPr>
                </a:tc>
                <a:tc>
                  <a:txBody>
                    <a:bodyPr/>
                    <a:lstStyle/>
                    <a:p>
                      <a:pPr>
                        <a:defRPr sz="850">
                          <a:solidFill>
                            <a:srgbClr val="0F172A"/>
                          </a:solidFill>
                          <a:latin typeface="Segoe UI"/>
                        </a:defRPr>
                      </a:pPr>
                      <a:r>
                        <a:t>Sequence: Admin Ops</a:t>
                      </a:r>
                    </a:p>
                  </a:txBody>
                  <a:tcPr>
                    <a:solidFill>
                      <a:srgbClr val="FFFFFF"/>
                    </a:solidFill>
                  </a:tcPr>
                </a:tc>
                <a:tc>
                  <a:txBody>
                    <a:bodyPr/>
                    <a:lstStyle/>
                    <a:p>
                      <a:pPr>
                        <a:defRPr sz="850">
                          <a:solidFill>
                            <a:srgbClr val="0F172A"/>
                          </a:solidFill>
                          <a:latin typeface="Segoe UI"/>
                        </a:defRPr>
                      </a:pPr>
                      <a:r>
                        <a:t>AuditLog</a:t>
                      </a:r>
                    </a:p>
                  </a:txBody>
                  <a:tcPr>
                    <a:solidFill>
                      <a:srgbClr val="FFFFFF"/>
                    </a:solidFill>
                  </a:tcPr>
                </a:tc>
                <a:tc>
                  <a:txBody>
                    <a:bodyPr/>
                    <a:lstStyle/>
                    <a:p>
                      <a:pPr algn="ctr">
                        <a:defRPr sz="850" b="1">
                          <a:solidFill>
                            <a:srgbClr val="16A34A"/>
                          </a:solidFill>
                          <a:latin typeface="Segoe UI"/>
                        </a:defRPr>
                      </a:pPr>
                      <a:r>
                        <a:t>CORE (Phase 2 MVP)</a:t>
                      </a:r>
                    </a:p>
                  </a:txBody>
                  <a:tcPr>
                    <a:solidFill>
                      <a:srgbClr val="FFFFFF"/>
                    </a:solidFill>
                  </a:tcPr>
                </a:tc>
              </a:tr>
              <a:tr h="308610">
                <a:tc>
                  <a:txBody>
                    <a:bodyPr/>
                    <a:lstStyle/>
                    <a:p>
                      <a:pPr algn="ctr">
                        <a:defRPr sz="850" b="1">
                          <a:solidFill>
                            <a:srgbClr val="2563EB"/>
                          </a:solidFill>
                          <a:latin typeface="Segoe UI"/>
                        </a:defRPr>
                      </a:pPr>
                      <a:r>
                        <a:t>UC-14</a:t>
                      </a:r>
                    </a:p>
                  </a:txBody>
                  <a:tcPr>
                    <a:solidFill>
                      <a:srgbClr val="F1F5F9"/>
                    </a:solidFill>
                  </a:tcPr>
                </a:tc>
                <a:tc>
                  <a:txBody>
                    <a:bodyPr/>
                    <a:lstStyle/>
                    <a:p>
                      <a:pPr>
                        <a:defRPr sz="850">
                          <a:solidFill>
                            <a:srgbClr val="0F172A"/>
                          </a:solidFill>
                          <a:latin typeface="Segoe UI"/>
                        </a:defRPr>
                      </a:pPr>
                      <a:r>
                        <a:t>Handle Support Ticket</a:t>
                      </a:r>
                    </a:p>
                  </a:txBody>
                  <a:tcPr>
                    <a:solidFill>
                      <a:srgbClr val="F1F5F9"/>
                    </a:solidFill>
                  </a:tcPr>
                </a:tc>
                <a:tc>
                  <a:txBody>
                    <a:bodyPr/>
                    <a:lstStyle/>
                    <a:p>
                      <a:pPr>
                        <a:defRPr sz="850">
                          <a:solidFill>
                            <a:srgbClr val="0F172A"/>
                          </a:solidFill>
                          <a:latin typeface="Segoe UI"/>
                        </a:defRPr>
                      </a:pPr>
                      <a:r>
                        <a:t>Activity: Support Handling</a:t>
                      </a:r>
                    </a:p>
                  </a:txBody>
                  <a:tcPr>
                    <a:solidFill>
                      <a:srgbClr val="F1F5F9"/>
                    </a:solidFill>
                  </a:tcPr>
                </a:tc>
                <a:tc>
                  <a:txBody>
                    <a:bodyPr/>
                    <a:lstStyle/>
                    <a:p>
                      <a:pPr>
                        <a:defRPr sz="850">
                          <a:solidFill>
                            <a:srgbClr val="0F172A"/>
                          </a:solidFill>
                          <a:latin typeface="Segoe UI"/>
                        </a:defRPr>
                      </a:pPr>
                      <a:r>
                        <a:t>SupportTicket (MVP Boundary)</a:t>
                      </a:r>
                    </a:p>
                  </a:txBody>
                  <a:tcPr>
                    <a:solidFill>
                      <a:srgbClr val="F1F5F9"/>
                    </a:solidFill>
                  </a:tcPr>
                </a:tc>
                <a:tc>
                  <a:txBody>
                    <a:bodyPr/>
                    <a:lstStyle/>
                    <a:p>
                      <a:pPr algn="ctr">
                        <a:defRPr sz="850" b="1">
                          <a:solidFill>
                            <a:srgbClr val="0D9488"/>
                          </a:solidFill>
                          <a:latin typeface="Segoe UI"/>
                        </a:defRPr>
                      </a:pPr>
                      <a:r>
                        <a:t>MVP (Coordination)</a:t>
                      </a:r>
                    </a:p>
                  </a:txBody>
                  <a:tcPr>
                    <a:solidFill>
                      <a:srgbClr val="F1F5F9"/>
                    </a:solidFill>
                  </a:tcPr>
                </a:tc>
              </a:tr>
              <a:tr h="308610">
                <a:tc>
                  <a:txBody>
                    <a:bodyPr/>
                    <a:lstStyle/>
                    <a:p>
                      <a:pPr algn="ctr">
                        <a:defRPr sz="850" b="1">
                          <a:solidFill>
                            <a:srgbClr val="2563EB"/>
                          </a:solidFill>
                          <a:latin typeface="Segoe UI"/>
                        </a:defRPr>
                      </a:pPr>
                      <a:r>
                        <a:t>UC-15</a:t>
                      </a:r>
                    </a:p>
                  </a:txBody>
                  <a:tcPr>
                    <a:solidFill>
                      <a:srgbClr val="FFFFFF"/>
                    </a:solidFill>
                  </a:tcPr>
                </a:tc>
                <a:tc>
                  <a:txBody>
                    <a:bodyPr/>
                    <a:lstStyle/>
                    <a:p>
                      <a:pPr>
                        <a:defRPr sz="850">
                          <a:solidFill>
                            <a:srgbClr val="0F172A"/>
                          </a:solidFill>
                          <a:latin typeface="Segoe UI"/>
                        </a:defRPr>
                      </a:pPr>
                      <a:r>
                        <a:t>Manage Cohorts &amp; Groups</a:t>
                      </a:r>
                    </a:p>
                  </a:txBody>
                  <a:tcPr>
                    <a:solidFill>
                      <a:srgbClr val="FFFFFF"/>
                    </a:solidFill>
                  </a:tcPr>
                </a:tc>
                <a:tc>
                  <a:txBody>
                    <a:bodyPr/>
                    <a:lstStyle/>
                    <a:p>
                      <a:pPr>
                        <a:defRPr sz="850">
                          <a:solidFill>
                            <a:srgbClr val="0F172A"/>
                          </a:solidFill>
                          <a:latin typeface="Segoe UI"/>
                        </a:defRPr>
                      </a:pPr>
                      <a:r>
                        <a:t>Sequence: Cohort Mgmt</a:t>
                      </a:r>
                    </a:p>
                  </a:txBody>
                  <a:tcPr>
                    <a:solidFill>
                      <a:srgbClr val="FFFFFF"/>
                    </a:solidFill>
                  </a:tcPr>
                </a:tc>
                <a:tc>
                  <a:txBody>
                    <a:bodyPr/>
                    <a:lstStyle/>
                    <a:p>
                      <a:pPr>
                        <a:defRPr sz="850">
                          <a:solidFill>
                            <a:srgbClr val="0F172A"/>
                          </a:solidFill>
                          <a:latin typeface="Segoe UI"/>
                        </a:defRPr>
                      </a:pPr>
                      <a:r>
                        <a:t>Cohort, CohortMember</a:t>
                      </a:r>
                    </a:p>
                  </a:txBody>
                  <a:tcPr>
                    <a:solidFill>
                      <a:srgbClr val="FFFFFF"/>
                    </a:solidFill>
                  </a:tcPr>
                </a:tc>
                <a:tc>
                  <a:txBody>
                    <a:bodyPr/>
                    <a:lstStyle/>
                    <a:p>
                      <a:pPr algn="ctr">
                        <a:defRPr sz="850" b="1">
                          <a:solidFill>
                            <a:srgbClr val="9CA3AF"/>
                          </a:solidFill>
                          <a:latin typeface="Segoe UI"/>
                        </a:defRPr>
                      </a:pPr>
                      <a:r>
                        <a:t>FUTURE EXTENSION</a:t>
                      </a:r>
                    </a:p>
                  </a:txBody>
                  <a:tcP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