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Báo cáo phân tích và mô hình hóa hệ thống học ngoại ngữ Lingora. Nội dung bao gồm biểu đồ ca sử dụng, biểu đồ hoạt động, biểu đồ lớp và ma trận truy vết yêu cầu.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phân chia thành 3 phân hệ độc lập: Learning, Content và Admin/Ops. 6 vai trò bảo đảm nguyên tắc phân tách trách nhiệm.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ca sử dụng tổng quan định hình kiến trúc toàn hệ thống Lingora. Tác nhân Authenticated User chuẩn hóa đăng nhập, và phân hệ được chia tách mạch lạc.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học viên bao quát chu trình từ chẩn đoán xếp lớp, học lý thuyết qua Viewer, làm bài tập tương tác, đến ôn tập ngắt quãng và tích lũy Streak.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phê duyệt nội dung tuân thủ nguyên tắc phân tách nhiệm vụ (SoD). Moderator độc lập thẩm định và Org Manager độc quyền xuất bản.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Đánh giá xếp lớp xác định điểm xuất phát cho người học. Tùy chọn bỏ qua không sinh dữ liệu năng lực giả, và thi lại bảo lưu lịch sử bài thi.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 trình học bài bắt buộc học viên tiếp thu lý thuyết qua Viewer trước khi trả lời câu hỏi. Cơ chế làm lại có kiểm soát giới hạn lượt thử và công nhận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Thử thách nhảy cấp cho phép bỏ qua nội dung đã thuần thục. Quy mô đề thi linh hoạt theo số Unit nhảy và có thời gian chờ 24h nếu không đạt.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quản trị học liệu kết hợp thẩm định sư phạm và lưu vết phiên bản. Sửa đổi nội dung đã xuất bản được nhân bản an toàn qua phiên bản mới.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lớp nội dung thể hiện cấu trúc bài học và cơ chế quản lý phiên bản. Nét vẽ phân định trực quan giữa bảng dữ liệu hiện tại và thực thể mục tiêu.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học viên bảo đảm nguyên tắc phân tách giữa tiến độ hoàn thành và hồ sơ năng lực. Dữ liệu ôn tập từ vựng tuân thủ thuật toán chu kỳ ngày cố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trận truy vết bảo đảm liên kết chặt chẽ giữa 15 ca sử dụng, sơ đồ hoạt động, mô hình thực thể và phạm vi bàn giao. Toàn bộ tính năng trọng tâm đều thuộc Core Phase 2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9326880" y="1371600"/>
            <a:ext cx="109728" cy="109728"/>
          </a:xfrm>
          <a:prstGeom prst="ellipse">
            <a:avLst/>
          </a:prstGeom>
          <a:solidFill>
            <a:srgbClr val="CBD5E1"/>
          </a:solidFill>
          <a:ln w="12700">
            <a:solidFill>
              <a:srgbClr val="333333"/>
            </a:solidFill>
            <a:prstDash val="solid"/>
          </a:ln>
        </p:spPr>
      </p:sp>
      <p:sp>
        <p:nvSpPr>
          <p:cNvPr id="3" name="Shape 1"/>
          <p:cNvSpPr/>
          <p:nvPr/>
        </p:nvSpPr>
        <p:spPr>
          <a:xfrm>
            <a:off x="10789920" y="1645920"/>
            <a:ext cx="109728" cy="109728"/>
          </a:xfrm>
          <a:prstGeom prst="ellipse">
            <a:avLst/>
          </a:prstGeom>
          <a:solidFill>
            <a:srgbClr val="CBD5E1"/>
          </a:solidFill>
          <a:ln w="12700">
            <a:solidFill>
              <a:srgbClr val="333333"/>
            </a:solidFill>
            <a:prstDash val="solid"/>
          </a:ln>
        </p:spPr>
      </p:sp>
      <p:sp>
        <p:nvSpPr>
          <p:cNvPr id="4" name="Shape 2"/>
          <p:cNvSpPr/>
          <p:nvPr/>
        </p:nvSpPr>
        <p:spPr>
          <a:xfrm>
            <a:off x="10058400" y="2926080"/>
            <a:ext cx="109728" cy="109728"/>
          </a:xfrm>
          <a:prstGeom prst="ellipse">
            <a:avLst/>
          </a:prstGeom>
          <a:solidFill>
            <a:srgbClr val="CBD5E1"/>
          </a:solidFill>
          <a:ln w="12700">
            <a:solidFill>
              <a:srgbClr val="333333"/>
            </a:solidFill>
            <a:prstDash val="solid"/>
          </a:ln>
        </p:spPr>
      </p:sp>
      <p:sp>
        <p:nvSpPr>
          <p:cNvPr id="5" name="Shape 3"/>
          <p:cNvSpPr/>
          <p:nvPr/>
        </p:nvSpPr>
        <p:spPr>
          <a:xfrm>
            <a:off x="11155680" y="3657600"/>
            <a:ext cx="109728" cy="109728"/>
          </a:xfrm>
          <a:prstGeom prst="ellipse">
            <a:avLst/>
          </a:prstGeom>
          <a:solidFill>
            <a:srgbClr val="CBD5E1"/>
          </a:solidFill>
          <a:ln w="12700">
            <a:solidFill>
              <a:srgbClr val="333333"/>
            </a:solidFill>
            <a:prstDash val="solid"/>
          </a:ln>
        </p:spPr>
      </p:sp>
      <p:sp>
        <p:nvSpPr>
          <p:cNvPr id="6" name="Shape 4"/>
          <p:cNvSpPr/>
          <p:nvPr/>
        </p:nvSpPr>
        <p:spPr>
          <a:xfrm>
            <a:off x="9601200" y="4572000"/>
            <a:ext cx="109728" cy="109728"/>
          </a:xfrm>
          <a:prstGeom prst="ellipse">
            <a:avLst/>
          </a:prstGeom>
          <a:solidFill>
            <a:srgbClr val="CBD5E1"/>
          </a:solidFill>
          <a:ln w="12700">
            <a:solidFill>
              <a:srgbClr val="333333"/>
            </a:solidFill>
            <a:prstDash val="solid"/>
          </a:ln>
        </p:spPr>
      </p:sp>
      <p:sp>
        <p:nvSpPr>
          <p:cNvPr id="7" name="Shape 5"/>
          <p:cNvSpPr/>
          <p:nvPr/>
        </p:nvSpPr>
        <p:spPr>
          <a:xfrm>
            <a:off x="10789920" y="5303520"/>
            <a:ext cx="109728" cy="109728"/>
          </a:xfrm>
          <a:prstGeom prst="ellipse">
            <a:avLst/>
          </a:prstGeom>
          <a:solidFill>
            <a:srgbClr val="CBD5E1"/>
          </a:solidFill>
          <a:ln w="12700">
            <a:solidFill>
              <a:srgbClr val="333333"/>
            </a:solidFill>
            <a:prstDash val="solid"/>
          </a:ln>
        </p:spPr>
      </p:sp>
      <p:sp>
        <p:nvSpPr>
          <p:cNvPr id="8" name="Shape 6"/>
          <p:cNvSpPr/>
          <p:nvPr/>
        </p:nvSpPr>
        <p:spPr>
          <a:xfrm>
            <a:off x="9381744" y="1426464"/>
            <a:ext cx="1463040" cy="274320"/>
          </a:xfrm>
          <a:prstGeom prst="line">
            <a:avLst/>
          </a:prstGeom>
          <a:noFill/>
          <a:ln w="9525">
            <a:solidFill>
              <a:srgbClr val="E2E8F0"/>
            </a:solidFill>
            <a:prstDash val="solid"/>
          </a:ln>
        </p:spPr>
      </p:sp>
      <p:sp>
        <p:nvSpPr>
          <p:cNvPr id="9" name="Shape 7"/>
          <p:cNvSpPr/>
          <p:nvPr/>
        </p:nvSpPr>
        <p:spPr>
          <a:xfrm>
            <a:off x="10113264" y="1700784"/>
            <a:ext cx="731520" cy="1280160"/>
          </a:xfrm>
          <a:prstGeom prst="line">
            <a:avLst/>
          </a:prstGeom>
          <a:noFill/>
          <a:ln w="9525">
            <a:solidFill>
              <a:srgbClr val="E2E8F0"/>
            </a:solidFill>
            <a:prstDash val="solid"/>
          </a:ln>
        </p:spPr>
      </p:sp>
      <p:sp>
        <p:nvSpPr>
          <p:cNvPr id="10" name="Shape 8"/>
          <p:cNvSpPr/>
          <p:nvPr/>
        </p:nvSpPr>
        <p:spPr>
          <a:xfrm>
            <a:off x="10113264" y="2980944"/>
            <a:ext cx="1097280" cy="731520"/>
          </a:xfrm>
          <a:prstGeom prst="line">
            <a:avLst/>
          </a:prstGeom>
          <a:noFill/>
          <a:ln w="9525">
            <a:solidFill>
              <a:srgbClr val="E2E8F0"/>
            </a:solidFill>
            <a:prstDash val="solid"/>
          </a:ln>
        </p:spPr>
      </p:sp>
      <p:sp>
        <p:nvSpPr>
          <p:cNvPr id="11" name="Shape 9"/>
          <p:cNvSpPr/>
          <p:nvPr/>
        </p:nvSpPr>
        <p:spPr>
          <a:xfrm>
            <a:off x="9656064" y="2980944"/>
            <a:ext cx="457200" cy="1645920"/>
          </a:xfrm>
          <a:prstGeom prst="line">
            <a:avLst/>
          </a:prstGeom>
          <a:noFill/>
          <a:ln w="9525">
            <a:solidFill>
              <a:srgbClr val="E2E8F0"/>
            </a:solidFill>
            <a:prstDash val="solid"/>
          </a:ln>
        </p:spPr>
      </p:sp>
      <p:sp>
        <p:nvSpPr>
          <p:cNvPr id="12" name="Shape 10"/>
          <p:cNvSpPr/>
          <p:nvPr/>
        </p:nvSpPr>
        <p:spPr>
          <a:xfrm>
            <a:off x="9656064" y="4626864"/>
            <a:ext cx="1188720" cy="731520"/>
          </a:xfrm>
          <a:prstGeom prst="line">
            <a:avLst/>
          </a:prstGeom>
          <a:noFill/>
          <a:ln w="9525">
            <a:solidFill>
              <a:srgbClr val="E2E8F0"/>
            </a:solidFill>
            <a:prstDash val="solid"/>
          </a:ln>
        </p:spPr>
      </p:sp>
      <p:sp>
        <p:nvSpPr>
          <p:cNvPr id="13" name="Shape 11"/>
          <p:cNvSpPr/>
          <p:nvPr/>
        </p:nvSpPr>
        <p:spPr>
          <a:xfrm>
            <a:off x="731520" y="1645920"/>
            <a:ext cx="54864" cy="2926080"/>
          </a:xfrm>
          <a:prstGeom prst="rect">
            <a:avLst/>
          </a:prstGeom>
          <a:solidFill>
            <a:srgbClr val="2563EB"/>
          </a:solidFill>
          <a:ln w="12700">
            <a:solidFill>
              <a:srgbClr val="333333"/>
            </a:solidFill>
            <a:prstDash val="solid"/>
          </a:ln>
        </p:spPr>
      </p:sp>
      <p:sp>
        <p:nvSpPr>
          <p:cNvPr id="14" name="Text 12"/>
          <p:cNvSpPr/>
          <p:nvPr/>
        </p:nvSpPr>
        <p:spPr>
          <a:xfrm>
            <a:off x="1005840" y="1645920"/>
            <a:ext cx="7772400" cy="274320"/>
          </a:xfrm>
          <a:prstGeom prst="rect">
            <a:avLst/>
          </a:prstGeom>
          <a:noFill/>
          <a:ln/>
        </p:spPr>
        <p:txBody>
          <a:bodyPr wrap="square" lIns="0" tIns="0" rIns="0" bIns="0" rtlCol="0" anchor="ctr"/>
          <a:lstStyle/>
          <a:p>
            <a:pPr indent="0" marL="0">
              <a:buNone/>
            </a:pPr>
            <a:r>
              <a:rPr lang="en-US" sz="1200" b="1" spc="200" kern="0" dirty="0">
                <a:solidFill>
                  <a:srgbClr val="2563EB"/>
                </a:solidFill>
                <a:latin typeface="Calibri" pitchFamily="34" charset="0"/>
                <a:ea typeface="Calibri" pitchFamily="34" charset="-122"/>
                <a:cs typeface="Calibri" pitchFamily="34" charset="-120"/>
              </a:rPr>
              <a:t>LINGORA ARCHITECTURE SPECIFICATION</a:t>
            </a:r>
            <a:endParaRPr lang="en-US" sz="1200" dirty="0"/>
          </a:p>
        </p:txBody>
      </p:sp>
      <p:sp>
        <p:nvSpPr>
          <p:cNvPr id="15" name="Text 13"/>
          <p:cNvSpPr/>
          <p:nvPr/>
        </p:nvSpPr>
        <p:spPr>
          <a:xfrm>
            <a:off x="1005840" y="2011680"/>
            <a:ext cx="7772400" cy="822960"/>
          </a:xfrm>
          <a:prstGeom prst="rect">
            <a:avLst/>
          </a:prstGeom>
          <a:noFill/>
          <a:ln/>
        </p:spPr>
        <p:txBody>
          <a:bodyPr wrap="square" lIns="0" tIns="0" rIns="0" bIns="0"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Phân Tích &amp; Mô Hình Hóa Hệ Thống</a:t>
            </a:r>
            <a:endParaRPr lang="en-US" sz="3400" dirty="0"/>
          </a:p>
        </p:txBody>
      </p:sp>
      <p:sp>
        <p:nvSpPr>
          <p:cNvPr id="16" name="Text 14"/>
          <p:cNvSpPr/>
          <p:nvPr/>
        </p:nvSpPr>
        <p:spPr>
          <a:xfrm>
            <a:off x="1005840" y="2926080"/>
            <a:ext cx="777240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Use Case Diagram  ·  Activity Flow  ·  Domain Class Model  ·  Traceability Matrix</a:t>
            </a:r>
            <a:endParaRPr lang="en-US" sz="1300" dirty="0"/>
          </a:p>
        </p:txBody>
      </p:sp>
      <p:sp>
        <p:nvSpPr>
          <p:cNvPr id="17" name="Text 15"/>
          <p:cNvSpPr/>
          <p:nvPr/>
        </p:nvSpPr>
        <p:spPr>
          <a:xfrm>
            <a:off x="1005840" y="3840480"/>
            <a:ext cx="77724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Tài liệu Kỹ thuật Phần mềm — Phase 1 Locked Baseline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000" b="1" spc="150" kern="0" dirty="0">
                <a:solidFill>
                  <a:srgbClr val="2563EB"/>
                </a:solidFill>
                <a:latin typeface="Calibri" pitchFamily="34" charset="0"/>
                <a:ea typeface="Calibri" pitchFamily="34" charset="-122"/>
                <a:cs typeface="Calibri" pitchFamily="34" charset="-120"/>
              </a:rPr>
              <a:t>KIẾN TRÚC HỆ THỐNG</a:t>
            </a:r>
            <a:endParaRPr lang="en-US" sz="1000" dirty="0"/>
          </a:p>
        </p:txBody>
      </p:sp>
      <p:sp>
        <p:nvSpPr>
          <p:cNvPr id="3" name="Text 1"/>
          <p:cNvSpPr/>
          <p:nvPr/>
        </p:nvSpPr>
        <p:spPr>
          <a:xfrm>
            <a:off x="731520" y="566928"/>
            <a:ext cx="9601200" cy="411480"/>
          </a:xfrm>
          <a:prstGeom prst="rect">
            <a:avLst/>
          </a:prstGeom>
          <a:noFill/>
          <a:ln/>
        </p:spPr>
        <p:txBody>
          <a:bodyPr wrap="square" lIns="0" tIns="0" rIns="0" bIns="0"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Tổng Quan Phân Hệ &amp; Ranh Giới Phạm Vi</a:t>
            </a:r>
            <a:endParaRPr lang="en-US" sz="2100" dirty="0"/>
          </a:p>
        </p:txBody>
      </p:sp>
      <p:sp>
        <p:nvSpPr>
          <p:cNvPr id="4" name="Text 2"/>
          <p:cNvSpPr/>
          <p:nvPr/>
        </p:nvSpPr>
        <p:spPr>
          <a:xfrm>
            <a:off x="10515600" y="365760"/>
            <a:ext cx="91440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02 / 12</a:t>
            </a:r>
            <a:endParaRPr lang="en-US" sz="1100" dirty="0"/>
          </a:p>
        </p:txBody>
      </p:sp>
      <p:sp>
        <p:nvSpPr>
          <p:cNvPr id="5" name="Shape 3"/>
          <p:cNvSpPr/>
          <p:nvPr/>
        </p:nvSpPr>
        <p:spPr>
          <a:xfrm>
            <a:off x="731520" y="1143000"/>
            <a:ext cx="3337560" cy="4114800"/>
          </a:xfrm>
          <a:prstGeom prst="rect">
            <a:avLst/>
          </a:prstGeom>
          <a:solidFill>
            <a:srgbClr val="FFFFFF"/>
          </a:solidFill>
          <a:ln w="12700">
            <a:solidFill>
              <a:srgbClr val="E2E8F0"/>
            </a:solidFill>
            <a:prstDash val="solid"/>
          </a:ln>
        </p:spPr>
      </p:sp>
      <p:sp>
        <p:nvSpPr>
          <p:cNvPr id="6" name="Text 4"/>
          <p:cNvSpPr/>
          <p:nvPr/>
        </p:nvSpPr>
        <p:spPr>
          <a:xfrm>
            <a:off x="960120" y="1325880"/>
            <a:ext cx="288036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01  ·  LEARNING SUBSYSTEM</a:t>
            </a:r>
            <a:endParaRPr lang="en-US" sz="1200" dirty="0"/>
          </a:p>
        </p:txBody>
      </p:sp>
      <p:sp>
        <p:nvSpPr>
          <p:cNvPr id="7" name="Text 5"/>
          <p:cNvSpPr/>
          <p:nvPr/>
        </p:nvSpPr>
        <p:spPr>
          <a:xfrm>
            <a:off x="960120" y="1664208"/>
            <a:ext cx="2880360" cy="22860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Trải nghiệm học tập &amp; củng cố</a:t>
            </a:r>
            <a:endParaRPr lang="en-US" sz="1000" dirty="0"/>
          </a:p>
        </p:txBody>
      </p:sp>
      <p:sp>
        <p:nvSpPr>
          <p:cNvPr id="8" name="Shape 6"/>
          <p:cNvSpPr/>
          <p:nvPr/>
        </p:nvSpPr>
        <p:spPr>
          <a:xfrm>
            <a:off x="960120" y="1965960"/>
            <a:ext cx="2880360" cy="13716"/>
          </a:xfrm>
          <a:prstGeom prst="rect">
            <a:avLst/>
          </a:prstGeom>
          <a:solidFill>
            <a:srgbClr val="E2E8F0"/>
          </a:solidFill>
          <a:ln w="12700">
            <a:solidFill>
              <a:srgbClr val="333333"/>
            </a:solidFill>
            <a:prstDash val="solid"/>
          </a:ln>
        </p:spPr>
      </p:sp>
      <p:sp>
        <p:nvSpPr>
          <p:cNvPr id="9" name="Text 7"/>
          <p:cNvSpPr/>
          <p:nvPr/>
        </p:nvSpPr>
        <p:spPr>
          <a:xfrm>
            <a:off x="868680" y="2057400"/>
            <a:ext cx="3017520" cy="3017520"/>
          </a:xfrm>
          <a:prstGeom prst="rect">
            <a:avLst/>
          </a:prstGeom>
          <a:noFill/>
          <a:ln/>
        </p:spPr>
        <p:txBody>
          <a:bodyPr wrap="square" lIns="0" tIns="63500" rIns="63500" bIns="0" rtlCol="0" anchor="t"/>
          <a:lstStyle/>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[UC-01] Xác thực phiên &amp; phân quyền người dùng</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[UC-02] Cài đặt mục tiêu học tập hằng ngày</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[UC-03] Kiểm tra chẩn đoán xếp lớp đầu vào</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[UC-04] Duyệt lộ trình học &amp; thử thách Jump</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[UC-05] Xem bài học (Viewer) &amp; làm bài tập tương tác</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[UC-06] Ôn tập từ vựng ngắt quãng theo SRS Policy B</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[UC-07] Theo dõi tiến độ học tập &amp; chuỗi ngày Streak</a:t>
            </a:r>
            <a:endParaRPr lang="en-US" sz="950" dirty="0"/>
          </a:p>
        </p:txBody>
      </p:sp>
      <p:sp>
        <p:nvSpPr>
          <p:cNvPr id="10" name="Shape 8"/>
          <p:cNvSpPr/>
          <p:nvPr/>
        </p:nvSpPr>
        <p:spPr>
          <a:xfrm>
            <a:off x="4425696" y="1143000"/>
            <a:ext cx="3337560" cy="4114800"/>
          </a:xfrm>
          <a:prstGeom prst="rect">
            <a:avLst/>
          </a:prstGeom>
          <a:solidFill>
            <a:srgbClr val="FFFFFF"/>
          </a:solidFill>
          <a:ln w="12700">
            <a:solidFill>
              <a:srgbClr val="E2E8F0"/>
            </a:solidFill>
            <a:prstDash val="solid"/>
          </a:ln>
        </p:spPr>
      </p:sp>
      <p:sp>
        <p:nvSpPr>
          <p:cNvPr id="11" name="Text 9"/>
          <p:cNvSpPr/>
          <p:nvPr/>
        </p:nvSpPr>
        <p:spPr>
          <a:xfrm>
            <a:off x="4654296" y="1325880"/>
            <a:ext cx="288036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02  ·  CONTENT SUBSYSTEM</a:t>
            </a:r>
            <a:endParaRPr lang="en-US" sz="1200" dirty="0"/>
          </a:p>
        </p:txBody>
      </p:sp>
      <p:sp>
        <p:nvSpPr>
          <p:cNvPr id="12" name="Text 10"/>
          <p:cNvSpPr/>
          <p:nvPr/>
        </p:nvSpPr>
        <p:spPr>
          <a:xfrm>
            <a:off x="4654296" y="1664208"/>
            <a:ext cx="2880360" cy="22860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Biên soạn, duyệt &amp; quản lý phiên bản</a:t>
            </a:r>
            <a:endParaRPr lang="en-US" sz="1000" dirty="0"/>
          </a:p>
        </p:txBody>
      </p:sp>
      <p:sp>
        <p:nvSpPr>
          <p:cNvPr id="13" name="Shape 11"/>
          <p:cNvSpPr/>
          <p:nvPr/>
        </p:nvSpPr>
        <p:spPr>
          <a:xfrm>
            <a:off x="4654296" y="1965960"/>
            <a:ext cx="2880360" cy="13716"/>
          </a:xfrm>
          <a:prstGeom prst="rect">
            <a:avLst/>
          </a:prstGeom>
          <a:solidFill>
            <a:srgbClr val="E2E8F0"/>
          </a:solidFill>
          <a:ln w="12700">
            <a:solidFill>
              <a:srgbClr val="333333"/>
            </a:solidFill>
            <a:prstDash val="solid"/>
          </a:ln>
        </p:spPr>
      </p:sp>
      <p:sp>
        <p:nvSpPr>
          <p:cNvPr id="14" name="Text 12"/>
          <p:cNvSpPr/>
          <p:nvPr/>
        </p:nvSpPr>
        <p:spPr>
          <a:xfrm>
            <a:off x="4562856" y="2057400"/>
            <a:ext cx="3017520" cy="3017520"/>
          </a:xfrm>
          <a:prstGeom prst="rect">
            <a:avLst/>
          </a:prstGeom>
          <a:noFill/>
          <a:ln/>
        </p:spPr>
        <p:txBody>
          <a:bodyPr wrap="square" lIns="0" tIns="63500" rIns="63500" bIns="0" rtlCol="0" anchor="t"/>
          <a:lstStyle/>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[UC-08] Soạn thảo bài học, bài tập &amp; từ vựng đi kèm</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[UC-09] Kiểm duyệt độc lập &amp; yêu cầu chỉnh sửa</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[UC-10] Xuất bản bài học đã duyệt ra hệ thống</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[Rule] Clone-to-Draft v2 bảo toàn bài đang phát hành</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[Rule] Điều kiện hiển thị Unit: đủ 4/4 Lesson Published</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[Rule] Phân tách nhiệm vụ SoD: Creator không tự duyệt</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[Admin] Xuất bản khẩn cấp bài Approved (kèm AuditLog)</a:t>
            </a:r>
            <a:endParaRPr lang="en-US" sz="950" dirty="0"/>
          </a:p>
        </p:txBody>
      </p:sp>
      <p:sp>
        <p:nvSpPr>
          <p:cNvPr id="15" name="Shape 13"/>
          <p:cNvSpPr/>
          <p:nvPr/>
        </p:nvSpPr>
        <p:spPr>
          <a:xfrm>
            <a:off x="8119872" y="1143000"/>
            <a:ext cx="3337560" cy="4114800"/>
          </a:xfrm>
          <a:prstGeom prst="rect">
            <a:avLst/>
          </a:prstGeom>
          <a:solidFill>
            <a:srgbClr val="FFFFFF"/>
          </a:solidFill>
          <a:ln w="12700">
            <a:solidFill>
              <a:srgbClr val="E2E8F0"/>
            </a:solidFill>
            <a:prstDash val="solid"/>
          </a:ln>
        </p:spPr>
      </p:sp>
      <p:sp>
        <p:nvSpPr>
          <p:cNvPr id="16" name="Text 14"/>
          <p:cNvSpPr/>
          <p:nvPr/>
        </p:nvSpPr>
        <p:spPr>
          <a:xfrm>
            <a:off x="8348472" y="1325880"/>
            <a:ext cx="2880360" cy="32004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03  ·  ADMIN &amp; OPERATIONS</a:t>
            </a:r>
            <a:endParaRPr lang="en-US" sz="1200" dirty="0"/>
          </a:p>
        </p:txBody>
      </p:sp>
      <p:sp>
        <p:nvSpPr>
          <p:cNvPr id="17" name="Text 15"/>
          <p:cNvSpPr/>
          <p:nvPr/>
        </p:nvSpPr>
        <p:spPr>
          <a:xfrm>
            <a:off x="8348472" y="1664208"/>
            <a:ext cx="2880360" cy="22860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Vận hành, kiểm toán &amp; điều phối</a:t>
            </a:r>
            <a:endParaRPr lang="en-US" sz="1000" dirty="0"/>
          </a:p>
        </p:txBody>
      </p:sp>
      <p:sp>
        <p:nvSpPr>
          <p:cNvPr id="18" name="Shape 16"/>
          <p:cNvSpPr/>
          <p:nvPr/>
        </p:nvSpPr>
        <p:spPr>
          <a:xfrm>
            <a:off x="8348472" y="1965960"/>
            <a:ext cx="2880360" cy="13716"/>
          </a:xfrm>
          <a:prstGeom prst="rect">
            <a:avLst/>
          </a:prstGeom>
          <a:solidFill>
            <a:srgbClr val="E2E8F0"/>
          </a:solidFill>
          <a:ln w="12700">
            <a:solidFill>
              <a:srgbClr val="333333"/>
            </a:solidFill>
            <a:prstDash val="solid"/>
          </a:ln>
        </p:spPr>
      </p:sp>
      <p:sp>
        <p:nvSpPr>
          <p:cNvPr id="19" name="Text 17"/>
          <p:cNvSpPr/>
          <p:nvPr/>
        </p:nvSpPr>
        <p:spPr>
          <a:xfrm>
            <a:off x="8257032" y="2057400"/>
            <a:ext cx="3017520" cy="3017520"/>
          </a:xfrm>
          <a:prstGeom prst="rect">
            <a:avLst/>
          </a:prstGeom>
          <a:noFill/>
          <a:ln/>
        </p:spPr>
        <p:txBody>
          <a:bodyPr wrap="square" lIns="0" tIns="63500" rIns="63500" bIns="0" rtlCol="0" anchor="t"/>
          <a:lstStyle/>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[UC-11] Quản trị tài khoản &amp; 6 vai trò hệ thống</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[UC-12] Xem báo cáo &amp; thống kê vận hành</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[UC-13] Tra cứu nhật ký kiểm toán an ninh AuditLog</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[UC-14] Tiếp nhận &amp; điều phối xử lý phiếu hỗ trợ</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[UC-15] Quản lý nhóm học viên &amp; tiến độ lớp học</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[Rule] Tiến độ (UserProgress) tách rời Năng lực (SkillProfile)</a:t>
            </a:r>
            <a:endParaRPr lang="en-US" sz="950" dirty="0"/>
          </a:p>
          <a:p>
            <a:pPr marL="342900" indent="-342900">
              <a:spcAft>
                <a:spcPts val="500"/>
              </a:spcAft>
              <a:buSzPct val="100000"/>
              <a:buChar char="•"/>
            </a:pPr>
            <a:r>
              <a:rPr lang="en-US" sz="950" dirty="0">
                <a:solidFill>
                  <a:srgbClr val="334155"/>
                </a:solidFill>
                <a:latin typeface="Calibri" pitchFamily="34" charset="0"/>
                <a:ea typeface="Calibri" pitchFamily="34" charset="-122"/>
                <a:cs typeface="Calibri" pitchFamily="34" charset="-120"/>
              </a:rPr>
              <a:t>[Rule] Mọi thao tác quản trị quan trọng đều lưu AuditLog</a:t>
            </a:r>
            <a:endParaRPr lang="en-US" sz="950" dirty="0"/>
          </a:p>
        </p:txBody>
      </p:sp>
      <p:sp>
        <p:nvSpPr>
          <p:cNvPr id="20" name="Shape 18"/>
          <p:cNvSpPr/>
          <p:nvPr/>
        </p:nvSpPr>
        <p:spPr>
          <a:xfrm>
            <a:off x="731520" y="5440680"/>
            <a:ext cx="10728655" cy="960120"/>
          </a:xfrm>
          <a:prstGeom prst="rect">
            <a:avLst/>
          </a:prstGeom>
          <a:solidFill>
            <a:srgbClr val="F1F5F9"/>
          </a:solidFill>
          <a:ln w="12700">
            <a:solidFill>
              <a:srgbClr val="E2E8F0"/>
            </a:solidFill>
            <a:prstDash val="solid"/>
          </a:ln>
        </p:spPr>
      </p:sp>
      <p:sp>
        <p:nvSpPr>
          <p:cNvPr id="21" name="Text 19"/>
          <p:cNvSpPr/>
          <p:nvPr/>
        </p:nvSpPr>
        <p:spPr>
          <a:xfrm>
            <a:off x="960120" y="5532120"/>
            <a:ext cx="5486400" cy="228600"/>
          </a:xfrm>
          <a:prstGeom prst="rect">
            <a:avLst/>
          </a:prstGeom>
          <a:noFill/>
          <a:ln/>
        </p:spPr>
        <p:txBody>
          <a:bodyPr wrap="square" lIns="0" tIns="0" rIns="0" bIns="0" rtlCol="0" anchor="ctr"/>
          <a:lstStyle/>
          <a:p>
            <a:pPr indent="0" marL="0">
              <a:buNone/>
            </a:pPr>
            <a:r>
              <a:rPr lang="en-US" sz="1000" b="1" spc="100" kern="0" dirty="0">
                <a:solidFill>
                  <a:srgbClr val="2563EB"/>
                </a:solidFill>
                <a:latin typeface="Calibri" pitchFamily="34" charset="0"/>
                <a:ea typeface="Calibri" pitchFamily="34" charset="-122"/>
                <a:cs typeface="Calibri" pitchFamily="34" charset="-120"/>
              </a:rPr>
              <a:t>6 VAI TRÒ &amp; PHẠM VI QUYỀN HẠN</a:t>
            </a:r>
            <a:endParaRPr lang="en-US" sz="1000" dirty="0"/>
          </a:p>
        </p:txBody>
      </p:sp>
      <p:sp>
        <p:nvSpPr>
          <p:cNvPr id="22" name="Text 20"/>
          <p:cNvSpPr/>
          <p:nvPr/>
        </p:nvSpPr>
        <p:spPr>
          <a:xfrm>
            <a:off x="960120" y="5779008"/>
            <a:ext cx="10058400" cy="22860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6 vai trò hệ thống:  </a:t>
            </a:r>
            <a:pPr indent="0" marL="0">
              <a:buNone/>
            </a:pPr>
            <a:r>
              <a:rPr lang="en-US" sz="1000" dirty="0">
                <a:solidFill>
                  <a:srgbClr val="334155"/>
                </a:solidFill>
                <a:latin typeface="Calibri" pitchFamily="34" charset="0"/>
                <a:ea typeface="Calibri" pitchFamily="34" charset="-122"/>
                <a:cs typeface="Calibri" pitchFamily="34" charset="-120"/>
              </a:rPr>
              <a:t>Learner  ·  Lesson Creator  ·  Moderator  ·  Org Manager  ·  Operations Staff  ·  Administrator</a:t>
            </a:r>
            <a:endParaRPr lang="en-US" sz="1000" dirty="0"/>
          </a:p>
        </p:txBody>
      </p:sp>
      <p:sp>
        <p:nvSpPr>
          <p:cNvPr id="23" name="Text 21"/>
          <p:cNvSpPr/>
          <p:nvPr/>
        </p:nvSpPr>
        <p:spPr>
          <a:xfrm>
            <a:off x="960120" y="6035040"/>
            <a:ext cx="10058400" cy="2286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Phân định scope: UC-14 (Phiếu hỗ trợ) thuộc MVP điều phối; UC-15 (Quản lý nhóm) thuộc phạm vi mở rộng tương lai (Future Extension).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000" b="1" spc="150" kern="0" dirty="0">
                <a:solidFill>
                  <a:srgbClr val="2563EB"/>
                </a:solidFill>
                <a:latin typeface="Calibri" pitchFamily="34" charset="0"/>
                <a:ea typeface="Calibri" pitchFamily="34" charset="-122"/>
                <a:cs typeface="Calibri" pitchFamily="34" charset="-120"/>
              </a:rPr>
              <a:t>CA SỬ DỤNG HỆ THỐNG</a:t>
            </a:r>
            <a:endParaRPr lang="en-US" sz="1000" dirty="0"/>
          </a:p>
        </p:txBody>
      </p:sp>
      <p:sp>
        <p:nvSpPr>
          <p:cNvPr id="3" name="Text 1"/>
          <p:cNvSpPr/>
          <p:nvPr/>
        </p:nvSpPr>
        <p:spPr>
          <a:xfrm>
            <a:off x="731520" y="566928"/>
            <a:ext cx="9601200" cy="411480"/>
          </a:xfrm>
          <a:prstGeom prst="rect">
            <a:avLst/>
          </a:prstGeom>
          <a:noFill/>
          <a:ln/>
        </p:spPr>
        <p:txBody>
          <a:bodyPr wrap="square" lIns="0" tIns="0" rIns="0" bIns="0"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Sơ Đồ Ca Sử Dụng Tổng Quan (Overall Use Case Diagram)</a:t>
            </a:r>
            <a:endParaRPr lang="en-US" sz="2100" dirty="0"/>
          </a:p>
        </p:txBody>
      </p:sp>
      <p:sp>
        <p:nvSpPr>
          <p:cNvPr id="4" name="Text 2"/>
          <p:cNvSpPr/>
          <p:nvPr/>
        </p:nvSpPr>
        <p:spPr>
          <a:xfrm>
            <a:off x="10515600" y="365760"/>
            <a:ext cx="91440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03 / 12</a:t>
            </a:r>
            <a:endParaRPr lang="en-US" sz="1100" dirty="0"/>
          </a:p>
        </p:txBody>
      </p:sp>
      <p:sp>
        <p:nvSpPr>
          <p:cNvPr id="5" name="Shape 3"/>
          <p:cNvSpPr/>
          <p:nvPr/>
        </p:nvSpPr>
        <p:spPr>
          <a:xfrm>
            <a:off x="731520" y="1143000"/>
            <a:ext cx="777240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rcRect l="0" r="0" t="0" b="0"/>
          <a:stretch/>
        </p:blipFill>
        <p:spPr>
          <a:xfrm>
            <a:off x="822960" y="1234440"/>
            <a:ext cx="7589520" cy="5074920"/>
          </a:xfrm>
          <a:prstGeom prst="rect">
            <a:avLst/>
          </a:prstGeom>
        </p:spPr>
      </p:pic>
      <p:sp>
        <p:nvSpPr>
          <p:cNvPr id="7" name="Shape 4"/>
          <p:cNvSpPr/>
          <p:nvPr/>
        </p:nvSpPr>
        <p:spPr>
          <a:xfrm>
            <a:off x="8686800" y="1143000"/>
            <a:ext cx="2773375" cy="5257800"/>
          </a:xfrm>
          <a:prstGeom prst="rect">
            <a:avLst/>
          </a:prstGeom>
          <a:solidFill>
            <a:srgbClr val="FFFFFF"/>
          </a:solidFill>
          <a:ln w="12700">
            <a:solidFill>
              <a:srgbClr val="E2E8F0"/>
            </a:solidFill>
            <a:prstDash val="solid"/>
          </a:ln>
        </p:spPr>
      </p:sp>
      <p:sp>
        <p:nvSpPr>
          <p:cNvPr id="8" name="Text 5"/>
          <p:cNvSpPr/>
          <p:nvPr/>
        </p:nvSpPr>
        <p:spPr>
          <a:xfrm>
            <a:off x="8915400" y="1325880"/>
            <a:ext cx="2286000" cy="274320"/>
          </a:xfrm>
          <a:prstGeom prst="rect">
            <a:avLst/>
          </a:prstGeom>
          <a:noFill/>
          <a:ln/>
        </p:spPr>
        <p:txBody>
          <a:bodyPr wrap="square" lIns="0" tIns="0" rIns="0" bIns="0" rtlCol="0" anchor="ctr"/>
          <a:lstStyle/>
          <a:p>
            <a:pPr indent="0" marL="0">
              <a:buNone/>
            </a:pPr>
            <a:r>
              <a:rPr lang="en-US" sz="1050" b="1" spc="100" kern="0" dirty="0">
                <a:solidFill>
                  <a:srgbClr val="2563EB"/>
                </a:solidFill>
                <a:latin typeface="Calibri" pitchFamily="34" charset="0"/>
                <a:ea typeface="Calibri" pitchFamily="34" charset="-122"/>
                <a:cs typeface="Calibri" pitchFamily="34" charset="-120"/>
              </a:rPr>
              <a:t>ĐIỂM NHẤN KIẾN TRÚC</a:t>
            </a:r>
            <a:endParaRPr lang="en-US" sz="1050" dirty="0"/>
          </a:p>
        </p:txBody>
      </p:sp>
      <p:sp>
        <p:nvSpPr>
          <p:cNvPr id="9" name="Text 6"/>
          <p:cNvSpPr/>
          <p:nvPr/>
        </p:nvSpPr>
        <p:spPr>
          <a:xfrm>
            <a:off x="8915400" y="1783080"/>
            <a:ext cx="2331720" cy="22860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 Kế thừa Authenticated User</a:t>
            </a:r>
            <a:endParaRPr lang="en-US" sz="1000" dirty="0"/>
          </a:p>
        </p:txBody>
      </p:sp>
      <p:sp>
        <p:nvSpPr>
          <p:cNvPr id="10" name="Text 7"/>
          <p:cNvSpPr/>
          <p:nvPr/>
        </p:nvSpPr>
        <p:spPr>
          <a:xfrm>
            <a:off x="9098280" y="2039112"/>
            <a:ext cx="2148840" cy="594360"/>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6 vai trò đều kế thừa từ Authenticated User để dùng chung cơ chế phiên và xác thực [UC-01].</a:t>
            </a:r>
            <a:endParaRPr lang="en-US" sz="950" dirty="0"/>
          </a:p>
        </p:txBody>
      </p:sp>
      <p:sp>
        <p:nvSpPr>
          <p:cNvPr id="11" name="Text 8"/>
          <p:cNvSpPr/>
          <p:nvPr/>
        </p:nvSpPr>
        <p:spPr>
          <a:xfrm>
            <a:off x="8915400" y="2660904"/>
            <a:ext cx="2331720" cy="22860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 Tách riêng 3 phân hệ</a:t>
            </a:r>
            <a:endParaRPr lang="en-US" sz="1000" dirty="0"/>
          </a:p>
        </p:txBody>
      </p:sp>
      <p:sp>
        <p:nvSpPr>
          <p:cNvPr id="12" name="Text 9"/>
          <p:cNvSpPr/>
          <p:nvPr/>
        </p:nvSpPr>
        <p:spPr>
          <a:xfrm>
            <a:off x="9098280" y="2916936"/>
            <a:ext cx="2148840" cy="594360"/>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Phân định rõ ranh giới giữa Học tập (Learner), Quản trị nội dung (Content) và Vận hành (Admin/Ops).</a:t>
            </a:r>
            <a:endParaRPr lang="en-US" sz="950" dirty="0"/>
          </a:p>
        </p:txBody>
      </p:sp>
      <p:sp>
        <p:nvSpPr>
          <p:cNvPr id="13" name="Text 10"/>
          <p:cNvSpPr/>
          <p:nvPr/>
        </p:nvSpPr>
        <p:spPr>
          <a:xfrm>
            <a:off x="8915400" y="3538728"/>
            <a:ext cx="2331720" cy="22860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 Quyền xuất bản chính thức</a:t>
            </a:r>
            <a:endParaRPr lang="en-US" sz="1000" dirty="0"/>
          </a:p>
        </p:txBody>
      </p:sp>
      <p:sp>
        <p:nvSpPr>
          <p:cNvPr id="14" name="Text 11"/>
          <p:cNvSpPr/>
          <p:nvPr/>
        </p:nvSpPr>
        <p:spPr>
          <a:xfrm>
            <a:off x="9098280" y="3794760"/>
            <a:ext cx="2148840" cy="594360"/>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Chỉ Org Manager có quyền Publish [UC-10]. Admin chỉ xuất bản khẩn cấp khi có lý do và lưu AuditLog.</a:t>
            </a:r>
            <a:endParaRPr lang="en-US" sz="950" dirty="0"/>
          </a:p>
        </p:txBody>
      </p:sp>
      <p:sp>
        <p:nvSpPr>
          <p:cNvPr id="15" name="Text 12"/>
          <p:cNvSpPr/>
          <p:nvPr/>
        </p:nvSpPr>
        <p:spPr>
          <a:xfrm>
            <a:off x="8915400" y="4416552"/>
            <a:ext cx="2331720" cy="22860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 Ranh giới phạm vi (Scope)</a:t>
            </a:r>
            <a:endParaRPr lang="en-US" sz="1000" dirty="0"/>
          </a:p>
        </p:txBody>
      </p:sp>
      <p:sp>
        <p:nvSpPr>
          <p:cNvPr id="16" name="Text 13"/>
          <p:cNvSpPr/>
          <p:nvPr/>
        </p:nvSpPr>
        <p:spPr>
          <a:xfrm>
            <a:off x="9098280" y="4672584"/>
            <a:ext cx="2148840" cy="594360"/>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UC-14 (Phiếu hỗ trợ) thuộc MVP điều phối. UC-15 (Quản lý nhóm) nằm trong nhóm mở rộng tương lai.</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000" b="1" spc="150" kern="0" dirty="0">
                <a:solidFill>
                  <a:srgbClr val="2563EB"/>
                </a:solidFill>
                <a:latin typeface="Calibri" pitchFamily="34" charset="0"/>
                <a:ea typeface="Calibri" pitchFamily="34" charset="-122"/>
                <a:cs typeface="Calibri" pitchFamily="34" charset="-120"/>
              </a:rPr>
              <a:t>PHÂN HỆ HỌC VIÊN</a:t>
            </a:r>
            <a:endParaRPr lang="en-US" sz="1000" dirty="0"/>
          </a:p>
        </p:txBody>
      </p:sp>
      <p:sp>
        <p:nvSpPr>
          <p:cNvPr id="3" name="Text 1"/>
          <p:cNvSpPr/>
          <p:nvPr/>
        </p:nvSpPr>
        <p:spPr>
          <a:xfrm>
            <a:off x="731520" y="566928"/>
            <a:ext cx="9601200" cy="411480"/>
          </a:xfrm>
          <a:prstGeom prst="rect">
            <a:avLst/>
          </a:prstGeom>
          <a:noFill/>
          <a:ln/>
        </p:spPr>
        <p:txBody>
          <a:bodyPr wrap="square" lIns="0" tIns="0" rIns="0" bIns="0"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Sơ Đồ Ca Sử Dụng Chi Tiết — Phân Hệ Học Viên (Learner)</a:t>
            </a:r>
            <a:endParaRPr lang="en-US" sz="2100" dirty="0"/>
          </a:p>
        </p:txBody>
      </p:sp>
      <p:sp>
        <p:nvSpPr>
          <p:cNvPr id="4" name="Text 2"/>
          <p:cNvSpPr/>
          <p:nvPr/>
        </p:nvSpPr>
        <p:spPr>
          <a:xfrm>
            <a:off x="10515600" y="365760"/>
            <a:ext cx="91440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04 / 12</a:t>
            </a:r>
            <a:endParaRPr lang="en-US" sz="1100" dirty="0"/>
          </a:p>
        </p:txBody>
      </p:sp>
      <p:sp>
        <p:nvSpPr>
          <p:cNvPr id="5" name="Shape 3"/>
          <p:cNvSpPr/>
          <p:nvPr/>
        </p:nvSpPr>
        <p:spPr>
          <a:xfrm>
            <a:off x="731520" y="1143000"/>
            <a:ext cx="777240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rcRect l="0" r="0" t="0" b="0"/>
          <a:stretch/>
        </p:blipFill>
        <p:spPr>
          <a:xfrm>
            <a:off x="822960" y="1234440"/>
            <a:ext cx="7589520" cy="5074920"/>
          </a:xfrm>
          <a:prstGeom prst="rect">
            <a:avLst/>
          </a:prstGeom>
        </p:spPr>
      </p:pic>
      <p:sp>
        <p:nvSpPr>
          <p:cNvPr id="7" name="Shape 4"/>
          <p:cNvSpPr/>
          <p:nvPr/>
        </p:nvSpPr>
        <p:spPr>
          <a:xfrm>
            <a:off x="8686800" y="1143000"/>
            <a:ext cx="2773375" cy="5257800"/>
          </a:xfrm>
          <a:prstGeom prst="rect">
            <a:avLst/>
          </a:prstGeom>
          <a:solidFill>
            <a:srgbClr val="FFFFFF"/>
          </a:solidFill>
          <a:ln w="12700">
            <a:solidFill>
              <a:srgbClr val="E2E8F0"/>
            </a:solidFill>
            <a:prstDash val="solid"/>
          </a:ln>
        </p:spPr>
      </p:sp>
      <p:sp>
        <p:nvSpPr>
          <p:cNvPr id="8" name="Text 5"/>
          <p:cNvSpPr/>
          <p:nvPr/>
        </p:nvSpPr>
        <p:spPr>
          <a:xfrm>
            <a:off x="8915400" y="1325880"/>
            <a:ext cx="2286000" cy="274320"/>
          </a:xfrm>
          <a:prstGeom prst="rect">
            <a:avLst/>
          </a:prstGeom>
          <a:noFill/>
          <a:ln/>
        </p:spPr>
        <p:txBody>
          <a:bodyPr wrap="square" lIns="0" tIns="0" rIns="0" bIns="0" rtlCol="0" anchor="ctr"/>
          <a:lstStyle/>
          <a:p>
            <a:pPr indent="0" marL="0">
              <a:buNone/>
            </a:pPr>
            <a:r>
              <a:rPr lang="en-US" sz="1050" b="1" spc="100" kern="0" dirty="0">
                <a:solidFill>
                  <a:srgbClr val="2563EB"/>
                </a:solidFill>
                <a:latin typeface="Calibri" pitchFamily="34" charset="0"/>
                <a:ea typeface="Calibri" pitchFamily="34" charset="-122"/>
                <a:cs typeface="Calibri" pitchFamily="34" charset="-120"/>
              </a:rPr>
              <a:t>QUY TẮC NGHIỆP VỤ HỌC VIÊN</a:t>
            </a:r>
            <a:endParaRPr lang="en-US" sz="1050" dirty="0"/>
          </a:p>
        </p:txBody>
      </p:sp>
      <p:sp>
        <p:nvSpPr>
          <p:cNvPr id="9" name="Text 6"/>
          <p:cNvSpPr/>
          <p:nvPr/>
        </p:nvSpPr>
        <p:spPr>
          <a:xfrm>
            <a:off x="8915400" y="1783080"/>
            <a:ext cx="2331720" cy="22860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 Bắt buộc xem lý thuyết</a:t>
            </a:r>
            <a:endParaRPr lang="en-US" sz="1000" dirty="0"/>
          </a:p>
        </p:txBody>
      </p:sp>
      <p:sp>
        <p:nvSpPr>
          <p:cNvPr id="10" name="Text 7"/>
          <p:cNvSpPr/>
          <p:nvPr/>
        </p:nvSpPr>
        <p:spPr>
          <a:xfrm>
            <a:off x="9098280" y="2039112"/>
            <a:ext cx="2148840" cy="594360"/>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Lesson Content Viewer được include vào UC-05; học viên phải xem lý thuyết/từ vựng trước khi làm bài tập.</a:t>
            </a:r>
            <a:endParaRPr lang="en-US" sz="950" dirty="0"/>
          </a:p>
        </p:txBody>
      </p:sp>
      <p:sp>
        <p:nvSpPr>
          <p:cNvPr id="11" name="Text 8"/>
          <p:cNvSpPr/>
          <p:nvPr/>
        </p:nvSpPr>
        <p:spPr>
          <a:xfrm>
            <a:off x="8915400" y="2660904"/>
            <a:ext cx="2331720" cy="22860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 Làm lại có kiểm soát (Retry)</a:t>
            </a:r>
            <a:endParaRPr lang="en-US" sz="1000" dirty="0"/>
          </a:p>
        </p:txBody>
      </p:sp>
      <p:sp>
        <p:nvSpPr>
          <p:cNvPr id="12" name="Text 9"/>
          <p:cNvSpPr/>
          <p:nvPr/>
        </p:nvSpPr>
        <p:spPr>
          <a:xfrm>
            <a:off x="9098280" y="2916936"/>
            <a:ext cx="2148840" cy="594360"/>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Luồng extend từ UC-05 có hạn mức max(1, floor(N*0.10)), điểm làm lại tối đa 70% credit.</a:t>
            </a:r>
            <a:endParaRPr lang="en-US" sz="950" dirty="0"/>
          </a:p>
        </p:txBody>
      </p:sp>
      <p:sp>
        <p:nvSpPr>
          <p:cNvPr id="13" name="Text 10"/>
          <p:cNvSpPr/>
          <p:nvPr/>
        </p:nvSpPr>
        <p:spPr>
          <a:xfrm>
            <a:off x="8915400" y="3538728"/>
            <a:ext cx="2331720" cy="22860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 Thử thách nhảy cấp (Jump)</a:t>
            </a:r>
            <a:endParaRPr lang="en-US" sz="1000" dirty="0"/>
          </a:p>
        </p:txBody>
      </p:sp>
      <p:sp>
        <p:nvSpPr>
          <p:cNvPr id="14" name="Text 11"/>
          <p:cNvSpPr/>
          <p:nvPr/>
        </p:nvSpPr>
        <p:spPr>
          <a:xfrm>
            <a:off x="9098280" y="3794760"/>
            <a:ext cx="2148840" cy="594360"/>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Mở rộng từ UC-04, yêu cầu đạt &gt;= 95% và áp dụng thời gian chờ Cooldown 24h khi thi trượt.</a:t>
            </a:r>
            <a:endParaRPr lang="en-US" sz="950" dirty="0"/>
          </a:p>
        </p:txBody>
      </p:sp>
      <p:sp>
        <p:nvSpPr>
          <p:cNvPr id="15" name="Text 12"/>
          <p:cNvSpPr/>
          <p:nvPr/>
        </p:nvSpPr>
        <p:spPr>
          <a:xfrm>
            <a:off x="8915400" y="4416552"/>
            <a:ext cx="2331720" cy="22860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 Vòng lặp học tập khép kín</a:t>
            </a:r>
            <a:endParaRPr lang="en-US" sz="1000" dirty="0"/>
          </a:p>
        </p:txBody>
      </p:sp>
      <p:sp>
        <p:nvSpPr>
          <p:cNvPr id="16" name="Text 13"/>
          <p:cNvSpPr/>
          <p:nvPr/>
        </p:nvSpPr>
        <p:spPr>
          <a:xfrm>
            <a:off x="9098280" y="4672584"/>
            <a:ext cx="2148840" cy="594360"/>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Xếp lớp (UC-03) -&gt; học bài (UC-05) -&gt; ôn tập SRS độc lập (UC-06) -&gt; tích lũy chuỗi ngày Streak (UC-07).</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000" b="1" spc="150" kern="0" dirty="0">
                <a:solidFill>
                  <a:srgbClr val="2563EB"/>
                </a:solidFill>
                <a:latin typeface="Calibri" pitchFamily="34" charset="0"/>
                <a:ea typeface="Calibri" pitchFamily="34" charset="-122"/>
                <a:cs typeface="Calibri" pitchFamily="34" charset="-120"/>
              </a:rPr>
              <a:t>QUẢN TRỊ &amp; KIỂM DUYỆT</a:t>
            </a:r>
            <a:endParaRPr lang="en-US" sz="1000" dirty="0"/>
          </a:p>
        </p:txBody>
      </p:sp>
      <p:sp>
        <p:nvSpPr>
          <p:cNvPr id="3" name="Text 1"/>
          <p:cNvSpPr/>
          <p:nvPr/>
        </p:nvSpPr>
        <p:spPr>
          <a:xfrm>
            <a:off x="731520" y="566928"/>
            <a:ext cx="9601200" cy="411480"/>
          </a:xfrm>
          <a:prstGeom prst="rect">
            <a:avLst/>
          </a:prstGeom>
          <a:noFill/>
          <a:ln/>
        </p:spPr>
        <p:txBody>
          <a:bodyPr wrap="square" lIns="0" tIns="0" rIns="0" bIns="0"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Sơ Đồ Ca Sử Dụng Chi Tiết — Quản Trị &amp; Kiểm Duyệt</a:t>
            </a:r>
            <a:endParaRPr lang="en-US" sz="2100" dirty="0"/>
          </a:p>
        </p:txBody>
      </p:sp>
      <p:sp>
        <p:nvSpPr>
          <p:cNvPr id="4" name="Text 2"/>
          <p:cNvSpPr/>
          <p:nvPr/>
        </p:nvSpPr>
        <p:spPr>
          <a:xfrm>
            <a:off x="10515600" y="365760"/>
            <a:ext cx="91440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05 / 12</a:t>
            </a:r>
            <a:endParaRPr lang="en-US" sz="1100" dirty="0"/>
          </a:p>
        </p:txBody>
      </p:sp>
      <p:sp>
        <p:nvSpPr>
          <p:cNvPr id="5" name="Shape 3"/>
          <p:cNvSpPr/>
          <p:nvPr/>
        </p:nvSpPr>
        <p:spPr>
          <a:xfrm>
            <a:off x="731520" y="1143000"/>
            <a:ext cx="777240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rcRect l="0" r="0" t="0" b="0"/>
          <a:stretch/>
        </p:blipFill>
        <p:spPr>
          <a:xfrm>
            <a:off x="822960" y="1234440"/>
            <a:ext cx="7589520" cy="5074920"/>
          </a:xfrm>
          <a:prstGeom prst="rect">
            <a:avLst/>
          </a:prstGeom>
        </p:spPr>
      </p:pic>
      <p:sp>
        <p:nvSpPr>
          <p:cNvPr id="7" name="Shape 4"/>
          <p:cNvSpPr/>
          <p:nvPr/>
        </p:nvSpPr>
        <p:spPr>
          <a:xfrm>
            <a:off x="8686800" y="1143000"/>
            <a:ext cx="2773375" cy="5257800"/>
          </a:xfrm>
          <a:prstGeom prst="rect">
            <a:avLst/>
          </a:prstGeom>
          <a:solidFill>
            <a:srgbClr val="FFFFFF"/>
          </a:solidFill>
          <a:ln w="12700">
            <a:solidFill>
              <a:srgbClr val="E2E8F0"/>
            </a:solidFill>
            <a:prstDash val="solid"/>
          </a:ln>
        </p:spPr>
      </p:sp>
      <p:sp>
        <p:nvSpPr>
          <p:cNvPr id="8" name="Text 5"/>
          <p:cNvSpPr/>
          <p:nvPr/>
        </p:nvSpPr>
        <p:spPr>
          <a:xfrm>
            <a:off x="8915400" y="1325880"/>
            <a:ext cx="2286000" cy="274320"/>
          </a:xfrm>
          <a:prstGeom prst="rect">
            <a:avLst/>
          </a:prstGeom>
          <a:noFill/>
          <a:ln/>
        </p:spPr>
        <p:txBody>
          <a:bodyPr wrap="square" lIns="0" tIns="0" rIns="0" bIns="0" rtlCol="0" anchor="ctr"/>
          <a:lstStyle/>
          <a:p>
            <a:pPr indent="0" marL="0">
              <a:buNone/>
            </a:pPr>
            <a:r>
              <a:rPr lang="en-US" sz="1050" b="1" spc="100" kern="0" dirty="0">
                <a:solidFill>
                  <a:srgbClr val="2563EB"/>
                </a:solidFill>
                <a:latin typeface="Calibri" pitchFamily="34" charset="0"/>
                <a:ea typeface="Calibri" pitchFamily="34" charset="-122"/>
                <a:cs typeface="Calibri" pitchFamily="34" charset="-120"/>
              </a:rPr>
              <a:t>NGUYÊN TẮC QUẢN TRỊ &amp; SOD</a:t>
            </a:r>
            <a:endParaRPr lang="en-US" sz="1050" dirty="0"/>
          </a:p>
        </p:txBody>
      </p:sp>
      <p:sp>
        <p:nvSpPr>
          <p:cNvPr id="9" name="Text 6"/>
          <p:cNvSpPr/>
          <p:nvPr/>
        </p:nvSpPr>
        <p:spPr>
          <a:xfrm>
            <a:off x="8915400" y="1783080"/>
            <a:ext cx="2331720" cy="22860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 Phân tách nhiệm vụ (SoD)</a:t>
            </a:r>
            <a:endParaRPr lang="en-US" sz="1000" dirty="0"/>
          </a:p>
        </p:txBody>
      </p:sp>
      <p:sp>
        <p:nvSpPr>
          <p:cNvPr id="10" name="Text 7"/>
          <p:cNvSpPr/>
          <p:nvPr/>
        </p:nvSpPr>
        <p:spPr>
          <a:xfrm>
            <a:off x="9098280" y="2039112"/>
            <a:ext cx="2148840" cy="594360"/>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Creator soạn thảo, Moderator thẩm định, Org Manager xuất bản. Creator không tự duyệt nội dung của mình.</a:t>
            </a:r>
            <a:endParaRPr lang="en-US" sz="950" dirty="0"/>
          </a:p>
        </p:txBody>
      </p:sp>
      <p:sp>
        <p:nvSpPr>
          <p:cNvPr id="11" name="Text 8"/>
          <p:cNvSpPr/>
          <p:nvPr/>
        </p:nvSpPr>
        <p:spPr>
          <a:xfrm>
            <a:off x="8915400" y="2660904"/>
            <a:ext cx="2331720" cy="22860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 Quyết định thẩm định</a:t>
            </a:r>
            <a:endParaRPr lang="en-US" sz="1000" dirty="0"/>
          </a:p>
        </p:txBody>
      </p:sp>
      <p:sp>
        <p:nvSpPr>
          <p:cNvPr id="12" name="Text 9"/>
          <p:cNvSpPr/>
          <p:nvPr/>
        </p:nvSpPr>
        <p:spPr>
          <a:xfrm>
            <a:off x="9098280" y="2916936"/>
            <a:ext cx="2148840" cy="594360"/>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Moderator chỉ chuyển APPROVED hoặc CHANGES_REQUESTED kèm góp ý, không có quyền xuất bản ra hệ thống.</a:t>
            </a:r>
            <a:endParaRPr lang="en-US" sz="950" dirty="0"/>
          </a:p>
        </p:txBody>
      </p:sp>
      <p:sp>
        <p:nvSpPr>
          <p:cNvPr id="13" name="Text 10"/>
          <p:cNvSpPr/>
          <p:nvPr/>
        </p:nvSpPr>
        <p:spPr>
          <a:xfrm>
            <a:off x="8915400" y="3538728"/>
            <a:ext cx="2331720" cy="22860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 Quyền xuất bản chính thức</a:t>
            </a:r>
            <a:endParaRPr lang="en-US" sz="1000" dirty="0"/>
          </a:p>
        </p:txBody>
      </p:sp>
      <p:sp>
        <p:nvSpPr>
          <p:cNvPr id="14" name="Text 11"/>
          <p:cNvSpPr/>
          <p:nvPr/>
        </p:nvSpPr>
        <p:spPr>
          <a:xfrm>
            <a:off x="9098280" y="3794760"/>
            <a:ext cx="2148840" cy="594360"/>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Org Manager là vai trò duy nhất có thẩm quyền Publish bài học đạt trạng thái APPROVED.</a:t>
            </a:r>
            <a:endParaRPr lang="en-US" sz="950" dirty="0"/>
          </a:p>
        </p:txBody>
      </p:sp>
      <p:sp>
        <p:nvSpPr>
          <p:cNvPr id="15" name="Text 12"/>
          <p:cNvSpPr/>
          <p:nvPr/>
        </p:nvSpPr>
        <p:spPr>
          <a:xfrm>
            <a:off x="8915400" y="4416552"/>
            <a:ext cx="2331720" cy="22860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 Xuất bản khẩn cấp</a:t>
            </a:r>
            <a:endParaRPr lang="en-US" sz="1000" dirty="0"/>
          </a:p>
        </p:txBody>
      </p:sp>
      <p:sp>
        <p:nvSpPr>
          <p:cNvPr id="16" name="Text 13"/>
          <p:cNvSpPr/>
          <p:nvPr/>
        </p:nvSpPr>
        <p:spPr>
          <a:xfrm>
            <a:off x="9098280" y="4672584"/>
            <a:ext cx="2148840" cy="594360"/>
          </a:xfrm>
          <a:prstGeom prst="rect">
            <a:avLst/>
          </a:prstGeom>
          <a:noFill/>
          <a:ln/>
        </p:spPr>
        <p:txBody>
          <a:bodyPr wrap="square" lIns="0" tIns="0" rIns="0" bIns="0" rtlCol="0" anchor="t"/>
          <a:lstStyle/>
          <a:p>
            <a:pPr indent="0" marL="0">
              <a:buNone/>
            </a:pPr>
            <a:r>
              <a:rPr lang="en-US" sz="950" dirty="0">
                <a:solidFill>
                  <a:srgbClr val="334155"/>
                </a:solidFill>
                <a:latin typeface="Calibri" pitchFamily="34" charset="0"/>
                <a:ea typeface="Calibri" pitchFamily="34" charset="-122"/>
                <a:cs typeface="Calibri" pitchFamily="34" charset="-120"/>
              </a:rPr>
              <a:t>Admin chỉ can thiệp xuất bản bài đã Approved; bắt buộc nhập lý do giải trình và lưu AuditLog.</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000" b="1" spc="150" kern="0" dirty="0">
                <a:solidFill>
                  <a:srgbClr val="2563EB"/>
                </a:solidFill>
                <a:latin typeface="Calibri" pitchFamily="34" charset="0"/>
                <a:ea typeface="Calibri" pitchFamily="34" charset="-122"/>
                <a:cs typeface="Calibri" pitchFamily="34" charset="-120"/>
              </a:rPr>
              <a:t>QUY TRÌNH ĐÁNH GIÁ</a:t>
            </a:r>
            <a:endParaRPr lang="en-US" sz="1000" dirty="0"/>
          </a:p>
        </p:txBody>
      </p:sp>
      <p:sp>
        <p:nvSpPr>
          <p:cNvPr id="3" name="Text 1"/>
          <p:cNvSpPr/>
          <p:nvPr/>
        </p:nvSpPr>
        <p:spPr>
          <a:xfrm>
            <a:off x="731520" y="566928"/>
            <a:ext cx="9601200" cy="411480"/>
          </a:xfrm>
          <a:prstGeom prst="rect">
            <a:avLst/>
          </a:prstGeom>
          <a:noFill/>
          <a:ln/>
        </p:spPr>
        <p:txBody>
          <a:bodyPr wrap="square" lIns="0" tIns="0" rIns="0" bIns="0"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Sơ Đồ Hoạt Động — Đánh Giá Chẩn Đoán Đầu Vào (Placement)</a:t>
            </a:r>
            <a:endParaRPr lang="en-US" sz="2100" dirty="0"/>
          </a:p>
        </p:txBody>
      </p:sp>
      <p:sp>
        <p:nvSpPr>
          <p:cNvPr id="4" name="Text 2"/>
          <p:cNvSpPr/>
          <p:nvPr/>
        </p:nvSpPr>
        <p:spPr>
          <a:xfrm>
            <a:off x="10515600" y="365760"/>
            <a:ext cx="91440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06 / 12</a:t>
            </a:r>
            <a:endParaRPr lang="en-US" sz="1100" dirty="0"/>
          </a:p>
        </p:txBody>
      </p:sp>
      <p:sp>
        <p:nvSpPr>
          <p:cNvPr id="5" name="Text 3"/>
          <p:cNvSpPr/>
          <p:nvPr/>
        </p:nvSpPr>
        <p:spPr>
          <a:xfrm>
            <a:off x="731520" y="1078992"/>
            <a:ext cx="5230368"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Luồng Chẩn Đoán Tuyến Tính (30 Câu -&gt; Starting Unit)</a:t>
            </a:r>
            <a:endParaRPr lang="en-US" sz="1050" dirty="0"/>
          </a:p>
        </p:txBody>
      </p:sp>
      <p:sp>
        <p:nvSpPr>
          <p:cNvPr id="6" name="Shape 4"/>
          <p:cNvSpPr/>
          <p:nvPr/>
        </p:nvSpPr>
        <p:spPr>
          <a:xfrm>
            <a:off x="731520" y="1353312"/>
            <a:ext cx="5230368" cy="4069080"/>
          </a:xfrm>
          <a:prstGeom prst="rect">
            <a:avLst/>
          </a:prstGeom>
          <a:solidFill>
            <a:srgbClr val="FFFFFF"/>
          </a:solidFill>
          <a:ln w="12700">
            <a:solidFill>
              <a:srgbClr val="E2E8F0"/>
            </a:solidFill>
            <a:prstDash val="solid"/>
          </a:ln>
        </p:spPr>
      </p:sp>
      <p:pic>
        <p:nvPicPr>
          <p:cNvPr id="7" name="Image 0" descr="preencoded.png">    </p:cNvPr>
          <p:cNvPicPr>
            <a:picLocks noChangeAspect="1"/>
          </p:cNvPicPr>
          <p:nvPr/>
        </p:nvPicPr>
        <p:blipFill>
          <a:blip r:embed="rId1"/>
          <a:srcRect l="0" r="0" t="0" b="0"/>
          <a:stretch/>
        </p:blipFill>
        <p:spPr>
          <a:xfrm>
            <a:off x="804672" y="1417320"/>
            <a:ext cx="5084064" cy="3941064"/>
          </a:xfrm>
          <a:prstGeom prst="rect">
            <a:avLst/>
          </a:prstGeom>
        </p:spPr>
      </p:pic>
      <p:sp>
        <p:nvSpPr>
          <p:cNvPr id="8" name="Text 5"/>
          <p:cNvSpPr/>
          <p:nvPr/>
        </p:nvSpPr>
        <p:spPr>
          <a:xfrm>
            <a:off x="6229807" y="1078992"/>
            <a:ext cx="5230368"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Nhánh Bỏ Qua (Skip) &amp; Nhánh Thi Lại (Retake)</a:t>
            </a:r>
            <a:endParaRPr lang="en-US" sz="1050" dirty="0"/>
          </a:p>
        </p:txBody>
      </p:sp>
      <p:sp>
        <p:nvSpPr>
          <p:cNvPr id="9" name="Shape 6"/>
          <p:cNvSpPr/>
          <p:nvPr/>
        </p:nvSpPr>
        <p:spPr>
          <a:xfrm>
            <a:off x="6229807" y="1353312"/>
            <a:ext cx="5230368" cy="40690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rcRect l="0" r="0" t="0" b="0"/>
          <a:stretch/>
        </p:blipFill>
        <p:spPr>
          <a:xfrm>
            <a:off x="6302959" y="1417320"/>
            <a:ext cx="5084064" cy="3941064"/>
          </a:xfrm>
          <a:prstGeom prst="rect">
            <a:avLst/>
          </a:prstGeom>
        </p:spPr>
      </p:pic>
      <p:sp>
        <p:nvSpPr>
          <p:cNvPr id="11" name="Shape 7"/>
          <p:cNvSpPr/>
          <p:nvPr/>
        </p:nvSpPr>
        <p:spPr>
          <a:xfrm>
            <a:off x="731520" y="5532120"/>
            <a:ext cx="10728655" cy="868680"/>
          </a:xfrm>
          <a:prstGeom prst="rect">
            <a:avLst/>
          </a:prstGeom>
          <a:solidFill>
            <a:srgbClr val="F1F5F9"/>
          </a:solidFill>
          <a:ln w="12700">
            <a:solidFill>
              <a:srgbClr val="E2E8F0"/>
            </a:solidFill>
            <a:prstDash val="solid"/>
          </a:ln>
        </p:spPr>
      </p:sp>
      <p:sp>
        <p:nvSpPr>
          <p:cNvPr id="12" name="Text 8"/>
          <p:cNvSpPr/>
          <p:nvPr/>
        </p:nvSpPr>
        <p:spPr>
          <a:xfrm>
            <a:off x="914400" y="5596128"/>
            <a:ext cx="10332720" cy="749808"/>
          </a:xfrm>
          <a:prstGeom prst="rect">
            <a:avLst/>
          </a:prstGeom>
          <a:noFill/>
          <a:ln/>
        </p:spPr>
        <p:txBody>
          <a:bodyPr wrap="square" lIns="0" tIns="50800" rIns="50800" bIns="0" rtlCol="0" anchor="ctr"/>
          <a:lstStyle/>
          <a:p>
            <a:pPr marL="342900" indent="-342900">
              <a:spcAft>
                <a:spcPts val="250"/>
              </a:spcAft>
              <a:buSzPct val="100000"/>
              <a:buChar char="•"/>
            </a:pPr>
            <a:r>
              <a:rPr lang="en-US" sz="920" dirty="0">
                <a:solidFill>
                  <a:srgbClr val="334155"/>
                </a:solidFill>
                <a:latin typeface="Calibri" pitchFamily="34" charset="0"/>
                <a:ea typeface="Calibri" pitchFamily="34" charset="-122"/>
                <a:cs typeface="Calibri" pitchFamily="34" charset="-120"/>
              </a:rPr>
              <a:t>Quy mô 30 câu &amp; Mapping A: Đề thi gồm 30 câu hỏi; thang điểm thô 0–30 ánh xạ ra Starting Unit từ 1 đến 6.</a:t>
            </a:r>
            <a:endParaRPr lang="en-US" sz="920" dirty="0"/>
          </a:p>
          <a:p>
            <a:pPr marL="342900" indent="-342900">
              <a:spcAft>
                <a:spcPts val="250"/>
              </a:spcAft>
              <a:buSzPct val="100000"/>
              <a:buChar char="•"/>
            </a:pPr>
            <a:r>
              <a:rPr lang="en-US" sz="920" dirty="0">
                <a:solidFill>
                  <a:srgbClr val="334155"/>
                </a:solidFill>
                <a:latin typeface="Calibri" pitchFamily="34" charset="0"/>
                <a:ea typeface="Calibri" pitchFamily="34" charset="-122"/>
                <a:cs typeface="Calibri" pitchFamily="34" charset="-120"/>
              </a:rPr>
              <a:t>Nhánh Bỏ qua (Skip): Gán mặc định học từ Unit 1 với trạng thái UNVERIFIED; không tạo AssessmentResult hoặc SkillProfile.</a:t>
            </a:r>
            <a:endParaRPr lang="en-US" sz="920" dirty="0"/>
          </a:p>
          <a:p>
            <a:pPr marL="342900" indent="-342900">
              <a:spcAft>
                <a:spcPts val="250"/>
              </a:spcAft>
              <a:buSzPct val="100000"/>
              <a:buChar char="•"/>
            </a:pPr>
            <a:r>
              <a:rPr lang="en-US" sz="920" dirty="0">
                <a:solidFill>
                  <a:srgbClr val="334155"/>
                </a:solidFill>
                <a:latin typeface="Calibri" pitchFamily="34" charset="0"/>
                <a:ea typeface="Calibri" pitchFamily="34" charset="-122"/>
                <a:cs typeface="Calibri" pitchFamily="34" charset="-120"/>
              </a:rPr>
              <a:t>Nhánh Thi lại (Retake): Kích hoạt từ Profile; lưu bản ghi AssessmentResult mới độc lập, không xóa lịch sử bài thi trước.</a:t>
            </a:r>
            <a:endParaRPr lang="en-US" sz="9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000" b="1" spc="150" kern="0" dirty="0">
                <a:solidFill>
                  <a:srgbClr val="2563EB"/>
                </a:solidFill>
                <a:latin typeface="Calibri" pitchFamily="34" charset="0"/>
                <a:ea typeface="Calibri" pitchFamily="34" charset="-122"/>
                <a:cs typeface="Calibri" pitchFamily="34" charset="-120"/>
              </a:rPr>
              <a:t>QUY TRÌNH HỌC BÀI</a:t>
            </a:r>
            <a:endParaRPr lang="en-US" sz="1000" dirty="0"/>
          </a:p>
        </p:txBody>
      </p:sp>
      <p:sp>
        <p:nvSpPr>
          <p:cNvPr id="3" name="Text 1"/>
          <p:cNvSpPr/>
          <p:nvPr/>
        </p:nvSpPr>
        <p:spPr>
          <a:xfrm>
            <a:off x="731520" y="566928"/>
            <a:ext cx="9601200" cy="411480"/>
          </a:xfrm>
          <a:prstGeom prst="rect">
            <a:avLst/>
          </a:prstGeom>
          <a:noFill/>
          <a:ln/>
        </p:spPr>
        <p:txBody>
          <a:bodyPr wrap="square" lIns="0" tIns="0" rIns="0" bIns="0"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Sơ Đồ Hoạt Động — Chu Trình Học Bài &amp; Làm Lại Có Kiểm Soát</a:t>
            </a:r>
            <a:endParaRPr lang="en-US" sz="2100" dirty="0"/>
          </a:p>
        </p:txBody>
      </p:sp>
      <p:sp>
        <p:nvSpPr>
          <p:cNvPr id="4" name="Text 2"/>
          <p:cNvSpPr/>
          <p:nvPr/>
        </p:nvSpPr>
        <p:spPr>
          <a:xfrm>
            <a:off x="10515600" y="365760"/>
            <a:ext cx="91440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07 / 12</a:t>
            </a:r>
            <a:endParaRPr lang="en-US" sz="1100" dirty="0"/>
          </a:p>
        </p:txBody>
      </p:sp>
      <p:sp>
        <p:nvSpPr>
          <p:cNvPr id="5" name="Text 3"/>
          <p:cNvSpPr/>
          <p:nvPr/>
        </p:nvSpPr>
        <p:spPr>
          <a:xfrm>
            <a:off x="731520" y="1078992"/>
            <a:ext cx="5230368"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Luồng Học Chính (Kiểm Tra 4/4 Published -&gt; Viewer -&gt; Bài Tập)</a:t>
            </a:r>
            <a:endParaRPr lang="en-US" sz="1050" dirty="0"/>
          </a:p>
        </p:txBody>
      </p:sp>
      <p:sp>
        <p:nvSpPr>
          <p:cNvPr id="6" name="Shape 4"/>
          <p:cNvSpPr/>
          <p:nvPr/>
        </p:nvSpPr>
        <p:spPr>
          <a:xfrm>
            <a:off x="731520" y="1353312"/>
            <a:ext cx="5230368" cy="4069080"/>
          </a:xfrm>
          <a:prstGeom prst="rect">
            <a:avLst/>
          </a:prstGeom>
          <a:solidFill>
            <a:srgbClr val="FFFFFF"/>
          </a:solidFill>
          <a:ln w="12700">
            <a:solidFill>
              <a:srgbClr val="E2E8F0"/>
            </a:solidFill>
            <a:prstDash val="solid"/>
          </a:ln>
        </p:spPr>
      </p:sp>
      <p:pic>
        <p:nvPicPr>
          <p:cNvPr id="7" name="Image 0" descr="preencoded.png">    </p:cNvPr>
          <p:cNvPicPr>
            <a:picLocks noChangeAspect="1"/>
          </p:cNvPicPr>
          <p:nvPr/>
        </p:nvPicPr>
        <p:blipFill>
          <a:blip r:embed="rId1"/>
          <a:srcRect l="0" r="0" t="0" b="0"/>
          <a:stretch/>
        </p:blipFill>
        <p:spPr>
          <a:xfrm>
            <a:off x="804672" y="1417320"/>
            <a:ext cx="5084064" cy="3941064"/>
          </a:xfrm>
          <a:prstGeom prst="rect">
            <a:avLst/>
          </a:prstGeom>
        </p:spPr>
      </p:pic>
      <p:sp>
        <p:nvSpPr>
          <p:cNvPr id="8" name="Text 5"/>
          <p:cNvSpPr/>
          <p:nvPr/>
        </p:nvSpPr>
        <p:spPr>
          <a:xfrm>
            <a:off x="6229807" y="1078992"/>
            <a:ext cx="5230368"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Luồng Làm Lại Có Kiểm Soát (Controlled Retry Flow)</a:t>
            </a:r>
            <a:endParaRPr lang="en-US" sz="1050" dirty="0"/>
          </a:p>
        </p:txBody>
      </p:sp>
      <p:sp>
        <p:nvSpPr>
          <p:cNvPr id="9" name="Shape 6"/>
          <p:cNvSpPr/>
          <p:nvPr/>
        </p:nvSpPr>
        <p:spPr>
          <a:xfrm>
            <a:off x="6229807" y="1353312"/>
            <a:ext cx="5230368" cy="40690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rcRect l="0" r="0" t="0" b="0"/>
          <a:stretch/>
        </p:blipFill>
        <p:spPr>
          <a:xfrm>
            <a:off x="6302959" y="1417320"/>
            <a:ext cx="5084064" cy="3941064"/>
          </a:xfrm>
          <a:prstGeom prst="rect">
            <a:avLst/>
          </a:prstGeom>
        </p:spPr>
      </p:pic>
      <p:sp>
        <p:nvSpPr>
          <p:cNvPr id="11" name="Shape 7"/>
          <p:cNvSpPr/>
          <p:nvPr/>
        </p:nvSpPr>
        <p:spPr>
          <a:xfrm>
            <a:off x="731520" y="5532120"/>
            <a:ext cx="10728655" cy="868680"/>
          </a:xfrm>
          <a:prstGeom prst="rect">
            <a:avLst/>
          </a:prstGeom>
          <a:solidFill>
            <a:srgbClr val="F1F5F9"/>
          </a:solidFill>
          <a:ln w="12700">
            <a:solidFill>
              <a:srgbClr val="E2E8F0"/>
            </a:solidFill>
            <a:prstDash val="solid"/>
          </a:ln>
        </p:spPr>
      </p:sp>
      <p:sp>
        <p:nvSpPr>
          <p:cNvPr id="12" name="Text 8"/>
          <p:cNvSpPr/>
          <p:nvPr/>
        </p:nvSpPr>
        <p:spPr>
          <a:xfrm>
            <a:off x="914400" y="5596128"/>
            <a:ext cx="10332720" cy="749808"/>
          </a:xfrm>
          <a:prstGeom prst="rect">
            <a:avLst/>
          </a:prstGeom>
          <a:noFill/>
          <a:ln/>
        </p:spPr>
        <p:txBody>
          <a:bodyPr wrap="square" lIns="0" tIns="50800" rIns="50800" bIns="0" rtlCol="0" anchor="ctr"/>
          <a:lstStyle/>
          <a:p>
            <a:pPr marL="342900" indent="-342900">
              <a:spcAft>
                <a:spcPts val="250"/>
              </a:spcAft>
              <a:buSzPct val="100000"/>
              <a:buChar char="•"/>
            </a:pPr>
            <a:r>
              <a:rPr lang="en-US" sz="920" dirty="0">
                <a:solidFill>
                  <a:srgbClr val="334155"/>
                </a:solidFill>
                <a:latin typeface="Calibri" pitchFamily="34" charset="0"/>
                <a:ea typeface="Calibri" pitchFamily="34" charset="-122"/>
                <a:cs typeface="Calibri" pitchFamily="34" charset="-120"/>
              </a:rPr>
              <a:t>Điều kiện mở Unit: Unit chỉ hiển thị khi có đủ 4/4 Lesson Published. Người học bắt buộc qua Lesson Content Viewer trước khi làm bài tập.</a:t>
            </a:r>
            <a:endParaRPr lang="en-US" sz="920" dirty="0"/>
          </a:p>
          <a:p>
            <a:pPr marL="342900" indent="-342900">
              <a:spcAft>
                <a:spcPts val="250"/>
              </a:spcAft>
              <a:buSzPct val="100000"/>
              <a:buChar char="•"/>
            </a:pPr>
            <a:r>
              <a:rPr lang="en-US" sz="920" dirty="0">
                <a:solidFill>
                  <a:srgbClr val="334155"/>
                </a:solidFill>
                <a:latin typeface="Calibri" pitchFamily="34" charset="0"/>
                <a:ea typeface="Calibri" pitchFamily="34" charset="-122"/>
                <a:cs typeface="Calibri" pitchFamily="34" charset="-120"/>
              </a:rPr>
              <a:t>Cơ chế Retry: Khi làm sai bài tập, học viên xem giải thích (Show Explanation); làm lại đúng trong hạn mức nhận tối đa 70% credit.</a:t>
            </a:r>
            <a:endParaRPr lang="en-US" sz="920" dirty="0"/>
          </a:p>
          <a:p>
            <a:pPr marL="342900" indent="-342900">
              <a:spcAft>
                <a:spcPts val="250"/>
              </a:spcAft>
              <a:buSzPct val="100000"/>
              <a:buChar char="•"/>
            </a:pPr>
            <a:r>
              <a:rPr lang="en-US" sz="920" dirty="0">
                <a:solidFill>
                  <a:srgbClr val="334155"/>
                </a:solidFill>
                <a:latin typeface="Calibri" pitchFamily="34" charset="0"/>
                <a:ea typeface="Calibri" pitchFamily="34" charset="-122"/>
                <a:cs typeface="Calibri" pitchFamily="34" charset="-120"/>
              </a:rPr>
              <a:t>Cập nhật tiến độ &amp; Streak [UC-07]: Hoàn thành bài học cập nhật UserProgress, tăng Streak [UC-07] và thêm thẻ SRS (1, 3, 7, 14, 30 ngày).</a:t>
            </a:r>
            <a:endParaRPr lang="en-US" sz="9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000" b="1" spc="150" kern="0" dirty="0">
                <a:solidFill>
                  <a:srgbClr val="2563EB"/>
                </a:solidFill>
                <a:latin typeface="Calibri" pitchFamily="34" charset="0"/>
                <a:ea typeface="Calibri" pitchFamily="34" charset="-122"/>
                <a:cs typeface="Calibri" pitchFamily="34" charset="-120"/>
              </a:rPr>
              <a:t>QUY TRÌNH NHẢY CẤP</a:t>
            </a:r>
            <a:endParaRPr lang="en-US" sz="1000" dirty="0"/>
          </a:p>
        </p:txBody>
      </p:sp>
      <p:sp>
        <p:nvSpPr>
          <p:cNvPr id="3" name="Text 1"/>
          <p:cNvSpPr/>
          <p:nvPr/>
        </p:nvSpPr>
        <p:spPr>
          <a:xfrm>
            <a:off x="731520" y="566928"/>
            <a:ext cx="9601200" cy="411480"/>
          </a:xfrm>
          <a:prstGeom prst="rect">
            <a:avLst/>
          </a:prstGeom>
          <a:noFill/>
          <a:ln/>
        </p:spPr>
        <p:txBody>
          <a:bodyPr wrap="square" lIns="0" tIns="0" rIns="0" bIns="0"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Sơ Đồ Hoạt Động — Thử Thách Nhảy Cấp (Conditional Jump)</a:t>
            </a:r>
            <a:endParaRPr lang="en-US" sz="2100" dirty="0"/>
          </a:p>
        </p:txBody>
      </p:sp>
      <p:sp>
        <p:nvSpPr>
          <p:cNvPr id="4" name="Text 2"/>
          <p:cNvSpPr/>
          <p:nvPr/>
        </p:nvSpPr>
        <p:spPr>
          <a:xfrm>
            <a:off x="10515600" y="365760"/>
            <a:ext cx="91440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08 / 12</a:t>
            </a:r>
            <a:endParaRPr lang="en-US" sz="1100" dirty="0"/>
          </a:p>
        </p:txBody>
      </p:sp>
      <p:sp>
        <p:nvSpPr>
          <p:cNvPr id="5" name="Text 3"/>
          <p:cNvSpPr/>
          <p:nvPr/>
        </p:nvSpPr>
        <p:spPr>
          <a:xfrm>
            <a:off x="731520" y="1078992"/>
            <a:ext cx="5230368"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Kiểm Tra Cooldown 24h &amp; Làm Bài Thi Jump</a:t>
            </a:r>
            <a:endParaRPr lang="en-US" sz="1050" dirty="0"/>
          </a:p>
        </p:txBody>
      </p:sp>
      <p:sp>
        <p:nvSpPr>
          <p:cNvPr id="6" name="Shape 4"/>
          <p:cNvSpPr/>
          <p:nvPr/>
        </p:nvSpPr>
        <p:spPr>
          <a:xfrm>
            <a:off x="731520" y="1353312"/>
            <a:ext cx="5230368" cy="4069080"/>
          </a:xfrm>
          <a:prstGeom prst="rect">
            <a:avLst/>
          </a:prstGeom>
          <a:solidFill>
            <a:srgbClr val="FFFFFF"/>
          </a:solidFill>
          <a:ln w="12700">
            <a:solidFill>
              <a:srgbClr val="E2E8F0"/>
            </a:solidFill>
            <a:prstDash val="solid"/>
          </a:ln>
        </p:spPr>
      </p:sp>
      <p:pic>
        <p:nvPicPr>
          <p:cNvPr id="7" name="Image 0" descr="preencoded.png">    </p:cNvPr>
          <p:cNvPicPr>
            <a:picLocks noChangeAspect="1"/>
          </p:cNvPicPr>
          <p:nvPr/>
        </p:nvPicPr>
        <p:blipFill>
          <a:blip r:embed="rId1"/>
          <a:srcRect l="0" r="0" t="0" b="0"/>
          <a:stretch/>
        </p:blipFill>
        <p:spPr>
          <a:xfrm>
            <a:off x="804672" y="1417320"/>
            <a:ext cx="5084064" cy="3941064"/>
          </a:xfrm>
          <a:prstGeom prst="rect">
            <a:avLst/>
          </a:prstGeom>
        </p:spPr>
      </p:pic>
      <p:sp>
        <p:nvSpPr>
          <p:cNvPr id="8" name="Text 5"/>
          <p:cNvSpPr/>
          <p:nvPr/>
        </p:nvSpPr>
        <p:spPr>
          <a:xfrm>
            <a:off x="6229807" y="1078992"/>
            <a:ext cx="5230368"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Xử Lý Kết Quả: Vượt Cấp (Đạt &gt;= 95%) vs Khóa Chờ 24h</a:t>
            </a:r>
            <a:endParaRPr lang="en-US" sz="1050" dirty="0"/>
          </a:p>
        </p:txBody>
      </p:sp>
      <p:sp>
        <p:nvSpPr>
          <p:cNvPr id="9" name="Shape 6"/>
          <p:cNvSpPr/>
          <p:nvPr/>
        </p:nvSpPr>
        <p:spPr>
          <a:xfrm>
            <a:off x="6229807" y="1353312"/>
            <a:ext cx="5230368" cy="40690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rcRect l="0" r="0" t="0" b="0"/>
          <a:stretch/>
        </p:blipFill>
        <p:spPr>
          <a:xfrm>
            <a:off x="6302959" y="1417320"/>
            <a:ext cx="5084064" cy="3941064"/>
          </a:xfrm>
          <a:prstGeom prst="rect">
            <a:avLst/>
          </a:prstGeom>
        </p:spPr>
      </p:pic>
      <p:sp>
        <p:nvSpPr>
          <p:cNvPr id="11" name="Shape 7"/>
          <p:cNvSpPr/>
          <p:nvPr/>
        </p:nvSpPr>
        <p:spPr>
          <a:xfrm>
            <a:off x="731520" y="5532120"/>
            <a:ext cx="10728655" cy="868680"/>
          </a:xfrm>
          <a:prstGeom prst="rect">
            <a:avLst/>
          </a:prstGeom>
          <a:solidFill>
            <a:srgbClr val="F1F5F9"/>
          </a:solidFill>
          <a:ln w="12700">
            <a:solidFill>
              <a:srgbClr val="E2E8F0"/>
            </a:solidFill>
            <a:prstDash val="solid"/>
          </a:ln>
        </p:spPr>
      </p:sp>
      <p:sp>
        <p:nvSpPr>
          <p:cNvPr id="12" name="Text 8"/>
          <p:cNvSpPr/>
          <p:nvPr/>
        </p:nvSpPr>
        <p:spPr>
          <a:xfrm>
            <a:off x="914400" y="5596128"/>
            <a:ext cx="10332720" cy="749808"/>
          </a:xfrm>
          <a:prstGeom prst="rect">
            <a:avLst/>
          </a:prstGeom>
          <a:noFill/>
          <a:ln/>
        </p:spPr>
        <p:txBody>
          <a:bodyPr wrap="square" lIns="0" tIns="50800" rIns="50800" bIns="0" rtlCol="0" anchor="ctr"/>
          <a:lstStyle/>
          <a:p>
            <a:pPr marL="342900" indent="-342900">
              <a:spcAft>
                <a:spcPts val="250"/>
              </a:spcAft>
              <a:buSzPct val="100000"/>
              <a:buChar char="•"/>
            </a:pPr>
            <a:r>
              <a:rPr lang="en-US" sz="920" dirty="0">
                <a:solidFill>
                  <a:srgbClr val="334155"/>
                </a:solidFill>
                <a:latin typeface="Calibri" pitchFamily="34" charset="0"/>
                <a:ea typeface="Calibri" pitchFamily="34" charset="-122"/>
                <a:cs typeface="Calibri" pitchFamily="34" charset="-120"/>
              </a:rPr>
              <a:t>Kiểm tra Cooldown: Hệ thống chặn làm bài nếu đang trong thời gian chờ 24 giờ sau lần thi trượt gần nhất.</a:t>
            </a:r>
            <a:endParaRPr lang="en-US" sz="920" dirty="0"/>
          </a:p>
          <a:p>
            <a:pPr marL="342900" indent="-342900">
              <a:spcAft>
                <a:spcPts val="250"/>
              </a:spcAft>
              <a:buSzPct val="100000"/>
              <a:buChar char="•"/>
            </a:pPr>
            <a:r>
              <a:rPr lang="en-US" sz="920" dirty="0">
                <a:solidFill>
                  <a:srgbClr val="334155"/>
                </a:solidFill>
                <a:latin typeface="Calibri" pitchFamily="34" charset="0"/>
                <a:ea typeface="Calibri" pitchFamily="34" charset="-122"/>
                <a:cs typeface="Calibri" pitchFamily="34" charset="-120"/>
              </a:rPr>
              <a:t>Quy mô đề Jump: 20 câu (vượt 1 Unit), 25–30 câu (vượt 2–3 Units), hoặc 40 câu (vượt hơn 3 Units).</a:t>
            </a:r>
            <a:endParaRPr lang="en-US" sz="920" dirty="0"/>
          </a:p>
          <a:p>
            <a:pPr marL="342900" indent="-342900">
              <a:spcAft>
                <a:spcPts val="250"/>
              </a:spcAft>
              <a:buSzPct val="100000"/>
              <a:buChar char="•"/>
            </a:pPr>
            <a:r>
              <a:rPr lang="en-US" sz="920" dirty="0">
                <a:solidFill>
                  <a:srgbClr val="334155"/>
                </a:solidFill>
                <a:latin typeface="Calibri" pitchFamily="34" charset="0"/>
                <a:ea typeface="Calibri" pitchFamily="34" charset="-122"/>
                <a:cs typeface="Calibri" pitchFamily="34" charset="-120"/>
              </a:rPr>
              <a:t>Xử lý kết quả: Đạt &gt;= 95% gán nhãn SKIPPED_BY_JUMP (by_jump = true) cho nội dung vượt qua; thi trượt kích hoạt Cooldown 24h.</a:t>
            </a:r>
            <a:endParaRPr lang="en-US" sz="9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000" b="1" spc="150" kern="0" dirty="0">
                <a:solidFill>
                  <a:srgbClr val="2563EB"/>
                </a:solidFill>
                <a:latin typeface="Calibri" pitchFamily="34" charset="0"/>
                <a:ea typeface="Calibri" pitchFamily="34" charset="-122"/>
                <a:cs typeface="Calibri" pitchFamily="34" charset="-120"/>
              </a:rPr>
              <a:t>QUY TRÌNH NỘI DUNG</a:t>
            </a:r>
            <a:endParaRPr lang="en-US" sz="1000" dirty="0"/>
          </a:p>
        </p:txBody>
      </p:sp>
      <p:sp>
        <p:nvSpPr>
          <p:cNvPr id="3" name="Text 1"/>
          <p:cNvSpPr/>
          <p:nvPr/>
        </p:nvSpPr>
        <p:spPr>
          <a:xfrm>
            <a:off x="731520" y="566928"/>
            <a:ext cx="9601200" cy="411480"/>
          </a:xfrm>
          <a:prstGeom prst="rect">
            <a:avLst/>
          </a:prstGeom>
          <a:noFill/>
          <a:ln/>
        </p:spPr>
        <p:txBody>
          <a:bodyPr wrap="square" lIns="0" tIns="0" rIns="0" bIns="0"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Sơ Đồ Hoạt Động — Quản Trị &amp; Xuất Bản Nội Dung</a:t>
            </a:r>
            <a:endParaRPr lang="en-US" sz="2100" dirty="0"/>
          </a:p>
        </p:txBody>
      </p:sp>
      <p:sp>
        <p:nvSpPr>
          <p:cNvPr id="4" name="Text 2"/>
          <p:cNvSpPr/>
          <p:nvPr/>
        </p:nvSpPr>
        <p:spPr>
          <a:xfrm>
            <a:off x="10515600" y="365760"/>
            <a:ext cx="91440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09 / 12</a:t>
            </a:r>
            <a:endParaRPr lang="en-US" sz="1100" dirty="0"/>
          </a:p>
        </p:txBody>
      </p:sp>
      <p:sp>
        <p:nvSpPr>
          <p:cNvPr id="5" name="Text 3"/>
          <p:cNvSpPr/>
          <p:nvPr/>
        </p:nvSpPr>
        <p:spPr>
          <a:xfrm>
            <a:off x="731520" y="1078992"/>
            <a:ext cx="5230368"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Quy Trình Phê Duyệt &amp; Xuất Bản Chính Thức</a:t>
            </a:r>
            <a:endParaRPr lang="en-US" sz="1050" dirty="0"/>
          </a:p>
        </p:txBody>
      </p:sp>
      <p:sp>
        <p:nvSpPr>
          <p:cNvPr id="6" name="Shape 4"/>
          <p:cNvSpPr/>
          <p:nvPr/>
        </p:nvSpPr>
        <p:spPr>
          <a:xfrm>
            <a:off x="731520" y="1353312"/>
            <a:ext cx="5230368" cy="4069080"/>
          </a:xfrm>
          <a:prstGeom prst="rect">
            <a:avLst/>
          </a:prstGeom>
          <a:solidFill>
            <a:srgbClr val="FFFFFF"/>
          </a:solidFill>
          <a:ln w="12700">
            <a:solidFill>
              <a:srgbClr val="E2E8F0"/>
            </a:solidFill>
            <a:prstDash val="solid"/>
          </a:ln>
        </p:spPr>
      </p:sp>
      <p:pic>
        <p:nvPicPr>
          <p:cNvPr id="7" name="Image 0" descr="preencoded.png">    </p:cNvPr>
          <p:cNvPicPr>
            <a:picLocks noChangeAspect="1"/>
          </p:cNvPicPr>
          <p:nvPr/>
        </p:nvPicPr>
        <p:blipFill>
          <a:blip r:embed="rId1"/>
          <a:srcRect l="0" r="0" t="0" b="0"/>
          <a:stretch/>
        </p:blipFill>
        <p:spPr>
          <a:xfrm>
            <a:off x="804672" y="1417320"/>
            <a:ext cx="5084064" cy="3941064"/>
          </a:xfrm>
          <a:prstGeom prst="rect">
            <a:avLst/>
          </a:prstGeom>
        </p:spPr>
      </p:pic>
      <p:sp>
        <p:nvSpPr>
          <p:cNvPr id="8" name="Text 5"/>
          <p:cNvSpPr/>
          <p:nvPr/>
        </p:nvSpPr>
        <p:spPr>
          <a:xfrm>
            <a:off x="6229807" y="1078992"/>
            <a:ext cx="5230368" cy="228600"/>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Cơ Chế Clone-to-Draft v2 &amp; Xuất Bản Khẩn Cấp</a:t>
            </a:r>
            <a:endParaRPr lang="en-US" sz="1050" dirty="0"/>
          </a:p>
        </p:txBody>
      </p:sp>
      <p:sp>
        <p:nvSpPr>
          <p:cNvPr id="9" name="Shape 6"/>
          <p:cNvSpPr/>
          <p:nvPr/>
        </p:nvSpPr>
        <p:spPr>
          <a:xfrm>
            <a:off x="6229807" y="1353312"/>
            <a:ext cx="5230368" cy="40690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rcRect l="0" r="0" t="0" b="0"/>
          <a:stretch/>
        </p:blipFill>
        <p:spPr>
          <a:xfrm>
            <a:off x="6302959" y="1417320"/>
            <a:ext cx="5084064" cy="3941064"/>
          </a:xfrm>
          <a:prstGeom prst="rect">
            <a:avLst/>
          </a:prstGeom>
        </p:spPr>
      </p:pic>
      <p:sp>
        <p:nvSpPr>
          <p:cNvPr id="11" name="Shape 7"/>
          <p:cNvSpPr/>
          <p:nvPr/>
        </p:nvSpPr>
        <p:spPr>
          <a:xfrm>
            <a:off x="731520" y="5532120"/>
            <a:ext cx="10728655" cy="868680"/>
          </a:xfrm>
          <a:prstGeom prst="rect">
            <a:avLst/>
          </a:prstGeom>
          <a:solidFill>
            <a:srgbClr val="F1F5F9"/>
          </a:solidFill>
          <a:ln w="12700">
            <a:solidFill>
              <a:srgbClr val="E2E8F0"/>
            </a:solidFill>
            <a:prstDash val="solid"/>
          </a:ln>
        </p:spPr>
      </p:sp>
      <p:sp>
        <p:nvSpPr>
          <p:cNvPr id="12" name="Text 8"/>
          <p:cNvSpPr/>
          <p:nvPr/>
        </p:nvSpPr>
        <p:spPr>
          <a:xfrm>
            <a:off x="914400" y="5596128"/>
            <a:ext cx="10332720" cy="749808"/>
          </a:xfrm>
          <a:prstGeom prst="rect">
            <a:avLst/>
          </a:prstGeom>
          <a:noFill/>
          <a:ln/>
        </p:spPr>
        <p:txBody>
          <a:bodyPr wrap="square" lIns="0" tIns="50800" rIns="50800" bIns="0" rtlCol="0" anchor="ctr"/>
          <a:lstStyle/>
          <a:p>
            <a:pPr marL="342900" indent="-342900">
              <a:spcAft>
                <a:spcPts val="250"/>
              </a:spcAft>
              <a:buSzPct val="100000"/>
              <a:buChar char="•"/>
            </a:pPr>
            <a:r>
              <a:rPr lang="en-US" sz="920" dirty="0">
                <a:solidFill>
                  <a:srgbClr val="334155"/>
                </a:solidFill>
                <a:latin typeface="Calibri" pitchFamily="34" charset="0"/>
                <a:ea typeface="Calibri" pitchFamily="34" charset="-122"/>
                <a:cs typeface="Calibri" pitchFamily="34" charset="-120"/>
              </a:rPr>
              <a:t>Phê duyệt độc lập: Moderator chuyển APPROVED hoặc CHANGES_REQUESTED kèm ghi chú, không dùng trạng thái REJECTED.</a:t>
            </a:r>
            <a:endParaRPr lang="en-US" sz="920" dirty="0"/>
          </a:p>
          <a:p>
            <a:pPr marL="342900" indent="-342900">
              <a:spcAft>
                <a:spcPts val="250"/>
              </a:spcAft>
              <a:buSzPct val="100000"/>
              <a:buChar char="•"/>
            </a:pPr>
            <a:r>
              <a:rPr lang="en-US" sz="920" dirty="0">
                <a:solidFill>
                  <a:srgbClr val="334155"/>
                </a:solidFill>
                <a:latin typeface="Calibri" pitchFamily="34" charset="0"/>
                <a:ea typeface="Calibri" pitchFamily="34" charset="-122"/>
                <a:cs typeface="Calibri" pitchFamily="34" charset="-120"/>
              </a:rPr>
              <a:t>Quyền xuất bản: Org Manager là vai trò duy nhất có thẩm quyền Publish bài học sau khi đã duyệt APPROVED.</a:t>
            </a:r>
            <a:endParaRPr lang="en-US" sz="920" dirty="0"/>
          </a:p>
          <a:p>
            <a:pPr marL="342900" indent="-342900">
              <a:spcAft>
                <a:spcPts val="250"/>
              </a:spcAft>
              <a:buSzPct val="100000"/>
              <a:buChar char="•"/>
            </a:pPr>
            <a:r>
              <a:rPr lang="en-US" sz="920" dirty="0">
                <a:solidFill>
                  <a:srgbClr val="334155"/>
                </a:solidFill>
                <a:latin typeface="Calibri" pitchFamily="34" charset="0"/>
                <a:ea typeface="Calibri" pitchFamily="34" charset="-122"/>
                <a:cs typeface="Calibri" pitchFamily="34" charset="-120"/>
              </a:rPr>
              <a:t>Clone-to-Draft v2 &amp; Khẩn cấp: Sửa bài đã xuất bản tạo bản nháp v2 và Archive v1 sau khi Publish v2; Admin xuất bản khẩn cấp có AuditLog.</a:t>
            </a:r>
            <a:endParaRPr lang="en-US" sz="9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000" b="1" spc="150" kern="0" dirty="0">
                <a:solidFill>
                  <a:srgbClr val="2563EB"/>
                </a:solidFill>
                <a:latin typeface="Calibri" pitchFamily="34" charset="0"/>
                <a:ea typeface="Calibri" pitchFamily="34" charset="-122"/>
                <a:cs typeface="Calibri" pitchFamily="34" charset="-120"/>
              </a:rPr>
              <a:t>MÔ HÌNH CẤU TRÚC</a:t>
            </a:r>
            <a:endParaRPr lang="en-US" sz="1000" dirty="0"/>
          </a:p>
        </p:txBody>
      </p:sp>
      <p:sp>
        <p:nvSpPr>
          <p:cNvPr id="3" name="Text 1"/>
          <p:cNvSpPr/>
          <p:nvPr/>
        </p:nvSpPr>
        <p:spPr>
          <a:xfrm>
            <a:off x="731520" y="566928"/>
            <a:ext cx="9601200" cy="411480"/>
          </a:xfrm>
          <a:prstGeom prst="rect">
            <a:avLst/>
          </a:prstGeom>
          <a:noFill/>
          <a:ln/>
        </p:spPr>
        <p:txBody>
          <a:bodyPr wrap="square" lIns="0" tIns="0" rIns="0" bIns="0"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Sơ Đồ Lớp — Cấu Trúc Nội Dung &amp; Khóa Học</a:t>
            </a:r>
            <a:endParaRPr lang="en-US" sz="2100" dirty="0"/>
          </a:p>
        </p:txBody>
      </p:sp>
      <p:sp>
        <p:nvSpPr>
          <p:cNvPr id="4" name="Text 2"/>
          <p:cNvSpPr/>
          <p:nvPr/>
        </p:nvSpPr>
        <p:spPr>
          <a:xfrm>
            <a:off x="10515600" y="365760"/>
            <a:ext cx="91440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10 / 12</a:t>
            </a:r>
            <a:endParaRPr lang="en-US" sz="1100" dirty="0"/>
          </a:p>
        </p:txBody>
      </p:sp>
      <p:sp>
        <p:nvSpPr>
          <p:cNvPr id="5" name="Shape 3"/>
          <p:cNvSpPr/>
          <p:nvPr/>
        </p:nvSpPr>
        <p:spPr>
          <a:xfrm>
            <a:off x="731520" y="1143000"/>
            <a:ext cx="10728655" cy="425196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rcRect l="0" r="0" t="0" b="0"/>
          <a:stretch/>
        </p:blipFill>
        <p:spPr>
          <a:xfrm>
            <a:off x="822960" y="1234440"/>
            <a:ext cx="10545775" cy="4069080"/>
          </a:xfrm>
          <a:prstGeom prst="rect">
            <a:avLst/>
          </a:prstGeom>
        </p:spPr>
      </p:pic>
      <p:sp>
        <p:nvSpPr>
          <p:cNvPr id="7" name="Shape 4"/>
          <p:cNvSpPr/>
          <p:nvPr/>
        </p:nvSpPr>
        <p:spPr>
          <a:xfrm>
            <a:off x="731520" y="5532120"/>
            <a:ext cx="10728655" cy="868680"/>
          </a:xfrm>
          <a:prstGeom prst="rect">
            <a:avLst/>
          </a:prstGeom>
          <a:solidFill>
            <a:srgbClr val="F1F5F9"/>
          </a:solidFill>
          <a:ln w="12700">
            <a:solidFill>
              <a:srgbClr val="E2E8F0"/>
            </a:solidFill>
            <a:prstDash val="solid"/>
          </a:ln>
        </p:spPr>
      </p:sp>
      <p:sp>
        <p:nvSpPr>
          <p:cNvPr id="8" name="Text 5"/>
          <p:cNvSpPr/>
          <p:nvPr/>
        </p:nvSpPr>
        <p:spPr>
          <a:xfrm>
            <a:off x="914400" y="5596128"/>
            <a:ext cx="10332720" cy="749808"/>
          </a:xfrm>
          <a:prstGeom prst="rect">
            <a:avLst/>
          </a:prstGeom>
          <a:noFill/>
          <a:ln/>
        </p:spPr>
        <p:txBody>
          <a:bodyPr wrap="square" lIns="0" tIns="50800" rIns="50800" bIns="0" rtlCol="0" anchor="ctr"/>
          <a:lstStyle/>
          <a:p>
            <a:pPr marL="342900" indent="-342900">
              <a:spcAft>
                <a:spcPts val="250"/>
              </a:spcAft>
              <a:buSzPct val="100000"/>
              <a:buChar char="•"/>
            </a:pPr>
            <a:r>
              <a:rPr lang="en-US" sz="920" dirty="0">
                <a:solidFill>
                  <a:srgbClr val="334155"/>
                </a:solidFill>
                <a:latin typeface="Calibri" pitchFamily="34" charset="0"/>
                <a:ea typeface="Calibri" pitchFamily="34" charset="-122"/>
                <a:cs typeface="Calibri" pitchFamily="34" charset="-120"/>
              </a:rPr>
              <a:t>Ký hiệu CURRENT vs TARGET: Phân biệt bằng nét vẽ: nét liền cho thực thể CURRENT (schema.prisma hiện hành) và nét đứt cho TARGET (mục tiêu Phase 2).</a:t>
            </a:r>
            <a:endParaRPr lang="en-US" sz="920" dirty="0"/>
          </a:p>
          <a:p>
            <a:pPr marL="342900" indent="-342900">
              <a:spcAft>
                <a:spcPts val="250"/>
              </a:spcAft>
              <a:buSzPct val="100000"/>
              <a:buChar char="•"/>
            </a:pPr>
            <a:r>
              <a:rPr lang="en-US" sz="920" dirty="0">
                <a:solidFill>
                  <a:srgbClr val="334155"/>
                </a:solidFill>
                <a:latin typeface="Calibri" pitchFamily="34" charset="0"/>
                <a:ea typeface="Calibri" pitchFamily="34" charset="-122"/>
                <a:cs typeface="Calibri" pitchFamily="34" charset="-120"/>
              </a:rPr>
              <a:t>Vòng đời 6 trạng thái: LessonRevision quản lý 6 trạng thái: DRAFT, IN_REVIEW, CHANGES_REQUESTED, APPROVED, PUBLISHED, ARCHIVED.</a:t>
            </a:r>
            <a:endParaRPr lang="en-US" sz="920" dirty="0"/>
          </a:p>
          <a:p>
            <a:pPr marL="342900" indent="-342900">
              <a:spcAft>
                <a:spcPts val="250"/>
              </a:spcAft>
              <a:buSzPct val="100000"/>
              <a:buChar char="•"/>
            </a:pPr>
            <a:r>
              <a:rPr lang="en-US" sz="920" dirty="0">
                <a:solidFill>
                  <a:srgbClr val="334155"/>
                </a:solidFill>
                <a:latin typeface="Calibri" pitchFamily="34" charset="0"/>
                <a:ea typeface="Calibri" pitchFamily="34" charset="-122"/>
                <a:cs typeface="Calibri" pitchFamily="34" charset="-120"/>
              </a:rPr>
              <a:t>Liên kết &amp; Ràng buộc: Exercise gắn trực tiếp với LessonRevision; Unit chỉ mở hiển thị cho học viên khi có đủ 4/4 Lesson Published.</a:t>
            </a:r>
            <a:endParaRPr lang="en-US" sz="9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000" b="1" spc="150" kern="0" dirty="0">
                <a:solidFill>
                  <a:srgbClr val="2563EB"/>
                </a:solidFill>
                <a:latin typeface="Calibri" pitchFamily="34" charset="0"/>
                <a:ea typeface="Calibri" pitchFamily="34" charset="-122"/>
                <a:cs typeface="Calibri" pitchFamily="34" charset="-120"/>
              </a:rPr>
              <a:t>MÔ HÌNH HỌC VIÊN</a:t>
            </a:r>
            <a:endParaRPr lang="en-US" sz="1000" dirty="0"/>
          </a:p>
        </p:txBody>
      </p:sp>
      <p:sp>
        <p:nvSpPr>
          <p:cNvPr id="3" name="Text 1"/>
          <p:cNvSpPr/>
          <p:nvPr/>
        </p:nvSpPr>
        <p:spPr>
          <a:xfrm>
            <a:off x="731520" y="566928"/>
            <a:ext cx="9601200" cy="411480"/>
          </a:xfrm>
          <a:prstGeom prst="rect">
            <a:avLst/>
          </a:prstGeom>
          <a:noFill/>
          <a:ln/>
        </p:spPr>
        <p:txBody>
          <a:bodyPr wrap="square" lIns="0" tIns="0" rIns="0" bIns="0"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Sơ Đồ Lớp — Học Viên, Đánh Giá &amp; Tiến Độ</a:t>
            </a:r>
            <a:endParaRPr lang="en-US" sz="2100" dirty="0"/>
          </a:p>
        </p:txBody>
      </p:sp>
      <p:sp>
        <p:nvSpPr>
          <p:cNvPr id="4" name="Text 2"/>
          <p:cNvSpPr/>
          <p:nvPr/>
        </p:nvSpPr>
        <p:spPr>
          <a:xfrm>
            <a:off x="10515600" y="365760"/>
            <a:ext cx="91440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11 / 12</a:t>
            </a:r>
            <a:endParaRPr lang="en-US" sz="1100" dirty="0"/>
          </a:p>
        </p:txBody>
      </p:sp>
      <p:sp>
        <p:nvSpPr>
          <p:cNvPr id="5" name="Shape 3"/>
          <p:cNvSpPr/>
          <p:nvPr/>
        </p:nvSpPr>
        <p:spPr>
          <a:xfrm>
            <a:off x="731520" y="1143000"/>
            <a:ext cx="10728655" cy="425196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rcRect l="0" r="0" t="0" b="0"/>
          <a:stretch/>
        </p:blipFill>
        <p:spPr>
          <a:xfrm>
            <a:off x="822960" y="1234440"/>
            <a:ext cx="10545775" cy="4069080"/>
          </a:xfrm>
          <a:prstGeom prst="rect">
            <a:avLst/>
          </a:prstGeom>
        </p:spPr>
      </p:pic>
      <p:sp>
        <p:nvSpPr>
          <p:cNvPr id="7" name="Shape 4"/>
          <p:cNvSpPr/>
          <p:nvPr/>
        </p:nvSpPr>
        <p:spPr>
          <a:xfrm>
            <a:off x="731520" y="5532120"/>
            <a:ext cx="10728655" cy="868680"/>
          </a:xfrm>
          <a:prstGeom prst="rect">
            <a:avLst/>
          </a:prstGeom>
          <a:solidFill>
            <a:srgbClr val="F1F5F9"/>
          </a:solidFill>
          <a:ln w="12700">
            <a:solidFill>
              <a:srgbClr val="E2E8F0"/>
            </a:solidFill>
            <a:prstDash val="solid"/>
          </a:ln>
        </p:spPr>
      </p:sp>
      <p:sp>
        <p:nvSpPr>
          <p:cNvPr id="8" name="Text 5"/>
          <p:cNvSpPr/>
          <p:nvPr/>
        </p:nvSpPr>
        <p:spPr>
          <a:xfrm>
            <a:off x="914400" y="5596128"/>
            <a:ext cx="10332720" cy="749808"/>
          </a:xfrm>
          <a:prstGeom prst="rect">
            <a:avLst/>
          </a:prstGeom>
          <a:noFill/>
          <a:ln/>
        </p:spPr>
        <p:txBody>
          <a:bodyPr wrap="square" lIns="0" tIns="50800" rIns="50800" bIns="0" rtlCol="0" anchor="ctr"/>
          <a:lstStyle/>
          <a:p>
            <a:pPr marL="342900" indent="-342900">
              <a:spcAft>
                <a:spcPts val="250"/>
              </a:spcAft>
              <a:buSzPct val="100000"/>
              <a:buChar char="•"/>
            </a:pPr>
            <a:r>
              <a:rPr lang="en-US" sz="920" dirty="0">
                <a:solidFill>
                  <a:srgbClr val="334155"/>
                </a:solidFill>
                <a:latin typeface="Calibri" pitchFamily="34" charset="0"/>
                <a:ea typeface="Calibri" pitchFamily="34" charset="-122"/>
                <a:cs typeface="Calibri" pitchFamily="34" charset="-120"/>
              </a:rPr>
              <a:t>Tiến độ tách biệt Năng lực: Tách riêng UserProgress (tiến độ hoàn thành tuyến tính) khỏi SkillProfile (năng lực đa chiều qua AssessmentResult).</a:t>
            </a:r>
            <a:endParaRPr lang="en-US" sz="920" dirty="0"/>
          </a:p>
          <a:p>
            <a:pPr marL="342900" indent="-342900">
              <a:spcAft>
                <a:spcPts val="250"/>
              </a:spcAft>
              <a:buSzPct val="100000"/>
              <a:buChar char="•"/>
            </a:pPr>
            <a:r>
              <a:rPr lang="en-US" sz="920" dirty="0">
                <a:solidFill>
                  <a:srgbClr val="334155"/>
                </a:solidFill>
                <a:latin typeface="Calibri" pitchFamily="34" charset="0"/>
                <a:ea typeface="Calibri" pitchFamily="34" charset="-122"/>
                <a:cs typeface="Calibri" pitchFamily="34" charset="-120"/>
              </a:rPr>
              <a:t>SRS tất định Policy B: UserVocabSrs và ReviewLog thực thi chu kỳ ôn tập cố định 1, 3, 7, 14, 30 ngày; trả lời sai reset về mốc 1 ngày.</a:t>
            </a:r>
            <a:endParaRPr lang="en-US" sz="920" dirty="0"/>
          </a:p>
          <a:p>
            <a:pPr marL="342900" indent="-342900">
              <a:spcAft>
                <a:spcPts val="250"/>
              </a:spcAft>
              <a:buSzPct val="100000"/>
              <a:buChar char="•"/>
            </a:pPr>
            <a:r>
              <a:rPr lang="en-US" sz="920" dirty="0">
                <a:solidFill>
                  <a:srgbClr val="334155"/>
                </a:solidFill>
                <a:latin typeface="Calibri" pitchFamily="34" charset="0"/>
                <a:ea typeface="Calibri" pitchFamily="34" charset="-122"/>
                <a:cs typeface="Calibri" pitchFamily="34" charset="-120"/>
              </a:rPr>
              <a:t>Trạng thái Retry &amp; Jump: Hạn mức Retry usage và Jump cooldown 24h được mô hình hóa dưới dạng ghi chú logic gắn vào UserProgress.</a:t>
            </a:r>
            <a:endParaRPr lang="en-US" sz="9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000" b="1" spc="150" kern="0" dirty="0">
                <a:solidFill>
                  <a:srgbClr val="2563EB"/>
                </a:solidFill>
                <a:latin typeface="Calibri" pitchFamily="34" charset="0"/>
                <a:ea typeface="Calibri" pitchFamily="34" charset="-122"/>
                <a:cs typeface="Calibri" pitchFamily="34" charset="-120"/>
              </a:rPr>
              <a:t>TRUY VẾT YÊU CẦU</a:t>
            </a:r>
            <a:endParaRPr lang="en-US" sz="1000" dirty="0"/>
          </a:p>
        </p:txBody>
      </p:sp>
      <p:sp>
        <p:nvSpPr>
          <p:cNvPr id="3" name="Text 1"/>
          <p:cNvSpPr/>
          <p:nvPr/>
        </p:nvSpPr>
        <p:spPr>
          <a:xfrm>
            <a:off x="731520" y="566928"/>
            <a:ext cx="9601200" cy="411480"/>
          </a:xfrm>
          <a:prstGeom prst="rect">
            <a:avLst/>
          </a:prstGeom>
          <a:noFill/>
          <a:ln/>
        </p:spPr>
        <p:txBody>
          <a:bodyPr wrap="square" lIns="0" tIns="0" rIns="0" bIns="0" rtlCol="0" anchor="ctr"/>
          <a:lstStyle/>
          <a:p>
            <a:pPr indent="0" marL="0">
              <a:buNone/>
            </a:pPr>
            <a:r>
              <a:rPr lang="en-US" sz="2100" b="1" dirty="0">
                <a:solidFill>
                  <a:srgbClr val="0F172A"/>
                </a:solidFill>
                <a:latin typeface="Calibri" pitchFamily="34" charset="0"/>
                <a:ea typeface="Calibri" pitchFamily="34" charset="-122"/>
                <a:cs typeface="Calibri" pitchFamily="34" charset="-120"/>
              </a:rPr>
              <a:t>Ma Trận Truy Vết Nghiệp Vụ Toàn Diện (Traceability Matrix)</a:t>
            </a:r>
            <a:endParaRPr lang="en-US" sz="2100" dirty="0"/>
          </a:p>
        </p:txBody>
      </p:sp>
      <p:sp>
        <p:nvSpPr>
          <p:cNvPr id="4" name="Text 2"/>
          <p:cNvSpPr/>
          <p:nvPr/>
        </p:nvSpPr>
        <p:spPr>
          <a:xfrm>
            <a:off x="10515600" y="365760"/>
            <a:ext cx="914400" cy="274320"/>
          </a:xfrm>
          <a:prstGeom prst="rect">
            <a:avLst/>
          </a:prstGeom>
          <a:noFill/>
          <a:ln/>
        </p:spPr>
        <p:txBody>
          <a:bodyPr wrap="square" lIns="0" tIns="0" rIns="0" bIns="0" rtlCol="0" anchor="ctr"/>
          <a:lstStyle/>
          <a:p>
            <a:pPr algn="r" indent="0" marL="0">
              <a:buNone/>
            </a:pPr>
            <a:r>
              <a:rPr lang="en-US" sz="1100" b="1" dirty="0">
                <a:solidFill>
                  <a:srgbClr val="64748B"/>
                </a:solidFill>
                <a:latin typeface="Calibri" pitchFamily="34" charset="0"/>
                <a:ea typeface="Calibri" pitchFamily="34" charset="-122"/>
                <a:cs typeface="Calibri" pitchFamily="34" charset="-120"/>
              </a:rPr>
              <a:t>12 / 12</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31520" y="1143000"/>
          <a:ext cx="10728655" cy="914400"/>
        </p:xfrm>
        <a:graphic>
          <a:graphicData uri="http://schemas.openxmlformats.org/drawingml/2006/table">
            <a:tbl>
              <a:tblPr/>
              <a:tblGrid>
                <a:gridCol w="777240"/>
                <a:gridCol w="3200400"/>
                <a:gridCol w="1828800"/>
                <a:gridCol w="2468880"/>
                <a:gridCol w="2453335"/>
              </a:tblGrid>
              <a:tr h="283464">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UC ID</a:t>
                      </a:r>
                      <a:endParaRPr lang="en-US" sz="1000" dirty="0">
                        <a:latin typeface="Calibri" charset="0"/>
                        <a:ea typeface="Calibri" charset="0"/>
                        <a:cs typeface="Calibri" charset="0"/>
                      </a:endParaRPr>
                    </a:p>
                  </a:txBody>
                  <a:tcPr marL="63500" marR="63500" marT="38100" marB="381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Tên Ca Sử Dụng Chuẩn Tắc</a:t>
                      </a:r>
                      <a:endParaRPr lang="en-US" sz="1000" dirty="0">
                        <a:latin typeface="Calibri" charset="0"/>
                        <a:ea typeface="Calibri" charset="0"/>
                        <a:cs typeface="Calibri" charset="0"/>
                      </a:endParaRPr>
                    </a:p>
                  </a:txBody>
                  <a:tcPr marL="63500" marR="63500" marT="38100" marB="381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Sơ Đồ Hoạt Động</a:t>
                      </a:r>
                      <a:endParaRPr lang="en-US" sz="1000" dirty="0">
                        <a:latin typeface="Calibri" charset="0"/>
                        <a:ea typeface="Calibri" charset="0"/>
                        <a:cs typeface="Calibri" charset="0"/>
                      </a:endParaRPr>
                    </a:p>
                  </a:txBody>
                  <a:tcPr marL="63500" marR="63500" marT="38100" marB="381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Lớp Dữ Liệu</a:t>
                      </a:r>
                      <a:endParaRPr lang="en-US" sz="1000" dirty="0">
                        <a:latin typeface="Calibri" charset="0"/>
                        <a:ea typeface="Calibri" charset="0"/>
                        <a:cs typeface="Calibri" charset="0"/>
                      </a:endParaRPr>
                    </a:p>
                  </a:txBody>
                  <a:tcPr marL="63500" marR="63500" marT="38100" marB="381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Phạm Vi Triển Khai</a:t>
                      </a:r>
                      <a:endParaRPr lang="en-US" sz="1000" dirty="0">
                        <a:latin typeface="Calibri" charset="0"/>
                        <a:ea typeface="Calibri" charset="0"/>
                        <a:cs typeface="Calibri" charset="0"/>
                      </a:endParaRPr>
                    </a:p>
                  </a:txBody>
                  <a:tcPr marL="63500" marR="63500" marT="38100" marB="381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r>
              <a:tr h="283464">
                <a:tc>
                  <a:txBody>
                    <a:bodyPr/>
                    <a:lstStyle/>
                    <a:p>
                      <a:pPr algn="ctr" indent="0" marL="0">
                        <a:buNone/>
                      </a:pPr>
                      <a:r>
                        <a:rPr lang="en-US" sz="920" b="1" dirty="0">
                          <a:solidFill>
                            <a:srgbClr val="2563EB"/>
                          </a:solidFill>
                          <a:latin typeface="Calibri" pitchFamily="34" charset="0"/>
                          <a:ea typeface="Calibri" pitchFamily="34" charset="-122"/>
                          <a:cs typeface="Calibri" pitchFamily="34" charset="-120"/>
                        </a:rPr>
                        <a:t>UC-01</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Authenticate &amp; Manage Session</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Profile, Role</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20" b="1" dirty="0">
                          <a:solidFill>
                            <a:srgbClr val="15803D"/>
                          </a:solidFill>
                          <a:latin typeface="Calibri" pitchFamily="34" charset="0"/>
                          <a:ea typeface="Calibri" pitchFamily="34" charset="-122"/>
                          <a:cs typeface="Calibri" pitchFamily="34" charset="-120"/>
                        </a:rPr>
                        <a:t>CORE (Phase 2 MVP)</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3464">
                <a:tc>
                  <a:txBody>
                    <a:bodyPr/>
                    <a:lstStyle/>
                    <a:p>
                      <a:pPr algn="ctr" indent="0" marL="0">
                        <a:buNone/>
                      </a:pPr>
                      <a:r>
                        <a:rPr lang="en-US" sz="920" b="1" dirty="0">
                          <a:solidFill>
                            <a:srgbClr val="2563EB"/>
                          </a:solidFill>
                          <a:latin typeface="Calibri" pitchFamily="34" charset="0"/>
                          <a:ea typeface="Calibri" pitchFamily="34" charset="-122"/>
                          <a:cs typeface="Calibri" pitchFamily="34" charset="-120"/>
                        </a:rPr>
                        <a:t>UC-02</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Configure Goals &amp; Study Time</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Profile</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20" b="1" dirty="0">
                          <a:solidFill>
                            <a:srgbClr val="15803D"/>
                          </a:solidFill>
                          <a:latin typeface="Calibri" pitchFamily="34" charset="0"/>
                          <a:ea typeface="Calibri" pitchFamily="34" charset="-122"/>
                          <a:cs typeface="Calibri" pitchFamily="34" charset="-120"/>
                        </a:rPr>
                        <a:t>CORE (Phase 2 MVP)</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83464">
                <a:tc>
                  <a:txBody>
                    <a:bodyPr/>
                    <a:lstStyle/>
                    <a:p>
                      <a:pPr algn="ctr" indent="0" marL="0">
                        <a:buNone/>
                      </a:pPr>
                      <a:r>
                        <a:rPr lang="en-US" sz="920" b="1" dirty="0">
                          <a:solidFill>
                            <a:srgbClr val="2563EB"/>
                          </a:solidFill>
                          <a:latin typeface="Calibri" pitchFamily="34" charset="0"/>
                          <a:ea typeface="Calibri" pitchFamily="34" charset="-122"/>
                          <a:cs typeface="Calibri" pitchFamily="34" charset="-120"/>
                        </a:rPr>
                        <a:t>UC-03</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Take Placement Test</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b="1" dirty="0">
                          <a:solidFill>
                            <a:srgbClr val="0F172A"/>
                          </a:solidFill>
                          <a:latin typeface="Calibri" pitchFamily="34" charset="0"/>
                          <a:ea typeface="Calibri" pitchFamily="34" charset="-122"/>
                          <a:cs typeface="Calibri" pitchFamily="34" charset="-120"/>
                        </a:rPr>
                        <a:t>Slide 6 (Diagnostic Test)</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AssessmentResult, SkillProfile</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20" b="1" dirty="0">
                          <a:solidFill>
                            <a:srgbClr val="15803D"/>
                          </a:solidFill>
                          <a:latin typeface="Calibri" pitchFamily="34" charset="0"/>
                          <a:ea typeface="Calibri" pitchFamily="34" charset="-122"/>
                          <a:cs typeface="Calibri" pitchFamily="34" charset="-120"/>
                        </a:rPr>
                        <a:t>CORE (Phase 2 MVP)</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3464">
                <a:tc>
                  <a:txBody>
                    <a:bodyPr/>
                    <a:lstStyle/>
                    <a:p>
                      <a:pPr algn="ctr" indent="0" marL="0">
                        <a:buNone/>
                      </a:pPr>
                      <a:r>
                        <a:rPr lang="en-US" sz="920" b="1" dirty="0">
                          <a:solidFill>
                            <a:srgbClr val="2563EB"/>
                          </a:solidFill>
                          <a:latin typeface="Calibri" pitchFamily="34" charset="0"/>
                          <a:ea typeface="Calibri" pitchFamily="34" charset="-122"/>
                          <a:cs typeface="Calibri" pitchFamily="34" charset="-120"/>
                        </a:rPr>
                        <a:t>UC-04</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Browse Learning Path &amp; Conditional Jump</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b="1" dirty="0">
                          <a:solidFill>
                            <a:srgbClr val="0F172A"/>
                          </a:solidFill>
                          <a:latin typeface="Calibri" pitchFamily="34" charset="0"/>
                          <a:ea typeface="Calibri" pitchFamily="34" charset="-122"/>
                          <a:cs typeface="Calibri" pitchFamily="34" charset="-120"/>
                        </a:rPr>
                        <a:t>Slide 8 (Conditional Jump)</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Course, Unit, Lesson, UserProgress</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20" b="1" dirty="0">
                          <a:solidFill>
                            <a:srgbClr val="15803D"/>
                          </a:solidFill>
                          <a:latin typeface="Calibri" pitchFamily="34" charset="0"/>
                          <a:ea typeface="Calibri" pitchFamily="34" charset="-122"/>
                          <a:cs typeface="Calibri" pitchFamily="34" charset="-120"/>
                        </a:rPr>
                        <a:t>CORE (Phase 2 MVP)</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83464">
                <a:tc>
                  <a:txBody>
                    <a:bodyPr/>
                    <a:lstStyle/>
                    <a:p>
                      <a:pPr algn="ctr" indent="0" marL="0">
                        <a:buNone/>
                      </a:pPr>
                      <a:r>
                        <a:rPr lang="en-US" sz="920" b="1" dirty="0">
                          <a:solidFill>
                            <a:srgbClr val="2563EB"/>
                          </a:solidFill>
                          <a:latin typeface="Calibri" pitchFamily="34" charset="0"/>
                          <a:ea typeface="Calibri" pitchFamily="34" charset="-122"/>
                          <a:cs typeface="Calibri" pitchFamily="34" charset="-120"/>
                        </a:rPr>
                        <a:t>UC-05</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Complete Lesson Exercises &amp; Controlled Retry</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b="1" dirty="0">
                          <a:solidFill>
                            <a:srgbClr val="0F172A"/>
                          </a:solidFill>
                          <a:latin typeface="Calibri" pitchFamily="34" charset="0"/>
                          <a:ea typeface="Calibri" pitchFamily="34" charset="-122"/>
                          <a:cs typeface="Calibri" pitchFamily="34" charset="-120"/>
                        </a:rPr>
                        <a:t>Slide 7 (Learning &amp; Retry)</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Lesson, Exercise, UserProgress</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20" b="1" dirty="0">
                          <a:solidFill>
                            <a:srgbClr val="15803D"/>
                          </a:solidFill>
                          <a:latin typeface="Calibri" pitchFamily="34" charset="0"/>
                          <a:ea typeface="Calibri" pitchFamily="34" charset="-122"/>
                          <a:cs typeface="Calibri" pitchFamily="34" charset="-120"/>
                        </a:rPr>
                        <a:t>CORE (Phase 2 MVP)</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3464">
                <a:tc>
                  <a:txBody>
                    <a:bodyPr/>
                    <a:lstStyle/>
                    <a:p>
                      <a:pPr algn="ctr" indent="0" marL="0">
                        <a:buNone/>
                      </a:pPr>
                      <a:r>
                        <a:rPr lang="en-US" sz="920" b="1" dirty="0">
                          <a:solidFill>
                            <a:srgbClr val="2563EB"/>
                          </a:solidFill>
                          <a:latin typeface="Calibri" pitchFamily="34" charset="0"/>
                          <a:ea typeface="Calibri" pitchFamily="34" charset="-122"/>
                          <a:cs typeface="Calibri" pitchFamily="34" charset="-120"/>
                        </a:rPr>
                        <a:t>UC-06</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Spaced Repetition Review (SRS)</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Vocabulary, UserVocabSrs, ReviewLog</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20" b="1" dirty="0">
                          <a:solidFill>
                            <a:srgbClr val="15803D"/>
                          </a:solidFill>
                          <a:latin typeface="Calibri" pitchFamily="34" charset="0"/>
                          <a:ea typeface="Calibri" pitchFamily="34" charset="-122"/>
                          <a:cs typeface="Calibri" pitchFamily="34" charset="-120"/>
                        </a:rPr>
                        <a:t>CORE (Phase 2 MVP)</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83464">
                <a:tc>
                  <a:txBody>
                    <a:bodyPr/>
                    <a:lstStyle/>
                    <a:p>
                      <a:pPr algn="ctr" indent="0" marL="0">
                        <a:buNone/>
                      </a:pPr>
                      <a:r>
                        <a:rPr lang="en-US" sz="920" b="1" dirty="0">
                          <a:solidFill>
                            <a:srgbClr val="2563EB"/>
                          </a:solidFill>
                          <a:latin typeface="Calibri" pitchFamily="34" charset="0"/>
                          <a:ea typeface="Calibri" pitchFamily="34" charset="-122"/>
                          <a:cs typeface="Calibri" pitchFamily="34" charset="-120"/>
                        </a:rPr>
                        <a:t>UC-07</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Track Progress, Mastery &amp; Streak</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b="1" dirty="0">
                          <a:solidFill>
                            <a:srgbClr val="0F172A"/>
                          </a:solidFill>
                          <a:latin typeface="Calibri" pitchFamily="34" charset="0"/>
                          <a:ea typeface="Calibri" pitchFamily="34" charset="-122"/>
                          <a:cs typeface="Calibri" pitchFamily="34" charset="-120"/>
                        </a:rPr>
                        <a:t>Slide 7 (Streak Update)</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Profile, UserProgress</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20" b="1" dirty="0">
                          <a:solidFill>
                            <a:srgbClr val="15803D"/>
                          </a:solidFill>
                          <a:latin typeface="Calibri" pitchFamily="34" charset="0"/>
                          <a:ea typeface="Calibri" pitchFamily="34" charset="-122"/>
                          <a:cs typeface="Calibri" pitchFamily="34" charset="-120"/>
                        </a:rPr>
                        <a:t>CORE (Phase 2 MVP)</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3464">
                <a:tc>
                  <a:txBody>
                    <a:bodyPr/>
                    <a:lstStyle/>
                    <a:p>
                      <a:pPr algn="ctr" indent="0" marL="0">
                        <a:buNone/>
                      </a:pPr>
                      <a:r>
                        <a:rPr lang="en-US" sz="920" b="1" dirty="0">
                          <a:solidFill>
                            <a:srgbClr val="2563EB"/>
                          </a:solidFill>
                          <a:latin typeface="Calibri" pitchFamily="34" charset="0"/>
                          <a:ea typeface="Calibri" pitchFamily="34" charset="-122"/>
                          <a:cs typeface="Calibri" pitchFamily="34" charset="-120"/>
                        </a:rPr>
                        <a:t>UC-08</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Create &amp; Edit Lesson Draft</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b="1" dirty="0">
                          <a:solidFill>
                            <a:srgbClr val="0F172A"/>
                          </a:solidFill>
                          <a:latin typeface="Calibri" pitchFamily="34" charset="0"/>
                          <a:ea typeface="Calibri" pitchFamily="34" charset="-122"/>
                          <a:cs typeface="Calibri" pitchFamily="34" charset="-120"/>
                        </a:rPr>
                        <a:t>Slide 9 (Governance &amp; Clone)</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Lesson, LessonRevision, Exercise</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20" b="1" dirty="0">
                          <a:solidFill>
                            <a:srgbClr val="15803D"/>
                          </a:solidFill>
                          <a:latin typeface="Calibri" pitchFamily="34" charset="0"/>
                          <a:ea typeface="Calibri" pitchFamily="34" charset="-122"/>
                          <a:cs typeface="Calibri" pitchFamily="34" charset="-120"/>
                        </a:rPr>
                        <a:t>CORE (Phase 2 MVP)</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83464">
                <a:tc>
                  <a:txBody>
                    <a:bodyPr/>
                    <a:lstStyle/>
                    <a:p>
                      <a:pPr algn="ctr" indent="0" marL="0">
                        <a:buNone/>
                      </a:pPr>
                      <a:r>
                        <a:rPr lang="en-US" sz="920" b="1" dirty="0">
                          <a:solidFill>
                            <a:srgbClr val="2563EB"/>
                          </a:solidFill>
                          <a:latin typeface="Calibri" pitchFamily="34" charset="0"/>
                          <a:ea typeface="Calibri" pitchFamily="34" charset="-122"/>
                          <a:cs typeface="Calibri" pitchFamily="34" charset="-120"/>
                        </a:rPr>
                        <a:t>UC-09</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Review &amp; Moderate Content</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b="1" dirty="0">
                          <a:solidFill>
                            <a:srgbClr val="0F172A"/>
                          </a:solidFill>
                          <a:latin typeface="Calibri" pitchFamily="34" charset="0"/>
                          <a:ea typeface="Calibri" pitchFamily="34" charset="-122"/>
                          <a:cs typeface="Calibri" pitchFamily="34" charset="-120"/>
                        </a:rPr>
                        <a:t>Slide 9 (Moderator Review)</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LessonRevision, AuditLog</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20" b="1" dirty="0">
                          <a:solidFill>
                            <a:srgbClr val="15803D"/>
                          </a:solidFill>
                          <a:latin typeface="Calibri" pitchFamily="34" charset="0"/>
                          <a:ea typeface="Calibri" pitchFamily="34" charset="-122"/>
                          <a:cs typeface="Calibri" pitchFamily="34" charset="-120"/>
                        </a:rPr>
                        <a:t>CORE (Phase 2 MVP)</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3464">
                <a:tc>
                  <a:txBody>
                    <a:bodyPr/>
                    <a:lstStyle/>
                    <a:p>
                      <a:pPr algn="ctr" indent="0" marL="0">
                        <a:buNone/>
                      </a:pPr>
                      <a:r>
                        <a:rPr lang="en-US" sz="920" b="1" dirty="0">
                          <a:solidFill>
                            <a:srgbClr val="2563EB"/>
                          </a:solidFill>
                          <a:latin typeface="Calibri" pitchFamily="34" charset="0"/>
                          <a:ea typeface="Calibri" pitchFamily="34" charset="-122"/>
                          <a:cs typeface="Calibri" pitchFamily="34" charset="-120"/>
                        </a:rPr>
                        <a:t>UC-10</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Publish Approved Content</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b="1" dirty="0">
                          <a:solidFill>
                            <a:srgbClr val="0F172A"/>
                          </a:solidFill>
                          <a:latin typeface="Calibri" pitchFamily="34" charset="0"/>
                          <a:ea typeface="Calibri" pitchFamily="34" charset="-122"/>
                          <a:cs typeface="Calibri" pitchFamily="34" charset="-120"/>
                        </a:rPr>
                        <a:t>Slide 9 (Publication Flow)</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Unit, Lesson, LessonRevision, AuditLog</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20" b="1" dirty="0">
                          <a:solidFill>
                            <a:srgbClr val="15803D"/>
                          </a:solidFill>
                          <a:latin typeface="Calibri" pitchFamily="34" charset="0"/>
                          <a:ea typeface="Calibri" pitchFamily="34" charset="-122"/>
                          <a:cs typeface="Calibri" pitchFamily="34" charset="-120"/>
                        </a:rPr>
                        <a:t>CORE (Phase 2 MVP)</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83464">
                <a:tc>
                  <a:txBody>
                    <a:bodyPr/>
                    <a:lstStyle/>
                    <a:p>
                      <a:pPr algn="ctr" indent="0" marL="0">
                        <a:buNone/>
                      </a:pPr>
                      <a:r>
                        <a:rPr lang="en-US" sz="920" b="1" dirty="0">
                          <a:solidFill>
                            <a:srgbClr val="2563EB"/>
                          </a:solidFill>
                          <a:latin typeface="Calibri" pitchFamily="34" charset="0"/>
                          <a:ea typeface="Calibri" pitchFamily="34" charset="-122"/>
                          <a:cs typeface="Calibri" pitchFamily="34" charset="-120"/>
                        </a:rPr>
                        <a:t>UC-11</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Manage Accounts &amp; Roles</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Profile, Role, AuditLog</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20" b="1" dirty="0">
                          <a:solidFill>
                            <a:srgbClr val="15803D"/>
                          </a:solidFill>
                          <a:latin typeface="Calibri" pitchFamily="34" charset="0"/>
                          <a:ea typeface="Calibri" pitchFamily="34" charset="-122"/>
                          <a:cs typeface="Calibri" pitchFamily="34" charset="-120"/>
                        </a:rPr>
                        <a:t>CORE (Phase 2 MVP)</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3464">
                <a:tc>
                  <a:txBody>
                    <a:bodyPr/>
                    <a:lstStyle/>
                    <a:p>
                      <a:pPr algn="ctr" indent="0" marL="0">
                        <a:buNone/>
                      </a:pPr>
                      <a:r>
                        <a:rPr lang="en-US" sz="920" b="1" dirty="0">
                          <a:solidFill>
                            <a:srgbClr val="2563EB"/>
                          </a:solidFill>
                          <a:latin typeface="Calibri" pitchFamily="34" charset="0"/>
                          <a:ea typeface="Calibri" pitchFamily="34" charset="-122"/>
                          <a:cs typeface="Calibri" pitchFamily="34" charset="-120"/>
                        </a:rPr>
                        <a:t>UC-12</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View System Reports</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UserProgress, AuditLog</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20" b="1" dirty="0">
                          <a:solidFill>
                            <a:srgbClr val="15803D"/>
                          </a:solidFill>
                          <a:latin typeface="Calibri" pitchFamily="34" charset="0"/>
                          <a:ea typeface="Calibri" pitchFamily="34" charset="-122"/>
                          <a:cs typeface="Calibri" pitchFamily="34" charset="-120"/>
                        </a:rPr>
                        <a:t>CORE (Phase 2 MVP)</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83464">
                <a:tc>
                  <a:txBody>
                    <a:bodyPr/>
                    <a:lstStyle/>
                    <a:p>
                      <a:pPr algn="ctr" indent="0" marL="0">
                        <a:buNone/>
                      </a:pPr>
                      <a:r>
                        <a:rPr lang="en-US" sz="920" b="1" dirty="0">
                          <a:solidFill>
                            <a:srgbClr val="2563EB"/>
                          </a:solidFill>
                          <a:latin typeface="Calibri" pitchFamily="34" charset="0"/>
                          <a:ea typeface="Calibri" pitchFamily="34" charset="-122"/>
                          <a:cs typeface="Calibri" pitchFamily="34" charset="-120"/>
                        </a:rPr>
                        <a:t>UC-13</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View &amp; Audit Security Logs</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AuditLog</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20" b="1" dirty="0">
                          <a:solidFill>
                            <a:srgbClr val="15803D"/>
                          </a:solidFill>
                          <a:latin typeface="Calibri" pitchFamily="34" charset="0"/>
                          <a:ea typeface="Calibri" pitchFamily="34" charset="-122"/>
                          <a:cs typeface="Calibri" pitchFamily="34" charset="-120"/>
                        </a:rPr>
                        <a:t>CORE (Phase 2 MVP)</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3464">
                <a:tc>
                  <a:txBody>
                    <a:bodyPr/>
                    <a:lstStyle/>
                    <a:p>
                      <a:pPr algn="ctr" indent="0" marL="0">
                        <a:buNone/>
                      </a:pPr>
                      <a:r>
                        <a:rPr lang="en-US" sz="920" b="1" dirty="0">
                          <a:solidFill>
                            <a:srgbClr val="2563EB"/>
                          </a:solidFill>
                          <a:latin typeface="Calibri" pitchFamily="34" charset="0"/>
                          <a:ea typeface="Calibri" pitchFamily="34" charset="-122"/>
                          <a:cs typeface="Calibri" pitchFamily="34" charset="-120"/>
                        </a:rPr>
                        <a:t>UC-14</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Handle Support Tickets</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920" b="1" dirty="0">
                          <a:solidFill>
                            <a:srgbClr val="0369A1"/>
                          </a:solidFill>
                          <a:latin typeface="Calibri" pitchFamily="34" charset="0"/>
                          <a:ea typeface="Calibri" pitchFamily="34" charset="-122"/>
                          <a:cs typeface="Calibri" pitchFamily="34" charset="-120"/>
                        </a:rPr>
                        <a:t>MVP (Điều phối hỗ trợ)</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83464">
                <a:tc>
                  <a:txBody>
                    <a:bodyPr/>
                    <a:lstStyle/>
                    <a:p>
                      <a:pPr algn="ctr" indent="0" marL="0">
                        <a:buNone/>
                      </a:pPr>
                      <a:r>
                        <a:rPr lang="en-US" sz="920" b="1" dirty="0">
                          <a:solidFill>
                            <a:srgbClr val="2563EB"/>
                          </a:solidFill>
                          <a:latin typeface="Calibri" pitchFamily="34" charset="0"/>
                          <a:ea typeface="Calibri" pitchFamily="34" charset="-122"/>
                          <a:cs typeface="Calibri" pitchFamily="34" charset="-120"/>
                        </a:rPr>
                        <a:t>UC-15</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Manage Cohorts &amp; Group Progress</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20" dirty="0">
                          <a:solidFill>
                            <a:srgbClr val="334155"/>
                          </a:solidFill>
                          <a:latin typeface="Calibri" pitchFamily="34" charset="0"/>
                          <a:ea typeface="Calibri" pitchFamily="34" charset="-122"/>
                          <a:cs typeface="Calibri" pitchFamily="34" charset="-120"/>
                        </a:rPr>
                        <a:t>—</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20" b="1" dirty="0">
                          <a:solidFill>
                            <a:srgbClr val="64748B"/>
                          </a:solidFill>
                          <a:latin typeface="Calibri" pitchFamily="34" charset="0"/>
                          <a:ea typeface="Calibri" pitchFamily="34" charset="-122"/>
                          <a:cs typeface="Calibri" pitchFamily="34" charset="-120"/>
                        </a:rPr>
                        <a:t>FUTURE EXTENSION</a:t>
                      </a:r>
                      <a:endParaRPr lang="en-US" sz="920" dirty="0">
                        <a:latin typeface="Calibri" charset="0"/>
                        <a:ea typeface="Calibri" charset="0"/>
                        <a:cs typeface="Calibri" charset="0"/>
                      </a:endParaRPr>
                    </a:p>
                  </a:txBody>
                  <a:tcPr marL="63500" marR="63500" marT="31750" marB="317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Text 3"/>
          <p:cNvSpPr/>
          <p:nvPr/>
        </p:nvSpPr>
        <p:spPr>
          <a:xfrm>
            <a:off x="731520" y="6199632"/>
            <a:ext cx="10728655" cy="22860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Ghi chú: Cột Sơ đồ hoạt động chỉ dẫn chiếu tới các slide có biểu đồ thực tế trong tài liệu; các Use Case còn lại đánh dấu '—'. UC-14 và UC-15 không ánh xạ lớp thực thể nội bộ.</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Lingora — Phân Tích &amp; Mô Hình Hóa Hệ Thống</dc:title>
  <dc:subject>PptxGenJS Presentation</dc:subject>
  <dc:creator>Lingora Engineering Architecture</dc:creator>
  <cp:lastModifiedBy>Lingora Engineering Architecture</cp:lastModifiedBy>
  <cp:revision>1</cp:revision>
  <dcterms:created xsi:type="dcterms:W3CDTF">2026-10-04T15:28:58Z</dcterms:created>
  <dcterms:modified xsi:type="dcterms:W3CDTF">2026-10-04T15:28:58Z</dcterms:modified>
</cp:coreProperties>
</file>