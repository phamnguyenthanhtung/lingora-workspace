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trình bày phân tích và mô hình hóa hệ thống học ngoại ngữ trực tuyến Lingora. Nội dung bao gồm biểu đồ ca sử dụng, biểu đồ hoạt động, biểu đồ lớp và ma trận truy vết yêu cầu. Mô hình bám sát tài liệu đặc tả hành vi M2.2 và quy tắc nghiệp vụ đã phê duyệt.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nghiệp vụ chia làm ba phân hệ rõ ràng: Learning, Content và Administration. Sáu vai trò vận hành theo nguyên tắc phân tách nhiệm vụ. UC-14 thuộc phạm vi MVP điều phối hỗ trợ, còn UC-15 quản lý nhóm thuộc phạm vi mở rộng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ca sử dụng tổng quan thể hiện cấu trúc phân hệ của Lingora. Sáu tác nhân kế thừa từ Authenticated User nhằm chuẩn hóa cơ chế đăng nhập. Hệ thống phân tách ranh giới rõ ràng giữa chức năng người học và phân hệ quản trị.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học viên chuẩn hóa chu trình học tập khép kín. Người học bắt buộc xem nội dung bài học qua Lesson Content Viewer trước khi trả lời bài tập. Các cơ chế làm lại có kiểm soát và nhảy cấp được mô hình hóa qua quan hệ mở rộng.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quản trị nội dung thực thi nghiêm ngặt nguyên tắc phân tách nhiệm vụ. Người soạn bài không có quyền tự phê duyệt hay xuất bản nội dung của mình. Administrator chỉ xuất bản khẩn cấp đối với bài đã qua phê duyệt và phải lưu vết kiểm toán.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đánh giá chẩn đoán đầu vào gồm 30 câu hỏi theo ma trận kiến thức phân tầng. Điểm số thô được ánh xạ qua Mapping A để xác định đơn vị học xuất phát. Trường hợp bỏ qua không tạo dữ liệu năng lực giả định, và thi lại sẽ lưu vết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 trình học bài yêu cầu bài học thuộc Unit có đủ 4 trên 4 bài đã phát hành. Học viên tiếp thu kiến thức qua Viewer trước khi thực hiện bộ câu hỏi tương tác. Cơ chế làm lại giới hạn số lượt thử, hỗ trợ xem giải thích và khống chế trần điểm công nhận.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Thử thách nhảy cấp cho phép người học bỏ qua nội dung đã nắm vững. Quy mô bài thi tương ứng với số lượng bài học cần vượt qua và có ngưỡng đạt 95%. Nội dung bỏ qua được đánh dấu xuất xứ rõ ràng và lần thi không đạt sẽ kích hoạt thời gian chờ.</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quản trị học liệu kết hợp thẩm định sư phạm và lưu vết lịch sử. Moderator chỉ chuyển trạng thái duyệt hoặc yêu cầu chỉnh sửa mà không xuất bản bài học. Cơ chế nhân bản bản nháp giúp bảo toàn phiên bản đang phát hành cho người học.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nội dung phân tách giữa bảng dữ liệu hiện tại và mô hình quản lý phiên bản mục tiêu. Thực thể LessonRevision hỗ trợ theo dõi vòng đời hoàn chỉnh của bài học. Quan hệ giữa bài học và bài tập bảo đảm tính toàn vẹn tham chiếu của chương trình học.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phân hệ học viên thể hiện nguyên tắc tách biệt giữa tiến độ học và hồ sơ năng lực. Dữ liệu ôn tập từ vựng ngắt quãng được quản lý theo chu kỳ ngày cố định của Policy B. Các thông tin trạng thái về làm lại bài và thời gian chờ nhảy cấp gắn liền với tiến trình học tập.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truy vết bảo đảm tính liên kết giữa các ca sử dụng với biểu đồ hoạt động và cấu trúc dữ liệu. Các ca sử dụng có biểu đồ hoạt động trong bài trình bày được dẫn chiếu trực tiếp đến số slide tương ứng. Phân định rõ ràng phạm vi triển khai cốt lõi MVP và các thành phần mở rộng trong tương lai.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1645920"/>
            <a:ext cx="164592" cy="164592"/>
          </a:xfrm>
          <a:prstGeom prst="ellipse">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400032" y="1810512"/>
            <a:ext cx="12700" cy="777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2560320"/>
            <a:ext cx="164592" cy="164592"/>
          </a:xfrm>
          <a:prstGeom prst="ellipse">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680192" y="2724912"/>
            <a:ext cx="12700" cy="777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326880" y="3474720"/>
            <a:ext cx="164592" cy="164592"/>
          </a:xfrm>
          <a:prstGeom prst="ellipse">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00032" y="3639312"/>
            <a:ext cx="12700" cy="777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607040" y="4389120"/>
            <a:ext cx="164592" cy="164592"/>
          </a:xfrm>
          <a:prstGeom prst="ellipse">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80192" y="4553712"/>
            <a:ext cx="12700" cy="777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326880" y="5303520"/>
            <a:ext cx="164592" cy="164592"/>
          </a:xfrm>
          <a:prstGeom prst="ellipse">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011680"/>
            <a:ext cx="8686800" cy="3474720"/>
          </a:xfrm>
          <a:prstGeom prst="rect">
            <a:avLst/>
          </a:prstGeom>
          <a:noFill/>
        </p:spPr>
        <p:txBody>
          <a:bodyPr wrap="square" lIns="0" tIns="0" rIns="0" bIns="0">
            <a:spAutoFit/>
          </a:bodyPr>
          <a:lstStyle/>
          <a:p>
            <a:pPr>
              <a:spcAft>
                <a:spcPts val="1200"/>
              </a:spcAft>
              <a:defRPr sz="1300" b="1">
                <a:solidFill>
                  <a:srgbClr val="2563EB"/>
                </a:solidFill>
                <a:latin typeface="Calibri"/>
              </a:defRPr>
            </a:pPr>
            <a:r>
              <a:t>LINGORA PLATFORM ARCHITECTURE</a:t>
            </a:r>
          </a:p>
          <a:p>
            <a:pPr>
              <a:spcAft>
                <a:spcPts val="1400"/>
              </a:spcAft>
              <a:defRPr sz="3200" b="1">
                <a:solidFill>
                  <a:srgbClr val="0F172A"/>
                </a:solidFill>
                <a:latin typeface="Calibri"/>
              </a:defRPr>
            </a:pPr>
            <a:r>
              <a:t>Mô Hình Hóa Hệ Thống &amp; Đặc Tả Nghiệp Vụ</a:t>
            </a:r>
          </a:p>
          <a:p>
            <a:pPr>
              <a:spcAft>
                <a:spcPts val="2800"/>
              </a:spcAft>
              <a:defRPr sz="1500">
                <a:solidFill>
                  <a:srgbClr val="334155"/>
                </a:solidFill>
                <a:latin typeface="Calibri"/>
              </a:defRPr>
            </a:pPr>
            <a:r>
              <a:t>Use Case · Activity Flow · Domain Class Model · Requirement Traceability</a:t>
            </a:r>
          </a:p>
          <a:p>
            <a:pPr>
              <a:defRPr sz="1200">
                <a:solidFill>
                  <a:srgbClr val="64748B"/>
                </a:solidFill>
                <a:latin typeface="Calibri"/>
              </a:defRPr>
            </a:pPr>
            <a:r>
              <a:t>Báo cáo Kỹ thuật Phần mềm — Phase 1 Locked Baseline Specification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KIẾN TRÚC HỆ THỐNG</a:t>
            </a:r>
          </a:p>
          <a:p>
            <a:pPr>
              <a:defRPr sz="2400" b="1">
                <a:solidFill>
                  <a:srgbClr val="0F172A"/>
                </a:solidFill>
                <a:latin typeface="Calibri"/>
              </a:defRPr>
            </a:pPr>
            <a:r>
              <a:t>Tổng Quan Kiến Trúc Nghiệp Vụ &amp; Ranh Giới Vai Trò</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02 / 12</a:t>
            </a:r>
          </a:p>
        </p:txBody>
      </p:sp>
      <p:sp>
        <p:nvSpPr>
          <p:cNvPr id="5" name="Rectangle 4"/>
          <p:cNvSpPr/>
          <p:nvPr/>
        </p:nvSpPr>
        <p:spPr>
          <a:xfrm>
            <a:off x="731520" y="1371600"/>
            <a:ext cx="342900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300" b="1">
                <a:solidFill>
                  <a:srgbClr val="0F172A"/>
                </a:solidFill>
                <a:latin typeface="Calibri"/>
              </a:defRPr>
            </a:pPr>
            <a:r>
              <a:t>LEARNING SUBSYSTEM</a:t>
            </a:r>
          </a:p>
          <a:p>
            <a:pPr>
              <a:spcAft>
                <a:spcPts val="1000"/>
              </a:spcAft>
              <a:defRPr sz="1000">
                <a:solidFill>
                  <a:srgbClr val="64748B"/>
                </a:solidFill>
                <a:latin typeface="Calibri"/>
              </a:defRPr>
            </a:pPr>
            <a:r>
              <a:t>Trải nghiệm học tập &amp; củng cố năng lực</a:t>
            </a:r>
          </a:p>
          <a:p>
            <a:pPr>
              <a:spcAft>
                <a:spcPts val="350"/>
              </a:spcAft>
              <a:defRPr sz="950">
                <a:solidFill>
                  <a:srgbClr val="334155"/>
                </a:solidFill>
                <a:latin typeface="Calibri"/>
              </a:defRPr>
            </a:pPr>
            <a:r>
              <a:t>• [UC-01] Xác thực phiên &amp; phân quyền người dùng</a:t>
            </a:r>
          </a:p>
          <a:p>
            <a:pPr>
              <a:spcAft>
                <a:spcPts val="350"/>
              </a:spcAft>
              <a:defRPr sz="950">
                <a:solidFill>
                  <a:srgbClr val="334155"/>
                </a:solidFill>
                <a:latin typeface="Calibri"/>
              </a:defRPr>
            </a:pPr>
            <a:r>
              <a:t>• [UC-02] Cấu hình mục tiêu học tập hàng ngày</a:t>
            </a:r>
          </a:p>
          <a:p>
            <a:pPr>
              <a:spcAft>
                <a:spcPts val="350"/>
              </a:spcAft>
              <a:defRPr sz="950">
                <a:solidFill>
                  <a:srgbClr val="334155"/>
                </a:solidFill>
                <a:latin typeface="Calibri"/>
              </a:defRPr>
            </a:pPr>
            <a:r>
              <a:t>• [UC-03] Kiểm tra chẩn đoán xếp lớp đầu vào</a:t>
            </a:r>
          </a:p>
          <a:p>
            <a:pPr>
              <a:spcAft>
                <a:spcPts val="350"/>
              </a:spcAft>
              <a:defRPr sz="950">
                <a:solidFill>
                  <a:srgbClr val="334155"/>
                </a:solidFill>
                <a:latin typeface="Calibri"/>
              </a:defRPr>
            </a:pPr>
            <a:r>
              <a:t>• [UC-04] Duyệt lộ trình học &amp; thử thách Jump</a:t>
            </a:r>
          </a:p>
          <a:p>
            <a:pPr>
              <a:spcAft>
                <a:spcPts val="350"/>
              </a:spcAft>
              <a:defRPr sz="950">
                <a:solidFill>
                  <a:srgbClr val="334155"/>
                </a:solidFill>
                <a:latin typeface="Calibri"/>
              </a:defRPr>
            </a:pPr>
            <a:r>
              <a:t>• [UC-05] Xem lý thuyết (Viewer) &amp; làm bài tập tương tác</a:t>
            </a:r>
          </a:p>
          <a:p>
            <a:pPr>
              <a:spcAft>
                <a:spcPts val="350"/>
              </a:spcAft>
              <a:defRPr sz="950">
                <a:solidFill>
                  <a:srgbClr val="334155"/>
                </a:solidFill>
                <a:latin typeface="Calibri"/>
              </a:defRPr>
            </a:pPr>
            <a:r>
              <a:t>• [UC-06] Ôn tập từ vựng ngắt quãng theo SRS Policy B</a:t>
            </a:r>
          </a:p>
          <a:p>
            <a:pPr>
              <a:spcAft>
                <a:spcPts val="350"/>
              </a:spcAft>
              <a:defRPr sz="950">
                <a:solidFill>
                  <a:srgbClr val="334155"/>
                </a:solidFill>
                <a:latin typeface="Calibri"/>
              </a:defRPr>
            </a:pPr>
            <a:r>
              <a:t>• [UC-07] Theo dõi tiến độ học tập &amp; chuỗi ngày Streak</a:t>
            </a:r>
          </a:p>
        </p:txBody>
      </p:sp>
      <p:sp>
        <p:nvSpPr>
          <p:cNvPr id="6" name="Rectangle 5"/>
          <p:cNvSpPr/>
          <p:nvPr/>
        </p:nvSpPr>
        <p:spPr>
          <a:xfrm>
            <a:off x="4379976" y="1371600"/>
            <a:ext cx="342900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300" b="1">
                <a:solidFill>
                  <a:srgbClr val="0F172A"/>
                </a:solidFill>
                <a:latin typeface="Calibri"/>
              </a:defRPr>
            </a:pPr>
            <a:r>
              <a:t>CONTENT SUBSYSTEM</a:t>
            </a:r>
          </a:p>
          <a:p>
            <a:pPr>
              <a:spcAft>
                <a:spcPts val="1000"/>
              </a:spcAft>
              <a:defRPr sz="1000">
                <a:solidFill>
                  <a:srgbClr val="64748B"/>
                </a:solidFill>
                <a:latin typeface="Calibri"/>
              </a:defRPr>
            </a:pPr>
            <a:r>
              <a:t>Biên soạn, kiểm duyệt &amp; quản trị vòng đời</a:t>
            </a:r>
          </a:p>
          <a:p>
            <a:pPr>
              <a:spcAft>
                <a:spcPts val="350"/>
              </a:spcAft>
              <a:defRPr sz="950">
                <a:solidFill>
                  <a:srgbClr val="334155"/>
                </a:solidFill>
                <a:latin typeface="Calibri"/>
              </a:defRPr>
            </a:pPr>
            <a:r>
              <a:t>• [UC-08] Soạn thảo bài học, bài tập &amp; từ vựng đi kèm</a:t>
            </a:r>
          </a:p>
          <a:p>
            <a:pPr>
              <a:spcAft>
                <a:spcPts val="350"/>
              </a:spcAft>
              <a:defRPr sz="950">
                <a:solidFill>
                  <a:srgbClr val="334155"/>
                </a:solidFill>
                <a:latin typeface="Calibri"/>
              </a:defRPr>
            </a:pPr>
            <a:r>
              <a:t>• [UC-09] Kiểm duyệt độc lập &amp; yêu cầu chỉnh sửa</a:t>
            </a:r>
          </a:p>
          <a:p>
            <a:pPr>
              <a:spcAft>
                <a:spcPts val="350"/>
              </a:spcAft>
              <a:defRPr sz="950">
                <a:solidFill>
                  <a:srgbClr val="334155"/>
                </a:solidFill>
                <a:latin typeface="Calibri"/>
              </a:defRPr>
            </a:pPr>
            <a:r>
              <a:t>• [UC-10] Xuất bản bài học đã duyệt ra toàn hệ thống</a:t>
            </a:r>
          </a:p>
          <a:p>
            <a:pPr>
              <a:spcAft>
                <a:spcPts val="350"/>
              </a:spcAft>
              <a:defRPr sz="950">
                <a:solidFill>
                  <a:srgbClr val="334155"/>
                </a:solidFill>
                <a:latin typeface="Calibri"/>
              </a:defRPr>
            </a:pPr>
            <a:r>
              <a:t>• [Rule] Quy trình Clone-to-Draft v2 bảo toàn bài đang phát hành</a:t>
            </a:r>
          </a:p>
          <a:p>
            <a:pPr>
              <a:spcAft>
                <a:spcPts val="350"/>
              </a:spcAft>
              <a:defRPr sz="950">
                <a:solidFill>
                  <a:srgbClr val="334155"/>
                </a:solidFill>
                <a:latin typeface="Calibri"/>
              </a:defRPr>
            </a:pPr>
            <a:r>
              <a:t>• [Rule] Điều kiện hiển thị Unit: đủ 4/4 Lesson Published</a:t>
            </a:r>
          </a:p>
          <a:p>
            <a:pPr>
              <a:spcAft>
                <a:spcPts val="350"/>
              </a:spcAft>
              <a:defRPr sz="950">
                <a:solidFill>
                  <a:srgbClr val="334155"/>
                </a:solidFill>
                <a:latin typeface="Calibri"/>
              </a:defRPr>
            </a:pPr>
            <a:r>
              <a:t>• [Rule] Phân tách nhiệm vụ SoD: Creator không tự duyệt bài</a:t>
            </a:r>
          </a:p>
          <a:p>
            <a:pPr>
              <a:spcAft>
                <a:spcPts val="350"/>
              </a:spcAft>
              <a:defRPr sz="950">
                <a:solidFill>
                  <a:srgbClr val="334155"/>
                </a:solidFill>
                <a:latin typeface="Calibri"/>
              </a:defRPr>
            </a:pPr>
            <a:r>
              <a:t>• [Admin] Xuất bản khẩn cấp bài đã Approved, có lý do &amp; AuditLog</a:t>
            </a:r>
          </a:p>
        </p:txBody>
      </p:sp>
      <p:sp>
        <p:nvSpPr>
          <p:cNvPr id="7" name="Rectangle 6"/>
          <p:cNvSpPr/>
          <p:nvPr/>
        </p:nvSpPr>
        <p:spPr>
          <a:xfrm>
            <a:off x="8028432" y="1371600"/>
            <a:ext cx="342900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300" b="1">
                <a:solidFill>
                  <a:srgbClr val="0F172A"/>
                </a:solidFill>
                <a:latin typeface="Calibri"/>
              </a:defRPr>
            </a:pPr>
            <a:r>
              <a:t>ADMINISTRATION &amp; OPS</a:t>
            </a:r>
          </a:p>
          <a:p>
            <a:pPr>
              <a:spcAft>
                <a:spcPts val="1000"/>
              </a:spcAft>
              <a:defRPr sz="1000">
                <a:solidFill>
                  <a:srgbClr val="64748B"/>
                </a:solidFill>
                <a:latin typeface="Calibri"/>
              </a:defRPr>
            </a:pPr>
            <a:r>
              <a:t>Vận hành, kiểm toán an ninh &amp; hỗ trợ</a:t>
            </a:r>
          </a:p>
          <a:p>
            <a:pPr>
              <a:spcAft>
                <a:spcPts val="350"/>
              </a:spcAft>
              <a:defRPr sz="950">
                <a:solidFill>
                  <a:srgbClr val="334155"/>
                </a:solidFill>
                <a:latin typeface="Calibri"/>
              </a:defRPr>
            </a:pPr>
            <a:r>
              <a:t>• [UC-11] Quản trị tài khoản &amp; phân bổ 6 vai trò chuẩn tắc</a:t>
            </a:r>
          </a:p>
          <a:p>
            <a:pPr>
              <a:spcAft>
                <a:spcPts val="350"/>
              </a:spcAft>
              <a:defRPr sz="950">
                <a:solidFill>
                  <a:srgbClr val="334155"/>
                </a:solidFill>
                <a:latin typeface="Calibri"/>
              </a:defRPr>
            </a:pPr>
            <a:r>
              <a:t>• [UC-12] Theo dõi báo cáo &amp; thống kê vận hành hệ thống</a:t>
            </a:r>
          </a:p>
          <a:p>
            <a:pPr>
              <a:spcAft>
                <a:spcPts val="350"/>
              </a:spcAft>
              <a:defRPr sz="950">
                <a:solidFill>
                  <a:srgbClr val="334155"/>
                </a:solidFill>
                <a:latin typeface="Calibri"/>
              </a:defRPr>
            </a:pPr>
            <a:r>
              <a:t>• [UC-13] Tra cứu nhật ký kiểm toán an ninh bất biến AuditLog</a:t>
            </a:r>
          </a:p>
          <a:p>
            <a:pPr>
              <a:spcAft>
                <a:spcPts val="350"/>
              </a:spcAft>
              <a:defRPr sz="950">
                <a:solidFill>
                  <a:srgbClr val="334155"/>
                </a:solidFill>
                <a:latin typeface="Calibri"/>
              </a:defRPr>
            </a:pPr>
            <a:r>
              <a:t>• [UC-14] Tiếp nhận &amp; điều phối xử lý phiếu hỗ trợ kỹ thuật</a:t>
            </a:r>
          </a:p>
          <a:p>
            <a:pPr>
              <a:spcAft>
                <a:spcPts val="350"/>
              </a:spcAft>
              <a:defRPr sz="950">
                <a:solidFill>
                  <a:srgbClr val="334155"/>
                </a:solidFill>
                <a:latin typeface="Calibri"/>
              </a:defRPr>
            </a:pPr>
            <a:r>
              <a:t>• [UC-15] Quản trị nhóm học viên &amp; tiến độ lớp học</a:t>
            </a:r>
          </a:p>
          <a:p>
            <a:pPr>
              <a:spcAft>
                <a:spcPts val="350"/>
              </a:spcAft>
              <a:defRPr sz="950">
                <a:solidFill>
                  <a:srgbClr val="334155"/>
                </a:solidFill>
                <a:latin typeface="Calibri"/>
              </a:defRPr>
            </a:pPr>
            <a:r>
              <a:t>• [Rule] Bất biến: Tiến độ hoàn thành tách bạch khỏi Năng lực</a:t>
            </a:r>
          </a:p>
          <a:p>
            <a:pPr>
              <a:spcAft>
                <a:spcPts val="350"/>
              </a:spcAft>
              <a:defRPr sz="950">
                <a:solidFill>
                  <a:srgbClr val="334155"/>
                </a:solidFill>
                <a:latin typeface="Calibri"/>
              </a:defRPr>
            </a:pPr>
            <a:r>
              <a:t>• [Rule] Kiểm toán bất biến: Mọi hành động can thiệp đều lưu vết</a:t>
            </a:r>
          </a:p>
        </p:txBody>
      </p:sp>
      <p:sp>
        <p:nvSpPr>
          <p:cNvPr id="8" name="Rectangle 7"/>
          <p:cNvSpPr/>
          <p:nvPr/>
        </p:nvSpPr>
        <p:spPr>
          <a:xfrm>
            <a:off x="731520" y="5376672"/>
            <a:ext cx="10728655" cy="8686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spcAft>
                <a:spcPts val="300"/>
              </a:spcAft>
              <a:defRPr sz="1050" b="1">
                <a:solidFill>
                  <a:srgbClr val="0F172A"/>
                </a:solidFill>
                <a:latin typeface="Calibri"/>
              </a:defRPr>
            </a:pPr>
            <a:r>
              <a:t>CÁC VAI TRÒ CHUẨN TẮC &amp; RANH GIỚI PHẠM VI</a:t>
            </a:r>
          </a:p>
          <a:p>
            <a:pPr>
              <a:spcAft>
                <a:spcPts val="200"/>
              </a:spcAft>
              <a:defRPr sz="1000">
                <a:solidFill>
                  <a:srgbClr val="334155"/>
                </a:solidFill>
                <a:latin typeface="Calibri"/>
              </a:defRPr>
            </a:pPr>
            <a:r>
              <a:t>• 6 vai trò: Learner · Lesson Creator · Moderator · Organizational Manager · Operations Staff · Administrator.</a:t>
            </a:r>
          </a:p>
          <a:p>
            <a:pPr>
              <a:defRPr sz="1000">
                <a:solidFill>
                  <a:srgbClr val="64748B"/>
                </a:solidFill>
                <a:latin typeface="Calibri"/>
              </a:defRPr>
            </a:pPr>
            <a:r>
              <a:t>• Phân định: UC-14 (Phiếu hỗ trợ) thuộc MVP điều phối hỗ trợ; UC-15 (Quản lý nhóm) thuộc Future Extension.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CA SỬ DỤNG HỆ THỐNG</a:t>
            </a:r>
          </a:p>
          <a:p>
            <a:pPr>
              <a:defRPr sz="2400" b="1">
                <a:solidFill>
                  <a:srgbClr val="0F172A"/>
                </a:solidFill>
                <a:latin typeface="Calibri"/>
              </a:defRPr>
            </a:pPr>
            <a:r>
              <a:t>Sơ Đồ Ca Sử Dụng Tổng Quan (Overall Use Case Diagram)</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03 / 12</a:t>
            </a:r>
          </a:p>
        </p:txBody>
      </p:sp>
      <p:sp>
        <p:nvSpPr>
          <p:cNvPr id="5" name="Rectangle 4"/>
          <p:cNvSpPr/>
          <p:nvPr/>
        </p:nvSpPr>
        <p:spPr>
          <a:xfrm>
            <a:off x="731520" y="1325880"/>
            <a:ext cx="7315200" cy="4983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usecase-overall.png"/>
          <p:cNvPicPr>
            <a:picLocks noChangeAspect="1"/>
          </p:cNvPicPr>
          <p:nvPr/>
        </p:nvPicPr>
        <p:blipFill>
          <a:blip r:embed="rId2"/>
          <a:stretch>
            <a:fillRect/>
          </a:stretch>
        </p:blipFill>
        <p:spPr>
          <a:xfrm>
            <a:off x="2802366" y="1399032"/>
            <a:ext cx="3173506" cy="4837176"/>
          </a:xfrm>
          <a:prstGeom prst="rect">
            <a:avLst/>
          </a:prstGeom>
        </p:spPr>
      </p:pic>
      <p:sp>
        <p:nvSpPr>
          <p:cNvPr id="7" name="Rectangle 6"/>
          <p:cNvSpPr/>
          <p:nvPr/>
        </p:nvSpPr>
        <p:spPr>
          <a:xfrm>
            <a:off x="8275320" y="1325880"/>
            <a:ext cx="3182112" cy="4983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1400"/>
              </a:spcAft>
              <a:defRPr sz="1100" b="1">
                <a:solidFill>
                  <a:srgbClr val="0F172A"/>
                </a:solidFill>
                <a:latin typeface="Calibri"/>
              </a:defRPr>
            </a:pPr>
            <a:r>
              <a:t>Ý CHÍNH KIẾN TRÚC CA SỬ DỤNG</a:t>
            </a:r>
          </a:p>
          <a:p>
            <a:pPr>
              <a:spcAft>
                <a:spcPts val="200"/>
              </a:spcAft>
              <a:defRPr sz="1050" b="1">
                <a:solidFill>
                  <a:srgbClr val="0F172A"/>
                </a:solidFill>
                <a:latin typeface="Calibri"/>
              </a:defRPr>
            </a:pPr>
            <a:r>
              <a:t>• Kế thừa tác nhân chuẩn tắc</a:t>
            </a:r>
          </a:p>
          <a:p>
            <a:pPr>
              <a:spcAft>
                <a:spcPts val="1000"/>
              </a:spcAft>
              <a:defRPr sz="950">
                <a:solidFill>
                  <a:srgbClr val="334155"/>
                </a:solidFill>
                <a:latin typeface="Calibri"/>
              </a:defRPr>
            </a:pPr>
            <a:r>
              <a:t>Sáu vai trò cụ thể đều kế thừa từ Authenticated User để dùng chung phiên và xác thực (UC-01).</a:t>
            </a:r>
          </a:p>
          <a:p>
            <a:pPr>
              <a:spcAft>
                <a:spcPts val="200"/>
              </a:spcAft>
              <a:defRPr sz="1050" b="1">
                <a:solidFill>
                  <a:srgbClr val="0F172A"/>
                </a:solidFill>
                <a:latin typeface="Calibri"/>
              </a:defRPr>
            </a:pPr>
            <a:r>
              <a:t>• Phân rã 3 phân hệ độc lập</a:t>
            </a:r>
          </a:p>
          <a:p>
            <a:pPr>
              <a:spcAft>
                <a:spcPts val="1000"/>
              </a:spcAft>
              <a:defRPr sz="950">
                <a:solidFill>
                  <a:srgbClr val="334155"/>
                </a:solidFill>
                <a:latin typeface="Calibri"/>
              </a:defRPr>
            </a:pPr>
            <a:r>
              <a:t>Tách bạch triệt để giữa Học tập (Learner), Quản trị nội dung (Content) và Vận hành quản trị (Admin &amp; Ops).</a:t>
            </a:r>
          </a:p>
          <a:p>
            <a:pPr>
              <a:spcAft>
                <a:spcPts val="200"/>
              </a:spcAft>
              <a:defRPr sz="1050" b="1">
                <a:solidFill>
                  <a:srgbClr val="0F172A"/>
                </a:solidFill>
                <a:latin typeface="Calibri"/>
              </a:defRPr>
            </a:pPr>
            <a:r>
              <a:t>• Quyền hạn xuất bản &amp; Cứu nguy</a:t>
            </a:r>
          </a:p>
          <a:p>
            <a:pPr>
              <a:spcAft>
                <a:spcPts val="1000"/>
              </a:spcAft>
              <a:defRPr sz="950">
                <a:solidFill>
                  <a:srgbClr val="334155"/>
                </a:solidFill>
                <a:latin typeface="Calibri"/>
              </a:defRPr>
            </a:pPr>
            <a:r>
              <a:t>Chỉ Org Manager xuất bản chính thức (UC-10); Administrator chỉ can thiệp xuất bản khẩn cấp với AuditLog bắt buộc.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PHÂN HỆ HỌC VIÊN</a:t>
            </a:r>
          </a:p>
          <a:p>
            <a:pPr>
              <a:defRPr sz="2400" b="1">
                <a:solidFill>
                  <a:srgbClr val="0F172A"/>
                </a:solidFill>
                <a:latin typeface="Calibri"/>
              </a:defRPr>
            </a:pPr>
            <a:r>
              <a:t>Sơ Đồ Ca Sử Dụng Chi Tiết — Phân Hệ Học Viên (Learner)</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04 / 12</a:t>
            </a:r>
          </a:p>
        </p:txBody>
      </p:sp>
      <p:sp>
        <p:nvSpPr>
          <p:cNvPr id="5" name="Rectangle 4"/>
          <p:cNvSpPr/>
          <p:nvPr/>
        </p:nvSpPr>
        <p:spPr>
          <a:xfrm>
            <a:off x="731520" y="1325880"/>
            <a:ext cx="7315200" cy="4983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usecase-learner.png"/>
          <p:cNvPicPr>
            <a:picLocks noChangeAspect="1"/>
          </p:cNvPicPr>
          <p:nvPr/>
        </p:nvPicPr>
        <p:blipFill>
          <a:blip r:embed="rId2"/>
          <a:stretch>
            <a:fillRect/>
          </a:stretch>
        </p:blipFill>
        <p:spPr>
          <a:xfrm>
            <a:off x="2760763" y="1399032"/>
            <a:ext cx="3256712" cy="4837176"/>
          </a:xfrm>
          <a:prstGeom prst="rect">
            <a:avLst/>
          </a:prstGeom>
        </p:spPr>
      </p:pic>
      <p:sp>
        <p:nvSpPr>
          <p:cNvPr id="7" name="Rectangle 6"/>
          <p:cNvSpPr/>
          <p:nvPr/>
        </p:nvSpPr>
        <p:spPr>
          <a:xfrm>
            <a:off x="8275320" y="1325880"/>
            <a:ext cx="3182112" cy="4983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200"/>
              </a:spcAft>
              <a:defRPr sz="1100" b="1">
                <a:solidFill>
                  <a:srgbClr val="0F172A"/>
                </a:solidFill>
                <a:latin typeface="Calibri"/>
              </a:defRPr>
            </a:pPr>
            <a:r>
              <a:t>QUY TẮC NGHIỆP VỤ HỌC VIÊN</a:t>
            </a:r>
          </a:p>
          <a:p>
            <a:pPr>
              <a:spcAft>
                <a:spcPts val="200"/>
              </a:spcAft>
              <a:defRPr sz="1000" b="1">
                <a:solidFill>
                  <a:srgbClr val="0F172A"/>
                </a:solidFill>
                <a:latin typeface="Calibri"/>
              </a:defRPr>
            </a:pPr>
            <a:r>
              <a:t>• Viewer bắt buộc</a:t>
            </a:r>
          </a:p>
          <a:p>
            <a:pPr>
              <a:spcAft>
                <a:spcPts val="1000"/>
              </a:spcAft>
              <a:defRPr sz="950">
                <a:solidFill>
                  <a:srgbClr val="334155"/>
                </a:solidFill>
                <a:latin typeface="Calibri"/>
              </a:defRPr>
            </a:pPr>
            <a:r>
              <a:t>Lesson Content Viewer được include trực tiếp vào UC-05; học viên phải xem lý thuyết từ vựng trước khi làm bài tập.</a:t>
            </a:r>
          </a:p>
          <a:p>
            <a:pPr>
              <a:spcAft>
                <a:spcPts val="200"/>
              </a:spcAft>
              <a:defRPr sz="1000" b="1">
                <a:solidFill>
                  <a:srgbClr val="0F172A"/>
                </a:solidFill>
                <a:latin typeface="Calibri"/>
              </a:defRPr>
            </a:pPr>
            <a:r>
              <a:t>• Controlled Retry</a:t>
            </a:r>
          </a:p>
          <a:p>
            <a:pPr>
              <a:spcAft>
                <a:spcPts val="1000"/>
              </a:spcAft>
              <a:defRPr sz="950">
                <a:solidFill>
                  <a:srgbClr val="334155"/>
                </a:solidFill>
                <a:latin typeface="Calibri"/>
              </a:defRPr>
            </a:pPr>
            <a:r>
              <a:t>Làm lại câu sai là luồng extend có hạn mức max(1, floor(N*0.10)), điểm làm lại tối đa 70% credit.</a:t>
            </a:r>
          </a:p>
          <a:p>
            <a:pPr>
              <a:spcAft>
                <a:spcPts val="200"/>
              </a:spcAft>
              <a:defRPr sz="1000" b="1">
                <a:solidFill>
                  <a:srgbClr val="0F172A"/>
                </a:solidFill>
                <a:latin typeface="Calibri"/>
              </a:defRPr>
            </a:pPr>
            <a:r>
              <a:t>• Conditional Jump</a:t>
            </a:r>
          </a:p>
          <a:p>
            <a:pPr>
              <a:spcAft>
                <a:spcPts val="1000"/>
              </a:spcAft>
              <a:defRPr sz="950">
                <a:solidFill>
                  <a:srgbClr val="334155"/>
                </a:solidFill>
                <a:latin typeface="Calibri"/>
              </a:defRPr>
            </a:pPr>
            <a:r>
              <a:t>Thử thách nhảy cấp là năng lực mở rộng từ UC-04, yêu cầu đạt &gt;= 95% và áp dụng Cooldown 24h khi trượt.</a:t>
            </a:r>
          </a:p>
          <a:p>
            <a:pPr>
              <a:spcAft>
                <a:spcPts val="200"/>
              </a:spcAft>
              <a:defRPr sz="1000" b="1">
                <a:solidFill>
                  <a:srgbClr val="0F172A"/>
                </a:solidFill>
                <a:latin typeface="Calibri"/>
              </a:defRPr>
            </a:pPr>
            <a:r>
              <a:t>• Chu trình khép kín</a:t>
            </a:r>
          </a:p>
          <a:p>
            <a:pPr>
              <a:spcAft>
                <a:spcPts val="1000"/>
              </a:spcAft>
              <a:defRPr sz="950">
                <a:solidFill>
                  <a:srgbClr val="334155"/>
                </a:solidFill>
                <a:latin typeface="Calibri"/>
              </a:defRPr>
            </a:pPr>
            <a:r>
              <a:t>Từ xếp lớp (UC-03), học bài (UC-05), ôn tập SRS độc lập (UC-06) đến tích lũy chuỗi ngày Streak (UC-07).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QUẢN TRỊ &amp; KIỂM DUYỆT</a:t>
            </a:r>
          </a:p>
          <a:p>
            <a:pPr>
              <a:defRPr sz="2400" b="1">
                <a:solidFill>
                  <a:srgbClr val="0F172A"/>
                </a:solidFill>
                <a:latin typeface="Calibri"/>
              </a:defRPr>
            </a:pPr>
            <a:r>
              <a:t>Sơ Đồ Ca Sử Dụng Chi Tiết — Quản Trị &amp; Kiểm Duyệt</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05 / 12</a:t>
            </a:r>
          </a:p>
        </p:txBody>
      </p:sp>
      <p:sp>
        <p:nvSpPr>
          <p:cNvPr id="5" name="Rectangle 4"/>
          <p:cNvSpPr/>
          <p:nvPr/>
        </p:nvSpPr>
        <p:spPr>
          <a:xfrm>
            <a:off x="731520" y="1325880"/>
            <a:ext cx="7315200" cy="4983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usecase-content-admin.png"/>
          <p:cNvPicPr>
            <a:picLocks noChangeAspect="1"/>
          </p:cNvPicPr>
          <p:nvPr/>
        </p:nvPicPr>
        <p:blipFill>
          <a:blip r:embed="rId2"/>
          <a:stretch>
            <a:fillRect/>
          </a:stretch>
        </p:blipFill>
        <p:spPr>
          <a:xfrm>
            <a:off x="2759069" y="1399032"/>
            <a:ext cx="3260101" cy="4837176"/>
          </a:xfrm>
          <a:prstGeom prst="rect">
            <a:avLst/>
          </a:prstGeom>
        </p:spPr>
      </p:pic>
      <p:sp>
        <p:nvSpPr>
          <p:cNvPr id="7" name="Rectangle 6"/>
          <p:cNvSpPr/>
          <p:nvPr/>
        </p:nvSpPr>
        <p:spPr>
          <a:xfrm>
            <a:off x="8275320" y="1325880"/>
            <a:ext cx="3182112" cy="4983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200"/>
              </a:spcAft>
              <a:defRPr sz="1100" b="1">
                <a:solidFill>
                  <a:srgbClr val="0F172A"/>
                </a:solidFill>
                <a:latin typeface="Calibri"/>
              </a:defRPr>
            </a:pPr>
            <a:r>
              <a:t>NGUYÊN TẮC QUẢN TRỊ &amp; SOD</a:t>
            </a:r>
          </a:p>
          <a:p>
            <a:pPr>
              <a:spcAft>
                <a:spcPts val="200"/>
              </a:spcAft>
              <a:defRPr sz="1000" b="1">
                <a:solidFill>
                  <a:srgbClr val="0F172A"/>
                </a:solidFill>
                <a:latin typeface="Calibri"/>
              </a:defRPr>
            </a:pPr>
            <a:r>
              <a:t>• Phân tách SoD</a:t>
            </a:r>
          </a:p>
          <a:p>
            <a:pPr>
              <a:spcAft>
                <a:spcPts val="1000"/>
              </a:spcAft>
              <a:defRPr sz="950">
                <a:solidFill>
                  <a:srgbClr val="334155"/>
                </a:solidFill>
                <a:latin typeface="Calibri"/>
              </a:defRPr>
            </a:pPr>
            <a:r>
              <a:t>Creator soạn bài; Moderator thẩm định chất lượng; Org Manager xuất bản. Creator không tự duyệt bài của mình.</a:t>
            </a:r>
          </a:p>
          <a:p>
            <a:pPr>
              <a:spcAft>
                <a:spcPts val="200"/>
              </a:spcAft>
              <a:defRPr sz="1000" b="1">
                <a:solidFill>
                  <a:srgbClr val="0F172A"/>
                </a:solidFill>
                <a:latin typeface="Calibri"/>
              </a:defRPr>
            </a:pPr>
            <a:r>
              <a:t>• Kết quả thẩm định</a:t>
            </a:r>
          </a:p>
          <a:p>
            <a:pPr>
              <a:spcAft>
                <a:spcPts val="1000"/>
              </a:spcAft>
              <a:defRPr sz="950">
                <a:solidFill>
                  <a:srgbClr val="334155"/>
                </a:solidFill>
                <a:latin typeface="Calibri"/>
              </a:defRPr>
            </a:pPr>
            <a:r>
              <a:t>Moderator chỉ chuyển trạng thái APPROVED hoặc CHANGES_REQUESTED kèm ghi chú, không có quyền phát hành.</a:t>
            </a:r>
          </a:p>
          <a:p>
            <a:pPr>
              <a:spcAft>
                <a:spcPts val="200"/>
              </a:spcAft>
              <a:defRPr sz="1000" b="1">
                <a:solidFill>
                  <a:srgbClr val="0F172A"/>
                </a:solidFill>
                <a:latin typeface="Calibri"/>
              </a:defRPr>
            </a:pPr>
            <a:r>
              <a:t>• Quyền xuất bản</a:t>
            </a:r>
          </a:p>
          <a:p>
            <a:pPr>
              <a:spcAft>
                <a:spcPts val="1000"/>
              </a:spcAft>
              <a:defRPr sz="950">
                <a:solidFill>
                  <a:srgbClr val="334155"/>
                </a:solidFill>
                <a:latin typeface="Calibri"/>
              </a:defRPr>
            </a:pPr>
            <a:r>
              <a:t>Org Manager là tác nhân duy nhất có thẩm quyền xuất bản chính thức khi bài học đạt trạng thái APPROVED.</a:t>
            </a:r>
          </a:p>
          <a:p>
            <a:pPr>
              <a:spcAft>
                <a:spcPts val="200"/>
              </a:spcAft>
              <a:defRPr sz="1000" b="1">
                <a:solidFill>
                  <a:srgbClr val="0F172A"/>
                </a:solidFill>
                <a:latin typeface="Calibri"/>
              </a:defRPr>
            </a:pPr>
            <a:r>
              <a:t>• Can thiệp khẩn cấp</a:t>
            </a:r>
          </a:p>
          <a:p>
            <a:pPr>
              <a:spcAft>
                <a:spcPts val="1000"/>
              </a:spcAft>
              <a:defRPr sz="950">
                <a:solidFill>
                  <a:srgbClr val="334155"/>
                </a:solidFill>
                <a:latin typeface="Calibri"/>
              </a:defRPr>
            </a:pPr>
            <a:r>
              <a:t>Administrator chỉ xuất bản khẩn cấp cho bài đã APPROVED; bắt buộc giải trình lý do và ghi nhận AuditLog.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QUY TRÌNH ĐÁNH GIÁ</a:t>
            </a:r>
          </a:p>
          <a:p>
            <a:pPr>
              <a:defRPr sz="2400" b="1">
                <a:solidFill>
                  <a:srgbClr val="0F172A"/>
                </a:solidFill>
                <a:latin typeface="Calibri"/>
              </a:defRPr>
            </a:pPr>
            <a:r>
              <a:t>Sơ Đồ Hoạt Động — Đánh Giá Chẩn Đoán Đầu Vào (Placement)</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06 / 12</a:t>
            </a:r>
          </a:p>
        </p:txBody>
      </p:sp>
      <p:sp>
        <p:nvSpPr>
          <p:cNvPr id="5" name="TextBox 4"/>
          <p:cNvSpPr txBox="1"/>
          <p:nvPr/>
        </p:nvSpPr>
        <p:spPr>
          <a:xfrm>
            <a:off x="731520" y="1298448"/>
            <a:ext cx="5230368" cy="256032"/>
          </a:xfrm>
          <a:prstGeom prst="rect">
            <a:avLst/>
          </a:prstGeom>
          <a:noFill/>
        </p:spPr>
        <p:txBody>
          <a:bodyPr wrap="none" lIns="0" tIns="0" rIns="0" bIns="0">
            <a:spAutoFit/>
          </a:bodyPr>
          <a:lstStyle/>
          <a:p>
            <a:pPr>
              <a:defRPr sz="1100" b="1">
                <a:solidFill>
                  <a:srgbClr val="0F172A"/>
                </a:solidFill>
                <a:latin typeface="Calibri"/>
              </a:defRPr>
            </a:pPr>
            <a:r>
              <a:t>Luồng Chẩn Đoán Tuyến Tính (30 Câu → Xác Định Starting Unit)</a:t>
            </a:r>
          </a:p>
        </p:txBody>
      </p:sp>
      <p:sp>
        <p:nvSpPr>
          <p:cNvPr id="6" name="Rectangle 5"/>
          <p:cNvSpPr/>
          <p:nvPr/>
        </p:nvSpPr>
        <p:spPr>
          <a:xfrm>
            <a:off x="731520" y="1572768"/>
            <a:ext cx="5230368"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a-activity-placement-flow.png"/>
          <p:cNvPicPr>
            <a:picLocks noChangeAspect="1"/>
          </p:cNvPicPr>
          <p:nvPr/>
        </p:nvPicPr>
        <p:blipFill>
          <a:blip r:embed="rId2"/>
          <a:stretch>
            <a:fillRect/>
          </a:stretch>
        </p:blipFill>
        <p:spPr>
          <a:xfrm>
            <a:off x="1899782" y="1645920"/>
            <a:ext cx="2893843" cy="3511296"/>
          </a:xfrm>
          <a:prstGeom prst="rect">
            <a:avLst/>
          </a:prstGeom>
        </p:spPr>
      </p:pic>
      <p:sp>
        <p:nvSpPr>
          <p:cNvPr id="8" name="TextBox 7"/>
          <p:cNvSpPr txBox="1"/>
          <p:nvPr/>
        </p:nvSpPr>
        <p:spPr>
          <a:xfrm>
            <a:off x="6229807" y="1298448"/>
            <a:ext cx="5230368" cy="256032"/>
          </a:xfrm>
          <a:prstGeom prst="rect">
            <a:avLst/>
          </a:prstGeom>
          <a:noFill/>
        </p:spPr>
        <p:txBody>
          <a:bodyPr wrap="none" lIns="0" tIns="0" rIns="0" bIns="0">
            <a:spAutoFit/>
          </a:bodyPr>
          <a:lstStyle/>
          <a:p>
            <a:pPr>
              <a:defRPr sz="1100" b="1">
                <a:solidFill>
                  <a:srgbClr val="0F172A"/>
                </a:solidFill>
                <a:latin typeface="Calibri"/>
              </a:defRPr>
            </a:pPr>
            <a:r>
              <a:t>Nhánh Bỏ Qua (Skip) &amp; Nhánh Thi Lại (Retake)</a:t>
            </a:r>
          </a:p>
        </p:txBody>
      </p:sp>
      <p:sp>
        <p:nvSpPr>
          <p:cNvPr id="9" name="Rectangle 8"/>
          <p:cNvSpPr/>
          <p:nvPr/>
        </p:nvSpPr>
        <p:spPr>
          <a:xfrm>
            <a:off x="6229807" y="1572768"/>
            <a:ext cx="5230368"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b-activity-placement-branches.png"/>
          <p:cNvPicPr>
            <a:picLocks noChangeAspect="1"/>
          </p:cNvPicPr>
          <p:nvPr/>
        </p:nvPicPr>
        <p:blipFill>
          <a:blip r:embed="rId3"/>
          <a:stretch>
            <a:fillRect/>
          </a:stretch>
        </p:blipFill>
        <p:spPr>
          <a:xfrm>
            <a:off x="6302959" y="2595280"/>
            <a:ext cx="5084064" cy="1612574"/>
          </a:xfrm>
          <a:prstGeom prst="rect">
            <a:avLst/>
          </a:prstGeom>
        </p:spPr>
      </p:pic>
      <p:sp>
        <p:nvSpPr>
          <p:cNvPr id="11" name="Rectangle 10"/>
          <p:cNvSpPr/>
          <p:nvPr/>
        </p:nvSpPr>
        <p:spPr>
          <a:xfrm>
            <a:off x="731520" y="5349240"/>
            <a:ext cx="10728655" cy="105156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50"/>
              </a:spcAft>
              <a:defRPr sz="950">
                <a:solidFill>
                  <a:srgbClr val="334155"/>
                </a:solidFill>
                <a:latin typeface="Calibri"/>
              </a:defRPr>
            </a:pPr>
            <a:r>
              <a:t>• Quy mô 30 câu &amp; Mapping A: Đề thi 30 câu, thang điểm thô 0–30. Ánh xạ ra Starting Unit từ 1 đến 6 theo dải điểm chuẩn tắc.</a:t>
            </a:r>
          </a:p>
          <a:p>
            <a:pPr>
              <a:spcAft>
                <a:spcPts val="250"/>
              </a:spcAft>
              <a:defRPr sz="950">
                <a:solidFill>
                  <a:srgbClr val="334155"/>
                </a:solidFill>
                <a:latin typeface="Calibri"/>
              </a:defRPr>
            </a:pPr>
            <a:r>
              <a:t>• Nhánh Bỏ qua (Skip): Gán mặc định Unit 1 với trạng thái UNVERIFIED, không tạo bản ghi rác trong AssessmentResult hay SkillProfile.</a:t>
            </a:r>
          </a:p>
          <a:p>
            <a:pPr>
              <a:spcAft>
                <a:spcPts val="250"/>
              </a:spcAft>
              <a:defRPr sz="950">
                <a:solidFill>
                  <a:srgbClr val="334155"/>
                </a:solidFill>
                <a:latin typeface="Calibri"/>
              </a:defRPr>
            </a:pPr>
            <a:r>
              <a:t>• Nhánh Thi lại (Retake): Kích hoạt từ Profile, lưu bản ghi mới độc lập mà không ghi đè lịch sử bài thi trước đó.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QUY TRÌNH HỌC BÀI</a:t>
            </a:r>
          </a:p>
          <a:p>
            <a:pPr>
              <a:defRPr sz="2400" b="1">
                <a:solidFill>
                  <a:srgbClr val="0F172A"/>
                </a:solidFill>
                <a:latin typeface="Calibri"/>
              </a:defRPr>
            </a:pPr>
            <a:r>
              <a:t>Sơ Đồ Hoạt Động — Chu Trình Học Bài &amp; Làm Lại Có Kiểm Soát</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07 / 12</a:t>
            </a:r>
          </a:p>
        </p:txBody>
      </p:sp>
      <p:sp>
        <p:nvSpPr>
          <p:cNvPr id="5" name="TextBox 4"/>
          <p:cNvSpPr txBox="1"/>
          <p:nvPr/>
        </p:nvSpPr>
        <p:spPr>
          <a:xfrm>
            <a:off x="731520" y="1298448"/>
            <a:ext cx="5230368" cy="256032"/>
          </a:xfrm>
          <a:prstGeom prst="rect">
            <a:avLst/>
          </a:prstGeom>
          <a:noFill/>
        </p:spPr>
        <p:txBody>
          <a:bodyPr wrap="none" lIns="0" tIns="0" rIns="0" bIns="0">
            <a:spAutoFit/>
          </a:bodyPr>
          <a:lstStyle/>
          <a:p>
            <a:pPr>
              <a:defRPr sz="1100" b="1">
                <a:solidFill>
                  <a:srgbClr val="0F172A"/>
                </a:solidFill>
                <a:latin typeface="Calibri"/>
              </a:defRPr>
            </a:pPr>
            <a:r>
              <a:t>Luồng Học Chính (Kiểm Tra 4/4 Published → Viewer → Bài Tập)</a:t>
            </a:r>
          </a:p>
        </p:txBody>
      </p:sp>
      <p:sp>
        <p:nvSpPr>
          <p:cNvPr id="6" name="Rectangle 5"/>
          <p:cNvSpPr/>
          <p:nvPr/>
        </p:nvSpPr>
        <p:spPr>
          <a:xfrm>
            <a:off x="731520" y="1572768"/>
            <a:ext cx="5230368"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6a-activity-learning-main.png"/>
          <p:cNvPicPr>
            <a:picLocks noChangeAspect="1"/>
          </p:cNvPicPr>
          <p:nvPr/>
        </p:nvPicPr>
        <p:blipFill>
          <a:blip r:embed="rId2"/>
          <a:stretch>
            <a:fillRect/>
          </a:stretch>
        </p:blipFill>
        <p:spPr>
          <a:xfrm>
            <a:off x="1354642" y="1645920"/>
            <a:ext cx="3984122" cy="3511296"/>
          </a:xfrm>
          <a:prstGeom prst="rect">
            <a:avLst/>
          </a:prstGeom>
        </p:spPr>
      </p:pic>
      <p:sp>
        <p:nvSpPr>
          <p:cNvPr id="8" name="TextBox 7"/>
          <p:cNvSpPr txBox="1"/>
          <p:nvPr/>
        </p:nvSpPr>
        <p:spPr>
          <a:xfrm>
            <a:off x="6229807" y="1298448"/>
            <a:ext cx="5230368" cy="256032"/>
          </a:xfrm>
          <a:prstGeom prst="rect">
            <a:avLst/>
          </a:prstGeom>
          <a:noFill/>
        </p:spPr>
        <p:txBody>
          <a:bodyPr wrap="none" lIns="0" tIns="0" rIns="0" bIns="0">
            <a:spAutoFit/>
          </a:bodyPr>
          <a:lstStyle/>
          <a:p>
            <a:pPr>
              <a:defRPr sz="1100" b="1">
                <a:solidFill>
                  <a:srgbClr val="0F172A"/>
                </a:solidFill>
                <a:latin typeface="Calibri"/>
              </a:defRPr>
            </a:pPr>
            <a:r>
              <a:t>Luồng Làm Lại Có Kiểm Soát (Controlled Retry Flow)</a:t>
            </a:r>
          </a:p>
        </p:txBody>
      </p:sp>
      <p:sp>
        <p:nvSpPr>
          <p:cNvPr id="9" name="Rectangle 8"/>
          <p:cNvSpPr/>
          <p:nvPr/>
        </p:nvSpPr>
        <p:spPr>
          <a:xfrm>
            <a:off x="6229807" y="1572768"/>
            <a:ext cx="5230368"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6b-activity-learning-retry.png"/>
          <p:cNvPicPr>
            <a:picLocks noChangeAspect="1"/>
          </p:cNvPicPr>
          <p:nvPr/>
        </p:nvPicPr>
        <p:blipFill>
          <a:blip r:embed="rId3"/>
          <a:stretch>
            <a:fillRect/>
          </a:stretch>
        </p:blipFill>
        <p:spPr>
          <a:xfrm>
            <a:off x="6833822" y="1645920"/>
            <a:ext cx="4022337" cy="3511296"/>
          </a:xfrm>
          <a:prstGeom prst="rect">
            <a:avLst/>
          </a:prstGeom>
        </p:spPr>
      </p:pic>
      <p:sp>
        <p:nvSpPr>
          <p:cNvPr id="11" name="Rectangle 10"/>
          <p:cNvSpPr/>
          <p:nvPr/>
        </p:nvSpPr>
        <p:spPr>
          <a:xfrm>
            <a:off x="731520" y="5349240"/>
            <a:ext cx="10728655" cy="105156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50"/>
              </a:spcAft>
              <a:defRPr sz="950">
                <a:solidFill>
                  <a:srgbClr val="334155"/>
                </a:solidFill>
                <a:latin typeface="Calibri"/>
              </a:defRPr>
            </a:pPr>
            <a:r>
              <a:t>• Điều kiện hiển thị: Unit chỉ mở khi đủ 4/4 Lesson Published. Học viên bắt buộc qua Lesson Content Viewer trước khi làm bài tập.</a:t>
            </a:r>
          </a:p>
          <a:p>
            <a:pPr>
              <a:spcAft>
                <a:spcPts val="250"/>
              </a:spcAft>
              <a:defRPr sz="950">
                <a:solidFill>
                  <a:srgbClr val="334155"/>
                </a:solidFill>
                <a:latin typeface="Calibri"/>
              </a:defRPr>
            </a:pPr>
            <a:r>
              <a:t>• Quy chế Retry: Sai khi retry quay lại Show Explanation; hết hạn mức báo 'No quota'; làm lại đúng ghi nhận &lt;= 70% credit.</a:t>
            </a:r>
          </a:p>
          <a:p>
            <a:pPr>
              <a:spcAft>
                <a:spcPts val="250"/>
              </a:spcAft>
              <a:defRPr sz="950">
                <a:solidFill>
                  <a:srgbClr val="334155"/>
                </a:solidFill>
                <a:latin typeface="Calibri"/>
              </a:defRPr>
            </a:pPr>
            <a:r>
              <a:t>• Cập nhật nguyên tử [UC-07]: Hoàn thành bài học ghi nhận UserProgress, tăng Streak thuộc UC-07 và thêm thẻ SRS (1,3,7,14,30 ngày).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QUY TRÌNH NHẢY CẤP</a:t>
            </a:r>
          </a:p>
          <a:p>
            <a:pPr>
              <a:defRPr sz="2400" b="1">
                <a:solidFill>
                  <a:srgbClr val="0F172A"/>
                </a:solidFill>
                <a:latin typeface="Calibri"/>
              </a:defRPr>
            </a:pPr>
            <a:r>
              <a:t>Sơ Đồ Hoạt Động — Thử Thách Nhảy Cấp (Conditional Jump)</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08 / 12</a:t>
            </a:r>
          </a:p>
        </p:txBody>
      </p:sp>
      <p:sp>
        <p:nvSpPr>
          <p:cNvPr id="5" name="TextBox 4"/>
          <p:cNvSpPr txBox="1"/>
          <p:nvPr/>
        </p:nvSpPr>
        <p:spPr>
          <a:xfrm>
            <a:off x="731520" y="1298448"/>
            <a:ext cx="5230368" cy="256032"/>
          </a:xfrm>
          <a:prstGeom prst="rect">
            <a:avLst/>
          </a:prstGeom>
          <a:noFill/>
        </p:spPr>
        <p:txBody>
          <a:bodyPr wrap="none" lIns="0" tIns="0" rIns="0" bIns="0">
            <a:spAutoFit/>
          </a:bodyPr>
          <a:lstStyle/>
          <a:p>
            <a:pPr>
              <a:defRPr sz="1100" b="1">
                <a:solidFill>
                  <a:srgbClr val="0F172A"/>
                </a:solidFill>
                <a:latin typeface="Calibri"/>
              </a:defRPr>
            </a:pPr>
            <a:r>
              <a:t>Kiểm Tra Cooldown 24h &amp; Làm Bài Thi Jump</a:t>
            </a:r>
          </a:p>
        </p:txBody>
      </p:sp>
      <p:sp>
        <p:nvSpPr>
          <p:cNvPr id="6" name="Rectangle 5"/>
          <p:cNvSpPr/>
          <p:nvPr/>
        </p:nvSpPr>
        <p:spPr>
          <a:xfrm>
            <a:off x="731520" y="1572768"/>
            <a:ext cx="5230368"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7a-activity-jump-check.png"/>
          <p:cNvPicPr>
            <a:picLocks noChangeAspect="1"/>
          </p:cNvPicPr>
          <p:nvPr/>
        </p:nvPicPr>
        <p:blipFill>
          <a:blip r:embed="rId2"/>
          <a:stretch>
            <a:fillRect/>
          </a:stretch>
        </p:blipFill>
        <p:spPr>
          <a:xfrm>
            <a:off x="1118455" y="1645920"/>
            <a:ext cx="4456496" cy="3511296"/>
          </a:xfrm>
          <a:prstGeom prst="rect">
            <a:avLst/>
          </a:prstGeom>
        </p:spPr>
      </p:pic>
      <p:sp>
        <p:nvSpPr>
          <p:cNvPr id="8" name="TextBox 7"/>
          <p:cNvSpPr txBox="1"/>
          <p:nvPr/>
        </p:nvSpPr>
        <p:spPr>
          <a:xfrm>
            <a:off x="6229807" y="1298448"/>
            <a:ext cx="5230368" cy="256032"/>
          </a:xfrm>
          <a:prstGeom prst="rect">
            <a:avLst/>
          </a:prstGeom>
          <a:noFill/>
        </p:spPr>
        <p:txBody>
          <a:bodyPr wrap="none" lIns="0" tIns="0" rIns="0" bIns="0">
            <a:spAutoFit/>
          </a:bodyPr>
          <a:lstStyle/>
          <a:p>
            <a:pPr>
              <a:defRPr sz="1100" b="1">
                <a:solidFill>
                  <a:srgbClr val="0F172A"/>
                </a:solidFill>
                <a:latin typeface="Calibri"/>
              </a:defRPr>
            </a:pPr>
            <a:r>
              <a:t>Xử Lý Kết Quả: Vượt Cấp (Đỗ &gt;= 95%) vs Khóa Phạt 24h</a:t>
            </a:r>
          </a:p>
        </p:txBody>
      </p:sp>
      <p:sp>
        <p:nvSpPr>
          <p:cNvPr id="9" name="Rectangle 8"/>
          <p:cNvSpPr/>
          <p:nvPr/>
        </p:nvSpPr>
        <p:spPr>
          <a:xfrm>
            <a:off x="6229807" y="1572768"/>
            <a:ext cx="5230368"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7b-activity-jump-result.png"/>
          <p:cNvPicPr>
            <a:picLocks noChangeAspect="1"/>
          </p:cNvPicPr>
          <p:nvPr/>
        </p:nvPicPr>
        <p:blipFill>
          <a:blip r:embed="rId3"/>
          <a:stretch>
            <a:fillRect/>
          </a:stretch>
        </p:blipFill>
        <p:spPr>
          <a:xfrm>
            <a:off x="6302959" y="2172897"/>
            <a:ext cx="5084064" cy="2457341"/>
          </a:xfrm>
          <a:prstGeom prst="rect">
            <a:avLst/>
          </a:prstGeom>
        </p:spPr>
      </p:pic>
      <p:sp>
        <p:nvSpPr>
          <p:cNvPr id="11" name="Rectangle 10"/>
          <p:cNvSpPr/>
          <p:nvPr/>
        </p:nvSpPr>
        <p:spPr>
          <a:xfrm>
            <a:off x="731520" y="5349240"/>
            <a:ext cx="10728655" cy="105156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50"/>
              </a:spcAft>
              <a:defRPr sz="950">
                <a:solidFill>
                  <a:srgbClr val="334155"/>
                </a:solidFill>
                <a:latin typeface="Calibri"/>
              </a:defRPr>
            </a:pPr>
            <a:r>
              <a:t>• Kiểm tra Cooldown: Chặn làm bài nếu đang trong thời gian phạt Cooldown 24 giờ sau lần thi trượt gần nhất.</a:t>
            </a:r>
          </a:p>
          <a:p>
            <a:pPr>
              <a:spcAft>
                <a:spcPts val="250"/>
              </a:spcAft>
              <a:defRPr sz="950">
                <a:solidFill>
                  <a:srgbClr val="334155"/>
                </a:solidFill>
                <a:latin typeface="Calibri"/>
              </a:defRPr>
            </a:pPr>
            <a:r>
              <a:t>• Quy mô đề Jump: 20 câu (nhảy 1 Unit), 25–30 câu (nhảy 2–3 Units), hoặc 40 câu (nhảy hơn 3 Units).</a:t>
            </a:r>
          </a:p>
          <a:p>
            <a:pPr>
              <a:spcAft>
                <a:spcPts val="250"/>
              </a:spcAft>
              <a:defRPr sz="950">
                <a:solidFill>
                  <a:srgbClr val="334155"/>
                </a:solidFill>
                <a:latin typeface="Calibri"/>
              </a:defRPr>
            </a:pPr>
            <a:r>
              <a:t>• Xử lý kết quả: Đạt &gt;= 95% gán SKIPPED_BY_JUMP (by_jump = true) cho nội dung vượt qua; trượt khóa 24 giờ.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QUY TRÌNH NỘI DUNG</a:t>
            </a:r>
          </a:p>
          <a:p>
            <a:pPr>
              <a:defRPr sz="2400" b="1">
                <a:solidFill>
                  <a:srgbClr val="0F172A"/>
                </a:solidFill>
                <a:latin typeface="Calibri"/>
              </a:defRPr>
            </a:pPr>
            <a:r>
              <a:t>Sơ Đồ Hoạt Động — Quản Trị &amp; Xuất Bản Nội Dung</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09 / 12</a:t>
            </a:r>
          </a:p>
        </p:txBody>
      </p:sp>
      <p:sp>
        <p:nvSpPr>
          <p:cNvPr id="5" name="TextBox 4"/>
          <p:cNvSpPr txBox="1"/>
          <p:nvPr/>
        </p:nvSpPr>
        <p:spPr>
          <a:xfrm>
            <a:off x="731520" y="1298448"/>
            <a:ext cx="5230368" cy="256032"/>
          </a:xfrm>
          <a:prstGeom prst="rect">
            <a:avLst/>
          </a:prstGeom>
          <a:noFill/>
        </p:spPr>
        <p:txBody>
          <a:bodyPr wrap="none" lIns="0" tIns="0" rIns="0" bIns="0">
            <a:spAutoFit/>
          </a:bodyPr>
          <a:lstStyle/>
          <a:p>
            <a:pPr>
              <a:defRPr sz="1100" b="1">
                <a:solidFill>
                  <a:srgbClr val="0F172A"/>
                </a:solidFill>
                <a:latin typeface="Calibri"/>
              </a:defRPr>
            </a:pPr>
            <a:r>
              <a:t>Quy Trình Phê Duyệt &amp; Xuất Bản Chính Thức</a:t>
            </a:r>
          </a:p>
        </p:txBody>
      </p:sp>
      <p:sp>
        <p:nvSpPr>
          <p:cNvPr id="6" name="Rectangle 5"/>
          <p:cNvSpPr/>
          <p:nvPr/>
        </p:nvSpPr>
        <p:spPr>
          <a:xfrm>
            <a:off x="731520" y="1572768"/>
            <a:ext cx="5230368"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8a-activity-governance-main.png"/>
          <p:cNvPicPr>
            <a:picLocks noChangeAspect="1"/>
          </p:cNvPicPr>
          <p:nvPr/>
        </p:nvPicPr>
        <p:blipFill>
          <a:blip r:embed="rId2"/>
          <a:stretch>
            <a:fillRect/>
          </a:stretch>
        </p:blipFill>
        <p:spPr>
          <a:xfrm>
            <a:off x="804672" y="2288503"/>
            <a:ext cx="5084064" cy="2226128"/>
          </a:xfrm>
          <a:prstGeom prst="rect">
            <a:avLst/>
          </a:prstGeom>
        </p:spPr>
      </p:pic>
      <p:sp>
        <p:nvSpPr>
          <p:cNvPr id="8" name="TextBox 7"/>
          <p:cNvSpPr txBox="1"/>
          <p:nvPr/>
        </p:nvSpPr>
        <p:spPr>
          <a:xfrm>
            <a:off x="6229807" y="1298448"/>
            <a:ext cx="5230368" cy="256032"/>
          </a:xfrm>
          <a:prstGeom prst="rect">
            <a:avLst/>
          </a:prstGeom>
          <a:noFill/>
        </p:spPr>
        <p:txBody>
          <a:bodyPr wrap="none" lIns="0" tIns="0" rIns="0" bIns="0">
            <a:spAutoFit/>
          </a:bodyPr>
          <a:lstStyle/>
          <a:p>
            <a:pPr>
              <a:defRPr sz="1100" b="1">
                <a:solidFill>
                  <a:srgbClr val="0F172A"/>
                </a:solidFill>
                <a:latin typeface="Calibri"/>
              </a:defRPr>
            </a:pPr>
            <a:r>
              <a:t>Cơ Chế Clone-to-Draft v2 &amp; Xuất Bản Khẩn Cấp</a:t>
            </a:r>
          </a:p>
        </p:txBody>
      </p:sp>
      <p:sp>
        <p:nvSpPr>
          <p:cNvPr id="9" name="Rectangle 8"/>
          <p:cNvSpPr/>
          <p:nvPr/>
        </p:nvSpPr>
        <p:spPr>
          <a:xfrm>
            <a:off x="6229807" y="1572768"/>
            <a:ext cx="5230368"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8b-activity-governance-branches.png"/>
          <p:cNvPicPr>
            <a:picLocks noChangeAspect="1"/>
          </p:cNvPicPr>
          <p:nvPr/>
        </p:nvPicPr>
        <p:blipFill>
          <a:blip r:embed="rId3"/>
          <a:stretch>
            <a:fillRect/>
          </a:stretch>
        </p:blipFill>
        <p:spPr>
          <a:xfrm>
            <a:off x="6302959" y="1833635"/>
            <a:ext cx="5084064" cy="3135864"/>
          </a:xfrm>
          <a:prstGeom prst="rect">
            <a:avLst/>
          </a:prstGeom>
        </p:spPr>
      </p:pic>
      <p:sp>
        <p:nvSpPr>
          <p:cNvPr id="11" name="Rectangle 10"/>
          <p:cNvSpPr/>
          <p:nvPr/>
        </p:nvSpPr>
        <p:spPr>
          <a:xfrm>
            <a:off x="731520" y="5349240"/>
            <a:ext cx="10728655" cy="105156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50"/>
              </a:spcAft>
              <a:defRPr sz="950">
                <a:solidFill>
                  <a:srgbClr val="334155"/>
                </a:solidFill>
                <a:latin typeface="Calibri"/>
              </a:defRPr>
            </a:pPr>
            <a:r>
              <a:t>• Phê duyệt độc lập: Moderator chuyển APPROVED hoặc CHANGES_REQUESTED kèm ghi chú chi tiết, không dùng REJECTED.</a:t>
            </a:r>
          </a:p>
          <a:p>
            <a:pPr>
              <a:spcAft>
                <a:spcPts val="250"/>
              </a:spcAft>
              <a:defRPr sz="950">
                <a:solidFill>
                  <a:srgbClr val="334155"/>
                </a:solidFill>
                <a:latin typeface="Calibri"/>
              </a:defRPr>
            </a:pPr>
            <a:r>
              <a:t>• Quyền xuất bản: Org Manager là tác nhân thẩm quyền duy nhất thực hiện Publish sau khi học liệu đã Approved.</a:t>
            </a:r>
          </a:p>
          <a:p>
            <a:pPr>
              <a:spcAft>
                <a:spcPts val="250"/>
              </a:spcAft>
              <a:defRPr sz="950">
                <a:solidFill>
                  <a:srgbClr val="334155"/>
                </a:solidFill>
                <a:latin typeface="Calibri"/>
              </a:defRPr>
            </a:pPr>
            <a:r>
              <a:t>• Clone-to-Draft v2 &amp; Emergency: Sửa bài đã xuất bản tạo bản v2 và bắt buộc Archive v1 sau khi Publish v2; Admin xuất bản có AuditLog.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MÔ HÌNH CẤU TRÚC</a:t>
            </a:r>
          </a:p>
          <a:p>
            <a:pPr>
              <a:defRPr sz="2400" b="1">
                <a:solidFill>
                  <a:srgbClr val="0F172A"/>
                </a:solidFill>
                <a:latin typeface="Calibri"/>
              </a:defRPr>
            </a:pPr>
            <a:r>
              <a:t>Sơ Đồ Lớp — Cấu Trúc Nội Dung &amp; Khóa Học</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10 / 12</a:t>
            </a:r>
          </a:p>
        </p:txBody>
      </p:sp>
      <p:sp>
        <p:nvSpPr>
          <p:cNvPr id="5" name="Rectangle 4"/>
          <p:cNvSpPr/>
          <p:nvPr/>
        </p:nvSpPr>
        <p:spPr>
          <a:xfrm>
            <a:off x="731520" y="1325880"/>
            <a:ext cx="7315200" cy="4983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9-class-content.png"/>
          <p:cNvPicPr>
            <a:picLocks noChangeAspect="1"/>
          </p:cNvPicPr>
          <p:nvPr/>
        </p:nvPicPr>
        <p:blipFill>
          <a:blip r:embed="rId2"/>
          <a:stretch>
            <a:fillRect/>
          </a:stretch>
        </p:blipFill>
        <p:spPr>
          <a:xfrm>
            <a:off x="804672" y="1952160"/>
            <a:ext cx="7168896" cy="3730918"/>
          </a:xfrm>
          <a:prstGeom prst="rect">
            <a:avLst/>
          </a:prstGeom>
        </p:spPr>
      </p:pic>
      <p:sp>
        <p:nvSpPr>
          <p:cNvPr id="7" name="Rectangle 6"/>
          <p:cNvSpPr/>
          <p:nvPr/>
        </p:nvSpPr>
        <p:spPr>
          <a:xfrm>
            <a:off x="8275320" y="1325880"/>
            <a:ext cx="3182112" cy="4983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200"/>
              </a:spcAft>
              <a:defRPr sz="1100" b="1">
                <a:solidFill>
                  <a:srgbClr val="0F172A"/>
                </a:solidFill>
                <a:latin typeface="Calibri"/>
              </a:defRPr>
            </a:pPr>
            <a:r>
              <a:t>ĐẶC TẢ LỚP NỘI DUNG</a:t>
            </a:r>
          </a:p>
          <a:p>
            <a:pPr>
              <a:spcAft>
                <a:spcPts val="200"/>
              </a:spcAft>
              <a:defRPr sz="1000" b="1">
                <a:solidFill>
                  <a:srgbClr val="0F172A"/>
                </a:solidFill>
                <a:latin typeface="Calibri"/>
              </a:defRPr>
            </a:pPr>
            <a:r>
              <a:t>• Ký hiệu CURRENT vs TARGET</a:t>
            </a:r>
          </a:p>
          <a:p>
            <a:pPr>
              <a:spcAft>
                <a:spcPts val="1000"/>
              </a:spcAft>
              <a:defRPr sz="950">
                <a:solidFill>
                  <a:srgbClr val="334155"/>
                </a:solidFill>
                <a:latin typeface="Calibri"/>
              </a:defRPr>
            </a:pPr>
            <a:r>
              <a:t>Phân định trực quan bằng nét vẽ: nét liền cho thực thể CURRENT (schema.prisma) và nét đứt cho TARGET (Phase 2).</a:t>
            </a:r>
          </a:p>
          <a:p>
            <a:pPr>
              <a:spcAft>
                <a:spcPts val="200"/>
              </a:spcAft>
              <a:defRPr sz="1000" b="1">
                <a:solidFill>
                  <a:srgbClr val="0F172A"/>
                </a:solidFill>
                <a:latin typeface="Calibri"/>
              </a:defRPr>
            </a:pPr>
            <a:r>
              <a:t>• Vòng đời 6 trạng thái</a:t>
            </a:r>
          </a:p>
          <a:p>
            <a:pPr>
              <a:spcAft>
                <a:spcPts val="1000"/>
              </a:spcAft>
              <a:defRPr sz="950">
                <a:solidFill>
                  <a:srgbClr val="334155"/>
                </a:solidFill>
                <a:latin typeface="Calibri"/>
              </a:defRPr>
            </a:pPr>
            <a:r>
              <a:t>LessonRevision quản lý đầy đủ 6 trạng thái vòng đời: DRAFT, IN_REVIEW, CHANGES_REQUESTED, APPROVED, PUBLISHED, ARCHIVED.</a:t>
            </a:r>
          </a:p>
          <a:p>
            <a:pPr>
              <a:spcAft>
                <a:spcPts val="200"/>
              </a:spcAft>
              <a:defRPr sz="1000" b="1">
                <a:solidFill>
                  <a:srgbClr val="0F172A"/>
                </a:solidFill>
                <a:latin typeface="Calibri"/>
              </a:defRPr>
            </a:pPr>
            <a:r>
              <a:t>• Exercise thuộc Revision</a:t>
            </a:r>
          </a:p>
          <a:p>
            <a:pPr>
              <a:spcAft>
                <a:spcPts val="1000"/>
              </a:spcAft>
              <a:defRPr sz="950">
                <a:solidFill>
                  <a:srgbClr val="334155"/>
                </a:solidFill>
                <a:latin typeface="Calibri"/>
              </a:defRPr>
            </a:pPr>
            <a:r>
              <a:t>Exercise liên kết trực tiếp với LessonRevision; khóa ngoại cũ lesson_id giữ nhãn [CURRENT] để bảo toàn tính lịch sử.</a:t>
            </a:r>
          </a:p>
          <a:p>
            <a:pPr>
              <a:spcAft>
                <a:spcPts val="200"/>
              </a:spcAft>
              <a:defRPr sz="1000" b="1">
                <a:solidFill>
                  <a:srgbClr val="0F172A"/>
                </a:solidFill>
                <a:latin typeface="Calibri"/>
              </a:defRPr>
            </a:pPr>
            <a:r>
              <a:t>• Ràng buộc hiển thị Unit</a:t>
            </a:r>
          </a:p>
          <a:p>
            <a:pPr>
              <a:spcAft>
                <a:spcPts val="1000"/>
              </a:spcAft>
              <a:defRPr sz="950">
                <a:solidFill>
                  <a:srgbClr val="334155"/>
                </a:solidFill>
                <a:latin typeface="Calibri"/>
              </a:defRPr>
            </a:pPr>
            <a:r>
              <a:t>Gắn ghi chú ràng buộc {Unit hiển thị khi đủ 4/4 Lesson Published} nhằm bảo đảm tính trọn vẹn chương trình.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MÔ HÌNH HỌC VIÊN</a:t>
            </a:r>
          </a:p>
          <a:p>
            <a:pPr>
              <a:defRPr sz="2400" b="1">
                <a:solidFill>
                  <a:srgbClr val="0F172A"/>
                </a:solidFill>
                <a:latin typeface="Calibri"/>
              </a:defRPr>
            </a:pPr>
            <a:r>
              <a:t>Sơ Đồ Lớp — Học Viên, Đánh Giá &amp; Tiến Độ</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11 / 12</a:t>
            </a:r>
          </a:p>
        </p:txBody>
      </p:sp>
      <p:sp>
        <p:nvSpPr>
          <p:cNvPr id="5" name="Rectangle 4"/>
          <p:cNvSpPr/>
          <p:nvPr/>
        </p:nvSpPr>
        <p:spPr>
          <a:xfrm>
            <a:off x="731520" y="1325880"/>
            <a:ext cx="7315200" cy="4983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0-class-learner-assessment.png"/>
          <p:cNvPicPr>
            <a:picLocks noChangeAspect="1"/>
          </p:cNvPicPr>
          <p:nvPr/>
        </p:nvPicPr>
        <p:blipFill>
          <a:blip r:embed="rId2"/>
          <a:stretch>
            <a:fillRect/>
          </a:stretch>
        </p:blipFill>
        <p:spPr>
          <a:xfrm>
            <a:off x="804672" y="1704199"/>
            <a:ext cx="7168896" cy="4226840"/>
          </a:xfrm>
          <a:prstGeom prst="rect">
            <a:avLst/>
          </a:prstGeom>
        </p:spPr>
      </p:pic>
      <p:sp>
        <p:nvSpPr>
          <p:cNvPr id="7" name="Rectangle 6"/>
          <p:cNvSpPr/>
          <p:nvPr/>
        </p:nvSpPr>
        <p:spPr>
          <a:xfrm>
            <a:off x="8275320" y="1325880"/>
            <a:ext cx="3182112" cy="4983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200"/>
              </a:spcAft>
              <a:defRPr sz="1100" b="1">
                <a:solidFill>
                  <a:srgbClr val="0F172A"/>
                </a:solidFill>
                <a:latin typeface="Calibri"/>
              </a:defRPr>
            </a:pPr>
            <a:r>
              <a:t>BẤT BIẾN DỮ LIỆU HỌC VIÊN</a:t>
            </a:r>
          </a:p>
          <a:p>
            <a:pPr>
              <a:spcAft>
                <a:spcPts val="200"/>
              </a:spcAft>
              <a:defRPr sz="1000" b="1">
                <a:solidFill>
                  <a:srgbClr val="0F172A"/>
                </a:solidFill>
                <a:latin typeface="Calibri"/>
              </a:defRPr>
            </a:pPr>
            <a:r>
              <a:t>• Tiến độ ≠ Năng lực</a:t>
            </a:r>
          </a:p>
          <a:p>
            <a:pPr>
              <a:spcAft>
                <a:spcPts val="1000"/>
              </a:spcAft>
              <a:defRPr sz="950">
                <a:solidFill>
                  <a:srgbClr val="334155"/>
                </a:solidFill>
                <a:latin typeface="Calibri"/>
              </a:defRPr>
            </a:pPr>
            <a:r>
              <a:t>Tách bạch tuyệt đối UserProgress (tiến độ hoàn thành tuyến tính) khỏi SkillProfile (năng lực đa chiều qua AssessmentResult).</a:t>
            </a:r>
          </a:p>
          <a:p>
            <a:pPr>
              <a:spcAft>
                <a:spcPts val="200"/>
              </a:spcAft>
              <a:defRPr sz="1000" b="1">
                <a:solidFill>
                  <a:srgbClr val="0F172A"/>
                </a:solidFill>
                <a:latin typeface="Calibri"/>
              </a:defRPr>
            </a:pPr>
            <a:r>
              <a:t>• SRS tất định Policy B</a:t>
            </a:r>
          </a:p>
          <a:p>
            <a:pPr>
              <a:spcAft>
                <a:spcPts val="1000"/>
              </a:spcAft>
              <a:defRPr sz="950">
                <a:solidFill>
                  <a:srgbClr val="334155"/>
                </a:solidFill>
                <a:latin typeface="Calibri"/>
              </a:defRPr>
            </a:pPr>
            <a:r>
              <a:t>UserVocabSrs và ReviewLog thực thi chu kỳ ngày cố định 1, 3, 7, 14, 30 ngày; sai lập tức reset về mốc 1 ngày.</a:t>
            </a:r>
          </a:p>
          <a:p>
            <a:pPr>
              <a:spcAft>
                <a:spcPts val="200"/>
              </a:spcAft>
              <a:defRPr sz="1000" b="1">
                <a:solidFill>
                  <a:srgbClr val="0F172A"/>
                </a:solidFill>
                <a:latin typeface="Calibri"/>
              </a:defRPr>
            </a:pPr>
            <a:r>
              <a:t>• Ghi chú trạng thái State</a:t>
            </a:r>
          </a:p>
          <a:p>
            <a:pPr>
              <a:spcAft>
                <a:spcPts val="1000"/>
              </a:spcAft>
              <a:defRPr sz="950">
                <a:solidFill>
                  <a:srgbClr val="334155"/>
                </a:solidFill>
                <a:latin typeface="Calibri"/>
              </a:defRPr>
            </a:pPr>
            <a:r>
              <a:t>Các thuộc tính Retry usage và Jump cooldown 24h được mô hình hóa dưới dạng ghi chú logic gắn vào UserProgress.</a:t>
            </a:r>
          </a:p>
          <a:p>
            <a:pPr>
              <a:spcAft>
                <a:spcPts val="200"/>
              </a:spcAft>
              <a:defRPr sz="1000" b="1">
                <a:solidFill>
                  <a:srgbClr val="0F172A"/>
                </a:solidFill>
                <a:latin typeface="Calibri"/>
              </a:defRPr>
            </a:pPr>
            <a:r>
              <a:t>• Kiểm toán an ninh</a:t>
            </a:r>
          </a:p>
          <a:p>
            <a:pPr>
              <a:spcAft>
                <a:spcPts val="1000"/>
              </a:spcAft>
              <a:defRPr sz="950">
                <a:solidFill>
                  <a:srgbClr val="334155"/>
                </a:solidFill>
                <a:latin typeface="Calibri"/>
              </a:defRPr>
            </a:pPr>
            <a:r>
              <a:t>Mọi thay đổi vai trò hay can thiệp đặc quyền đều kích hoạt tạo bản ghi bất biến trong AuditLog.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9601200" cy="868680"/>
          </a:xfrm>
          <a:prstGeom prst="rect">
            <a:avLst/>
          </a:prstGeom>
          <a:noFill/>
        </p:spPr>
        <p:txBody>
          <a:bodyPr wrap="square" lIns="0" tIns="0" rIns="0" bIns="0">
            <a:spAutoFit/>
          </a:bodyPr>
          <a:lstStyle/>
          <a:p>
            <a:pPr>
              <a:spcAft>
                <a:spcPts val="200"/>
              </a:spcAft>
              <a:defRPr sz="1100" b="1">
                <a:solidFill>
                  <a:srgbClr val="2563EB"/>
                </a:solidFill>
                <a:latin typeface="Calibri"/>
              </a:defRPr>
            </a:pPr>
            <a:r>
              <a:t>TRUY VẾT YÊU CẦU</a:t>
            </a:r>
          </a:p>
          <a:p>
            <a:pPr>
              <a:defRPr sz="2400" b="1">
                <a:solidFill>
                  <a:srgbClr val="0F172A"/>
                </a:solidFill>
                <a:latin typeface="Calibri"/>
              </a:defRPr>
            </a:pPr>
            <a:r>
              <a:t>Ma Trận Truy Vết Nghiệp Vụ Toàn Diện (Traceability Matrix)</a:t>
            </a:r>
          </a:p>
        </p:txBody>
      </p:sp>
      <p:sp>
        <p:nvSpPr>
          <p:cNvPr id="4" name="TextBox 3"/>
          <p:cNvSpPr txBox="1"/>
          <p:nvPr/>
        </p:nvSpPr>
        <p:spPr>
          <a:xfrm>
            <a:off x="10515600" y="411480"/>
            <a:ext cx="944575" cy="365760"/>
          </a:xfrm>
          <a:prstGeom prst="rect">
            <a:avLst/>
          </a:prstGeom>
          <a:noFill/>
        </p:spPr>
        <p:txBody>
          <a:bodyPr wrap="none" lIns="0" tIns="0" rIns="0" bIns="0">
            <a:spAutoFit/>
          </a:bodyPr>
          <a:lstStyle/>
          <a:p>
            <a:pPr algn="r">
              <a:defRPr sz="1100" b="1">
                <a:solidFill>
                  <a:srgbClr val="64748B"/>
                </a:solidFill>
                <a:latin typeface="Calibri"/>
              </a:defRPr>
            </a:pPr>
            <a:r>
              <a:t>12 / 12</a:t>
            </a:r>
          </a:p>
        </p:txBody>
      </p:sp>
      <p:graphicFrame>
        <p:nvGraphicFramePr>
          <p:cNvPr id="5" name="Table 4"/>
          <p:cNvGraphicFramePr>
            <a:graphicFrameLocks noGrp="1"/>
          </p:cNvGraphicFramePr>
          <p:nvPr/>
        </p:nvGraphicFramePr>
        <p:xfrm>
          <a:off x="731520" y="1325880"/>
          <a:ext cx="10728655" cy="4709160"/>
        </p:xfrm>
        <a:graphic>
          <a:graphicData uri="http://schemas.openxmlformats.org/drawingml/2006/table">
            <a:tbl>
              <a:tblPr firstRow="1" bandRow="1">
                <a:tableStyleId>{5C22544A-7EE6-4342-B048-85BDC9FD1C3A}</a:tableStyleId>
              </a:tblPr>
              <a:tblGrid>
                <a:gridCol w="914400"/>
                <a:gridCol w="3291840"/>
                <a:gridCol w="2011680"/>
                <a:gridCol w="2468880"/>
                <a:gridCol w="2041855"/>
              </a:tblGrid>
              <a:tr h="294322">
                <a:tc>
                  <a:txBody>
                    <a:bodyPr/>
                    <a:lstStyle/>
                    <a:p>
                      <a:pPr algn="ctr">
                        <a:defRPr sz="1100" b="1">
                          <a:solidFill>
                            <a:srgbClr val="FFFFFF"/>
                          </a:solidFill>
                          <a:latin typeface="Calibri"/>
                        </a:defRPr>
                      </a:pPr>
                      <a:r>
                        <a:t>UC ID</a:t>
                      </a:r>
                    </a:p>
                  </a:txBody>
                  <a:tcPr marT="36576" marB="36576" marL="73152" marR="73152">
                    <a:solidFill>
                      <a:srgbClr val="0F172A"/>
                    </a:solidFill>
                  </a:tcPr>
                </a:tc>
                <a:tc>
                  <a:txBody>
                    <a:bodyPr/>
                    <a:lstStyle/>
                    <a:p>
                      <a:pPr algn="ctr">
                        <a:defRPr sz="1100" b="1">
                          <a:solidFill>
                            <a:srgbClr val="FFFFFF"/>
                          </a:solidFill>
                          <a:latin typeface="Calibri"/>
                        </a:defRPr>
                      </a:pPr>
                      <a:r>
                        <a:t>Tên Ca Sử Dụng Chuẩn Tắc</a:t>
                      </a:r>
                    </a:p>
                  </a:txBody>
                  <a:tcPr marT="36576" marB="36576" marL="73152" marR="73152">
                    <a:solidFill>
                      <a:srgbClr val="0F172A"/>
                    </a:solidFill>
                  </a:tcPr>
                </a:tc>
                <a:tc>
                  <a:txBody>
                    <a:bodyPr/>
                    <a:lstStyle/>
                    <a:p>
                      <a:pPr algn="ctr">
                        <a:defRPr sz="1100" b="1">
                          <a:solidFill>
                            <a:srgbClr val="FFFFFF"/>
                          </a:solidFill>
                          <a:latin typeface="Calibri"/>
                        </a:defRPr>
                      </a:pPr>
                      <a:r>
                        <a:t>Sơ Đồ Hoạt Động</a:t>
                      </a:r>
                    </a:p>
                  </a:txBody>
                  <a:tcPr marT="36576" marB="36576" marL="73152" marR="73152">
                    <a:solidFill>
                      <a:srgbClr val="0F172A"/>
                    </a:solidFill>
                  </a:tcPr>
                </a:tc>
                <a:tc>
                  <a:txBody>
                    <a:bodyPr/>
                    <a:lstStyle/>
                    <a:p>
                      <a:pPr algn="ctr">
                        <a:defRPr sz="1100" b="1">
                          <a:solidFill>
                            <a:srgbClr val="FFFFFF"/>
                          </a:solidFill>
                          <a:latin typeface="Calibri"/>
                        </a:defRPr>
                      </a:pPr>
                      <a:r>
                        <a:t>Lớp Dữ Liệu</a:t>
                      </a:r>
                    </a:p>
                  </a:txBody>
                  <a:tcPr marT="36576" marB="36576" marL="73152" marR="73152">
                    <a:solidFill>
                      <a:srgbClr val="0F172A"/>
                    </a:solidFill>
                  </a:tcPr>
                </a:tc>
                <a:tc>
                  <a:txBody>
                    <a:bodyPr/>
                    <a:lstStyle/>
                    <a:p>
                      <a:pPr algn="ctr">
                        <a:defRPr sz="1100" b="1">
                          <a:solidFill>
                            <a:srgbClr val="FFFFFF"/>
                          </a:solidFill>
                          <a:latin typeface="Calibri"/>
                        </a:defRPr>
                      </a:pPr>
                      <a:r>
                        <a:t>Phạm Vi Triển Khai</a:t>
                      </a:r>
                    </a:p>
                  </a:txBody>
                  <a:tcPr marT="36576" marB="36576" marL="73152" marR="73152">
                    <a:solidFill>
                      <a:srgbClr val="0F172A"/>
                    </a:solidFill>
                  </a:tcPr>
                </a:tc>
              </a:tr>
              <a:tr h="294322">
                <a:tc>
                  <a:txBody>
                    <a:bodyPr/>
                    <a:lstStyle/>
                    <a:p>
                      <a:pPr algn="ctr">
                        <a:defRPr sz="1050" b="1">
                          <a:solidFill>
                            <a:srgbClr val="2563EB"/>
                          </a:solidFill>
                          <a:latin typeface="Calibri"/>
                        </a:defRPr>
                      </a:pPr>
                      <a:r>
                        <a:t>UC-01</a:t>
                      </a:r>
                    </a:p>
                  </a:txBody>
                  <a:tcPr marT="18288" marB="18288" marL="54864" marR="54864">
                    <a:solidFill>
                      <a:srgbClr val="FFFFFF"/>
                    </a:solidFill>
                  </a:tcPr>
                </a:tc>
                <a:tc>
                  <a:txBody>
                    <a:bodyPr/>
                    <a:lstStyle/>
                    <a:p>
                      <a:pPr>
                        <a:defRPr sz="1050">
                          <a:solidFill>
                            <a:srgbClr val="334155"/>
                          </a:solidFill>
                          <a:latin typeface="Calibri"/>
                        </a:defRPr>
                      </a:pPr>
                      <a:r>
                        <a:t>Authenticate &amp; Manage Session</a:t>
                      </a:r>
                    </a:p>
                  </a:txBody>
                  <a:tcPr marT="18288" marB="18288" marL="54864" marR="54864">
                    <a:solidFill>
                      <a:srgbClr val="FFFFFF"/>
                    </a:solidFill>
                  </a:tcPr>
                </a:tc>
                <a:tc>
                  <a:txBody>
                    <a:bodyPr/>
                    <a:lstStyle/>
                    <a:p>
                      <a:pPr>
                        <a:defRPr sz="1050">
                          <a:solidFill>
                            <a:srgbClr val="334155"/>
                          </a:solidFill>
                          <a:latin typeface="Calibri"/>
                        </a:defRPr>
                      </a:pPr>
                      <a:r>
                        <a:t>—</a:t>
                      </a:r>
                    </a:p>
                  </a:txBody>
                  <a:tcPr marT="18288" marB="18288" marL="54864" marR="54864">
                    <a:solidFill>
                      <a:srgbClr val="FFFFFF"/>
                    </a:solidFill>
                  </a:tcPr>
                </a:tc>
                <a:tc>
                  <a:txBody>
                    <a:bodyPr/>
                    <a:lstStyle/>
                    <a:p>
                      <a:pPr>
                        <a:defRPr sz="1050">
                          <a:solidFill>
                            <a:srgbClr val="334155"/>
                          </a:solidFill>
                          <a:latin typeface="Calibri"/>
                        </a:defRPr>
                      </a:pPr>
                      <a:r>
                        <a:t>Profile, Role</a:t>
                      </a:r>
                    </a:p>
                  </a:txBody>
                  <a:tcPr marT="18288" marB="18288" marL="54864" marR="54864">
                    <a:solidFill>
                      <a:srgbClr val="FFFFFF"/>
                    </a:solidFill>
                  </a:tcPr>
                </a:tc>
                <a:tc>
                  <a:txBody>
                    <a:bodyPr/>
                    <a:lstStyle/>
                    <a:p>
                      <a:pPr algn="ctr">
                        <a:defRPr sz="105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050" b="1">
                          <a:solidFill>
                            <a:srgbClr val="2563EB"/>
                          </a:solidFill>
                          <a:latin typeface="Calibri"/>
                        </a:defRPr>
                      </a:pPr>
                      <a:r>
                        <a:t>UC-02</a:t>
                      </a:r>
                    </a:p>
                  </a:txBody>
                  <a:tcPr marT="18288" marB="18288" marL="54864" marR="54864">
                    <a:solidFill>
                      <a:srgbClr val="F8F9FA"/>
                    </a:solidFill>
                  </a:tcPr>
                </a:tc>
                <a:tc>
                  <a:txBody>
                    <a:bodyPr/>
                    <a:lstStyle/>
                    <a:p>
                      <a:pPr>
                        <a:defRPr sz="1050">
                          <a:solidFill>
                            <a:srgbClr val="334155"/>
                          </a:solidFill>
                          <a:latin typeface="Calibri"/>
                        </a:defRPr>
                      </a:pPr>
                      <a:r>
                        <a:t>Configure Goals &amp; Study Time</a:t>
                      </a:r>
                    </a:p>
                  </a:txBody>
                  <a:tcPr marT="18288" marB="18288" marL="54864" marR="54864">
                    <a:solidFill>
                      <a:srgbClr val="F8F9FA"/>
                    </a:solidFill>
                  </a:tcPr>
                </a:tc>
                <a:tc>
                  <a:txBody>
                    <a:bodyPr/>
                    <a:lstStyle/>
                    <a:p>
                      <a:pPr>
                        <a:defRPr sz="1050">
                          <a:solidFill>
                            <a:srgbClr val="334155"/>
                          </a:solidFill>
                          <a:latin typeface="Calibri"/>
                        </a:defRPr>
                      </a:pPr>
                      <a:r>
                        <a:t>—</a:t>
                      </a:r>
                    </a:p>
                  </a:txBody>
                  <a:tcPr marT="18288" marB="18288" marL="54864" marR="54864">
                    <a:solidFill>
                      <a:srgbClr val="F8F9FA"/>
                    </a:solidFill>
                  </a:tcPr>
                </a:tc>
                <a:tc>
                  <a:txBody>
                    <a:bodyPr/>
                    <a:lstStyle/>
                    <a:p>
                      <a:pPr>
                        <a:defRPr sz="1050">
                          <a:solidFill>
                            <a:srgbClr val="334155"/>
                          </a:solidFill>
                          <a:latin typeface="Calibri"/>
                        </a:defRPr>
                      </a:pPr>
                      <a:r>
                        <a:t>Profile</a:t>
                      </a:r>
                    </a:p>
                  </a:txBody>
                  <a:tcPr marT="18288" marB="18288" marL="54864" marR="54864">
                    <a:solidFill>
                      <a:srgbClr val="F8F9FA"/>
                    </a:solidFill>
                  </a:tcPr>
                </a:tc>
                <a:tc>
                  <a:txBody>
                    <a:bodyPr/>
                    <a:lstStyle/>
                    <a:p>
                      <a:pPr algn="ctr">
                        <a:defRPr sz="1050" b="1">
                          <a:solidFill>
                            <a:srgbClr val="16A34A"/>
                          </a:solidFill>
                          <a:latin typeface="Calibri"/>
                        </a:defRPr>
                      </a:pPr>
                      <a:r>
                        <a:t>CORE (Phase 2 MVP)</a:t>
                      </a:r>
                    </a:p>
                  </a:txBody>
                  <a:tcPr marT="18288" marB="18288" marL="54864" marR="54864">
                    <a:solidFill>
                      <a:srgbClr val="F8F9FA"/>
                    </a:solidFill>
                  </a:tcPr>
                </a:tc>
              </a:tr>
              <a:tr h="294322">
                <a:tc>
                  <a:txBody>
                    <a:bodyPr/>
                    <a:lstStyle/>
                    <a:p>
                      <a:pPr algn="ctr">
                        <a:defRPr sz="1050" b="1">
                          <a:solidFill>
                            <a:srgbClr val="2563EB"/>
                          </a:solidFill>
                          <a:latin typeface="Calibri"/>
                        </a:defRPr>
                      </a:pPr>
                      <a:r>
                        <a:t>UC-03</a:t>
                      </a:r>
                    </a:p>
                  </a:txBody>
                  <a:tcPr marT="18288" marB="18288" marL="54864" marR="54864">
                    <a:solidFill>
                      <a:srgbClr val="FFFFFF"/>
                    </a:solidFill>
                  </a:tcPr>
                </a:tc>
                <a:tc>
                  <a:txBody>
                    <a:bodyPr/>
                    <a:lstStyle/>
                    <a:p>
                      <a:pPr>
                        <a:defRPr sz="1050">
                          <a:solidFill>
                            <a:srgbClr val="334155"/>
                          </a:solidFill>
                          <a:latin typeface="Calibri"/>
                        </a:defRPr>
                      </a:pPr>
                      <a:r>
                        <a:t>Take Placement Test</a:t>
                      </a:r>
                    </a:p>
                  </a:txBody>
                  <a:tcPr marT="18288" marB="18288" marL="54864" marR="54864">
                    <a:solidFill>
                      <a:srgbClr val="FFFFFF"/>
                    </a:solidFill>
                  </a:tcPr>
                </a:tc>
                <a:tc>
                  <a:txBody>
                    <a:bodyPr/>
                    <a:lstStyle/>
                    <a:p>
                      <a:pPr>
                        <a:defRPr sz="1050" b="1">
                          <a:solidFill>
                            <a:srgbClr val="16A34A"/>
                          </a:solidFill>
                          <a:latin typeface="Calibri"/>
                        </a:defRPr>
                      </a:pPr>
                      <a:r>
                        <a:t>Slide 6 (Diagnostic Test)</a:t>
                      </a:r>
                    </a:p>
                  </a:txBody>
                  <a:tcPr marT="18288" marB="18288" marL="54864" marR="54864">
                    <a:solidFill>
                      <a:srgbClr val="FFFFFF"/>
                    </a:solidFill>
                  </a:tcPr>
                </a:tc>
                <a:tc>
                  <a:txBody>
                    <a:bodyPr/>
                    <a:lstStyle/>
                    <a:p>
                      <a:pPr>
                        <a:defRPr sz="1050">
                          <a:solidFill>
                            <a:srgbClr val="334155"/>
                          </a:solidFill>
                          <a:latin typeface="Calibri"/>
                        </a:defRPr>
                      </a:pPr>
                      <a:r>
                        <a:t>AssessmentResult, SkillProfile</a:t>
                      </a:r>
                    </a:p>
                  </a:txBody>
                  <a:tcPr marT="18288" marB="18288" marL="54864" marR="54864">
                    <a:solidFill>
                      <a:srgbClr val="FFFFFF"/>
                    </a:solidFill>
                  </a:tcPr>
                </a:tc>
                <a:tc>
                  <a:txBody>
                    <a:bodyPr/>
                    <a:lstStyle/>
                    <a:p>
                      <a:pPr algn="ctr">
                        <a:defRPr sz="105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050" b="1">
                          <a:solidFill>
                            <a:srgbClr val="2563EB"/>
                          </a:solidFill>
                          <a:latin typeface="Calibri"/>
                        </a:defRPr>
                      </a:pPr>
                      <a:r>
                        <a:t>UC-04</a:t>
                      </a:r>
                    </a:p>
                  </a:txBody>
                  <a:tcPr marT="18288" marB="18288" marL="54864" marR="54864">
                    <a:solidFill>
                      <a:srgbClr val="F8F9FA"/>
                    </a:solidFill>
                  </a:tcPr>
                </a:tc>
                <a:tc>
                  <a:txBody>
                    <a:bodyPr/>
                    <a:lstStyle/>
                    <a:p>
                      <a:pPr>
                        <a:defRPr sz="1050">
                          <a:solidFill>
                            <a:srgbClr val="334155"/>
                          </a:solidFill>
                          <a:latin typeface="Calibri"/>
                        </a:defRPr>
                      </a:pPr>
                      <a:r>
                        <a:t>Browse Learning Path &amp; Conditional Jump</a:t>
                      </a:r>
                    </a:p>
                  </a:txBody>
                  <a:tcPr marT="18288" marB="18288" marL="54864" marR="54864">
                    <a:solidFill>
                      <a:srgbClr val="F8F9FA"/>
                    </a:solidFill>
                  </a:tcPr>
                </a:tc>
                <a:tc>
                  <a:txBody>
                    <a:bodyPr/>
                    <a:lstStyle/>
                    <a:p>
                      <a:pPr>
                        <a:defRPr sz="1050" b="1">
                          <a:solidFill>
                            <a:srgbClr val="16A34A"/>
                          </a:solidFill>
                          <a:latin typeface="Calibri"/>
                        </a:defRPr>
                      </a:pPr>
                      <a:r>
                        <a:t>Slide 8 (Conditional Jump)</a:t>
                      </a:r>
                    </a:p>
                  </a:txBody>
                  <a:tcPr marT="18288" marB="18288" marL="54864" marR="54864">
                    <a:solidFill>
                      <a:srgbClr val="F8F9FA"/>
                    </a:solidFill>
                  </a:tcPr>
                </a:tc>
                <a:tc>
                  <a:txBody>
                    <a:bodyPr/>
                    <a:lstStyle/>
                    <a:p>
                      <a:pPr>
                        <a:defRPr sz="1050">
                          <a:solidFill>
                            <a:srgbClr val="334155"/>
                          </a:solidFill>
                          <a:latin typeface="Calibri"/>
                        </a:defRPr>
                      </a:pPr>
                      <a:r>
                        <a:t>Course, Unit, Lesson, UserProgress</a:t>
                      </a:r>
                    </a:p>
                  </a:txBody>
                  <a:tcPr marT="18288" marB="18288" marL="54864" marR="54864">
                    <a:solidFill>
                      <a:srgbClr val="F8F9FA"/>
                    </a:solidFill>
                  </a:tcPr>
                </a:tc>
                <a:tc>
                  <a:txBody>
                    <a:bodyPr/>
                    <a:lstStyle/>
                    <a:p>
                      <a:pPr algn="ctr">
                        <a:defRPr sz="1050" b="1">
                          <a:solidFill>
                            <a:srgbClr val="16A34A"/>
                          </a:solidFill>
                          <a:latin typeface="Calibri"/>
                        </a:defRPr>
                      </a:pPr>
                      <a:r>
                        <a:t>CORE (Phase 2 MVP)</a:t>
                      </a:r>
                    </a:p>
                  </a:txBody>
                  <a:tcPr marT="18288" marB="18288" marL="54864" marR="54864">
                    <a:solidFill>
                      <a:srgbClr val="F8F9FA"/>
                    </a:solidFill>
                  </a:tcPr>
                </a:tc>
              </a:tr>
              <a:tr h="294322">
                <a:tc>
                  <a:txBody>
                    <a:bodyPr/>
                    <a:lstStyle/>
                    <a:p>
                      <a:pPr algn="ctr">
                        <a:defRPr sz="1050" b="1">
                          <a:solidFill>
                            <a:srgbClr val="2563EB"/>
                          </a:solidFill>
                          <a:latin typeface="Calibri"/>
                        </a:defRPr>
                      </a:pPr>
                      <a:r>
                        <a:t>UC-05</a:t>
                      </a:r>
                    </a:p>
                  </a:txBody>
                  <a:tcPr marT="18288" marB="18288" marL="54864" marR="54864">
                    <a:solidFill>
                      <a:srgbClr val="FFFFFF"/>
                    </a:solidFill>
                  </a:tcPr>
                </a:tc>
                <a:tc>
                  <a:txBody>
                    <a:bodyPr/>
                    <a:lstStyle/>
                    <a:p>
                      <a:pPr>
                        <a:defRPr sz="1050">
                          <a:solidFill>
                            <a:srgbClr val="334155"/>
                          </a:solidFill>
                          <a:latin typeface="Calibri"/>
                        </a:defRPr>
                      </a:pPr>
                      <a:r>
                        <a:t>Complete Lesson Exercises &amp; Controlled Retry</a:t>
                      </a:r>
                    </a:p>
                  </a:txBody>
                  <a:tcPr marT="18288" marB="18288" marL="54864" marR="54864">
                    <a:solidFill>
                      <a:srgbClr val="FFFFFF"/>
                    </a:solidFill>
                  </a:tcPr>
                </a:tc>
                <a:tc>
                  <a:txBody>
                    <a:bodyPr/>
                    <a:lstStyle/>
                    <a:p>
                      <a:pPr>
                        <a:defRPr sz="1050" b="1">
                          <a:solidFill>
                            <a:srgbClr val="16A34A"/>
                          </a:solidFill>
                          <a:latin typeface="Calibri"/>
                        </a:defRPr>
                      </a:pPr>
                      <a:r>
                        <a:t>Slide 7 (Learning &amp; Retry)</a:t>
                      </a:r>
                    </a:p>
                  </a:txBody>
                  <a:tcPr marT="18288" marB="18288" marL="54864" marR="54864">
                    <a:solidFill>
                      <a:srgbClr val="FFFFFF"/>
                    </a:solidFill>
                  </a:tcPr>
                </a:tc>
                <a:tc>
                  <a:txBody>
                    <a:bodyPr/>
                    <a:lstStyle/>
                    <a:p>
                      <a:pPr>
                        <a:defRPr sz="1050">
                          <a:solidFill>
                            <a:srgbClr val="334155"/>
                          </a:solidFill>
                          <a:latin typeface="Calibri"/>
                        </a:defRPr>
                      </a:pPr>
                      <a:r>
                        <a:t>Lesson, Exercise, UserProgress</a:t>
                      </a:r>
                    </a:p>
                  </a:txBody>
                  <a:tcPr marT="18288" marB="18288" marL="54864" marR="54864">
                    <a:solidFill>
                      <a:srgbClr val="FFFFFF"/>
                    </a:solidFill>
                  </a:tcPr>
                </a:tc>
                <a:tc>
                  <a:txBody>
                    <a:bodyPr/>
                    <a:lstStyle/>
                    <a:p>
                      <a:pPr algn="ctr">
                        <a:defRPr sz="105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050" b="1">
                          <a:solidFill>
                            <a:srgbClr val="2563EB"/>
                          </a:solidFill>
                          <a:latin typeface="Calibri"/>
                        </a:defRPr>
                      </a:pPr>
                      <a:r>
                        <a:t>UC-06</a:t>
                      </a:r>
                    </a:p>
                  </a:txBody>
                  <a:tcPr marT="18288" marB="18288" marL="54864" marR="54864">
                    <a:solidFill>
                      <a:srgbClr val="F8F9FA"/>
                    </a:solidFill>
                  </a:tcPr>
                </a:tc>
                <a:tc>
                  <a:txBody>
                    <a:bodyPr/>
                    <a:lstStyle/>
                    <a:p>
                      <a:pPr>
                        <a:defRPr sz="1050">
                          <a:solidFill>
                            <a:srgbClr val="334155"/>
                          </a:solidFill>
                          <a:latin typeface="Calibri"/>
                        </a:defRPr>
                      </a:pPr>
                      <a:r>
                        <a:t>Spaced Repetition Review (SRS)</a:t>
                      </a:r>
                    </a:p>
                  </a:txBody>
                  <a:tcPr marT="18288" marB="18288" marL="54864" marR="54864">
                    <a:solidFill>
                      <a:srgbClr val="F8F9FA"/>
                    </a:solidFill>
                  </a:tcPr>
                </a:tc>
                <a:tc>
                  <a:txBody>
                    <a:bodyPr/>
                    <a:lstStyle/>
                    <a:p>
                      <a:pPr>
                        <a:defRPr sz="1050">
                          <a:solidFill>
                            <a:srgbClr val="334155"/>
                          </a:solidFill>
                          <a:latin typeface="Calibri"/>
                        </a:defRPr>
                      </a:pPr>
                      <a:r>
                        <a:t>—</a:t>
                      </a:r>
                    </a:p>
                  </a:txBody>
                  <a:tcPr marT="18288" marB="18288" marL="54864" marR="54864">
                    <a:solidFill>
                      <a:srgbClr val="F8F9FA"/>
                    </a:solidFill>
                  </a:tcPr>
                </a:tc>
                <a:tc>
                  <a:txBody>
                    <a:bodyPr/>
                    <a:lstStyle/>
                    <a:p>
                      <a:pPr>
                        <a:defRPr sz="1050">
                          <a:solidFill>
                            <a:srgbClr val="334155"/>
                          </a:solidFill>
                          <a:latin typeface="Calibri"/>
                        </a:defRPr>
                      </a:pPr>
                      <a:r>
                        <a:t>Vocabulary, UserVocabSrs, ReviewLog</a:t>
                      </a:r>
                    </a:p>
                  </a:txBody>
                  <a:tcPr marT="18288" marB="18288" marL="54864" marR="54864">
                    <a:solidFill>
                      <a:srgbClr val="F8F9FA"/>
                    </a:solidFill>
                  </a:tcPr>
                </a:tc>
                <a:tc>
                  <a:txBody>
                    <a:bodyPr/>
                    <a:lstStyle/>
                    <a:p>
                      <a:pPr algn="ctr">
                        <a:defRPr sz="1050" b="1">
                          <a:solidFill>
                            <a:srgbClr val="16A34A"/>
                          </a:solidFill>
                          <a:latin typeface="Calibri"/>
                        </a:defRPr>
                      </a:pPr>
                      <a:r>
                        <a:t>CORE (Phase 2 MVP)</a:t>
                      </a:r>
                    </a:p>
                  </a:txBody>
                  <a:tcPr marT="18288" marB="18288" marL="54864" marR="54864">
                    <a:solidFill>
                      <a:srgbClr val="F8F9FA"/>
                    </a:solidFill>
                  </a:tcPr>
                </a:tc>
              </a:tr>
              <a:tr h="294322">
                <a:tc>
                  <a:txBody>
                    <a:bodyPr/>
                    <a:lstStyle/>
                    <a:p>
                      <a:pPr algn="ctr">
                        <a:defRPr sz="1050" b="1">
                          <a:solidFill>
                            <a:srgbClr val="2563EB"/>
                          </a:solidFill>
                          <a:latin typeface="Calibri"/>
                        </a:defRPr>
                      </a:pPr>
                      <a:r>
                        <a:t>UC-07</a:t>
                      </a:r>
                    </a:p>
                  </a:txBody>
                  <a:tcPr marT="18288" marB="18288" marL="54864" marR="54864">
                    <a:solidFill>
                      <a:srgbClr val="FFFFFF"/>
                    </a:solidFill>
                  </a:tcPr>
                </a:tc>
                <a:tc>
                  <a:txBody>
                    <a:bodyPr/>
                    <a:lstStyle/>
                    <a:p>
                      <a:pPr>
                        <a:defRPr sz="1050">
                          <a:solidFill>
                            <a:srgbClr val="334155"/>
                          </a:solidFill>
                          <a:latin typeface="Calibri"/>
                        </a:defRPr>
                      </a:pPr>
                      <a:r>
                        <a:t>Track Progress, Mastery &amp; Streak</a:t>
                      </a:r>
                    </a:p>
                  </a:txBody>
                  <a:tcPr marT="18288" marB="18288" marL="54864" marR="54864">
                    <a:solidFill>
                      <a:srgbClr val="FFFFFF"/>
                    </a:solidFill>
                  </a:tcPr>
                </a:tc>
                <a:tc>
                  <a:txBody>
                    <a:bodyPr/>
                    <a:lstStyle/>
                    <a:p>
                      <a:pPr>
                        <a:defRPr sz="1050" b="1">
                          <a:solidFill>
                            <a:srgbClr val="16A34A"/>
                          </a:solidFill>
                          <a:latin typeface="Calibri"/>
                        </a:defRPr>
                      </a:pPr>
                      <a:r>
                        <a:t>Slide 7 (Streak Update)</a:t>
                      </a:r>
                    </a:p>
                  </a:txBody>
                  <a:tcPr marT="18288" marB="18288" marL="54864" marR="54864">
                    <a:solidFill>
                      <a:srgbClr val="FFFFFF"/>
                    </a:solidFill>
                  </a:tcPr>
                </a:tc>
                <a:tc>
                  <a:txBody>
                    <a:bodyPr/>
                    <a:lstStyle/>
                    <a:p>
                      <a:pPr>
                        <a:defRPr sz="1050">
                          <a:solidFill>
                            <a:srgbClr val="334155"/>
                          </a:solidFill>
                          <a:latin typeface="Calibri"/>
                        </a:defRPr>
                      </a:pPr>
                      <a:r>
                        <a:t>Profile, UserProgress</a:t>
                      </a:r>
                    </a:p>
                  </a:txBody>
                  <a:tcPr marT="18288" marB="18288" marL="54864" marR="54864">
                    <a:solidFill>
                      <a:srgbClr val="FFFFFF"/>
                    </a:solidFill>
                  </a:tcPr>
                </a:tc>
                <a:tc>
                  <a:txBody>
                    <a:bodyPr/>
                    <a:lstStyle/>
                    <a:p>
                      <a:pPr algn="ctr">
                        <a:defRPr sz="105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050" b="1">
                          <a:solidFill>
                            <a:srgbClr val="2563EB"/>
                          </a:solidFill>
                          <a:latin typeface="Calibri"/>
                        </a:defRPr>
                      </a:pPr>
                      <a:r>
                        <a:t>UC-08</a:t>
                      </a:r>
                    </a:p>
                  </a:txBody>
                  <a:tcPr marT="18288" marB="18288" marL="54864" marR="54864">
                    <a:solidFill>
                      <a:srgbClr val="F8F9FA"/>
                    </a:solidFill>
                  </a:tcPr>
                </a:tc>
                <a:tc>
                  <a:txBody>
                    <a:bodyPr/>
                    <a:lstStyle/>
                    <a:p>
                      <a:pPr>
                        <a:defRPr sz="1050">
                          <a:solidFill>
                            <a:srgbClr val="334155"/>
                          </a:solidFill>
                          <a:latin typeface="Calibri"/>
                        </a:defRPr>
                      </a:pPr>
                      <a:r>
                        <a:t>Create &amp; Edit Lesson Draft</a:t>
                      </a:r>
                    </a:p>
                  </a:txBody>
                  <a:tcPr marT="18288" marB="18288" marL="54864" marR="54864">
                    <a:solidFill>
                      <a:srgbClr val="F8F9FA"/>
                    </a:solidFill>
                  </a:tcPr>
                </a:tc>
                <a:tc>
                  <a:txBody>
                    <a:bodyPr/>
                    <a:lstStyle/>
                    <a:p>
                      <a:pPr>
                        <a:defRPr sz="1050" b="1">
                          <a:solidFill>
                            <a:srgbClr val="16A34A"/>
                          </a:solidFill>
                          <a:latin typeface="Calibri"/>
                        </a:defRPr>
                      </a:pPr>
                      <a:r>
                        <a:t>Slide 9 (Governance &amp; Clone)</a:t>
                      </a:r>
                    </a:p>
                  </a:txBody>
                  <a:tcPr marT="18288" marB="18288" marL="54864" marR="54864">
                    <a:solidFill>
                      <a:srgbClr val="F8F9FA"/>
                    </a:solidFill>
                  </a:tcPr>
                </a:tc>
                <a:tc>
                  <a:txBody>
                    <a:bodyPr/>
                    <a:lstStyle/>
                    <a:p>
                      <a:pPr>
                        <a:defRPr sz="1050">
                          <a:solidFill>
                            <a:srgbClr val="334155"/>
                          </a:solidFill>
                          <a:latin typeface="Calibri"/>
                        </a:defRPr>
                      </a:pPr>
                      <a:r>
                        <a:t>Lesson, LessonRevision, Exercise</a:t>
                      </a:r>
                    </a:p>
                  </a:txBody>
                  <a:tcPr marT="18288" marB="18288" marL="54864" marR="54864">
                    <a:solidFill>
                      <a:srgbClr val="F8F9FA"/>
                    </a:solidFill>
                  </a:tcPr>
                </a:tc>
                <a:tc>
                  <a:txBody>
                    <a:bodyPr/>
                    <a:lstStyle/>
                    <a:p>
                      <a:pPr algn="ctr">
                        <a:defRPr sz="1050" b="1">
                          <a:solidFill>
                            <a:srgbClr val="16A34A"/>
                          </a:solidFill>
                          <a:latin typeface="Calibri"/>
                        </a:defRPr>
                      </a:pPr>
                      <a:r>
                        <a:t>CORE (Phase 2 MVP)</a:t>
                      </a:r>
                    </a:p>
                  </a:txBody>
                  <a:tcPr marT="18288" marB="18288" marL="54864" marR="54864">
                    <a:solidFill>
                      <a:srgbClr val="F8F9FA"/>
                    </a:solidFill>
                  </a:tcPr>
                </a:tc>
              </a:tr>
              <a:tr h="294322">
                <a:tc>
                  <a:txBody>
                    <a:bodyPr/>
                    <a:lstStyle/>
                    <a:p>
                      <a:pPr algn="ctr">
                        <a:defRPr sz="1050" b="1">
                          <a:solidFill>
                            <a:srgbClr val="2563EB"/>
                          </a:solidFill>
                          <a:latin typeface="Calibri"/>
                        </a:defRPr>
                      </a:pPr>
                      <a:r>
                        <a:t>UC-09</a:t>
                      </a:r>
                    </a:p>
                  </a:txBody>
                  <a:tcPr marT="18288" marB="18288" marL="54864" marR="54864">
                    <a:solidFill>
                      <a:srgbClr val="FFFFFF"/>
                    </a:solidFill>
                  </a:tcPr>
                </a:tc>
                <a:tc>
                  <a:txBody>
                    <a:bodyPr/>
                    <a:lstStyle/>
                    <a:p>
                      <a:pPr>
                        <a:defRPr sz="1050">
                          <a:solidFill>
                            <a:srgbClr val="334155"/>
                          </a:solidFill>
                          <a:latin typeface="Calibri"/>
                        </a:defRPr>
                      </a:pPr>
                      <a:r>
                        <a:t>Review &amp; Moderate Content</a:t>
                      </a:r>
                    </a:p>
                  </a:txBody>
                  <a:tcPr marT="18288" marB="18288" marL="54864" marR="54864">
                    <a:solidFill>
                      <a:srgbClr val="FFFFFF"/>
                    </a:solidFill>
                  </a:tcPr>
                </a:tc>
                <a:tc>
                  <a:txBody>
                    <a:bodyPr/>
                    <a:lstStyle/>
                    <a:p>
                      <a:pPr>
                        <a:defRPr sz="1050" b="1">
                          <a:solidFill>
                            <a:srgbClr val="16A34A"/>
                          </a:solidFill>
                          <a:latin typeface="Calibri"/>
                        </a:defRPr>
                      </a:pPr>
                      <a:r>
                        <a:t>Slide 9 (Moderator Review)</a:t>
                      </a:r>
                    </a:p>
                  </a:txBody>
                  <a:tcPr marT="18288" marB="18288" marL="54864" marR="54864">
                    <a:solidFill>
                      <a:srgbClr val="FFFFFF"/>
                    </a:solidFill>
                  </a:tcPr>
                </a:tc>
                <a:tc>
                  <a:txBody>
                    <a:bodyPr/>
                    <a:lstStyle/>
                    <a:p>
                      <a:pPr>
                        <a:defRPr sz="1050">
                          <a:solidFill>
                            <a:srgbClr val="334155"/>
                          </a:solidFill>
                          <a:latin typeface="Calibri"/>
                        </a:defRPr>
                      </a:pPr>
                      <a:r>
                        <a:t>LessonRevision, AuditLog</a:t>
                      </a:r>
                    </a:p>
                  </a:txBody>
                  <a:tcPr marT="18288" marB="18288" marL="54864" marR="54864">
                    <a:solidFill>
                      <a:srgbClr val="FFFFFF"/>
                    </a:solidFill>
                  </a:tcPr>
                </a:tc>
                <a:tc>
                  <a:txBody>
                    <a:bodyPr/>
                    <a:lstStyle/>
                    <a:p>
                      <a:pPr algn="ctr">
                        <a:defRPr sz="105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050" b="1">
                          <a:solidFill>
                            <a:srgbClr val="2563EB"/>
                          </a:solidFill>
                          <a:latin typeface="Calibri"/>
                        </a:defRPr>
                      </a:pPr>
                      <a:r>
                        <a:t>UC-10</a:t>
                      </a:r>
                    </a:p>
                  </a:txBody>
                  <a:tcPr marT="18288" marB="18288" marL="54864" marR="54864">
                    <a:solidFill>
                      <a:srgbClr val="F8F9FA"/>
                    </a:solidFill>
                  </a:tcPr>
                </a:tc>
                <a:tc>
                  <a:txBody>
                    <a:bodyPr/>
                    <a:lstStyle/>
                    <a:p>
                      <a:pPr>
                        <a:defRPr sz="1050">
                          <a:solidFill>
                            <a:srgbClr val="334155"/>
                          </a:solidFill>
                          <a:latin typeface="Calibri"/>
                        </a:defRPr>
                      </a:pPr>
                      <a:r>
                        <a:t>Publish Approved Content</a:t>
                      </a:r>
                    </a:p>
                  </a:txBody>
                  <a:tcPr marT="18288" marB="18288" marL="54864" marR="54864">
                    <a:solidFill>
                      <a:srgbClr val="F8F9FA"/>
                    </a:solidFill>
                  </a:tcPr>
                </a:tc>
                <a:tc>
                  <a:txBody>
                    <a:bodyPr/>
                    <a:lstStyle/>
                    <a:p>
                      <a:pPr>
                        <a:defRPr sz="1050" b="1">
                          <a:solidFill>
                            <a:srgbClr val="16A34A"/>
                          </a:solidFill>
                          <a:latin typeface="Calibri"/>
                        </a:defRPr>
                      </a:pPr>
                      <a:r>
                        <a:t>Slide 9 (Publication Flow)</a:t>
                      </a:r>
                    </a:p>
                  </a:txBody>
                  <a:tcPr marT="18288" marB="18288" marL="54864" marR="54864">
                    <a:solidFill>
                      <a:srgbClr val="F8F9FA"/>
                    </a:solidFill>
                  </a:tcPr>
                </a:tc>
                <a:tc>
                  <a:txBody>
                    <a:bodyPr/>
                    <a:lstStyle/>
                    <a:p>
                      <a:pPr>
                        <a:defRPr sz="1050">
                          <a:solidFill>
                            <a:srgbClr val="334155"/>
                          </a:solidFill>
                          <a:latin typeface="Calibri"/>
                        </a:defRPr>
                      </a:pPr>
                      <a:r>
                        <a:t>Unit, Lesson, LessonRevision, AuditLog</a:t>
                      </a:r>
                    </a:p>
                  </a:txBody>
                  <a:tcPr marT="18288" marB="18288" marL="54864" marR="54864">
                    <a:solidFill>
                      <a:srgbClr val="F8F9FA"/>
                    </a:solidFill>
                  </a:tcPr>
                </a:tc>
                <a:tc>
                  <a:txBody>
                    <a:bodyPr/>
                    <a:lstStyle/>
                    <a:p>
                      <a:pPr algn="ctr">
                        <a:defRPr sz="1050" b="1">
                          <a:solidFill>
                            <a:srgbClr val="16A34A"/>
                          </a:solidFill>
                          <a:latin typeface="Calibri"/>
                        </a:defRPr>
                      </a:pPr>
                      <a:r>
                        <a:t>CORE (Phase 2 MVP)</a:t>
                      </a:r>
                    </a:p>
                  </a:txBody>
                  <a:tcPr marT="18288" marB="18288" marL="54864" marR="54864">
                    <a:solidFill>
                      <a:srgbClr val="F8F9FA"/>
                    </a:solidFill>
                  </a:tcPr>
                </a:tc>
              </a:tr>
              <a:tr h="294322">
                <a:tc>
                  <a:txBody>
                    <a:bodyPr/>
                    <a:lstStyle/>
                    <a:p>
                      <a:pPr algn="ctr">
                        <a:defRPr sz="1050" b="1">
                          <a:solidFill>
                            <a:srgbClr val="2563EB"/>
                          </a:solidFill>
                          <a:latin typeface="Calibri"/>
                        </a:defRPr>
                      </a:pPr>
                      <a:r>
                        <a:t>UC-11</a:t>
                      </a:r>
                    </a:p>
                  </a:txBody>
                  <a:tcPr marT="18288" marB="18288" marL="54864" marR="54864">
                    <a:solidFill>
                      <a:srgbClr val="FFFFFF"/>
                    </a:solidFill>
                  </a:tcPr>
                </a:tc>
                <a:tc>
                  <a:txBody>
                    <a:bodyPr/>
                    <a:lstStyle/>
                    <a:p>
                      <a:pPr>
                        <a:defRPr sz="1050">
                          <a:solidFill>
                            <a:srgbClr val="334155"/>
                          </a:solidFill>
                          <a:latin typeface="Calibri"/>
                        </a:defRPr>
                      </a:pPr>
                      <a:r>
                        <a:t>Manage Accounts &amp; Roles</a:t>
                      </a:r>
                    </a:p>
                  </a:txBody>
                  <a:tcPr marT="18288" marB="18288" marL="54864" marR="54864">
                    <a:solidFill>
                      <a:srgbClr val="FFFFFF"/>
                    </a:solidFill>
                  </a:tcPr>
                </a:tc>
                <a:tc>
                  <a:txBody>
                    <a:bodyPr/>
                    <a:lstStyle/>
                    <a:p>
                      <a:pPr>
                        <a:defRPr sz="1050">
                          <a:solidFill>
                            <a:srgbClr val="334155"/>
                          </a:solidFill>
                          <a:latin typeface="Calibri"/>
                        </a:defRPr>
                      </a:pPr>
                      <a:r>
                        <a:t>—</a:t>
                      </a:r>
                    </a:p>
                  </a:txBody>
                  <a:tcPr marT="18288" marB="18288" marL="54864" marR="54864">
                    <a:solidFill>
                      <a:srgbClr val="FFFFFF"/>
                    </a:solidFill>
                  </a:tcPr>
                </a:tc>
                <a:tc>
                  <a:txBody>
                    <a:bodyPr/>
                    <a:lstStyle/>
                    <a:p>
                      <a:pPr>
                        <a:defRPr sz="1050">
                          <a:solidFill>
                            <a:srgbClr val="334155"/>
                          </a:solidFill>
                          <a:latin typeface="Calibri"/>
                        </a:defRPr>
                      </a:pPr>
                      <a:r>
                        <a:t>Profile, Role, AuditLog</a:t>
                      </a:r>
                    </a:p>
                  </a:txBody>
                  <a:tcPr marT="18288" marB="18288" marL="54864" marR="54864">
                    <a:solidFill>
                      <a:srgbClr val="FFFFFF"/>
                    </a:solidFill>
                  </a:tcPr>
                </a:tc>
                <a:tc>
                  <a:txBody>
                    <a:bodyPr/>
                    <a:lstStyle/>
                    <a:p>
                      <a:pPr algn="ctr">
                        <a:defRPr sz="105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050" b="1">
                          <a:solidFill>
                            <a:srgbClr val="2563EB"/>
                          </a:solidFill>
                          <a:latin typeface="Calibri"/>
                        </a:defRPr>
                      </a:pPr>
                      <a:r>
                        <a:t>UC-12</a:t>
                      </a:r>
                    </a:p>
                  </a:txBody>
                  <a:tcPr marT="18288" marB="18288" marL="54864" marR="54864">
                    <a:solidFill>
                      <a:srgbClr val="F8F9FA"/>
                    </a:solidFill>
                  </a:tcPr>
                </a:tc>
                <a:tc>
                  <a:txBody>
                    <a:bodyPr/>
                    <a:lstStyle/>
                    <a:p>
                      <a:pPr>
                        <a:defRPr sz="1050">
                          <a:solidFill>
                            <a:srgbClr val="334155"/>
                          </a:solidFill>
                          <a:latin typeface="Calibri"/>
                        </a:defRPr>
                      </a:pPr>
                      <a:r>
                        <a:t>View System Reports</a:t>
                      </a:r>
                    </a:p>
                  </a:txBody>
                  <a:tcPr marT="18288" marB="18288" marL="54864" marR="54864">
                    <a:solidFill>
                      <a:srgbClr val="F8F9FA"/>
                    </a:solidFill>
                  </a:tcPr>
                </a:tc>
                <a:tc>
                  <a:txBody>
                    <a:bodyPr/>
                    <a:lstStyle/>
                    <a:p>
                      <a:pPr>
                        <a:defRPr sz="1050">
                          <a:solidFill>
                            <a:srgbClr val="334155"/>
                          </a:solidFill>
                          <a:latin typeface="Calibri"/>
                        </a:defRPr>
                      </a:pPr>
                      <a:r>
                        <a:t>—</a:t>
                      </a:r>
                    </a:p>
                  </a:txBody>
                  <a:tcPr marT="18288" marB="18288" marL="54864" marR="54864">
                    <a:solidFill>
                      <a:srgbClr val="F8F9FA"/>
                    </a:solidFill>
                  </a:tcPr>
                </a:tc>
                <a:tc>
                  <a:txBody>
                    <a:bodyPr/>
                    <a:lstStyle/>
                    <a:p>
                      <a:pPr>
                        <a:defRPr sz="1050">
                          <a:solidFill>
                            <a:srgbClr val="334155"/>
                          </a:solidFill>
                          <a:latin typeface="Calibri"/>
                        </a:defRPr>
                      </a:pPr>
                      <a:r>
                        <a:t>UserProgress, AuditLog</a:t>
                      </a:r>
                    </a:p>
                  </a:txBody>
                  <a:tcPr marT="18288" marB="18288" marL="54864" marR="54864">
                    <a:solidFill>
                      <a:srgbClr val="F8F9FA"/>
                    </a:solidFill>
                  </a:tcPr>
                </a:tc>
                <a:tc>
                  <a:txBody>
                    <a:bodyPr/>
                    <a:lstStyle/>
                    <a:p>
                      <a:pPr algn="ctr">
                        <a:defRPr sz="1050" b="1">
                          <a:solidFill>
                            <a:srgbClr val="16A34A"/>
                          </a:solidFill>
                          <a:latin typeface="Calibri"/>
                        </a:defRPr>
                      </a:pPr>
                      <a:r>
                        <a:t>CORE (Phase 2 MVP)</a:t>
                      </a:r>
                    </a:p>
                  </a:txBody>
                  <a:tcPr marT="18288" marB="18288" marL="54864" marR="54864">
                    <a:solidFill>
                      <a:srgbClr val="F8F9FA"/>
                    </a:solidFill>
                  </a:tcPr>
                </a:tc>
              </a:tr>
              <a:tr h="294322">
                <a:tc>
                  <a:txBody>
                    <a:bodyPr/>
                    <a:lstStyle/>
                    <a:p>
                      <a:pPr algn="ctr">
                        <a:defRPr sz="1050" b="1">
                          <a:solidFill>
                            <a:srgbClr val="2563EB"/>
                          </a:solidFill>
                          <a:latin typeface="Calibri"/>
                        </a:defRPr>
                      </a:pPr>
                      <a:r>
                        <a:t>UC-13</a:t>
                      </a:r>
                    </a:p>
                  </a:txBody>
                  <a:tcPr marT="18288" marB="18288" marL="54864" marR="54864">
                    <a:solidFill>
                      <a:srgbClr val="FFFFFF"/>
                    </a:solidFill>
                  </a:tcPr>
                </a:tc>
                <a:tc>
                  <a:txBody>
                    <a:bodyPr/>
                    <a:lstStyle/>
                    <a:p>
                      <a:pPr>
                        <a:defRPr sz="1050">
                          <a:solidFill>
                            <a:srgbClr val="334155"/>
                          </a:solidFill>
                          <a:latin typeface="Calibri"/>
                        </a:defRPr>
                      </a:pPr>
                      <a:r>
                        <a:t>View &amp; Audit Security Logs</a:t>
                      </a:r>
                    </a:p>
                  </a:txBody>
                  <a:tcPr marT="18288" marB="18288" marL="54864" marR="54864">
                    <a:solidFill>
                      <a:srgbClr val="FFFFFF"/>
                    </a:solidFill>
                  </a:tcPr>
                </a:tc>
                <a:tc>
                  <a:txBody>
                    <a:bodyPr/>
                    <a:lstStyle/>
                    <a:p>
                      <a:pPr>
                        <a:defRPr sz="1050">
                          <a:solidFill>
                            <a:srgbClr val="334155"/>
                          </a:solidFill>
                          <a:latin typeface="Calibri"/>
                        </a:defRPr>
                      </a:pPr>
                      <a:r>
                        <a:t>—</a:t>
                      </a:r>
                    </a:p>
                  </a:txBody>
                  <a:tcPr marT="18288" marB="18288" marL="54864" marR="54864">
                    <a:solidFill>
                      <a:srgbClr val="FFFFFF"/>
                    </a:solidFill>
                  </a:tcPr>
                </a:tc>
                <a:tc>
                  <a:txBody>
                    <a:bodyPr/>
                    <a:lstStyle/>
                    <a:p>
                      <a:pPr>
                        <a:defRPr sz="1050">
                          <a:solidFill>
                            <a:srgbClr val="334155"/>
                          </a:solidFill>
                          <a:latin typeface="Calibri"/>
                        </a:defRPr>
                      </a:pPr>
                      <a:r>
                        <a:t>AuditLog</a:t>
                      </a:r>
                    </a:p>
                  </a:txBody>
                  <a:tcPr marT="18288" marB="18288" marL="54864" marR="54864">
                    <a:solidFill>
                      <a:srgbClr val="FFFFFF"/>
                    </a:solidFill>
                  </a:tcPr>
                </a:tc>
                <a:tc>
                  <a:txBody>
                    <a:bodyPr/>
                    <a:lstStyle/>
                    <a:p>
                      <a:pPr algn="ctr">
                        <a:defRPr sz="105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050" b="1">
                          <a:solidFill>
                            <a:srgbClr val="2563EB"/>
                          </a:solidFill>
                          <a:latin typeface="Calibri"/>
                        </a:defRPr>
                      </a:pPr>
                      <a:r>
                        <a:t>UC-14</a:t>
                      </a:r>
                    </a:p>
                  </a:txBody>
                  <a:tcPr marT="18288" marB="18288" marL="54864" marR="54864">
                    <a:solidFill>
                      <a:srgbClr val="F8F9FA"/>
                    </a:solidFill>
                  </a:tcPr>
                </a:tc>
                <a:tc>
                  <a:txBody>
                    <a:bodyPr/>
                    <a:lstStyle/>
                    <a:p>
                      <a:pPr>
                        <a:defRPr sz="1050">
                          <a:solidFill>
                            <a:srgbClr val="334155"/>
                          </a:solidFill>
                          <a:latin typeface="Calibri"/>
                        </a:defRPr>
                      </a:pPr>
                      <a:r>
                        <a:t>Handle Support Tickets</a:t>
                      </a:r>
                    </a:p>
                  </a:txBody>
                  <a:tcPr marT="18288" marB="18288" marL="54864" marR="54864">
                    <a:solidFill>
                      <a:srgbClr val="F8F9FA"/>
                    </a:solidFill>
                  </a:tcPr>
                </a:tc>
                <a:tc>
                  <a:txBody>
                    <a:bodyPr/>
                    <a:lstStyle/>
                    <a:p>
                      <a:pPr>
                        <a:defRPr sz="1050">
                          <a:solidFill>
                            <a:srgbClr val="334155"/>
                          </a:solidFill>
                          <a:latin typeface="Calibri"/>
                        </a:defRPr>
                      </a:pPr>
                      <a:r>
                        <a:t>—</a:t>
                      </a:r>
                    </a:p>
                  </a:txBody>
                  <a:tcPr marT="18288" marB="18288" marL="54864" marR="54864">
                    <a:solidFill>
                      <a:srgbClr val="F8F9FA"/>
                    </a:solidFill>
                  </a:tcPr>
                </a:tc>
                <a:tc>
                  <a:txBody>
                    <a:bodyPr/>
                    <a:lstStyle/>
                    <a:p>
                      <a:pPr>
                        <a:defRPr sz="1050">
                          <a:solidFill>
                            <a:srgbClr val="334155"/>
                          </a:solidFill>
                          <a:latin typeface="Calibri"/>
                        </a:defRPr>
                      </a:pPr>
                      <a:r>
                        <a:t>—</a:t>
                      </a:r>
                    </a:p>
                  </a:txBody>
                  <a:tcPr marT="18288" marB="18288" marL="54864" marR="54864">
                    <a:solidFill>
                      <a:srgbClr val="F8F9FA"/>
                    </a:solidFill>
                  </a:tcPr>
                </a:tc>
                <a:tc>
                  <a:txBody>
                    <a:bodyPr/>
                    <a:lstStyle/>
                    <a:p>
                      <a:pPr algn="ctr">
                        <a:defRPr sz="1050" b="1">
                          <a:solidFill>
                            <a:srgbClr val="0D9488"/>
                          </a:solidFill>
                          <a:latin typeface="Calibri"/>
                        </a:defRPr>
                      </a:pPr>
                      <a:r>
                        <a:t>MVP (Điều phối hỗ trợ)</a:t>
                      </a:r>
                    </a:p>
                  </a:txBody>
                  <a:tcPr marT="18288" marB="18288" marL="54864" marR="54864">
                    <a:solidFill>
                      <a:srgbClr val="F8F9FA"/>
                    </a:solidFill>
                  </a:tcPr>
                </a:tc>
              </a:tr>
              <a:tr h="294330">
                <a:tc>
                  <a:txBody>
                    <a:bodyPr/>
                    <a:lstStyle/>
                    <a:p>
                      <a:pPr algn="ctr">
                        <a:defRPr sz="1050" b="1">
                          <a:solidFill>
                            <a:srgbClr val="2563EB"/>
                          </a:solidFill>
                          <a:latin typeface="Calibri"/>
                        </a:defRPr>
                      </a:pPr>
                      <a:r>
                        <a:t>UC-15</a:t>
                      </a:r>
                    </a:p>
                  </a:txBody>
                  <a:tcPr marT="18288" marB="18288" marL="54864" marR="54864">
                    <a:solidFill>
                      <a:srgbClr val="FFFFFF"/>
                    </a:solidFill>
                  </a:tcPr>
                </a:tc>
                <a:tc>
                  <a:txBody>
                    <a:bodyPr/>
                    <a:lstStyle/>
                    <a:p>
                      <a:pPr>
                        <a:defRPr sz="1050">
                          <a:solidFill>
                            <a:srgbClr val="334155"/>
                          </a:solidFill>
                          <a:latin typeface="Calibri"/>
                        </a:defRPr>
                      </a:pPr>
                      <a:r>
                        <a:t>Manage Cohorts &amp; Group Progress</a:t>
                      </a:r>
                    </a:p>
                  </a:txBody>
                  <a:tcPr marT="18288" marB="18288" marL="54864" marR="54864">
                    <a:solidFill>
                      <a:srgbClr val="FFFFFF"/>
                    </a:solidFill>
                  </a:tcPr>
                </a:tc>
                <a:tc>
                  <a:txBody>
                    <a:bodyPr/>
                    <a:lstStyle/>
                    <a:p>
                      <a:pPr>
                        <a:defRPr sz="1050">
                          <a:solidFill>
                            <a:srgbClr val="334155"/>
                          </a:solidFill>
                          <a:latin typeface="Calibri"/>
                        </a:defRPr>
                      </a:pPr>
                      <a:r>
                        <a:t>—</a:t>
                      </a:r>
                    </a:p>
                  </a:txBody>
                  <a:tcPr marT="18288" marB="18288" marL="54864" marR="54864">
                    <a:solidFill>
                      <a:srgbClr val="FFFFFF"/>
                    </a:solidFill>
                  </a:tcPr>
                </a:tc>
                <a:tc>
                  <a:txBody>
                    <a:bodyPr/>
                    <a:lstStyle/>
                    <a:p>
                      <a:pPr>
                        <a:defRPr sz="1050">
                          <a:solidFill>
                            <a:srgbClr val="334155"/>
                          </a:solidFill>
                          <a:latin typeface="Calibri"/>
                        </a:defRPr>
                      </a:pPr>
                      <a:r>
                        <a:t>—</a:t>
                      </a:r>
                    </a:p>
                  </a:txBody>
                  <a:tcPr marT="18288" marB="18288" marL="54864" marR="54864">
                    <a:solidFill>
                      <a:srgbClr val="FFFFFF"/>
                    </a:solidFill>
                  </a:tcPr>
                </a:tc>
                <a:tc>
                  <a:txBody>
                    <a:bodyPr/>
                    <a:lstStyle/>
                    <a:p>
                      <a:pPr algn="ctr">
                        <a:defRPr sz="1050" b="1">
                          <a:solidFill>
                            <a:srgbClr val="64748B"/>
                          </a:solidFill>
                          <a:latin typeface="Calibri"/>
                        </a:defRPr>
                      </a:pPr>
                      <a:r>
                        <a:t>FUTURE EXTENSION</a:t>
                      </a:r>
                    </a:p>
                  </a:txBody>
                  <a:tcPr marT="18288" marB="18288" marL="54864" marR="54864">
                    <a:solidFill>
                      <a:srgbClr val="FFFFFF"/>
                    </a:solidFill>
                  </a:tcPr>
                </a:tc>
              </a:tr>
            </a:tbl>
          </a:graphicData>
        </a:graphic>
      </p:graphicFrame>
      <p:sp>
        <p:nvSpPr>
          <p:cNvPr id="6" name="TextBox 5"/>
          <p:cNvSpPr txBox="1"/>
          <p:nvPr/>
        </p:nvSpPr>
        <p:spPr>
          <a:xfrm>
            <a:off x="731520" y="6108192"/>
            <a:ext cx="10728655" cy="320040"/>
          </a:xfrm>
          <a:prstGeom prst="rect">
            <a:avLst/>
          </a:prstGeom>
          <a:noFill/>
        </p:spPr>
        <p:txBody>
          <a:bodyPr wrap="square" lIns="0" tIns="0" rIns="0" bIns="0">
            <a:spAutoFit/>
          </a:bodyPr>
          <a:lstStyle/>
          <a:p>
            <a:pPr>
              <a:defRPr sz="1000">
                <a:solidFill>
                  <a:srgbClr val="64748B"/>
                </a:solidFill>
                <a:latin typeface="Calibri"/>
              </a:defRPr>
            </a:pPr>
            <a:r>
              <a:t>Ghi chú: Cột Sơ đồ hoạt động chỉ dẫn chiếu tới các slide có biểu đồ thực tế trong tài liệu; các Use Case còn lại đánh dấu '—'. UC-14 và UC-15 không ánh xạ lớp thực thể nội bộ.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