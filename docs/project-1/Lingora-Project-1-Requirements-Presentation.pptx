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Lst>
  <p:sldSz cx="12192000" cy="6858000"/>
  <p:notesSz cx="6858000" cy="9144000"/>
  <p:embeddedFontLst>
    <p:embeddedFont>
      <p:font typeface="Calibri" panose="020F0502020204030204"/>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16F4F7D-73C1-67D0-64F8-21A110678158}" name="NGUYỄN THU HƯƠNG" initials="NH" userId="S::huong221230872@lms.utc.edu.vn::e66aaea9-0883-446e-870a-cc2e76c0dd2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 Id="rId8" Type="http://schemas.microsoft.com/office/2018/10/relationships/authors" Target="authors.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font" Target="fonts/font4.fntdata"/><Relationship Id="rId13" Type="http://schemas.openxmlformats.org/officeDocument/2006/relationships/customXml" Target="../customXml/item1.xml"/><Relationship Id="rId14" Type="http://schemas.openxmlformats.org/officeDocument/2006/relationships/customXml" Target="../customXml/item2.xml"/><Relationship Id="rId15" Type="http://schemas.openxmlformats.org/officeDocument/2006/relationships/customXml" Target="../customXml/item3.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êu đề và Nội dung">
  <p:cSld name="OBJECT">
    <p:spTree>
      <p:nvGrpSpPr>
        <p:cNvPr id="1" name="Shape 15"/>
        <p:cNvGrpSpPr/>
        <p:nvPr/>
      </p:nvGrpSpPr>
      <p:grpSpPr>
        <a:xfrm>
          <a:off x="0" y="0"/>
          <a:ext cx="0" cy="0"/>
          <a:chOff x="0" y="0"/>
          <a:chExt cx="0" cy="0"/>
        </a:xfrm>
      </p:grpSpPr>
      <p:sp>
        <p:nvSpPr>
          <p:cNvPr id="16" name="Google Shape;16;p6"/>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8" name="Google Shape;1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9" name="Google Shape;1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20" name="Google Shape;20;p6"/>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êu đề Bản chiếu">
  <p:cSld name="Tiêu đề Bản chiếu">
    <p:spTree>
      <p:nvGrpSpPr>
        <p:cNvPr id="1" name="Shape 21"/>
        <p:cNvGrpSpPr/>
        <p:nvPr/>
      </p:nvGrpSpPr>
      <p:grpSpPr>
        <a:xfrm>
          <a:off x="0" y="0"/>
          <a:ext cx="0" cy="0"/>
          <a:chOff x="0" y="0"/>
          <a:chExt cx="0" cy="0"/>
        </a:xfrm>
      </p:grpSpPr>
      <p:pic>
        <p:nvPicPr>
          <p:cNvPr id="22" name="Google Shape;22;p7"/>
          <p:cNvPicPr preferRelativeResize="0"/>
          <p:nvPr/>
        </p:nvPicPr>
        <p:blipFill rotWithShape="1">
          <a:blip r:embed="rId2"/>
          <a:srcRect/>
          <a:stretch>
            <a:fillRect/>
          </a:stretch>
        </p:blipFill>
        <p:spPr>
          <a:xfrm>
            <a:off x="0" y="-13792"/>
            <a:ext cx="12192000" cy="6858000"/>
          </a:xfrm>
          <a:prstGeom prst="rect">
            <a:avLst/>
          </a:prstGeom>
          <a:noFill/>
          <a:ln>
            <a:noFill/>
          </a:ln>
        </p:spPr>
      </p:pic>
      <p:sp>
        <p:nvSpPr>
          <p:cNvPr id="23" name="Google Shape;23;p7"/>
          <p:cNvSpPr txBox="1"/>
          <p:nvPr/>
        </p:nvSpPr>
        <p:spPr>
          <a:xfrm>
            <a:off x="1154545" y="558741"/>
            <a:ext cx="11037454" cy="52192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2400"/>
              <a:buFont typeface="Times New Roman" panose="02020603050405020304"/>
              <a:buNone/>
            </a:pPr>
            <a:r>
              <a:rPr lang="vi-VN" sz="2400">
                <a:solidFill>
                  <a:schemeClr val="lt1"/>
                </a:solidFill>
                <a:latin typeface="Times New Roman" panose="02020603050405020304"/>
                <a:ea typeface="Times New Roman" panose="02020603050405020304"/>
                <a:cs typeface="Times New Roman" panose="02020603050405020304"/>
                <a:sym typeface="Times New Roman" panose="02020603050405020304"/>
              </a:rPr>
              <a:t>UNIVERSITY OF TRANSPORT AND COMMUNICATIONS</a:t>
            </a:r>
            <a:endParaRPr lang="vi-VN" sz="2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 name="Google Shape;24;p7"/>
          <p:cNvSpPr txBox="1"/>
          <p:nvPr/>
        </p:nvSpPr>
        <p:spPr>
          <a:xfrm>
            <a:off x="1154546" y="59846"/>
            <a:ext cx="11037454" cy="52192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1"/>
              </a:buClr>
              <a:buSzPts val="2800"/>
              <a:buFont typeface="Times New Roman" panose="02020603050405020304"/>
              <a:buNone/>
            </a:pPr>
            <a:r>
              <a:rPr lang="vi-VN" sz="2800" b="1">
                <a:solidFill>
                  <a:schemeClr val="lt1"/>
                </a:solidFill>
                <a:latin typeface="Times New Roman" panose="02020603050405020304"/>
                <a:ea typeface="Times New Roman" panose="02020603050405020304"/>
                <a:cs typeface="Times New Roman" panose="02020603050405020304"/>
                <a:sym typeface="Times New Roman" panose="02020603050405020304"/>
              </a:rPr>
              <a:t>TRƯỜNG ĐẠI HỌC GIAO THÔNG VẬN TẢI</a:t>
            </a:r>
            <a:endParaRPr lang="vi-VN" sz="2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 name="Google Shape;25;p7"/>
          <p:cNvSpPr txBox="1"/>
          <p:nvPr/>
        </p:nvSpPr>
        <p:spPr>
          <a:xfrm>
            <a:off x="0" y="1478154"/>
            <a:ext cx="12192000" cy="52192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000"/>
              <a:buFont typeface="Arial" panose="020B0604020202020204"/>
              <a:buNone/>
            </a:pPr>
            <a:r>
              <a:rPr lang="vi-VN" sz="2000">
                <a:solidFill>
                  <a:schemeClr val="dk1"/>
                </a:solidFill>
                <a:latin typeface="Times New Roman" panose="02020603050405020304"/>
                <a:ea typeface="Times New Roman" panose="02020603050405020304"/>
                <a:cs typeface="Times New Roman" panose="02020603050405020304"/>
                <a:sym typeface="Times New Roman" panose="02020603050405020304"/>
              </a:rPr>
              <a:t>LUẬN VĂN THẠC SĨ</a:t>
            </a:r>
            <a:endParaRPr lang="vi-VN"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 name="Google Shape;26;p7"/>
          <p:cNvSpPr txBox="1"/>
          <p:nvPr/>
        </p:nvSpPr>
        <p:spPr>
          <a:xfrm>
            <a:off x="-1" y="1978448"/>
            <a:ext cx="12192000" cy="167717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3200"/>
              <a:buFont typeface="Arial" panose="020B0604020202020204"/>
              <a:buNone/>
            </a:pPr>
            <a:r>
              <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rPr>
              <a:t>NGHIÊN CỨU PHƯƠNG PHÁP ĐO ĐẠC HIỆN TRƯỜNG</a:t>
            </a:r>
            <a:endPar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3200"/>
              <a:buFont typeface="Arial" panose="020B0604020202020204"/>
              <a:buNone/>
            </a:pPr>
            <a:r>
              <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rPr>
              <a:t>RUNG ĐỘNG ĐẤT NỀN KHI THI CÔNG TUYẾN ĐƯỜNG SẮT</a:t>
            </a:r>
            <a:endPar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3200"/>
              <a:buFont typeface="Arial" panose="020B0604020202020204"/>
              <a:buNone/>
            </a:pPr>
            <a:r>
              <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rPr>
              <a:t>ĐÔ THỊ THÍ ĐIỂM THÀNH PHỐ HÀ NỘI</a:t>
            </a:r>
            <a:endParaRPr lang="vi-VN" sz="3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 name="Google Shape;27;p7"/>
          <p:cNvSpPr txBox="1"/>
          <p:nvPr/>
        </p:nvSpPr>
        <p:spPr>
          <a:xfrm>
            <a:off x="0" y="3729627"/>
            <a:ext cx="12192000" cy="13978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800"/>
              <a:buFont typeface="Arial" panose="020B0604020202020204"/>
              <a:buNone/>
            </a:pPr>
            <a:r>
              <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rPr>
              <a:t>NGÀNH: KỸ THUẬT XÂY DỰNG CÔNG TRÌNH GIAO THÔNG</a:t>
            </a:r>
            <a:endPar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800"/>
              <a:buFont typeface="Arial" panose="020B0604020202020204"/>
              <a:buNone/>
            </a:pPr>
            <a:r>
              <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rPr>
              <a:t>MÃ SỐ: 60.58.02.05</a:t>
            </a:r>
            <a:endPar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800"/>
              <a:buFont typeface="Arial" panose="020B0604020202020204"/>
              <a:buNone/>
            </a:pPr>
            <a:r>
              <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rPr>
              <a:t>CHUYÊN NGÀNH: XÂY DỰNG CẦU HẦM</a:t>
            </a:r>
            <a:endParaRPr lang="vi-VN" sz="1800"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Google Shape;28;p7"/>
          <p:cNvSpPr txBox="1"/>
          <p:nvPr/>
        </p:nvSpPr>
        <p:spPr>
          <a:xfrm>
            <a:off x="0" y="5202948"/>
            <a:ext cx="12192000" cy="52192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Arial" panose="020B0604020202020204"/>
              <a:buNone/>
            </a:pPr>
            <a:r>
              <a:rPr lang="vi-VN"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TRẦN THẢO LINH</a:t>
            </a:r>
            <a:endParaRPr lang="vi-VN"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2400"/>
              <a:buFont typeface="Arial" panose="020B0604020202020204"/>
              <a:buNone/>
            </a:pPr>
            <a:r>
              <a:rPr lang="vi-VN" sz="2400" b="0">
                <a:solidFill>
                  <a:schemeClr val="dk1"/>
                </a:solidFill>
                <a:latin typeface="Times New Roman" panose="02020603050405020304"/>
                <a:ea typeface="Times New Roman" panose="02020603050405020304"/>
                <a:cs typeface="Times New Roman" panose="02020603050405020304"/>
                <a:sym typeface="Times New Roman" panose="02020603050405020304"/>
              </a:rPr>
              <a:t>HƯỚNG DẪN KHOA HỌC: TS. NGUYỄN THỊ CẨM NHUNG</a:t>
            </a:r>
            <a:endParaRPr lang="vi-VN" sz="2400" b="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7"/>
          <p:cNvSpPr txBox="1"/>
          <p:nvPr/>
        </p:nvSpPr>
        <p:spPr>
          <a:xfrm>
            <a:off x="-1" y="6468481"/>
            <a:ext cx="12192000" cy="52192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Arial" panose="020B0604020202020204"/>
              <a:buNone/>
            </a:pPr>
            <a:r>
              <a:rPr lang="vi-VN" sz="2400" i="1">
                <a:solidFill>
                  <a:schemeClr val="dk1"/>
                </a:solidFill>
                <a:latin typeface="Times New Roman" panose="02020603050405020304"/>
                <a:ea typeface="Times New Roman" panose="02020603050405020304"/>
                <a:cs typeface="Times New Roman" panose="02020603050405020304"/>
                <a:sym typeface="Times New Roman" panose="02020603050405020304"/>
              </a:rPr>
              <a:t>Hà Nội – 2020</a:t>
            </a:r>
            <a:endParaRPr lang="vi-VN" sz="2400"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Đầu trang của Phần">
  <p:cSld name="SECTION_HEADER">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imes New Roman" panose="020206030504050203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5" name="Google Shape;3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36" name="Google Shape;36;p8"/>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Hai Nội dung">
  <p:cSld name="TWO_OBJECTS">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1" name="Google Shape;4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2" name="Google Shape;4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3" name="Google Shape;43;p9"/>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Phép so sánh">
  <p:cSld name="TWO_OBJECTS_WITH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1" name="Google Shape;5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2" name="Google Shape;52;p10"/>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Chỉ Tiêu đề">
  <p:cSld name="TITLE_ONLY">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7" name="Google Shape;57;p11"/>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Trống">
  <p:cSld name="BLANK">
    <p:spTree>
      <p:nvGrpSpPr>
        <p:cNvPr id="1" name="Shape 58"/>
        <p:cNvGrpSpPr/>
        <p:nvPr/>
      </p:nvGrpSpPr>
      <p:grpSpPr>
        <a:xfrm>
          <a:off x="0" y="0"/>
          <a:ext cx="0" cy="0"/>
          <a:chOff x="0" y="0"/>
          <a:chExt cx="0" cy="0"/>
        </a:xfrm>
      </p:grpSpPr>
      <p:sp>
        <p:nvSpPr>
          <p:cNvPr id="59" name="Google Shape;5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60" name="Google Shape;6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61" name="Google Shape;61;p12"/>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Nội dung với Chú thích">
  <p:cSld name="OBJECT_WITH_CAPTION_TEXT">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panose="020206030504050203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5" name="Google Shape;65;p1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6" name="Google Shape;6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67" name="Google Shape;6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68" name="Google Shape;68;p13"/>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Ảnh với Chú thích">
  <p:cSld name="PICTURE_WITH_CAPTION_TEXT">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imes New Roman" panose="020206030504050203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panose="020B0604020202020204"/>
              <a:buNone/>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90000"/>
              </a:lnSpc>
              <a:spcBef>
                <a:spcPts val="500"/>
              </a:spcBef>
              <a:spcAft>
                <a:spcPts val="0"/>
              </a:spcAft>
              <a:buClr>
                <a:schemeClr val="dk1"/>
              </a:buClr>
              <a:buSzPts val="2800"/>
              <a:buFont typeface="Arial" panose="020B0604020202020204"/>
              <a:buNone/>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72" name="Google Shape;72;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3" name="Google Shape;7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74" name="Google Shape;7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75" name="Google Shape;75;p14"/>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êu đề và Văn bản Dọc">
  <p:cSld name="VERTICAL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9" name="Google Shape;7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0" name="Google Shape;8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1" name="Google Shape;81;p15"/>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Tiêu đề Dọc và Văn bản">
  <p:cSld name="VERTICAL_TITLE_AND_VERTICAL_TEXT">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5" name="Google Shape;8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6" name="Google Shape;8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7" name="Google Shape;87;p16"/>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1_Tiêu đề Bản chiếu">
  <p:cSld name="TITLE">
    <p:spTree>
      <p:nvGrpSpPr>
        <p:cNvPr id="1" name="Shape 88"/>
        <p:cNvGrpSpPr/>
        <p:nvPr/>
      </p:nvGrpSpPr>
      <p:grpSpPr>
        <a:xfrm>
          <a:off x="0" y="0"/>
          <a:ext cx="0" cy="0"/>
          <a:chOff x="0" y="0"/>
          <a:chExt cx="0" cy="0"/>
        </a:xfrm>
      </p:grpSpPr>
      <p:sp>
        <p:nvSpPr>
          <p:cNvPr id="89" name="Google Shape;89;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Times New Roman" panose="020206030504050203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1" name="Google Shape;91;p1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92" name="Google Shape;92;p1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93" name="Google Shape;93;p17"/>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image" Target="../media/image1.png"/><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5"/>
          <p:cNvPicPr preferRelativeResize="0"/>
          <p:nvPr/>
        </p:nvPicPr>
        <p:blipFill rotWithShape="1">
          <a:blip r:embed="rId13"/>
          <a:srcRect/>
          <a:stretch>
            <a:fillRect/>
          </a:stretch>
        </p:blipFill>
        <p:spPr>
          <a:xfrm>
            <a:off x="-2" y="-1"/>
            <a:ext cx="12192000" cy="6858000"/>
          </a:xfrm>
          <a:prstGeom prst="rect">
            <a:avLst/>
          </a:prstGeom>
          <a:noFill/>
          <a:ln>
            <a:noFill/>
          </a:ln>
        </p:spPr>
      </p:pic>
      <p:sp>
        <p:nvSpPr>
          <p:cNvPr id="11" name="Google Shape;11;p5"/>
          <p:cNvSpPr txBox="1">
            <a:spLocks noGrp="1"/>
          </p:cNvSpPr>
          <p:nvPr>
            <p:ph type="title"/>
          </p:nvPr>
        </p:nvSpPr>
        <p:spPr>
          <a:xfrm>
            <a:off x="1200727" y="1"/>
            <a:ext cx="10991273" cy="107233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imes New Roman" panose="02020603050405020304"/>
              <a:buNone/>
              <a:defRPr sz="36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 name="Google Shape;13;p5"/>
          <p:cNvSpPr txBox="1">
            <a:spLocks noGrp="1"/>
          </p:cNvSpPr>
          <p:nvPr>
            <p:ph type="sldNum" idx="12"/>
          </p:nvPr>
        </p:nvSpPr>
        <p:spPr>
          <a:xfrm>
            <a:off x="9340273" y="6421005"/>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buNone/>
              <a:defRPr sz="12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1005840"/>
            <a:ext cx="2560320" cy="32918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050" b="1">
                <a:solidFill>
                  <a:srgbClr val="FFFFFF"/>
                </a:solidFill>
                <a:latin typeface="Segoe UI"/>
              </a:defRPr>
            </a:pPr>
            <a:r>
              <a:t>BÁO CÁO DỰ ÁN 1 — NHÓM 3</a:t>
            </a:r>
          </a:p>
        </p:txBody>
      </p:sp>
      <p:sp>
        <p:nvSpPr>
          <p:cNvPr id="3" name="TextBox 2"/>
          <p:cNvSpPr txBox="1"/>
          <p:nvPr/>
        </p:nvSpPr>
        <p:spPr>
          <a:xfrm>
            <a:off x="1508760" y="1444752"/>
            <a:ext cx="5669280" cy="1463040"/>
          </a:xfrm>
          <a:prstGeom prst="rect">
            <a:avLst/>
          </a:prstGeom>
          <a:noFill/>
        </p:spPr>
        <p:txBody>
          <a:bodyPr wrap="square">
            <a:spAutoFit/>
          </a:bodyPr>
          <a:lstStyle/>
          <a:p>
            <a:pPr>
              <a:defRPr sz="2600" b="1">
                <a:solidFill>
                  <a:srgbClr val="0B194C"/>
                </a:solidFill>
                <a:latin typeface="Segoe UI"/>
              </a:defRPr>
            </a:pPr>
            <a:r>
              <a:t>LINGORA — NỀN TẢNG HỌC NGOẠI NGỮ TRỰC TUYẾN</a:t>
            </a:r>
          </a:p>
        </p:txBody>
      </p:sp>
      <p:sp>
        <p:nvSpPr>
          <p:cNvPr id="4" name="Rectangle 3"/>
          <p:cNvSpPr/>
          <p:nvPr/>
        </p:nvSpPr>
        <p:spPr>
          <a:xfrm>
            <a:off x="1508760" y="2971800"/>
            <a:ext cx="10972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2971800"/>
            <a:ext cx="1828800" cy="4572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3090672"/>
            <a:ext cx="5669280" cy="594360"/>
          </a:xfrm>
          <a:prstGeom prst="rect">
            <a:avLst/>
          </a:prstGeom>
          <a:noFill/>
        </p:spPr>
        <p:txBody>
          <a:bodyPr wrap="square">
            <a:spAutoFit/>
          </a:bodyPr>
          <a:lstStyle/>
          <a:p>
            <a:pPr>
              <a:defRPr sz="1300">
                <a:solidFill>
                  <a:srgbClr val="2563EB"/>
                </a:solidFill>
                <a:latin typeface="Segoe UI"/>
              </a:defRPr>
            </a:pPr>
            <a:r>
              <a:t>Nghiên cứu nhu cầu người học, phân tích nghiệp vụ &amp; đặc tả yêu cầu hệ thống</a:t>
            </a:r>
          </a:p>
        </p:txBody>
      </p:sp>
      <p:sp>
        <p:nvSpPr>
          <p:cNvPr id="7" name="Rounded Rectangle 6"/>
          <p:cNvSpPr/>
          <p:nvPr/>
        </p:nvSpPr>
        <p:spPr>
          <a:xfrm>
            <a:off x="1508760" y="3867912"/>
            <a:ext cx="438912" cy="23774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UTC</a:t>
            </a:r>
          </a:p>
        </p:txBody>
      </p:sp>
      <p:sp>
        <p:nvSpPr>
          <p:cNvPr id="8" name="TextBox 7"/>
          <p:cNvSpPr txBox="1"/>
          <p:nvPr/>
        </p:nvSpPr>
        <p:spPr>
          <a:xfrm>
            <a:off x="2039112" y="3803904"/>
            <a:ext cx="5029200" cy="402336"/>
          </a:xfrm>
          <a:prstGeom prst="rect">
            <a:avLst/>
          </a:prstGeom>
          <a:noFill/>
        </p:spPr>
        <p:txBody>
          <a:bodyPr wrap="square" lIns="0" rIns="0" tIns="0" bIns="0">
            <a:spAutoFit/>
          </a:bodyPr>
          <a:lstStyle/>
          <a:p>
            <a:r>
              <a:rPr sz="1050" b="1">
                <a:solidFill>
                  <a:srgbClr val="1E293B"/>
                </a:solidFill>
                <a:latin typeface="Segoe UI"/>
              </a:rPr>
              <a:t>Cơ sở đào tạo: </a:t>
            </a:r>
            <a:r>
              <a:rPr sz="1050">
                <a:solidFill>
                  <a:srgbClr val="64748B"/>
                </a:solidFill>
                <a:latin typeface="Segoe UI"/>
              </a:rPr>
              <a:t>Trường ĐH Giao thông Vận tải (UTC) — Khoa CNTT</a:t>
            </a:r>
          </a:p>
        </p:txBody>
      </p:sp>
      <p:sp>
        <p:nvSpPr>
          <p:cNvPr id="9" name="Rounded Rectangle 8"/>
          <p:cNvSpPr/>
          <p:nvPr/>
        </p:nvSpPr>
        <p:spPr>
          <a:xfrm>
            <a:off x="1508760" y="4343400"/>
            <a:ext cx="438912" cy="23774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N-03</a:t>
            </a:r>
          </a:p>
        </p:txBody>
      </p:sp>
      <p:sp>
        <p:nvSpPr>
          <p:cNvPr id="10" name="TextBox 9"/>
          <p:cNvSpPr txBox="1"/>
          <p:nvPr/>
        </p:nvSpPr>
        <p:spPr>
          <a:xfrm>
            <a:off x="2039112" y="4279392"/>
            <a:ext cx="5029200" cy="402336"/>
          </a:xfrm>
          <a:prstGeom prst="rect">
            <a:avLst/>
          </a:prstGeom>
          <a:noFill/>
        </p:spPr>
        <p:txBody>
          <a:bodyPr wrap="square" lIns="0" rIns="0" tIns="0" bIns="0">
            <a:spAutoFit/>
          </a:bodyPr>
          <a:lstStyle/>
          <a:p>
            <a:r>
              <a:rPr sz="1050" b="1">
                <a:solidFill>
                  <a:srgbClr val="1E293B"/>
                </a:solidFill>
                <a:latin typeface="Segoe UI"/>
              </a:rPr>
              <a:t>Nhóm thực hiện: </a:t>
            </a:r>
            <a:r>
              <a:rPr sz="1050">
                <a:solidFill>
                  <a:srgbClr val="64748B"/>
                </a:solidFill>
                <a:latin typeface="Segoe UI"/>
              </a:rPr>
              <a:t>Nhóm 3 (Lớp Dự án 1 — Phân tích yêu cầu &amp; Thiết kế hệ thống)</a:t>
            </a:r>
          </a:p>
        </p:txBody>
      </p:sp>
      <p:sp>
        <p:nvSpPr>
          <p:cNvPr id="11" name="Rounded Rectangle 10"/>
          <p:cNvSpPr/>
          <p:nvPr/>
        </p:nvSpPr>
        <p:spPr>
          <a:xfrm>
            <a:off x="1508760" y="4818888"/>
            <a:ext cx="438912" cy="23774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SV</a:t>
            </a:r>
          </a:p>
        </p:txBody>
      </p:sp>
      <p:sp>
        <p:nvSpPr>
          <p:cNvPr id="12" name="TextBox 11"/>
          <p:cNvSpPr txBox="1"/>
          <p:nvPr/>
        </p:nvSpPr>
        <p:spPr>
          <a:xfrm>
            <a:off x="2039112" y="4754880"/>
            <a:ext cx="5029200" cy="402336"/>
          </a:xfrm>
          <a:prstGeom prst="rect">
            <a:avLst/>
          </a:prstGeom>
          <a:noFill/>
        </p:spPr>
        <p:txBody>
          <a:bodyPr wrap="square" lIns="0" rIns="0" tIns="0" bIns="0">
            <a:spAutoFit/>
          </a:bodyPr>
          <a:lstStyle/>
          <a:p>
            <a:r>
              <a:rPr sz="1050" b="1">
                <a:solidFill>
                  <a:srgbClr val="1E293B"/>
                </a:solidFill>
                <a:latin typeface="Segoe UI"/>
              </a:rPr>
              <a:t>Sinh viên thực hiện: </a:t>
            </a:r>
            <a:r>
              <a:rPr sz="1050" b="1">
                <a:solidFill>
                  <a:srgbClr val="2563EB"/>
                </a:solidFill>
                <a:latin typeface="Segoe UI"/>
              </a:rPr>
              <a:t>Phạm Nguyễn Thanh Tùng • Nguyễn Văn Bắc • Lê Thị Thanh Thúy</a:t>
            </a:r>
          </a:p>
        </p:txBody>
      </p:sp>
      <p:sp>
        <p:nvSpPr>
          <p:cNvPr id="13" name="Rounded Rectangle 12"/>
          <p:cNvSpPr/>
          <p:nvPr/>
        </p:nvSpPr>
        <p:spPr>
          <a:xfrm>
            <a:off x="1508760" y="5294376"/>
            <a:ext cx="438912" cy="23774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GV</a:t>
            </a:r>
          </a:p>
        </p:txBody>
      </p:sp>
      <p:sp>
        <p:nvSpPr>
          <p:cNvPr id="14" name="TextBox 13"/>
          <p:cNvSpPr txBox="1"/>
          <p:nvPr/>
        </p:nvSpPr>
        <p:spPr>
          <a:xfrm>
            <a:off x="2039112" y="5230368"/>
            <a:ext cx="5029200" cy="402336"/>
          </a:xfrm>
          <a:prstGeom prst="rect">
            <a:avLst/>
          </a:prstGeom>
          <a:noFill/>
        </p:spPr>
        <p:txBody>
          <a:bodyPr wrap="square" lIns="0" rIns="0" tIns="0" bIns="0">
            <a:spAutoFit/>
          </a:bodyPr>
          <a:lstStyle/>
          <a:p>
            <a:r>
              <a:rPr sz="1050" b="1">
                <a:solidFill>
                  <a:srgbClr val="1E293B"/>
                </a:solidFill>
                <a:latin typeface="Segoe UI"/>
              </a:rPr>
              <a:t>Giảng viên hướng dẫn: </a:t>
            </a:r>
            <a:r>
              <a:rPr sz="1050" b="1">
                <a:solidFill>
                  <a:srgbClr val="2563EB"/>
                </a:solidFill>
                <a:latin typeface="Segoe UI"/>
              </a:rPr>
              <a:t>TS. Hoàng Văn Thông</a:t>
            </a:r>
          </a:p>
        </p:txBody>
      </p:sp>
      <p:sp>
        <p:nvSpPr>
          <p:cNvPr id="15" name="Rounded Rectangle 14"/>
          <p:cNvSpPr/>
          <p:nvPr/>
        </p:nvSpPr>
        <p:spPr>
          <a:xfrm>
            <a:off x="1508760" y="5769864"/>
            <a:ext cx="438912" cy="237744"/>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2563EB"/>
                </a:solidFill>
                <a:latin typeface="Segoe UI"/>
              </a:defRPr>
            </a:pPr>
            <a:r>
              <a:t>2026</a:t>
            </a:r>
          </a:p>
        </p:txBody>
      </p:sp>
      <p:sp>
        <p:nvSpPr>
          <p:cNvPr id="16" name="TextBox 15"/>
          <p:cNvSpPr txBox="1"/>
          <p:nvPr/>
        </p:nvSpPr>
        <p:spPr>
          <a:xfrm>
            <a:off x="2039112" y="5705856"/>
            <a:ext cx="5029200" cy="402336"/>
          </a:xfrm>
          <a:prstGeom prst="rect">
            <a:avLst/>
          </a:prstGeom>
          <a:noFill/>
        </p:spPr>
        <p:txBody>
          <a:bodyPr wrap="square" lIns="0" rIns="0" tIns="0" bIns="0">
            <a:spAutoFit/>
          </a:bodyPr>
          <a:lstStyle/>
          <a:p>
            <a:r>
              <a:rPr sz="1050" b="1">
                <a:solidFill>
                  <a:srgbClr val="1E293B"/>
                </a:solidFill>
                <a:latin typeface="Segoe UI"/>
              </a:rPr>
              <a:t>Thời gian thực hiện: </a:t>
            </a:r>
            <a:r>
              <a:rPr sz="1050">
                <a:solidFill>
                  <a:srgbClr val="64748B"/>
                </a:solidFill>
                <a:latin typeface="Segoe UI"/>
              </a:rPr>
              <a:t>Tháng 09/2026</a:t>
            </a:r>
          </a:p>
        </p:txBody>
      </p:sp>
      <p:pic>
        <p:nvPicPr>
          <p:cNvPr id="17" name="Picture 16" descr="s1_hero.jpg"/>
          <p:cNvPicPr>
            <a:picLocks noChangeAspect="1"/>
          </p:cNvPicPr>
          <p:nvPr/>
        </p:nvPicPr>
        <p:blipFill>
          <a:blip r:embed="rId2"/>
          <a:stretch>
            <a:fillRect/>
          </a:stretch>
        </p:blipFill>
        <p:spPr>
          <a:xfrm>
            <a:off x="7315200" y="1051560"/>
            <a:ext cx="4480560" cy="5120640"/>
          </a:xfrm>
          <a:prstGeom prst="rect">
            <a:avLst/>
          </a:prstGeom>
        </p:spPr>
      </p:pic>
      <p:sp>
        <p:nvSpPr>
          <p:cNvPr id="18" name="Rectangle 1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0" name="Rectangle 1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MỤC LỤC CHƯƠNG TRÌNH</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Từ vấn đề thực tế đến yêu cầu hệ thống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Lộ trình 5 phần báo cáo được xây dựng trên bằng chứng thực nghiệm và đối chuẩn thực tế</a:t>
            </a:r>
          </a:p>
        </p:txBody>
      </p:sp>
      <p:sp>
        <p:nvSpPr>
          <p:cNvPr id="7" name="Rounded Rectangle 6"/>
          <p:cNvSpPr/>
          <p:nvPr/>
        </p:nvSpPr>
        <p:spPr>
          <a:xfrm>
            <a:off x="731520" y="17830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965960"/>
            <a:ext cx="502920" cy="5029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01</a:t>
            </a:r>
          </a:p>
        </p:txBody>
      </p:sp>
      <p:sp>
        <p:nvSpPr>
          <p:cNvPr id="9" name="TextBox 8"/>
          <p:cNvSpPr txBox="1"/>
          <p:nvPr/>
        </p:nvSpPr>
        <p:spPr>
          <a:xfrm>
            <a:off x="914400" y="2560320"/>
            <a:ext cx="3108960" cy="1188720"/>
          </a:xfrm>
          <a:prstGeom prst="rect">
            <a:avLst/>
          </a:prstGeom>
          <a:noFill/>
        </p:spPr>
        <p:txBody>
          <a:bodyPr wrap="square" lIns="0" rIns="0" tIns="0" bIns="0">
            <a:spAutoFit/>
          </a:bodyPr>
          <a:lstStyle/>
          <a:p>
            <a:pPr>
              <a:defRPr sz="1300" b="1">
                <a:solidFill>
                  <a:srgbClr val="0B194C"/>
                </a:solidFill>
                <a:latin typeface="Segoe UI"/>
              </a:defRPr>
            </a:pPr>
            <a:r>
              <a:t>Bối cảnh &amp; Phương pháp luận</a:t>
            </a:r>
          </a:p>
          <a:p>
            <a:pPr>
              <a:spcBef>
                <a:spcPts val="600"/>
              </a:spcBef>
              <a:defRPr sz="1000">
                <a:solidFill>
                  <a:srgbClr val="64748B"/>
                </a:solidFill>
                <a:latin typeface="Segoe UI"/>
              </a:defRPr>
            </a:pPr>
            <a:r>
              <a:t>Thực trạng học ngoại ngữ, bài toán kỷ luật &amp; 5 phương pháp nghiên cứu tiếp cận.</a:t>
            </a:r>
          </a:p>
        </p:txBody>
      </p:sp>
      <p:sp>
        <p:nvSpPr>
          <p:cNvPr id="10" name="Rounded Rectangle 9"/>
          <p:cNvSpPr/>
          <p:nvPr/>
        </p:nvSpPr>
        <p:spPr>
          <a:xfrm>
            <a:off x="4343400" y="17830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1965960"/>
            <a:ext cx="502920" cy="5029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02</a:t>
            </a:r>
          </a:p>
        </p:txBody>
      </p:sp>
      <p:sp>
        <p:nvSpPr>
          <p:cNvPr id="12" name="TextBox 11"/>
          <p:cNvSpPr txBox="1"/>
          <p:nvPr/>
        </p:nvSpPr>
        <p:spPr>
          <a:xfrm>
            <a:off x="4526280" y="2560320"/>
            <a:ext cx="3108960" cy="1188720"/>
          </a:xfrm>
          <a:prstGeom prst="rect">
            <a:avLst/>
          </a:prstGeom>
          <a:noFill/>
        </p:spPr>
        <p:txBody>
          <a:bodyPr wrap="square" lIns="0" rIns="0" tIns="0" bIns="0">
            <a:spAutoFit/>
          </a:bodyPr>
          <a:lstStyle/>
          <a:p>
            <a:pPr>
              <a:defRPr sz="1300" b="1">
                <a:solidFill>
                  <a:srgbClr val="0B194C"/>
                </a:solidFill>
                <a:latin typeface="Segoe UI"/>
              </a:defRPr>
            </a:pPr>
            <a:r>
              <a:t>Nghiên cứu thực nghiệm</a:t>
            </a:r>
          </a:p>
          <a:p>
            <a:pPr>
              <a:spcBef>
                <a:spcPts val="600"/>
              </a:spcBef>
              <a:defRPr sz="1000">
                <a:solidFill>
                  <a:srgbClr val="64748B"/>
                </a:solidFill>
                <a:latin typeface="Segoe UI"/>
              </a:defRPr>
            </a:pPr>
            <a:r>
              <a:t>Khảo sát ban đầu N=15, khảo sát bổ sung N=35 &amp; phỏng vấn định tính N=3 người học.</a:t>
            </a:r>
          </a:p>
        </p:txBody>
      </p:sp>
      <p:sp>
        <p:nvSpPr>
          <p:cNvPr id="13" name="Rounded Rectangle 12"/>
          <p:cNvSpPr/>
          <p:nvPr/>
        </p:nvSpPr>
        <p:spPr>
          <a:xfrm>
            <a:off x="7955280" y="1783080"/>
            <a:ext cx="347472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138160" y="1965960"/>
            <a:ext cx="502920" cy="50292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03</a:t>
            </a:r>
          </a:p>
        </p:txBody>
      </p:sp>
      <p:sp>
        <p:nvSpPr>
          <p:cNvPr id="15" name="TextBox 14"/>
          <p:cNvSpPr txBox="1"/>
          <p:nvPr/>
        </p:nvSpPr>
        <p:spPr>
          <a:xfrm>
            <a:off x="8138160" y="2560320"/>
            <a:ext cx="3108960" cy="1188720"/>
          </a:xfrm>
          <a:prstGeom prst="rect">
            <a:avLst/>
          </a:prstGeom>
          <a:noFill/>
        </p:spPr>
        <p:txBody>
          <a:bodyPr wrap="square" lIns="0" rIns="0" tIns="0" bIns="0">
            <a:spAutoFit/>
          </a:bodyPr>
          <a:lstStyle/>
          <a:p>
            <a:pPr>
              <a:defRPr sz="1300" b="1">
                <a:solidFill>
                  <a:srgbClr val="0B194C"/>
                </a:solidFill>
                <a:latin typeface="Segoe UI"/>
              </a:defRPr>
            </a:pPr>
            <a:r>
              <a:t>Nghiên cứu chuyên gia &amp; Vận hành</a:t>
            </a:r>
          </a:p>
          <a:p>
            <a:pPr>
              <a:spcBef>
                <a:spcPts val="600"/>
              </a:spcBef>
              <a:defRPr sz="1000">
                <a:solidFill>
                  <a:srgbClr val="64748B"/>
                </a:solidFill>
                <a:latin typeface="Segoe UI"/>
              </a:defRPr>
            </a:pPr>
            <a:r>
              <a:t>Phỏng vấn chuyên sâu 7 chuyên gia (5 vai trò), đối chuẩn nền tảng &amp; rà soát pháp lý.</a:t>
            </a:r>
          </a:p>
        </p:txBody>
      </p:sp>
      <p:sp>
        <p:nvSpPr>
          <p:cNvPr id="16" name="Rounded Rectangle 15"/>
          <p:cNvSpPr/>
          <p:nvPr/>
        </p:nvSpPr>
        <p:spPr>
          <a:xfrm>
            <a:off x="1645920" y="4069080"/>
            <a:ext cx="42976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74520" y="425196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04</a:t>
            </a:r>
          </a:p>
        </p:txBody>
      </p:sp>
      <p:sp>
        <p:nvSpPr>
          <p:cNvPr id="18" name="TextBox 17"/>
          <p:cNvSpPr txBox="1"/>
          <p:nvPr/>
        </p:nvSpPr>
        <p:spPr>
          <a:xfrm>
            <a:off x="1874520" y="4846320"/>
            <a:ext cx="3840480" cy="1188720"/>
          </a:xfrm>
          <a:prstGeom prst="rect">
            <a:avLst/>
          </a:prstGeom>
          <a:noFill/>
        </p:spPr>
        <p:txBody>
          <a:bodyPr wrap="square" lIns="0" rIns="0" tIns="0" bIns="0">
            <a:spAutoFit/>
          </a:bodyPr>
          <a:lstStyle/>
          <a:p>
            <a:pPr>
              <a:defRPr sz="1300" b="1">
                <a:solidFill>
                  <a:srgbClr val="0B194C"/>
                </a:solidFill>
                <a:latin typeface="Segoe UI"/>
              </a:defRPr>
            </a:pPr>
            <a:r>
              <a:t>Ma trận &amp; Đặc tả yêu cầu</a:t>
            </a:r>
          </a:p>
          <a:p>
            <a:pPr>
              <a:spcBef>
                <a:spcPts val="600"/>
              </a:spcBef>
              <a:defRPr sz="1000">
                <a:solidFill>
                  <a:srgbClr val="64748B"/>
                </a:solidFill>
                <a:latin typeface="Segoe UI"/>
              </a:defRPr>
            </a:pPr>
            <a:r>
              <a:t>Ma trận truy vết thực tế, bộ 12 CORE + 8 EXT + NFRs &amp; Ma trận SoD 6 vai trò.</a:t>
            </a:r>
          </a:p>
        </p:txBody>
      </p:sp>
      <p:sp>
        <p:nvSpPr>
          <p:cNvPr id="19" name="Rounded Rectangle 18"/>
          <p:cNvSpPr/>
          <p:nvPr/>
        </p:nvSpPr>
        <p:spPr>
          <a:xfrm>
            <a:off x="6217920" y="4069080"/>
            <a:ext cx="42976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251960"/>
            <a:ext cx="502920" cy="50292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05</a:t>
            </a:r>
          </a:p>
        </p:txBody>
      </p:sp>
      <p:sp>
        <p:nvSpPr>
          <p:cNvPr id="21" name="TextBox 20"/>
          <p:cNvSpPr txBox="1"/>
          <p:nvPr/>
        </p:nvSpPr>
        <p:spPr>
          <a:xfrm>
            <a:off x="6446520" y="4846320"/>
            <a:ext cx="3840480" cy="1188720"/>
          </a:xfrm>
          <a:prstGeom prst="rect">
            <a:avLst/>
          </a:prstGeom>
          <a:noFill/>
        </p:spPr>
        <p:txBody>
          <a:bodyPr wrap="square" lIns="0" rIns="0" tIns="0" bIns="0">
            <a:spAutoFit/>
          </a:bodyPr>
          <a:lstStyle/>
          <a:p>
            <a:pPr>
              <a:defRPr sz="1300" b="1">
                <a:solidFill>
                  <a:srgbClr val="0B194C"/>
                </a:solidFill>
                <a:latin typeface="Segoe UI"/>
              </a:defRPr>
            </a:pPr>
            <a:r>
              <a:t>Quy trình, Use Case &amp; Kết luận</a:t>
            </a:r>
          </a:p>
          <a:p>
            <a:pPr>
              <a:spcBef>
                <a:spcPts val="600"/>
              </a:spcBef>
              <a:defRPr sz="1000">
                <a:solidFill>
                  <a:srgbClr val="64748B"/>
                </a:solidFill>
                <a:latin typeface="Segoe UI"/>
              </a:defRPr>
            </a:pPr>
            <a:r>
              <a:t>2 luồng nghiệp vụ cốt lõi, 15 Canonical Use Cases, hiện trạng kỹ thuật &amp; ranh giới liêm chính.</a:t>
            </a:r>
          </a:p>
        </p:txBody>
      </p:sp>
      <p:sp>
        <p:nvSpPr>
          <p:cNvPr id="22" name="Rectangle 21"/>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4" name="Rectangle 23"/>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BỐI CẢNH THỰC TẾ</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Vấn đề không chỉ là học, mà là học đều và nhớ lâu</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Khoảng trống giữa mong muốn học ngoại ngữ và thói quen duy trì kỷ luật học tập hàng ngày</a:t>
            </a:r>
          </a:p>
        </p:txBody>
      </p:sp>
      <p:sp>
        <p:nvSpPr>
          <p:cNvPr id="7" name="Rounded Rectangle 6"/>
          <p:cNvSpPr/>
          <p:nvPr/>
        </p:nvSpPr>
        <p:spPr>
          <a:xfrm>
            <a:off x="731520" y="1691640"/>
            <a:ext cx="5212080" cy="292608"/>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DC2626"/>
                </a:solidFill>
                <a:latin typeface="Segoe UI"/>
              </a:defRPr>
            </a:pPr>
            <a:r>
              <a:t>THỰC TRẠNG: ĐƯỜNG CONG QUÊN LÃNG &amp; VÒNG XOÁY BỎ DỞ</a:t>
            </a:r>
          </a:p>
        </p:txBody>
      </p:sp>
      <p:pic>
        <p:nvPicPr>
          <p:cNvPr id="8" name="Picture 7" descr="s3_ebbinghaus_srs.png"/>
          <p:cNvPicPr>
            <a:picLocks noChangeAspect="1"/>
          </p:cNvPicPr>
          <p:nvPr/>
        </p:nvPicPr>
        <p:blipFill>
          <a:blip r:embed="rId2"/>
          <a:stretch>
            <a:fillRect/>
          </a:stretch>
        </p:blipFill>
        <p:spPr>
          <a:xfrm>
            <a:off x="731520" y="2057400"/>
            <a:ext cx="5212080" cy="2834640"/>
          </a:xfrm>
          <a:prstGeom prst="rect">
            <a:avLst/>
          </a:prstGeom>
        </p:spPr>
      </p:pic>
      <p:sp>
        <p:nvSpPr>
          <p:cNvPr id="9" name="Rounded Rectangle 8"/>
          <p:cNvSpPr/>
          <p:nvPr/>
        </p:nvSpPr>
        <p:spPr>
          <a:xfrm>
            <a:off x="731520" y="4956048"/>
            <a:ext cx="521208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010912"/>
            <a:ext cx="4937760" cy="1188720"/>
          </a:xfrm>
          <a:prstGeom prst="rect">
            <a:avLst/>
          </a:prstGeom>
          <a:noFill/>
        </p:spPr>
        <p:txBody>
          <a:bodyPr wrap="square" lIns="0" rIns="0" tIns="0" bIns="0">
            <a:spAutoFit/>
          </a:bodyPr>
          <a:lstStyle/>
          <a:p>
            <a:pPr>
              <a:spcAft>
                <a:spcPts val="300"/>
              </a:spcAft>
            </a:pPr>
            <a:r>
              <a:rPr sz="950" b="1">
                <a:solidFill>
                  <a:srgbClr val="DC2626"/>
                </a:solidFill>
                <a:latin typeface="Segoe UI"/>
              </a:rPr>
              <a:t>• Quên 80% sau 3-5 ngày: </a:t>
            </a:r>
            <a:r>
              <a:rPr sz="950">
                <a:solidFill>
                  <a:srgbClr val="1E293B"/>
                </a:solidFill>
                <a:latin typeface="Segoe UI"/>
              </a:rPr>
              <a:t>100% học viên thừa nhận quên sạch nếu không có thuật toán nhắc ôn.</a:t>
            </a:r>
          </a:p>
          <a:p>
            <a:pPr>
              <a:spcAft>
                <a:spcPts val="300"/>
              </a:spcAft>
            </a:pPr>
            <a:r>
              <a:rPr sz="950" b="1">
                <a:solidFill>
                  <a:srgbClr val="DC2626"/>
                </a:solidFill>
                <a:latin typeface="Segoe UI"/>
              </a:rPr>
              <a:t>• Học dồn gây quá tải: </a:t>
            </a:r>
            <a:r>
              <a:rPr sz="950">
                <a:solidFill>
                  <a:srgbClr val="1E293B"/>
                </a:solidFill>
                <a:latin typeface="Segoe UI"/>
              </a:rPr>
              <a:t>Cố học 30–45p ban đầu rồi kiệt sức, nản lòng bỏ cuộc sau 1–2 tuần.</a:t>
            </a:r>
          </a:p>
          <a:p>
            <a:pPr>
              <a:spcAft>
                <a:spcPts val="300"/>
              </a:spcAft>
            </a:pPr>
            <a:r>
              <a:rPr sz="950" b="1">
                <a:solidFill>
                  <a:srgbClr val="DC2626"/>
                </a:solidFill>
                <a:latin typeface="Segoe UI"/>
              </a:rPr>
              <a:t>• Sai không giải thích: </a:t>
            </a:r>
            <a:r>
              <a:rPr sz="950">
                <a:solidFill>
                  <a:srgbClr val="1E293B"/>
                </a:solidFill>
                <a:latin typeface="Segoe UI"/>
              </a:rPr>
              <a:t>Bực bội vì chỉ thấy gạch chéo đỏ, không hiểu bản chất ngữ pháp để sửa.</a:t>
            </a:r>
          </a:p>
        </p:txBody>
      </p:sp>
      <p:sp>
        <p:nvSpPr>
          <p:cNvPr id="11" name="Rounded Rectangle 10"/>
          <p:cNvSpPr/>
          <p:nvPr/>
        </p:nvSpPr>
        <p:spPr>
          <a:xfrm>
            <a:off x="6217920" y="1691640"/>
            <a:ext cx="5212080" cy="29260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GIẢI PHÁP THIẾT KẾ ĐỘT PHÁ CỦA LINGORA</a:t>
            </a:r>
          </a:p>
        </p:txBody>
      </p:sp>
      <p:sp>
        <p:nvSpPr>
          <p:cNvPr id="12" name="Rounded Rectangle 11"/>
          <p:cNvSpPr/>
          <p:nvPr/>
        </p:nvSpPr>
        <p:spPr>
          <a:xfrm>
            <a:off x="6217920" y="2057400"/>
            <a:ext cx="52120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057400"/>
            <a:ext cx="73152" cy="1005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2512" y="2221992"/>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1</a:t>
            </a:r>
          </a:p>
        </p:txBody>
      </p:sp>
      <p:sp>
        <p:nvSpPr>
          <p:cNvPr id="15" name="TextBox 14"/>
          <p:cNvSpPr txBox="1"/>
          <p:nvPr/>
        </p:nvSpPr>
        <p:spPr>
          <a:xfrm>
            <a:off x="6839712" y="2148840"/>
            <a:ext cx="4498848" cy="868680"/>
          </a:xfrm>
          <a:prstGeom prst="rect">
            <a:avLst/>
          </a:prstGeom>
          <a:noFill/>
        </p:spPr>
        <p:txBody>
          <a:bodyPr wrap="square" lIns="0" rIns="0" tIns="0" bIns="0">
            <a:spAutoFit/>
          </a:bodyPr>
          <a:lstStyle/>
          <a:p>
            <a:pPr>
              <a:defRPr sz="1100" b="1">
                <a:solidFill>
                  <a:srgbClr val="2563EB"/>
                </a:solidFill>
                <a:latin typeface="Segoe UI"/>
              </a:defRPr>
            </a:pPr>
            <a:r>
              <a:t>1. Bài học vi mô (Micro-learning 5–10p)</a:t>
            </a:r>
          </a:p>
          <a:p>
            <a:pPr>
              <a:spcBef>
                <a:spcPts val="300"/>
              </a:spcBef>
              <a:defRPr sz="919">
                <a:solidFill>
                  <a:srgbClr val="1E293B"/>
                </a:solidFill>
                <a:latin typeface="Segoe UI"/>
              </a:defRPr>
            </a:pPr>
            <a:r>
              <a:t>Gói gọn 8–10 từ cốt lõi/bài. Hạ thấp rào cản tâm lý, giúp người học dễ dàng duy trì kỷ luật học đều đặn mỗi ngày mà không bị quá tải.</a:t>
            </a:r>
          </a:p>
        </p:txBody>
      </p:sp>
      <p:sp>
        <p:nvSpPr>
          <p:cNvPr id="16" name="Rounded Rectangle 15"/>
          <p:cNvSpPr/>
          <p:nvPr/>
        </p:nvSpPr>
        <p:spPr>
          <a:xfrm>
            <a:off x="6217920" y="3118104"/>
            <a:ext cx="52120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118104"/>
            <a:ext cx="73152" cy="1005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82512" y="3282696"/>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2</a:t>
            </a:r>
          </a:p>
        </p:txBody>
      </p:sp>
      <p:sp>
        <p:nvSpPr>
          <p:cNvPr id="19" name="TextBox 18"/>
          <p:cNvSpPr txBox="1"/>
          <p:nvPr/>
        </p:nvSpPr>
        <p:spPr>
          <a:xfrm>
            <a:off x="6839712" y="3209544"/>
            <a:ext cx="4498848" cy="868680"/>
          </a:xfrm>
          <a:prstGeom prst="rect">
            <a:avLst/>
          </a:prstGeom>
          <a:noFill/>
        </p:spPr>
        <p:txBody>
          <a:bodyPr wrap="square" lIns="0" rIns="0" tIns="0" bIns="0">
            <a:spAutoFit/>
          </a:bodyPr>
          <a:lstStyle/>
          <a:p>
            <a:pPr>
              <a:defRPr sz="1100" b="1">
                <a:solidFill>
                  <a:srgbClr val="10B981"/>
                </a:solidFill>
                <a:latin typeface="Segoe UI"/>
              </a:defRPr>
            </a:pPr>
            <a:r>
              <a:t>2. Ôn tập ngắt quãng (SRS 1-3-7-14-30 ngày)</a:t>
            </a:r>
          </a:p>
          <a:p>
            <a:pPr>
              <a:spcBef>
                <a:spcPts val="300"/>
              </a:spcBef>
              <a:defRPr sz="919">
                <a:solidFill>
                  <a:srgbClr val="1E293B"/>
                </a:solidFill>
                <a:latin typeface="Segoe UI"/>
              </a:defRPr>
            </a:pPr>
            <a:r>
              <a:t>Thuật toán tự động gom từ đến hạn cần ôn. Kéo tỷ lệ ghi nhớ trở lại 100%, bẻ gãy đường cong quên lãng Ebbinghaus bền vững.</a:t>
            </a:r>
          </a:p>
        </p:txBody>
      </p:sp>
      <p:sp>
        <p:nvSpPr>
          <p:cNvPr id="20" name="Rounded Rectangle 19"/>
          <p:cNvSpPr/>
          <p:nvPr/>
        </p:nvSpPr>
        <p:spPr>
          <a:xfrm>
            <a:off x="6217920" y="4178808"/>
            <a:ext cx="52120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4178808"/>
            <a:ext cx="731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82512" y="4343400"/>
            <a:ext cx="384048" cy="38404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3</a:t>
            </a:r>
          </a:p>
        </p:txBody>
      </p:sp>
      <p:sp>
        <p:nvSpPr>
          <p:cNvPr id="23" name="TextBox 22"/>
          <p:cNvSpPr txBox="1"/>
          <p:nvPr/>
        </p:nvSpPr>
        <p:spPr>
          <a:xfrm>
            <a:off x="6839712" y="4270248"/>
            <a:ext cx="4498848" cy="868680"/>
          </a:xfrm>
          <a:prstGeom prst="rect">
            <a:avLst/>
          </a:prstGeom>
          <a:noFill/>
        </p:spPr>
        <p:txBody>
          <a:bodyPr wrap="square" lIns="0" rIns="0" tIns="0" bIns="0">
            <a:spAutoFit/>
          </a:bodyPr>
          <a:lstStyle/>
          <a:p>
            <a:pPr>
              <a:defRPr sz="1100" b="1">
                <a:solidFill>
                  <a:srgbClr val="7C3AED"/>
                </a:solidFill>
                <a:latin typeface="Segoe UI"/>
              </a:defRPr>
            </a:pPr>
            <a:r>
              <a:t>3. Phản hồi tức thì &amp; Controlled Retry</a:t>
            </a:r>
          </a:p>
          <a:p>
            <a:pPr>
              <a:spcBef>
                <a:spcPts val="300"/>
              </a:spcBef>
              <a:defRPr sz="919">
                <a:solidFill>
                  <a:srgbClr val="1E293B"/>
                </a:solidFill>
                <a:latin typeface="Segoe UI"/>
              </a:defRPr>
            </a:pPr>
            <a:r>
              <a:t>Hiển thị giải thích ngữ pháp/nghĩa chi tiết ngay khi làm sai; tự động gom tối đa 10% câu sai làm lại cuối bài để củng cố kiến thức.</a:t>
            </a:r>
          </a:p>
        </p:txBody>
      </p:sp>
      <p:sp>
        <p:nvSpPr>
          <p:cNvPr id="24" name="Rounded Rectangle 23"/>
          <p:cNvSpPr/>
          <p:nvPr/>
        </p:nvSpPr>
        <p:spPr>
          <a:xfrm>
            <a:off x="6217920" y="5239512"/>
            <a:ext cx="52120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523951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82512" y="5404104"/>
            <a:ext cx="384048" cy="38404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100" b="1">
                <a:solidFill>
                  <a:srgbClr val="FFFFFF"/>
                </a:solidFill>
                <a:latin typeface="Segoe UI"/>
              </a:defRPr>
            </a:pPr>
            <a:r>
              <a:t>4</a:t>
            </a:r>
          </a:p>
        </p:txBody>
      </p:sp>
      <p:sp>
        <p:nvSpPr>
          <p:cNvPr id="27" name="TextBox 26"/>
          <p:cNvSpPr txBox="1"/>
          <p:nvPr/>
        </p:nvSpPr>
        <p:spPr>
          <a:xfrm>
            <a:off x="6839712" y="5330952"/>
            <a:ext cx="4498848" cy="868680"/>
          </a:xfrm>
          <a:prstGeom prst="rect">
            <a:avLst/>
          </a:prstGeom>
          <a:noFill/>
        </p:spPr>
        <p:txBody>
          <a:bodyPr wrap="square" lIns="0" rIns="0" tIns="0" bIns="0">
            <a:spAutoFit/>
          </a:bodyPr>
          <a:lstStyle/>
          <a:p>
            <a:pPr>
              <a:defRPr sz="1100" b="1">
                <a:solidFill>
                  <a:srgbClr val="EA580C"/>
                </a:solidFill>
                <a:latin typeface="Segoe UI"/>
              </a:defRPr>
            </a:pPr>
            <a:r>
              <a:t>4. Mô hình quản trị SoD 4 mắt</a:t>
            </a:r>
          </a:p>
          <a:p>
            <a:pPr>
              <a:spcBef>
                <a:spcPts val="300"/>
              </a:spcBef>
              <a:defRPr sz="919">
                <a:solidFill>
                  <a:srgbClr val="1E293B"/>
                </a:solidFill>
                <a:latin typeface="Segoe UI"/>
              </a:defRPr>
            </a:pPr>
            <a:r>
              <a:t>Tách biệt nghiêm ngặt: Creator soạn ≠ Moderator duyệt QC 6 điểm ≠ Manager xuất bản Unit. Triệt tiêu hoàn toàn học liệu rác và sai sót.</a:t>
            </a:r>
          </a:p>
        </p:txBody>
      </p:sp>
      <p:sp>
        <p:nvSpPr>
          <p:cNvPr id="28" name="Rectangle 2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30" name="Rectangle 2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PHƯƠNG PHÁP LUẬN</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Mỗi câu hỏi được trả lời bằng phương pháp độc lập</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Không quy chụp dữ liệu; kết hợp khảo sát định lượng, phỏng vấn định tính và kiểm chứng pháp lý</a:t>
            </a:r>
          </a:p>
        </p:txBody>
      </p:sp>
      <p:sp>
        <p:nvSpPr>
          <p:cNvPr id="7" name="Rounded Rectangle 6"/>
          <p:cNvSpPr/>
          <p:nvPr/>
        </p:nvSpPr>
        <p:spPr>
          <a:xfrm>
            <a:off x="731520" y="178308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1248" y="1920240"/>
            <a:ext cx="1837944"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Segoe UI"/>
              </a:defRPr>
            </a:pPr>
            <a:r>
              <a:t>Khảo sát sơ bộ N=15</a:t>
            </a:r>
          </a:p>
          <a:p>
            <a:pPr algn="ctr">
              <a:defRPr sz="850">
                <a:solidFill>
                  <a:srgbClr val="F1F5F9"/>
                </a:solidFill>
                <a:latin typeface="Segoe UI"/>
              </a:defRPr>
            </a:pPr>
            <a:r>
              <a:t>24 câu hỏi bao quát</a:t>
            </a:r>
          </a:p>
        </p:txBody>
      </p:sp>
      <p:sp>
        <p:nvSpPr>
          <p:cNvPr id="9" name="TextBox 8"/>
          <p:cNvSpPr txBox="1"/>
          <p:nvPr/>
        </p:nvSpPr>
        <p:spPr>
          <a:xfrm>
            <a:off x="841248" y="2651760"/>
            <a:ext cx="1837944" cy="3383280"/>
          </a:xfrm>
          <a:prstGeom prst="rect">
            <a:avLst/>
          </a:prstGeom>
          <a:noFill/>
        </p:spPr>
        <p:txBody>
          <a:bodyPr wrap="square" lIns="0" rIns="0" tIns="0" bIns="0">
            <a:spAutoFit/>
          </a:bodyPr>
          <a:lstStyle/>
          <a:p>
            <a:pPr>
              <a:defRPr sz="919">
                <a:solidFill>
                  <a:srgbClr val="1E293B"/>
                </a:solidFill>
                <a:latin typeface="Segoe UI"/>
              </a:defRPr>
            </a:pPr>
            <a:r>
              <a:t>• Phạm vi: 15 người học ngoại ngữ với 24 câu hỏi đa chiều.</a:t>
            </a:r>
            <a:br/>
            <a:br/>
            <a:r>
              <a:t>• Phát hiện cốt lõi: 100% quên từ vựng, 4.13/5 nhu cầu nhắc ôn và học vi mô.</a:t>
            </a:r>
            <a:br/>
            <a:br/>
            <a:r>
              <a:t>• Ý nghĩa: Xác lập yêu cầu cốt lõi về thuật toán ôn ngắt quãng SRS.</a:t>
            </a:r>
          </a:p>
        </p:txBody>
      </p:sp>
      <p:sp>
        <p:nvSpPr>
          <p:cNvPr id="10" name="Rounded Rectangle 9"/>
          <p:cNvSpPr/>
          <p:nvPr/>
        </p:nvSpPr>
        <p:spPr>
          <a:xfrm>
            <a:off x="2907792" y="178308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17520" y="1920240"/>
            <a:ext cx="1837944" cy="5943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Segoe UI"/>
              </a:defRPr>
            </a:pPr>
            <a:r>
              <a:t>Khảo sát bổ sung N=35</a:t>
            </a:r>
          </a:p>
          <a:p>
            <a:pPr algn="ctr">
              <a:defRPr sz="850">
                <a:solidFill>
                  <a:srgbClr val="F1F5F9"/>
                </a:solidFill>
                <a:latin typeface="Segoe UI"/>
              </a:defRPr>
            </a:pPr>
            <a:r>
              <a:t>Tập trung 2 biến số</a:t>
            </a:r>
          </a:p>
        </p:txBody>
      </p:sp>
      <p:sp>
        <p:nvSpPr>
          <p:cNvPr id="12" name="TextBox 11"/>
          <p:cNvSpPr txBox="1"/>
          <p:nvPr/>
        </p:nvSpPr>
        <p:spPr>
          <a:xfrm>
            <a:off x="3017520" y="2651760"/>
            <a:ext cx="1837944" cy="3383280"/>
          </a:xfrm>
          <a:prstGeom prst="rect">
            <a:avLst/>
          </a:prstGeom>
          <a:noFill/>
        </p:spPr>
        <p:txBody>
          <a:bodyPr wrap="square" lIns="0" rIns="0" tIns="0" bIns="0">
            <a:spAutoFit/>
          </a:bodyPr>
          <a:lstStyle/>
          <a:p>
            <a:pPr>
              <a:defRPr sz="919">
                <a:solidFill>
                  <a:srgbClr val="1E293B"/>
                </a:solidFill>
                <a:latin typeface="Segoe UI"/>
              </a:defRPr>
            </a:pPr>
            <a:r>
              <a:t>• Phạm vi: 35 người học khảo sát chuyên sâu 2 quyết định thiết kế.</a:t>
            </a:r>
            <a:br/>
            <a:br/>
            <a:r>
              <a:t>• Phát hiện cốt lõi: 51.4% học 20h–22h, 54.3% đồng ý làm lại câu sai (~10%).</a:t>
            </a:r>
            <a:br/>
            <a:br/>
            <a:r>
              <a:t>• Ý nghĩa: Định hình giờ vàng thông báo và cơ chế Controlled Retry.</a:t>
            </a:r>
          </a:p>
        </p:txBody>
      </p:sp>
      <p:sp>
        <p:nvSpPr>
          <p:cNvPr id="13" name="Rounded Rectangle 12"/>
          <p:cNvSpPr/>
          <p:nvPr/>
        </p:nvSpPr>
        <p:spPr>
          <a:xfrm>
            <a:off x="5084064" y="178308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93792" y="1920240"/>
            <a:ext cx="1837944" cy="5943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Segoe UI"/>
              </a:defRPr>
            </a:pPr>
            <a:r>
              <a:t>Phỏng vấn định tính N=3</a:t>
            </a:r>
          </a:p>
          <a:p>
            <a:pPr algn="ctr">
              <a:defRPr sz="850">
                <a:solidFill>
                  <a:srgbClr val="F1F5F9"/>
                </a:solidFill>
                <a:latin typeface="Segoe UI"/>
              </a:defRPr>
            </a:pPr>
            <a:r>
              <a:t>Bán cấu trúc chuyên sâu</a:t>
            </a:r>
          </a:p>
        </p:txBody>
      </p:sp>
      <p:sp>
        <p:nvSpPr>
          <p:cNvPr id="15" name="TextBox 14"/>
          <p:cNvSpPr txBox="1"/>
          <p:nvPr/>
        </p:nvSpPr>
        <p:spPr>
          <a:xfrm>
            <a:off x="5193792" y="2651760"/>
            <a:ext cx="1837944" cy="3383280"/>
          </a:xfrm>
          <a:prstGeom prst="rect">
            <a:avLst/>
          </a:prstGeom>
          <a:noFill/>
        </p:spPr>
        <p:txBody>
          <a:bodyPr wrap="square" lIns="0" rIns="0" tIns="0" bIns="0">
            <a:spAutoFit/>
          </a:bodyPr>
          <a:lstStyle/>
          <a:p>
            <a:pPr>
              <a:defRPr sz="919">
                <a:solidFill>
                  <a:srgbClr val="1E293B"/>
                </a:solidFill>
                <a:latin typeface="Segoe UI"/>
              </a:defRPr>
            </a:pPr>
            <a:r>
              <a:t>• Phạm vi: 3 người học từng bỏ dở các app tiếng Anh phổ biến.</a:t>
            </a:r>
            <a:br/>
            <a:br/>
            <a:r>
              <a:t>• Phát hiện cốt lõi: Bài học quá dài (&gt;15p), sai không giải thích, dồn ứ bài học.</a:t>
            </a:r>
            <a:br/>
            <a:br/>
            <a:r>
              <a:t>• Ý nghĩa: Chuẩn hóa bài 5–10p và bắt buộc giải thích ngay khi sai.</a:t>
            </a:r>
          </a:p>
        </p:txBody>
      </p:sp>
      <p:sp>
        <p:nvSpPr>
          <p:cNvPr id="16" name="Rounded Rectangle 15"/>
          <p:cNvSpPr/>
          <p:nvPr/>
        </p:nvSpPr>
        <p:spPr>
          <a:xfrm>
            <a:off x="7260336" y="178308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70064" y="1920240"/>
            <a:ext cx="1837944"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Segoe UI"/>
              </a:defRPr>
            </a:pPr>
            <a:r>
              <a:t>Phỏng vấn chuyên gia (7)</a:t>
            </a:r>
          </a:p>
          <a:p>
            <a:pPr algn="ctr">
              <a:defRPr sz="850">
                <a:solidFill>
                  <a:srgbClr val="F1F5F9"/>
                </a:solidFill>
                <a:latin typeface="Segoe UI"/>
              </a:defRPr>
            </a:pPr>
            <a:r>
              <a:t>5 nhóm vai trò</a:t>
            </a:r>
          </a:p>
        </p:txBody>
      </p:sp>
      <p:sp>
        <p:nvSpPr>
          <p:cNvPr id="18" name="TextBox 17"/>
          <p:cNvSpPr txBox="1"/>
          <p:nvPr/>
        </p:nvSpPr>
        <p:spPr>
          <a:xfrm>
            <a:off x="7370064" y="2651760"/>
            <a:ext cx="1837944" cy="3383280"/>
          </a:xfrm>
          <a:prstGeom prst="rect">
            <a:avLst/>
          </a:prstGeom>
          <a:noFill/>
        </p:spPr>
        <p:txBody>
          <a:bodyPr wrap="square" lIns="0" rIns="0" tIns="0" bIns="0">
            <a:spAutoFit/>
          </a:bodyPr>
          <a:lstStyle/>
          <a:p>
            <a:pPr>
              <a:defRPr sz="919">
                <a:solidFill>
                  <a:srgbClr val="1E293B"/>
                </a:solidFill>
                <a:latin typeface="Segoe UI"/>
              </a:defRPr>
            </a:pPr>
            <a:r>
              <a:t>• Phạm vi: 7 chuyên gia (Manager, Creator, Moderator, Ops, Admin).</a:t>
            </a:r>
            <a:br/>
            <a:br/>
            <a:r>
              <a:t>• Phát hiện cốt lõi: Task Spec 5 trường, Unit 4/4 bài, QC 6 điểm và SoD.</a:t>
            </a:r>
            <a:br/>
            <a:br/>
            <a:r>
              <a:t>• Ý nghĩa: Xác lập quy trình quản trị 4 mắt và phân quyền chặt chẽ.</a:t>
            </a:r>
          </a:p>
        </p:txBody>
      </p:sp>
      <p:sp>
        <p:nvSpPr>
          <p:cNvPr id="19" name="Rounded Rectangle 18"/>
          <p:cNvSpPr/>
          <p:nvPr/>
        </p:nvSpPr>
        <p:spPr>
          <a:xfrm>
            <a:off x="9436608" y="1783080"/>
            <a:ext cx="205740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46336" y="1920240"/>
            <a:ext cx="1837944" cy="5943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950" b="1">
                <a:solidFill>
                  <a:srgbClr val="FFFFFF"/>
                </a:solidFill>
                <a:latin typeface="Segoe UI"/>
              </a:defRPr>
            </a:pPr>
            <a:r>
              <a:t>Đối chuẩn &amp; Pháp lý</a:t>
            </a:r>
          </a:p>
          <a:p>
            <a:pPr algn="ctr">
              <a:defRPr sz="850">
                <a:solidFill>
                  <a:srgbClr val="F1F5F9"/>
                </a:solidFill>
                <a:latin typeface="Segoe UI"/>
              </a:defRPr>
            </a:pPr>
            <a:r>
              <a:t>Benchmark &amp; Legal</a:t>
            </a:r>
          </a:p>
        </p:txBody>
      </p:sp>
      <p:sp>
        <p:nvSpPr>
          <p:cNvPr id="21" name="TextBox 20"/>
          <p:cNvSpPr txBox="1"/>
          <p:nvPr/>
        </p:nvSpPr>
        <p:spPr>
          <a:xfrm>
            <a:off x="9546336" y="2651760"/>
            <a:ext cx="1837944" cy="3383280"/>
          </a:xfrm>
          <a:prstGeom prst="rect">
            <a:avLst/>
          </a:prstGeom>
          <a:noFill/>
        </p:spPr>
        <p:txBody>
          <a:bodyPr wrap="square" lIns="0" rIns="0" tIns="0" bIns="0">
            <a:spAutoFit/>
          </a:bodyPr>
          <a:lstStyle/>
          <a:p>
            <a:pPr>
              <a:defRPr sz="919">
                <a:solidFill>
                  <a:srgbClr val="1E293B"/>
                </a:solidFill>
                <a:latin typeface="Segoe UI"/>
              </a:defRPr>
            </a:pPr>
            <a:r>
              <a:t>• Phạm vi: Đối chuẩn Duolingo, Quizlet + Rà soát văn bản pháp lý ATTT.</a:t>
            </a:r>
            <a:br/>
            <a:br/>
            <a:r>
              <a:t>• Phát hiện cốt lõi: Luật ATTT 86/2015 &amp; Nghị định 13/2023/NĐ-CP.</a:t>
            </a:r>
            <a:br/>
            <a:br/>
            <a:r>
              <a:t>• Ý nghĩa: Chuẩn hóa Audit Log 6 trường và bảo mật HttpOnly Cookies.</a:t>
            </a:r>
          </a:p>
        </p:txBody>
      </p:sp>
      <p:sp>
        <p:nvSpPr>
          <p:cNvPr id="22" name="Rectangle 21"/>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4" name="Rectangle 23"/>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KHẢO SÁT THỰC NGHIỆM</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Khảo sát ban đầu N=15: Vấn đề nào cần giải quyết?</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24 câu hỏi khảo sát giúp xác định chính xác các rào cản tâm lý và nhu cầu học tập cốt lõi</a:t>
            </a:r>
          </a:p>
        </p:txBody>
      </p:sp>
      <p:pic>
        <p:nvPicPr>
          <p:cNvPr id="7" name="Picture 6" descr="s5_survey_n15.png"/>
          <p:cNvPicPr>
            <a:picLocks noChangeAspect="1"/>
          </p:cNvPicPr>
          <p:nvPr/>
        </p:nvPicPr>
        <p:blipFill>
          <a:blip r:embed="rId2"/>
          <a:stretch>
            <a:fillRect/>
          </a:stretch>
        </p:blipFill>
        <p:spPr>
          <a:xfrm>
            <a:off x="731520" y="1737360"/>
            <a:ext cx="10698480" cy="2514600"/>
          </a:xfrm>
          <a:prstGeom prst="rect">
            <a:avLst/>
          </a:prstGeom>
        </p:spPr>
      </p:pic>
      <p:sp>
        <p:nvSpPr>
          <p:cNvPr id="8" name="Rounded Rectangle 7"/>
          <p:cNvSpPr/>
          <p:nvPr/>
        </p:nvSpPr>
        <p:spPr>
          <a:xfrm>
            <a:off x="731520" y="4389120"/>
            <a:ext cx="257860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389120"/>
            <a:ext cx="2578608"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4526280"/>
            <a:ext cx="2359152" cy="1691639"/>
          </a:xfrm>
          <a:prstGeom prst="rect">
            <a:avLst/>
          </a:prstGeom>
          <a:noFill/>
        </p:spPr>
        <p:txBody>
          <a:bodyPr wrap="square" lIns="0" rIns="0" tIns="0" bIns="0">
            <a:spAutoFit/>
          </a:bodyPr>
          <a:lstStyle/>
          <a:p>
            <a:pPr>
              <a:defRPr sz="1050" b="1">
                <a:solidFill>
                  <a:srgbClr val="2563EB"/>
                </a:solidFill>
                <a:latin typeface="Segoe UI"/>
              </a:defRPr>
            </a:pPr>
            <a:r>
              <a:t>Trở ngại quên từ vựng (100%)</a:t>
            </a:r>
          </a:p>
          <a:p>
            <a:pPr>
              <a:spcBef>
                <a:spcPts val="400"/>
              </a:spcBef>
              <a:defRPr sz="900">
                <a:solidFill>
                  <a:srgbClr val="1E293B"/>
                </a:solidFill>
                <a:latin typeface="Segoe UI"/>
              </a:defRPr>
            </a:pPr>
            <a:r>
              <a:t>Toàn bộ 15/15 người được khảo sát thừa nhận thường xuyên quên từ vựng sau khi học. Hệ thống bắt buộc phải có thuật toán ôn tập ngắt quãng (SRS) tự động.</a:t>
            </a:r>
          </a:p>
        </p:txBody>
      </p:sp>
      <p:sp>
        <p:nvSpPr>
          <p:cNvPr id="11" name="Rounded Rectangle 10"/>
          <p:cNvSpPr/>
          <p:nvPr/>
        </p:nvSpPr>
        <p:spPr>
          <a:xfrm>
            <a:off x="3429000" y="4389120"/>
            <a:ext cx="257860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4389120"/>
            <a:ext cx="257860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8728" y="4526280"/>
            <a:ext cx="2359152" cy="1691639"/>
          </a:xfrm>
          <a:prstGeom prst="rect">
            <a:avLst/>
          </a:prstGeom>
          <a:noFill/>
        </p:spPr>
        <p:txBody>
          <a:bodyPr wrap="square" lIns="0" rIns="0" tIns="0" bIns="0">
            <a:spAutoFit/>
          </a:bodyPr>
          <a:lstStyle/>
          <a:p>
            <a:pPr>
              <a:defRPr sz="1050" b="1">
                <a:solidFill>
                  <a:srgbClr val="10B981"/>
                </a:solidFill>
                <a:latin typeface="Segoe UI"/>
              </a:defRPr>
            </a:pPr>
            <a:r>
              <a:t>Nhắc nhở ôn tập (4.13/5)</a:t>
            </a:r>
          </a:p>
          <a:p>
            <a:pPr>
              <a:spcBef>
                <a:spcPts val="400"/>
              </a:spcBef>
              <a:defRPr sz="900">
                <a:solidFill>
                  <a:srgbClr val="1E293B"/>
                </a:solidFill>
                <a:latin typeface="Segoe UI"/>
              </a:defRPr>
            </a:pPr>
            <a:r>
              <a:t>Nhu cầu tự động nhắc ôn từ vựng ở mức rất cấp thiết (12/15 người đánh giá 4 hoặc 5 điểm Likert). Đòi hỏi cơ chế push notification in-app đúng khung giờ.</a:t>
            </a:r>
          </a:p>
        </p:txBody>
      </p:sp>
      <p:sp>
        <p:nvSpPr>
          <p:cNvPr id="14" name="Rounded Rectangle 13"/>
          <p:cNvSpPr/>
          <p:nvPr/>
        </p:nvSpPr>
        <p:spPr>
          <a:xfrm>
            <a:off x="6126480" y="4389120"/>
            <a:ext cx="257860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4389120"/>
            <a:ext cx="2578608"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4526280"/>
            <a:ext cx="2359152" cy="1691639"/>
          </a:xfrm>
          <a:prstGeom prst="rect">
            <a:avLst/>
          </a:prstGeom>
          <a:noFill/>
        </p:spPr>
        <p:txBody>
          <a:bodyPr wrap="square" lIns="0" rIns="0" tIns="0" bIns="0">
            <a:spAutoFit/>
          </a:bodyPr>
          <a:lstStyle/>
          <a:p>
            <a:pPr>
              <a:defRPr sz="1050" b="1">
                <a:solidFill>
                  <a:srgbClr val="7C3AED"/>
                </a:solidFill>
                <a:latin typeface="Segoe UI"/>
              </a:defRPr>
            </a:pPr>
            <a:r>
              <a:t>Gợi ý lộ trình (93.3%)</a:t>
            </a:r>
          </a:p>
          <a:p>
            <a:pPr>
              <a:spcBef>
                <a:spcPts val="400"/>
              </a:spcBef>
              <a:defRPr sz="900">
                <a:solidFill>
                  <a:srgbClr val="1E293B"/>
                </a:solidFill>
                <a:latin typeface="Segoe UI"/>
              </a:defRPr>
            </a:pPr>
            <a:r>
              <a:t>14/15 người học mong muốn hệ thống tự động kiểm tra đầu vào và đề xuất bài học phù hợp với trình độ, tránh học lại kiến thức quá dễ gây nhàm chán.</a:t>
            </a:r>
          </a:p>
        </p:txBody>
      </p:sp>
      <p:sp>
        <p:nvSpPr>
          <p:cNvPr id="17" name="Rounded Rectangle 16"/>
          <p:cNvSpPr/>
          <p:nvPr/>
        </p:nvSpPr>
        <p:spPr>
          <a:xfrm>
            <a:off x="8823960" y="4389120"/>
            <a:ext cx="257860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23960" y="4389120"/>
            <a:ext cx="2578608"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33688" y="4526280"/>
            <a:ext cx="2359152" cy="1691639"/>
          </a:xfrm>
          <a:prstGeom prst="rect">
            <a:avLst/>
          </a:prstGeom>
          <a:noFill/>
        </p:spPr>
        <p:txBody>
          <a:bodyPr wrap="square" lIns="0" rIns="0" tIns="0" bIns="0">
            <a:spAutoFit/>
          </a:bodyPr>
          <a:lstStyle/>
          <a:p>
            <a:pPr>
              <a:defRPr sz="1050" b="1">
                <a:solidFill>
                  <a:srgbClr val="EA580C"/>
                </a:solidFill>
                <a:latin typeface="Segoe UI"/>
              </a:defRPr>
            </a:pPr>
            <a:r>
              <a:t>Bài tập tương tác (73.3%)</a:t>
            </a:r>
          </a:p>
          <a:p>
            <a:pPr>
              <a:spcBef>
                <a:spcPts val="400"/>
              </a:spcBef>
              <a:defRPr sz="900">
                <a:solidFill>
                  <a:srgbClr val="1E293B"/>
                </a:solidFill>
                <a:latin typeface="Segoe UI"/>
              </a:defRPr>
            </a:pPr>
            <a:r>
              <a:t>Người học ưu tiên các dạng bài tập điền từ, trắc nghiệm nhanh và nghe nhận diện từ có phản hồi giải thích ngay lập tức khi làm sai thay vì chỉ báo đúng/sai.</a:t>
            </a:r>
          </a:p>
        </p:txBody>
      </p:sp>
      <p:sp>
        <p:nvSpPr>
          <p:cNvPr id="20" name="Rectangle 19"/>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2" name="Rectangle 21"/>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KHẢO SÁT THỰC NGHIỆM</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Khảo sát bổ sung N=35: Khung giờ học và cơ chế làm lại câu sai</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Thu thập dữ liệu chuyên sâu để định hình 2 quyết định thiết kế then chốt của ứng dụng</a:t>
            </a:r>
          </a:p>
        </p:txBody>
      </p:sp>
      <p:pic>
        <p:nvPicPr>
          <p:cNvPr id="7" name="Picture 6" descr="s6_survey_n35.png"/>
          <p:cNvPicPr>
            <a:picLocks noChangeAspect="1"/>
          </p:cNvPicPr>
          <p:nvPr/>
        </p:nvPicPr>
        <p:blipFill>
          <a:blip r:embed="rId2"/>
          <a:stretch>
            <a:fillRect/>
          </a:stretch>
        </p:blipFill>
        <p:spPr>
          <a:xfrm>
            <a:off x="731520" y="1737360"/>
            <a:ext cx="10698480" cy="2514600"/>
          </a:xfrm>
          <a:prstGeom prst="rect">
            <a:avLst/>
          </a:prstGeom>
        </p:spPr>
      </p:pic>
      <p:sp>
        <p:nvSpPr>
          <p:cNvPr id="8" name="Rounded Rectangle 7"/>
          <p:cNvSpPr/>
          <p:nvPr/>
        </p:nvSpPr>
        <p:spPr>
          <a:xfrm>
            <a:off x="731520" y="4389120"/>
            <a:ext cx="525780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389120"/>
            <a:ext cx="52578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26280"/>
            <a:ext cx="4892040" cy="1691639"/>
          </a:xfrm>
          <a:prstGeom prst="rect">
            <a:avLst/>
          </a:prstGeom>
          <a:noFill/>
        </p:spPr>
        <p:txBody>
          <a:bodyPr wrap="square" lIns="0" rIns="0" tIns="0" bIns="0">
            <a:spAutoFit/>
          </a:bodyPr>
          <a:lstStyle/>
          <a:p>
            <a:pPr>
              <a:defRPr sz="1100" b="1">
                <a:solidFill>
                  <a:srgbClr val="2563EB"/>
                </a:solidFill>
                <a:latin typeface="Segoe UI"/>
              </a:defRPr>
            </a:pPr>
            <a:r>
              <a:t>QUYẾT ĐỊNH 1: NHẮC NHỞ TRONG ỨNG DỤNG THEO KHUNG GIỜ [PRELIMINARY]</a:t>
            </a:r>
          </a:p>
          <a:p>
            <a:pPr>
              <a:spcBef>
                <a:spcPts val="400"/>
              </a:spcBef>
              <a:defRPr sz="950">
                <a:solidFill>
                  <a:srgbClr val="1E293B"/>
                </a:solidFill>
                <a:latin typeface="Segoe UI"/>
              </a:defRPr>
            </a:pPr>
            <a:r>
              <a:t>• 51.4% (18/35) chọn 20:00–22:00: Tham số định hướng cho In-app Reminder (Web Push DEFERRED).</a:t>
            </a:r>
            <a:br/>
            <a:r>
              <a:t>• Hướng dẫn người học cài đặt mốc giờ tự học ưa thích, không ép buộc hay làm phiền ngoài app.</a:t>
            </a:r>
            <a:br/>
            <a:r>
              <a:t>• Trạng thái quyết định thiết kế: PENDING-EVIDENCE chờ kiểm chứng thêm.</a:t>
            </a:r>
          </a:p>
        </p:txBody>
      </p:sp>
      <p:sp>
        <p:nvSpPr>
          <p:cNvPr id="11" name="Rounded Rectangle 10"/>
          <p:cNvSpPr/>
          <p:nvPr/>
        </p:nvSpPr>
        <p:spPr>
          <a:xfrm>
            <a:off x="6172200" y="4389120"/>
            <a:ext cx="525780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4389120"/>
            <a:ext cx="5257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526280"/>
            <a:ext cx="4892040" cy="1691639"/>
          </a:xfrm>
          <a:prstGeom prst="rect">
            <a:avLst/>
          </a:prstGeom>
          <a:noFill/>
        </p:spPr>
        <p:txBody>
          <a:bodyPr wrap="square" lIns="0" rIns="0" tIns="0" bIns="0">
            <a:spAutoFit/>
          </a:bodyPr>
          <a:lstStyle/>
          <a:p>
            <a:pPr>
              <a:defRPr sz="1100" b="1">
                <a:solidFill>
                  <a:srgbClr val="10B981"/>
                </a:solidFill>
                <a:latin typeface="Segoe UI"/>
              </a:defRPr>
            </a:pPr>
            <a:r>
              <a:t>QUYẾT ĐỊNH 2: CƠ CHẾ LÀM LẠI CÂU SAI (CONTROLLED RETRY ~10%) [PRELIMINARY]</a:t>
            </a:r>
          </a:p>
          <a:p>
            <a:pPr>
              <a:spcBef>
                <a:spcPts val="400"/>
              </a:spcBef>
              <a:defRPr sz="950">
                <a:solidFill>
                  <a:srgbClr val="1E293B"/>
                </a:solidFill>
                <a:latin typeface="Segoe UI"/>
              </a:defRPr>
            </a:pPr>
            <a:r>
              <a:t>• Chỉ 5/35 (14.3%) từ chối hoàn toàn việc gặp lại câu sai; 54.3% đồng ý, 31.4% phân vân/tùy bài.</a:t>
            </a:r>
            <a:br/>
            <a:r>
              <a:t>• Cơ chế Controlled Retry: Gom tối đa 10% số câu sai vào cuối bài học để củng cố ngay kiến thức.</a:t>
            </a:r>
            <a:br/>
            <a:r>
              <a:t>• Tham số cấu hình linh hoạt; trạng thái thiết kế PENDING-EVIDENCE chờ đo kiểm thực nghiệm.</a:t>
            </a:r>
          </a:p>
        </p:txBody>
      </p:sp>
      <p:sp>
        <p:nvSpPr>
          <p:cNvPr id="14" name="Rectangle 13"/>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6" name="Rectangle 15"/>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PHỎNG VẤN ĐỊNH TÍNH</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Phỏng vấn N=3: Vì sao người học từng bỏ dở ứng dụng?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Phỏng vấn bán cấu trúc chuyên sâu giải mã rào cản tâm lý dẫn đến việc bỏ ngang việc học</a:t>
            </a:r>
          </a:p>
        </p:txBody>
      </p:sp>
      <p:sp>
        <p:nvSpPr>
          <p:cNvPr id="7" name="Rounded Rectangle 6"/>
          <p:cNvSpPr/>
          <p:nvPr/>
        </p:nvSpPr>
        <p:spPr>
          <a:xfrm>
            <a:off x="73152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2" y="1947672"/>
            <a:ext cx="475488" cy="47548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200" b="1">
                <a:solidFill>
                  <a:srgbClr val="FFFFFF"/>
                </a:solidFill>
                <a:latin typeface="Segoe UI"/>
              </a:defRPr>
            </a:pPr>
            <a:r>
              <a:t>01</a:t>
            </a:r>
          </a:p>
        </p:txBody>
      </p:sp>
      <p:sp>
        <p:nvSpPr>
          <p:cNvPr id="9" name="TextBox 8"/>
          <p:cNvSpPr txBox="1"/>
          <p:nvPr/>
        </p:nvSpPr>
        <p:spPr>
          <a:xfrm>
            <a:off x="1463040" y="1920240"/>
            <a:ext cx="2651760" cy="548640"/>
          </a:xfrm>
          <a:prstGeom prst="rect">
            <a:avLst/>
          </a:prstGeom>
          <a:noFill/>
        </p:spPr>
        <p:txBody>
          <a:bodyPr wrap="square" lIns="0" rIns="0" tIns="0" bIns="0">
            <a:spAutoFit/>
          </a:bodyPr>
          <a:lstStyle/>
          <a:p>
            <a:pPr>
              <a:defRPr sz="1100" b="1">
                <a:solidFill>
                  <a:srgbClr val="0B194C"/>
                </a:solidFill>
                <a:latin typeface="Segoe UI"/>
              </a:defRPr>
            </a:pPr>
            <a:r>
              <a:t>Case 1 — Lỡ nhịp &amp; Dồn ứ</a:t>
            </a:r>
          </a:p>
          <a:p>
            <a:pPr>
              <a:defRPr sz="950">
                <a:solidFill>
                  <a:srgbClr val="2563EB"/>
                </a:solidFill>
                <a:latin typeface="Segoe UI"/>
              </a:defRPr>
            </a:pPr>
            <a:r>
              <a:t>Sinh viên năm 2</a:t>
            </a:r>
          </a:p>
        </p:txBody>
      </p:sp>
      <p:sp>
        <p:nvSpPr>
          <p:cNvPr id="10" name="Rounded Rectangle 9"/>
          <p:cNvSpPr/>
          <p:nvPr/>
        </p:nvSpPr>
        <p:spPr>
          <a:xfrm>
            <a:off x="868680" y="2560320"/>
            <a:ext cx="3200400"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80" i="1">
                <a:solidFill>
                  <a:srgbClr val="1E293B"/>
                </a:solidFill>
                <a:latin typeface="Segoe UI"/>
              </a:defRPr>
            </a:pPr>
            <a:r>
              <a:t>"Bỏ lỡ 1 ngày bận rộn, hôm sau app dồn bài học gấp đôi kèm danh sách từ ôn tập quá dài khiến em hoảng loạn và từ bỏ."</a:t>
            </a:r>
          </a:p>
        </p:txBody>
      </p:sp>
      <p:sp>
        <p:nvSpPr>
          <p:cNvPr id="11" name="TextBox 10"/>
          <p:cNvSpPr txBox="1"/>
          <p:nvPr/>
        </p:nvSpPr>
        <p:spPr>
          <a:xfrm>
            <a:off x="868680" y="3703320"/>
            <a:ext cx="3200400" cy="2423160"/>
          </a:xfrm>
          <a:prstGeom prst="rect">
            <a:avLst/>
          </a:prstGeom>
          <a:noFill/>
        </p:spPr>
        <p:txBody>
          <a:bodyPr wrap="square" lIns="0" rIns="0" tIns="0" bIns="0">
            <a:spAutoFit/>
          </a:bodyPr>
          <a:lstStyle/>
          <a:p>
            <a:pPr>
              <a:defRPr sz="950" b="1">
                <a:solidFill>
                  <a:srgbClr val="DC2626"/>
                </a:solidFill>
                <a:latin typeface="Segoe UI"/>
              </a:defRPr>
            </a:pPr>
            <a:r>
              <a:t>Tác động tâm lý:</a:t>
            </a:r>
          </a:p>
          <a:p>
            <a:pPr>
              <a:spcAft>
                <a:spcPts val="800"/>
              </a:spcAft>
              <a:defRPr sz="900">
                <a:solidFill>
                  <a:srgbClr val="1E293B"/>
                </a:solidFill>
                <a:latin typeface="Segoe UI"/>
              </a:defRPr>
            </a:pPr>
            <a:r>
              <a:t>Cảm giác tội lỗi và áp lực bị phạt bài học dồn làm triệt tiêu hoàn toàn động lực học.</a:t>
            </a:r>
          </a:p>
          <a:p>
            <a:pPr>
              <a:defRPr sz="950" b="1">
                <a:solidFill>
                  <a:srgbClr val="10B981"/>
                </a:solidFill>
                <a:latin typeface="Segoe UI"/>
              </a:defRPr>
            </a:pPr>
            <a:r>
              <a:t>Giải pháp Lingora:</a:t>
            </a:r>
          </a:p>
          <a:p>
            <a:pPr>
              <a:defRPr sz="900">
                <a:solidFill>
                  <a:srgbClr val="1E293B"/>
                </a:solidFill>
                <a:latin typeface="Segoe UI"/>
              </a:defRPr>
            </a:pPr>
            <a:r>
              <a:t>Thiết kế bài vi mô 5–10 phút; khống chế số lượng từ cần ôn mỗi ngày, tuyệt đối không dồn bài phạt.</a:t>
            </a:r>
          </a:p>
        </p:txBody>
      </p:sp>
      <p:sp>
        <p:nvSpPr>
          <p:cNvPr id="12" name="Rounded Rectangle 11"/>
          <p:cNvSpPr/>
          <p:nvPr/>
        </p:nvSpPr>
        <p:spPr>
          <a:xfrm>
            <a:off x="434340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7992" y="1947672"/>
            <a:ext cx="475488" cy="47548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200" b="1">
                <a:solidFill>
                  <a:srgbClr val="FFFFFF"/>
                </a:solidFill>
                <a:latin typeface="Segoe UI"/>
              </a:defRPr>
            </a:pPr>
            <a:r>
              <a:t>02</a:t>
            </a:r>
          </a:p>
        </p:txBody>
      </p:sp>
      <p:sp>
        <p:nvSpPr>
          <p:cNvPr id="14" name="TextBox 13"/>
          <p:cNvSpPr txBox="1"/>
          <p:nvPr/>
        </p:nvSpPr>
        <p:spPr>
          <a:xfrm>
            <a:off x="5074920" y="1920240"/>
            <a:ext cx="2651760" cy="548640"/>
          </a:xfrm>
          <a:prstGeom prst="rect">
            <a:avLst/>
          </a:prstGeom>
          <a:noFill/>
        </p:spPr>
        <p:txBody>
          <a:bodyPr wrap="square" lIns="0" rIns="0" tIns="0" bIns="0">
            <a:spAutoFit/>
          </a:bodyPr>
          <a:lstStyle/>
          <a:p>
            <a:pPr>
              <a:defRPr sz="1100" b="1">
                <a:solidFill>
                  <a:srgbClr val="0B194C"/>
                </a:solidFill>
                <a:latin typeface="Segoe UI"/>
              </a:defRPr>
            </a:pPr>
            <a:r>
              <a:t>Case 2 — Làm sai không giải thích</a:t>
            </a:r>
          </a:p>
          <a:p>
            <a:pPr>
              <a:defRPr sz="950">
                <a:solidFill>
                  <a:srgbClr val="EA580C"/>
                </a:solidFill>
                <a:latin typeface="Segoe UI"/>
              </a:defRPr>
            </a:pPr>
            <a:r>
              <a:t>Người đi làm</a:t>
            </a:r>
          </a:p>
        </p:txBody>
      </p:sp>
      <p:sp>
        <p:nvSpPr>
          <p:cNvPr id="15" name="Rounded Rectangle 14"/>
          <p:cNvSpPr/>
          <p:nvPr/>
        </p:nvSpPr>
        <p:spPr>
          <a:xfrm>
            <a:off x="4480560" y="2560320"/>
            <a:ext cx="3200400"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80" i="1">
                <a:solidFill>
                  <a:srgbClr val="1E293B"/>
                </a:solidFill>
                <a:latin typeface="Segoe UI"/>
              </a:defRPr>
            </a:pPr>
            <a:r>
              <a:t>"Làm sai bài tập nhưng app chỉ hiển thị dấu X đỏ và đáp án đúng mà hoàn toàn không giải thích vì sao sai."</a:t>
            </a:r>
          </a:p>
        </p:txBody>
      </p:sp>
      <p:sp>
        <p:nvSpPr>
          <p:cNvPr id="16" name="TextBox 15"/>
          <p:cNvSpPr txBox="1"/>
          <p:nvPr/>
        </p:nvSpPr>
        <p:spPr>
          <a:xfrm>
            <a:off x="4480560" y="3703320"/>
            <a:ext cx="3200400" cy="2423160"/>
          </a:xfrm>
          <a:prstGeom prst="rect">
            <a:avLst/>
          </a:prstGeom>
          <a:noFill/>
        </p:spPr>
        <p:txBody>
          <a:bodyPr wrap="square" lIns="0" rIns="0" tIns="0" bIns="0">
            <a:spAutoFit/>
          </a:bodyPr>
          <a:lstStyle/>
          <a:p>
            <a:pPr>
              <a:defRPr sz="950" b="1">
                <a:solidFill>
                  <a:srgbClr val="DC2626"/>
                </a:solidFill>
                <a:latin typeface="Segoe UI"/>
              </a:defRPr>
            </a:pPr>
            <a:r>
              <a:t>Tác động tâm lý:</a:t>
            </a:r>
          </a:p>
          <a:p>
            <a:pPr>
              <a:spcAft>
                <a:spcPts val="800"/>
              </a:spcAft>
              <a:defRPr sz="900">
                <a:solidFill>
                  <a:srgbClr val="1E293B"/>
                </a:solidFill>
                <a:latin typeface="Segoe UI"/>
              </a:defRPr>
            </a:pPr>
            <a:r>
              <a:t>Bức xúc, cảm thấy bị đánh đố và không tiến bộ sau các lỗi sai.</a:t>
            </a:r>
          </a:p>
          <a:p>
            <a:pPr>
              <a:defRPr sz="950" b="1">
                <a:solidFill>
                  <a:srgbClr val="10B981"/>
                </a:solidFill>
                <a:latin typeface="Segoe UI"/>
              </a:defRPr>
            </a:pPr>
            <a:r>
              <a:t>Giải pháp Lingora:</a:t>
            </a:r>
          </a:p>
          <a:p>
            <a:pPr>
              <a:defRPr sz="900">
                <a:solidFill>
                  <a:srgbClr val="1E293B"/>
                </a:solidFill>
                <a:latin typeface="Segoe UI"/>
              </a:defRPr>
            </a:pPr>
            <a:r>
              <a:t>Phản hồi tức thì: Bắt buộc kèm giải thích ngữ pháp và từ vựng chi tiết ngay tại chỗ sau mỗi câu sai.</a:t>
            </a:r>
          </a:p>
        </p:txBody>
      </p:sp>
      <p:sp>
        <p:nvSpPr>
          <p:cNvPr id="17" name="Rounded Rectangle 16"/>
          <p:cNvSpPr/>
          <p:nvPr/>
        </p:nvSpPr>
        <p:spPr>
          <a:xfrm>
            <a:off x="795528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9872" y="1947672"/>
            <a:ext cx="475488" cy="47548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200" b="1">
                <a:solidFill>
                  <a:srgbClr val="FFFFFF"/>
                </a:solidFill>
                <a:latin typeface="Segoe UI"/>
              </a:defRPr>
            </a:pPr>
            <a:r>
              <a:t>03</a:t>
            </a:r>
          </a:p>
        </p:txBody>
      </p:sp>
      <p:sp>
        <p:nvSpPr>
          <p:cNvPr id="19" name="TextBox 18"/>
          <p:cNvSpPr txBox="1"/>
          <p:nvPr/>
        </p:nvSpPr>
        <p:spPr>
          <a:xfrm>
            <a:off x="8686800" y="1920240"/>
            <a:ext cx="2651760" cy="548640"/>
          </a:xfrm>
          <a:prstGeom prst="rect">
            <a:avLst/>
          </a:prstGeom>
          <a:noFill/>
        </p:spPr>
        <p:txBody>
          <a:bodyPr wrap="square" lIns="0" rIns="0" tIns="0" bIns="0">
            <a:spAutoFit/>
          </a:bodyPr>
          <a:lstStyle/>
          <a:p>
            <a:pPr>
              <a:defRPr sz="1100" b="1">
                <a:solidFill>
                  <a:srgbClr val="0B194C"/>
                </a:solidFill>
                <a:latin typeface="Segoe UI"/>
              </a:defRPr>
            </a:pPr>
            <a:r>
              <a:t>Case 3 — Bài học quá dài dòng</a:t>
            </a:r>
          </a:p>
          <a:p>
            <a:pPr>
              <a:defRPr sz="950">
                <a:solidFill>
                  <a:srgbClr val="7C3AED"/>
                </a:solidFill>
                <a:latin typeface="Segoe UI"/>
              </a:defRPr>
            </a:pPr>
            <a:r>
              <a:t>Sinh viên năm 4</a:t>
            </a:r>
          </a:p>
        </p:txBody>
      </p:sp>
      <p:sp>
        <p:nvSpPr>
          <p:cNvPr id="20" name="Rounded Rectangle 19"/>
          <p:cNvSpPr/>
          <p:nvPr/>
        </p:nvSpPr>
        <p:spPr>
          <a:xfrm>
            <a:off x="8092440" y="2560320"/>
            <a:ext cx="3200400" cy="10515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80" i="1">
                <a:solidFill>
                  <a:srgbClr val="1E293B"/>
                </a:solidFill>
                <a:latin typeface="Segoe UI"/>
              </a:defRPr>
            </a:pPr>
            <a:r>
              <a:t>"Bài học kéo dài lê thê (&gt;15 phút) khiến người học khó tranh thủ học trong các khoảng thời gian trống ngắn."</a:t>
            </a:r>
          </a:p>
        </p:txBody>
      </p:sp>
      <p:sp>
        <p:nvSpPr>
          <p:cNvPr id="21" name="TextBox 20"/>
          <p:cNvSpPr txBox="1"/>
          <p:nvPr/>
        </p:nvSpPr>
        <p:spPr>
          <a:xfrm>
            <a:off x="8092440" y="3703320"/>
            <a:ext cx="3200400" cy="2423160"/>
          </a:xfrm>
          <a:prstGeom prst="rect">
            <a:avLst/>
          </a:prstGeom>
          <a:noFill/>
        </p:spPr>
        <p:txBody>
          <a:bodyPr wrap="square" lIns="0" rIns="0" tIns="0" bIns="0">
            <a:spAutoFit/>
          </a:bodyPr>
          <a:lstStyle/>
          <a:p>
            <a:pPr>
              <a:defRPr sz="950" b="1">
                <a:solidFill>
                  <a:srgbClr val="DC2626"/>
                </a:solidFill>
                <a:latin typeface="Segoe UI"/>
              </a:defRPr>
            </a:pPr>
            <a:r>
              <a:t>Tác động tâm lý:</a:t>
            </a:r>
          </a:p>
          <a:p>
            <a:pPr>
              <a:spcAft>
                <a:spcPts val="800"/>
              </a:spcAft>
              <a:defRPr sz="900">
                <a:solidFill>
                  <a:srgbClr val="1E293B"/>
                </a:solidFill>
                <a:latin typeface="Segoe UI"/>
              </a:defRPr>
            </a:pPr>
            <a:r>
              <a:t>Khó duy trì thói quen học tập đều đặn khi lịch học và làm việc bận rộn.</a:t>
            </a:r>
          </a:p>
          <a:p>
            <a:pPr>
              <a:defRPr sz="950" b="1">
                <a:solidFill>
                  <a:srgbClr val="10B981"/>
                </a:solidFill>
                <a:latin typeface="Segoe UI"/>
              </a:defRPr>
            </a:pPr>
            <a:r>
              <a:t>Giải pháp Lingora:</a:t>
            </a:r>
          </a:p>
          <a:p>
            <a:pPr>
              <a:defRPr sz="900">
                <a:solidFill>
                  <a:srgbClr val="1E293B"/>
                </a:solidFill>
                <a:latin typeface="Segoe UI"/>
              </a:defRPr>
            </a:pPr>
            <a:r>
              <a:t>Chuẩn hóa mỗi bài học chỉ gồm 8–10 từ vựng cốt lõi, hoàn thành trọn vẹn trong 5–10 phút.</a:t>
            </a:r>
          </a:p>
        </p:txBody>
      </p:sp>
      <p:sp>
        <p:nvSpPr>
          <p:cNvPr id="22" name="Rectangle 21"/>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4" name="Rectangle 23"/>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GÓC NHÌN CHUYÊN GIA</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Kiểm chứng yêu cầu với 6 vai trò trong hệ thống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7 chuyên gia được phỏng vấn chuyên sâu giúp xác lập mô hình phân quyền và vận hành chặt chẽ</a:t>
            </a:r>
          </a:p>
        </p:txBody>
      </p:sp>
      <p:sp>
        <p:nvSpPr>
          <p:cNvPr id="7" name="Rounded Rectangle 6"/>
          <p:cNvSpPr/>
          <p:nvPr/>
        </p:nvSpPr>
        <p:spPr>
          <a:xfrm>
            <a:off x="731520" y="1783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920240"/>
            <a:ext cx="32004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Learner (Người học) — Nghiệp vụ Học tập</a:t>
            </a:r>
          </a:p>
        </p:txBody>
      </p:sp>
      <p:sp>
        <p:nvSpPr>
          <p:cNvPr id="9" name="TextBox 8"/>
          <p:cNvSpPr txBox="1"/>
          <p:nvPr/>
        </p:nvSpPr>
        <p:spPr>
          <a:xfrm>
            <a:off x="914400" y="2377440"/>
            <a:ext cx="3108960" cy="1371600"/>
          </a:xfrm>
          <a:prstGeom prst="rect">
            <a:avLst/>
          </a:prstGeom>
          <a:noFill/>
        </p:spPr>
        <p:txBody>
          <a:bodyPr wrap="square" lIns="0" rIns="0" tIns="0" bIns="0">
            <a:spAutoFit/>
          </a:bodyPr>
          <a:lstStyle/>
          <a:p>
            <a:pPr>
              <a:defRPr sz="950">
                <a:solidFill>
                  <a:srgbClr val="1E293B"/>
                </a:solidFill>
                <a:latin typeface="Segoe UI"/>
              </a:defRPr>
            </a:pPr>
            <a:r>
              <a:t>Học viên học theo lộ trình, làm bài tập tương tác, tự ôn ngắt quãng (SRS), làm lại câu sai và theo dõi Streak hàng ngày.</a:t>
            </a:r>
          </a:p>
        </p:txBody>
      </p:sp>
      <p:sp>
        <p:nvSpPr>
          <p:cNvPr id="10" name="Rounded Rectangle 9"/>
          <p:cNvSpPr/>
          <p:nvPr/>
        </p:nvSpPr>
        <p:spPr>
          <a:xfrm>
            <a:off x="4343400" y="1783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0560" y="1920240"/>
            <a:ext cx="32004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Organizational Manager — Quản lý Đào tạo</a:t>
            </a:r>
          </a:p>
        </p:txBody>
      </p:sp>
      <p:sp>
        <p:nvSpPr>
          <p:cNvPr id="12" name="TextBox 11"/>
          <p:cNvSpPr txBox="1"/>
          <p:nvPr/>
        </p:nvSpPr>
        <p:spPr>
          <a:xfrm>
            <a:off x="4526280" y="2377440"/>
            <a:ext cx="3108960" cy="1371600"/>
          </a:xfrm>
          <a:prstGeom prst="rect">
            <a:avLst/>
          </a:prstGeom>
          <a:noFill/>
        </p:spPr>
        <p:txBody>
          <a:bodyPr wrap="square" lIns="0" rIns="0" tIns="0" bIns="0">
            <a:spAutoFit/>
          </a:bodyPr>
          <a:lstStyle/>
          <a:p>
            <a:pPr>
              <a:defRPr sz="950">
                <a:solidFill>
                  <a:srgbClr val="1E293B"/>
                </a:solidFill>
                <a:latin typeface="Segoe UI"/>
              </a:defRPr>
            </a:pPr>
            <a:r>
              <a:t>Lập khung chương trình, giao việc cho Creator qua Task Spec, phê duyệt xuất bản Unit (4/4 bài) và quản lý lớp học.</a:t>
            </a:r>
          </a:p>
        </p:txBody>
      </p:sp>
      <p:sp>
        <p:nvSpPr>
          <p:cNvPr id="13" name="Rounded Rectangle 12"/>
          <p:cNvSpPr/>
          <p:nvPr/>
        </p:nvSpPr>
        <p:spPr>
          <a:xfrm>
            <a:off x="7955280" y="178308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1920240"/>
            <a:ext cx="3200400" cy="34747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Lesson Creator — Biên soạn Học liệu</a:t>
            </a:r>
          </a:p>
        </p:txBody>
      </p:sp>
      <p:sp>
        <p:nvSpPr>
          <p:cNvPr id="15" name="TextBox 14"/>
          <p:cNvSpPr txBox="1"/>
          <p:nvPr/>
        </p:nvSpPr>
        <p:spPr>
          <a:xfrm>
            <a:off x="8138160" y="2377440"/>
            <a:ext cx="3108960" cy="1371600"/>
          </a:xfrm>
          <a:prstGeom prst="rect">
            <a:avLst/>
          </a:prstGeom>
          <a:noFill/>
        </p:spPr>
        <p:txBody>
          <a:bodyPr wrap="square" lIns="0" rIns="0" tIns="0" bIns="0">
            <a:spAutoFit/>
          </a:bodyPr>
          <a:lstStyle/>
          <a:p>
            <a:pPr>
              <a:defRPr sz="950">
                <a:solidFill>
                  <a:srgbClr val="1E293B"/>
                </a:solidFill>
                <a:latin typeface="Segoe UI"/>
              </a:defRPr>
            </a:pPr>
            <a:r>
              <a:t>Nhập liệu bài học vi mô (8–10 từ), gắn audio chuẩn, tạo bài tập 5 dạng có giải thích. Cấm tự duyệt bài mình tạo.</a:t>
            </a:r>
          </a:p>
        </p:txBody>
      </p:sp>
      <p:sp>
        <p:nvSpPr>
          <p:cNvPr id="16" name="Rounded Rectangle 15"/>
          <p:cNvSpPr/>
          <p:nvPr/>
        </p:nvSpPr>
        <p:spPr>
          <a:xfrm>
            <a:off x="731520" y="40233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4160520"/>
            <a:ext cx="3200400" cy="34747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Moderator (Kiểm duyệt) — Kiểm soát Chất lượng</a:t>
            </a:r>
          </a:p>
        </p:txBody>
      </p:sp>
      <p:sp>
        <p:nvSpPr>
          <p:cNvPr id="18" name="TextBox 17"/>
          <p:cNvSpPr txBox="1"/>
          <p:nvPr/>
        </p:nvSpPr>
        <p:spPr>
          <a:xfrm>
            <a:off x="914400" y="4617720"/>
            <a:ext cx="3108960" cy="1371600"/>
          </a:xfrm>
          <a:prstGeom prst="rect">
            <a:avLst/>
          </a:prstGeom>
          <a:noFill/>
        </p:spPr>
        <p:txBody>
          <a:bodyPr wrap="square" lIns="0" rIns="0" tIns="0" bIns="0">
            <a:spAutoFit/>
          </a:bodyPr>
          <a:lstStyle/>
          <a:p>
            <a:pPr>
              <a:defRPr sz="950">
                <a:solidFill>
                  <a:srgbClr val="1E293B"/>
                </a:solidFill>
                <a:latin typeface="Segoe UI"/>
              </a:defRPr>
            </a:pPr>
            <a:r>
              <a:t>Thẩm định độc lập theo bộ tiêu chí QC 6 điểm, thẩm âm bắt buộc 100%, trả bài sửa kèm lý do. Cấm xuất bản.</a:t>
            </a:r>
          </a:p>
        </p:txBody>
      </p:sp>
      <p:sp>
        <p:nvSpPr>
          <p:cNvPr id="19" name="Rounded Rectangle 18"/>
          <p:cNvSpPr/>
          <p:nvPr/>
        </p:nvSpPr>
        <p:spPr>
          <a:xfrm>
            <a:off x="4343400" y="40233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80560" y="4160520"/>
            <a:ext cx="3200400" cy="347472"/>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Operations Staff — Vận hành &amp; Hỗ trợ</a:t>
            </a:r>
          </a:p>
        </p:txBody>
      </p:sp>
      <p:sp>
        <p:nvSpPr>
          <p:cNvPr id="21" name="TextBox 20"/>
          <p:cNvSpPr txBox="1"/>
          <p:nvPr/>
        </p:nvSpPr>
        <p:spPr>
          <a:xfrm>
            <a:off x="4526280" y="4617720"/>
            <a:ext cx="3108960" cy="1371600"/>
          </a:xfrm>
          <a:prstGeom prst="rect">
            <a:avLst/>
          </a:prstGeom>
          <a:noFill/>
        </p:spPr>
        <p:txBody>
          <a:bodyPr wrap="square" lIns="0" rIns="0" tIns="0" bIns="0">
            <a:spAutoFit/>
          </a:bodyPr>
          <a:lstStyle/>
          <a:p>
            <a:pPr>
              <a:defRPr sz="950">
                <a:solidFill>
                  <a:srgbClr val="1E293B"/>
                </a:solidFill>
                <a:latin typeface="Segoe UI"/>
              </a:defRPr>
            </a:pPr>
            <a:r>
              <a:t>Tiếp nhận và xử lý phiếu phản ánh học tập (3 nhánh); không được phép can thiệp chỉnh sửa trực tiếp CSDL học liệu.</a:t>
            </a:r>
          </a:p>
        </p:txBody>
      </p:sp>
      <p:sp>
        <p:nvSpPr>
          <p:cNvPr id="22" name="Rounded Rectangle 21"/>
          <p:cNvSpPr/>
          <p:nvPr/>
        </p:nvSpPr>
        <p:spPr>
          <a:xfrm>
            <a:off x="7955280" y="4023360"/>
            <a:ext cx="34747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92440" y="4160520"/>
            <a:ext cx="3200400" cy="34747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Administrator (Quản trị) — Bảo mật &amp; Kỹ thuật</a:t>
            </a:r>
          </a:p>
        </p:txBody>
      </p:sp>
      <p:sp>
        <p:nvSpPr>
          <p:cNvPr id="24" name="TextBox 23"/>
          <p:cNvSpPr txBox="1"/>
          <p:nvPr/>
        </p:nvSpPr>
        <p:spPr>
          <a:xfrm>
            <a:off x="8138160" y="4617720"/>
            <a:ext cx="3108960" cy="1371600"/>
          </a:xfrm>
          <a:prstGeom prst="rect">
            <a:avLst/>
          </a:prstGeom>
          <a:noFill/>
        </p:spPr>
        <p:txBody>
          <a:bodyPr wrap="square" lIns="0" rIns="0" tIns="0" bIns="0">
            <a:spAutoFit/>
          </a:bodyPr>
          <a:lstStyle/>
          <a:p>
            <a:pPr>
              <a:defRPr sz="950">
                <a:solidFill>
                  <a:srgbClr val="1E293B"/>
                </a:solidFill>
                <a:latin typeface="Segoe UI"/>
              </a:defRPr>
            </a:pPr>
            <a:r>
              <a:t>Quản lý tài khoản, phân quyền RBAC, giám sát Audit Log bất biến và can thiệp xuất bản khẩn cấp có giải trình.</a:t>
            </a:r>
          </a:p>
        </p:txBody>
      </p:sp>
      <p:sp>
        <p:nvSpPr>
          <p:cNvPr id="25" name="Rectangle 24"/>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7" name="Rectangle 26"/>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PHỎNG VẤN CHUYÊN SÂU</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Manager &amp; Creator: Quy trình quản lý và biên soạn học liệu</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Xác lập tiêu chuẩn giao việc 5 trường và quy chuẩn đóng gói bài học vi mô</a:t>
            </a:r>
          </a:p>
        </p:txBody>
      </p:sp>
      <p:pic>
        <p:nvPicPr>
          <p:cNvPr id="7" name="Picture 6" descr="s9_content_pipeline.png"/>
          <p:cNvPicPr>
            <a:picLocks noChangeAspect="1"/>
          </p:cNvPicPr>
          <p:nvPr/>
        </p:nvPicPr>
        <p:blipFill>
          <a:blip r:embed="rId2"/>
          <a:stretch>
            <a:fillRect/>
          </a:stretch>
        </p:blipFill>
        <p:spPr>
          <a:xfrm>
            <a:off x="731520" y="1691640"/>
            <a:ext cx="10698480" cy="1783080"/>
          </a:xfrm>
          <a:prstGeom prst="rect">
            <a:avLst/>
          </a:prstGeom>
        </p:spPr>
      </p:pic>
      <p:sp>
        <p:nvSpPr>
          <p:cNvPr id="8" name="Rounded Rectangle 7"/>
          <p:cNvSpPr/>
          <p:nvPr/>
        </p:nvSpPr>
        <p:spPr>
          <a:xfrm>
            <a:off x="731520" y="3611880"/>
            <a:ext cx="52578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611880"/>
            <a:ext cx="52578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49040"/>
            <a:ext cx="4892040" cy="2423160"/>
          </a:xfrm>
          <a:prstGeom prst="rect">
            <a:avLst/>
          </a:prstGeom>
          <a:noFill/>
        </p:spPr>
        <p:txBody>
          <a:bodyPr wrap="square" lIns="0" rIns="0" tIns="0" bIns="0">
            <a:spAutoFit/>
          </a:bodyPr>
          <a:lstStyle/>
          <a:p>
            <a:pPr>
              <a:defRPr sz="1100" b="1">
                <a:solidFill>
                  <a:srgbClr val="7C3AED"/>
                </a:solidFill>
                <a:latin typeface="Segoe UI"/>
              </a:defRPr>
            </a:pPr>
            <a:r>
              <a:t>ORGANIZATIONAL MANAGER (QUẢN LÝ ĐÀO TẠO)</a:t>
            </a:r>
          </a:p>
          <a:p>
            <a:pPr>
              <a:spcBef>
                <a:spcPts val="400"/>
              </a:spcBef>
            </a:pPr>
            <a:r>
              <a:rPr sz="930" b="1">
                <a:solidFill>
                  <a:srgbClr val="0B194C"/>
                </a:solidFill>
                <a:latin typeface="Segoe UI"/>
              </a:rPr>
              <a:t>• Phiếu giao việc Task Spec chuẩn hóa 5 trường: </a:t>
            </a:r>
            <a:r>
              <a:rPr sz="930">
                <a:solidFill>
                  <a:srgbClr val="1E293B"/>
                </a:solidFill>
                <a:latin typeface="Segoe UI"/>
              </a:rPr>
              <a:t>Mã Unit, Danh sách từ vựng trọng tâm, Ngữ pháp mục tiêu, Creator phụ trách, và Hạn hoàn thành.</a:t>
            </a:r>
          </a:p>
          <a:p>
            <a:pPr>
              <a:spcBef>
                <a:spcPts val="400"/>
              </a:spcBef>
            </a:pPr>
            <a:r>
              <a:rPr sz="930" b="1">
                <a:solidFill>
                  <a:srgbClr val="0B194C"/>
                </a:solidFill>
                <a:latin typeface="Segoe UI"/>
              </a:rPr>
              <a:t>• Quy tắc đóng gói Unit hoàn chỉnh (4/4 bài): </a:t>
            </a:r>
            <a:r>
              <a:rPr sz="930">
                <a:solidFill>
                  <a:srgbClr val="1E293B"/>
                </a:solidFill>
                <a:latin typeface="Segoe UI"/>
              </a:rPr>
              <a:t>Chỉ xuất bản khi đủ trọn vẹn 4 bài học (3 bài học mới + 1 bài tổng hợp). Không xuất bản dở dang làm vỡ lộ trình.</a:t>
            </a:r>
          </a:p>
          <a:p>
            <a:pPr>
              <a:spcBef>
                <a:spcPts val="400"/>
              </a:spcBef>
            </a:pPr>
            <a:r>
              <a:rPr sz="930" b="1">
                <a:solidFill>
                  <a:srgbClr val="0B194C"/>
                </a:solidFill>
                <a:latin typeface="Segoe UI"/>
              </a:rPr>
              <a:t>• Thẩm quyền xuất bản nội dung chính thức: </a:t>
            </a:r>
            <a:r>
              <a:rPr sz="930">
                <a:solidFill>
                  <a:srgbClr val="1E293B"/>
                </a:solidFill>
                <a:latin typeface="Segoe UI"/>
              </a:rPr>
              <a:t>Manager là vai trò duy nhất có thẩm quyền xuất bản học liệu thường nhật sau khi đã qua Moderator phê duyệt.</a:t>
            </a:r>
          </a:p>
        </p:txBody>
      </p:sp>
      <p:sp>
        <p:nvSpPr>
          <p:cNvPr id="11" name="Rounded Rectangle 10"/>
          <p:cNvSpPr/>
          <p:nvPr/>
        </p:nvSpPr>
        <p:spPr>
          <a:xfrm>
            <a:off x="6172200" y="3611880"/>
            <a:ext cx="5257800" cy="2697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3611880"/>
            <a:ext cx="5257800"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749040"/>
            <a:ext cx="4892040" cy="2423160"/>
          </a:xfrm>
          <a:prstGeom prst="rect">
            <a:avLst/>
          </a:prstGeom>
          <a:noFill/>
        </p:spPr>
        <p:txBody>
          <a:bodyPr wrap="square" lIns="0" rIns="0" tIns="0" bIns="0">
            <a:spAutoFit/>
          </a:bodyPr>
          <a:lstStyle/>
          <a:p>
            <a:pPr>
              <a:defRPr sz="1100" b="1">
                <a:solidFill>
                  <a:srgbClr val="EA580C"/>
                </a:solidFill>
                <a:latin typeface="Segoe UI"/>
              </a:defRPr>
            </a:pPr>
            <a:r>
              <a:t>LESSON CREATOR (BIÊN SOẠN HỌC LIỆU)</a:t>
            </a:r>
          </a:p>
          <a:p>
            <a:pPr>
              <a:spcBef>
                <a:spcPts val="400"/>
              </a:spcBef>
            </a:pPr>
            <a:r>
              <a:rPr sz="930" b="1">
                <a:solidFill>
                  <a:srgbClr val="0B194C"/>
                </a:solidFill>
                <a:latin typeface="Segoe UI"/>
              </a:rPr>
              <a:t>• Bộ bài tập 5 dạng chuẩn tương tác cao: </a:t>
            </a:r>
            <a:r>
              <a:rPr sz="930">
                <a:solidFill>
                  <a:srgbClr val="1E293B"/>
                </a:solidFill>
                <a:latin typeface="Segoe UI"/>
              </a:rPr>
              <a:t>Trắc nghiệm, Điền từ vào chỗ trống, Sắp xếp từ thành câu, Nghe chọn từ đúng và Câu hỏi ngữ pháp kèm giải thích.</a:t>
            </a:r>
          </a:p>
          <a:p>
            <a:pPr>
              <a:spcBef>
                <a:spcPts val="400"/>
              </a:spcBef>
            </a:pPr>
            <a:r>
              <a:rPr sz="930" b="1">
                <a:solidFill>
                  <a:srgbClr val="0B194C"/>
                </a:solidFill>
                <a:latin typeface="Segoe UI"/>
              </a:rPr>
              <a:t>• 100% từ vựng có âm thanh phát âm bản xứ: </a:t>
            </a:r>
            <a:r>
              <a:rPr sz="930">
                <a:solidFill>
                  <a:srgbClr val="1E293B"/>
                </a:solidFill>
                <a:latin typeface="Segoe UI"/>
              </a:rPr>
              <a:t>Chuẩn hóa file MP3 chất lượng cao cho toàn bộ từ mới và câu ví dụ, hỗ trợ người học nghe chuẩn ngay từ đầu.</a:t>
            </a:r>
          </a:p>
          <a:p>
            <a:pPr>
              <a:spcBef>
                <a:spcPts val="400"/>
              </a:spcBef>
            </a:pPr>
            <a:r>
              <a:rPr sz="930" b="1">
                <a:solidFill>
                  <a:srgbClr val="0B194C"/>
                </a:solidFill>
                <a:latin typeface="Segoe UI"/>
              </a:rPr>
              <a:t>• Công cụ nhập liệu bài học hàng loạt (Bulk Import): </a:t>
            </a:r>
            <a:r>
              <a:rPr sz="930">
                <a:solidFill>
                  <a:srgbClr val="1E293B"/>
                </a:solidFill>
                <a:latin typeface="Segoe UI"/>
              </a:rPr>
              <a:t>Hỗ trợ nạp bài từ file Excel/CSV theo mẫu chuẩn; toàn bộ dữ liệu nạp vào phải ở trạng thái Draft và qua kiểm duyệt.</a:t>
            </a:r>
          </a:p>
        </p:txBody>
      </p:sp>
      <p:sp>
        <p:nvSpPr>
          <p:cNvPr id="14" name="Rectangle 13"/>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6" name="Rectangle 15"/>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PHỎNG VẤN CHUYÊN SÂU</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Kiểm soát chất lượng, hỗ trợ và quản trị an ninh hệ thống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Bộ tiêu chí QC 6 điểm, quy trình xử lý ticket 3 nhánh và ghi nhật ký kiểm toán bất biến</a:t>
            </a:r>
          </a:p>
        </p:txBody>
      </p:sp>
      <p:sp>
        <p:nvSpPr>
          <p:cNvPr id="7" name="Rounded Rectangle 6"/>
          <p:cNvSpPr/>
          <p:nvPr/>
        </p:nvSpPr>
        <p:spPr>
          <a:xfrm>
            <a:off x="731520" y="178308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20240"/>
            <a:ext cx="3108960" cy="4206240"/>
          </a:xfrm>
          <a:prstGeom prst="rect">
            <a:avLst/>
          </a:prstGeom>
          <a:noFill/>
        </p:spPr>
        <p:txBody>
          <a:bodyPr wrap="square" lIns="0" rIns="0" tIns="0" bIns="0">
            <a:spAutoFit/>
          </a:bodyPr>
          <a:lstStyle/>
          <a:p>
            <a:pPr>
              <a:defRPr sz="1100" b="1">
                <a:solidFill>
                  <a:srgbClr val="10B981"/>
                </a:solidFill>
                <a:latin typeface="Segoe UI"/>
              </a:defRPr>
            </a:pPr>
            <a:r>
              <a:t>MODERATOR (KIỂM DUYỆT)</a:t>
            </a:r>
          </a:p>
          <a:p>
            <a:pPr>
              <a:spcBef>
                <a:spcPts val="600"/>
              </a:spcBef>
            </a:pPr>
            <a:r>
              <a:rPr sz="900" b="1">
                <a:solidFill>
                  <a:srgbClr val="0B194C"/>
                </a:solidFill>
                <a:latin typeface="Segoe UI"/>
              </a:rPr>
              <a:t>• Bộ tiêu chí QC 6 điểm: </a:t>
            </a:r>
            <a:r>
              <a:rPr sz="900">
                <a:solidFill>
                  <a:srgbClr val="1E293B"/>
                </a:solidFill>
                <a:latin typeface="Segoe UI"/>
              </a:rPr>
              <a:t>Đúng ngữ pháp, chính tả, ngữ cảnh, đủ 5 dạng bài, giải thích rõ ràng và âm thanh chuẩn.</a:t>
            </a:r>
          </a:p>
          <a:p>
            <a:pPr>
              <a:spcBef>
                <a:spcPts val="600"/>
              </a:spcBef>
            </a:pPr>
            <a:r>
              <a:rPr sz="900" b="1">
                <a:solidFill>
                  <a:srgbClr val="0B194C"/>
                </a:solidFill>
                <a:latin typeface="Segoe UI"/>
              </a:rPr>
              <a:t>• Thẩm âm bắt buộc: </a:t>
            </a:r>
            <a:r>
              <a:rPr sz="900">
                <a:solidFill>
                  <a:srgbClr val="1E293B"/>
                </a:solidFill>
                <a:latin typeface="Segoe UI"/>
              </a:rPr>
              <a:t>Moderator phải nghe thẩm định 100% file audio trước khi bấm phê duyệt bài học.</a:t>
            </a:r>
          </a:p>
          <a:p>
            <a:pPr>
              <a:spcBef>
                <a:spcPts val="600"/>
              </a:spcBef>
            </a:pPr>
            <a:r>
              <a:rPr sz="900" b="1">
                <a:solidFill>
                  <a:srgbClr val="0B194C"/>
                </a:solidFill>
                <a:latin typeface="Segoe UI"/>
              </a:rPr>
              <a:t>• Khóa cấm tự duyệt (SoD): </a:t>
            </a:r>
            <a:r>
              <a:rPr sz="900">
                <a:solidFill>
                  <a:srgbClr val="1E293B"/>
                </a:solidFill>
                <a:latin typeface="Segoe UI"/>
              </a:rPr>
              <a:t>Hệ thống tự động khóa chức năng duyệt nếu Moderator chính là người biên soạn bài đó.</a:t>
            </a:r>
          </a:p>
          <a:p>
            <a:pPr>
              <a:spcBef>
                <a:spcPts val="600"/>
              </a:spcBef>
            </a:pPr>
            <a:r>
              <a:rPr sz="900" b="1">
                <a:solidFill>
                  <a:srgbClr val="0B194C"/>
                </a:solidFill>
                <a:latin typeface="Segoe UI"/>
              </a:rPr>
              <a:t>• Trả bài kèm lý do: </a:t>
            </a:r>
            <a:r>
              <a:rPr sz="900">
                <a:solidFill>
                  <a:srgbClr val="1E293B"/>
                </a:solidFill>
                <a:latin typeface="Segoe UI"/>
              </a:rPr>
              <a:t>Bắt buộc nhập lý do chi tiết khi từ chối để Creator chỉnh sửa đúng trọng tâm.</a:t>
            </a:r>
          </a:p>
        </p:txBody>
      </p:sp>
      <p:sp>
        <p:nvSpPr>
          <p:cNvPr id="10" name="Rounded Rectangle 9"/>
          <p:cNvSpPr/>
          <p:nvPr/>
        </p:nvSpPr>
        <p:spPr>
          <a:xfrm>
            <a:off x="434340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83080"/>
            <a:ext cx="3474720" cy="54864"/>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920240"/>
            <a:ext cx="3200400" cy="457200"/>
          </a:xfrm>
          <a:prstGeom prst="rect">
            <a:avLst/>
          </a:prstGeom>
          <a:noFill/>
        </p:spPr>
        <p:txBody>
          <a:bodyPr wrap="none">
            <a:spAutoFit/>
          </a:bodyPr>
          <a:lstStyle/>
          <a:p>
            <a:pPr>
              <a:defRPr sz="1100" b="1">
                <a:solidFill>
                  <a:srgbClr val="64748B"/>
                </a:solidFill>
                <a:latin typeface="Segoe UI"/>
              </a:defRPr>
            </a:pPr>
            <a:r>
              <a:t>OPERATIONS STAFF (VẬN HÀNH)</a:t>
            </a:r>
          </a:p>
        </p:txBody>
      </p:sp>
      <p:pic>
        <p:nvPicPr>
          <p:cNvPr id="13" name="Picture 12" descr="s10_ticket_routing.png"/>
          <p:cNvPicPr>
            <a:picLocks noChangeAspect="1"/>
          </p:cNvPicPr>
          <p:nvPr/>
        </p:nvPicPr>
        <p:blipFill>
          <a:blip r:embed="rId2"/>
          <a:stretch>
            <a:fillRect/>
          </a:stretch>
        </p:blipFill>
        <p:spPr>
          <a:xfrm>
            <a:off x="4480560" y="2286000"/>
            <a:ext cx="3200400" cy="3017520"/>
          </a:xfrm>
          <a:prstGeom prst="rect">
            <a:avLst/>
          </a:prstGeom>
        </p:spPr>
      </p:pic>
      <p:sp>
        <p:nvSpPr>
          <p:cNvPr id="14" name="TextBox 13"/>
          <p:cNvSpPr txBox="1"/>
          <p:nvPr/>
        </p:nvSpPr>
        <p:spPr>
          <a:xfrm>
            <a:off x="4480560" y="5394960"/>
            <a:ext cx="3200400" cy="777240"/>
          </a:xfrm>
          <a:prstGeom prst="rect">
            <a:avLst/>
          </a:prstGeom>
          <a:noFill/>
        </p:spPr>
        <p:txBody>
          <a:bodyPr wrap="square" lIns="0" rIns="0" tIns="0" bIns="0">
            <a:spAutoFit/>
          </a:bodyPr>
          <a:lstStyle/>
          <a:p>
            <a:r>
              <a:rPr sz="880" b="1">
                <a:solidFill>
                  <a:srgbClr val="0B194C"/>
                </a:solidFill>
                <a:latin typeface="Segoe UI"/>
              </a:rPr>
              <a:t>• Ranh giới dữ liệu an toàn: </a:t>
            </a:r>
            <a:r>
              <a:rPr sz="880">
                <a:solidFill>
                  <a:srgbClr val="1E293B"/>
                </a:solidFill>
                <a:latin typeface="Segoe UI"/>
              </a:rPr>
              <a:t>Operations chỉ xem phiếu và phản hồi; tuyệt đối không có quyền sửa CSDL học liệu.</a:t>
            </a:r>
          </a:p>
        </p:txBody>
      </p:sp>
      <p:sp>
        <p:nvSpPr>
          <p:cNvPr id="15" name="Rounded Rectangle 14"/>
          <p:cNvSpPr/>
          <p:nvPr/>
        </p:nvSpPr>
        <p:spPr>
          <a:xfrm>
            <a:off x="8046720" y="178308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783080"/>
            <a:ext cx="338328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20240"/>
            <a:ext cx="3108960" cy="4206240"/>
          </a:xfrm>
          <a:prstGeom prst="rect">
            <a:avLst/>
          </a:prstGeom>
          <a:noFill/>
        </p:spPr>
        <p:txBody>
          <a:bodyPr wrap="square" lIns="0" rIns="0" tIns="0" bIns="0">
            <a:spAutoFit/>
          </a:bodyPr>
          <a:lstStyle/>
          <a:p>
            <a:pPr>
              <a:defRPr sz="1100" b="1">
                <a:solidFill>
                  <a:srgbClr val="DC2626"/>
                </a:solidFill>
                <a:latin typeface="Segoe UI"/>
              </a:defRPr>
            </a:pPr>
            <a:r>
              <a:t>ADMIN &amp; PHÁP LÝ (LEGAL)</a:t>
            </a:r>
          </a:p>
          <a:p>
            <a:pPr>
              <a:spcBef>
                <a:spcPts val="600"/>
              </a:spcBef>
            </a:pPr>
            <a:r>
              <a:rPr sz="900" b="1">
                <a:solidFill>
                  <a:srgbClr val="0B194C"/>
                </a:solidFill>
                <a:latin typeface="Segoe UI"/>
              </a:rPr>
              <a:t>• Bảo mật phiên đăng nhập: </a:t>
            </a:r>
            <a:r>
              <a:rPr sz="900">
                <a:solidFill>
                  <a:srgbClr val="1E293B"/>
                </a:solidFill>
                <a:latin typeface="Segoe UI"/>
              </a:rPr>
              <a:t>Sử dụng HttpOnly Cookies chống XSS; phân quyền RBAC chặt chẽ ở tầng CSDL.</a:t>
            </a:r>
          </a:p>
          <a:p>
            <a:pPr>
              <a:spcBef>
                <a:spcPts val="600"/>
              </a:spcBef>
            </a:pPr>
            <a:r>
              <a:rPr sz="900" b="1">
                <a:solidFill>
                  <a:srgbClr val="0B194C"/>
                </a:solidFill>
                <a:latin typeface="Segoe UI"/>
              </a:rPr>
              <a:t>• Ghi nhật ký kiểm toán bất biến: </a:t>
            </a:r>
            <a:r>
              <a:rPr sz="900">
                <a:solidFill>
                  <a:srgbClr val="1E293B"/>
                </a:solidFill>
                <a:latin typeface="Segoe UI"/>
              </a:rPr>
              <a:t>Ghi nhận đầy đủ 6 trường dữ liệu: Timestamp, Actor ID/Role, Action, Target Entity, Result, IP/User-Agent.</a:t>
            </a:r>
          </a:p>
          <a:p>
            <a:pPr>
              <a:spcBef>
                <a:spcPts val="600"/>
              </a:spcBef>
            </a:pPr>
            <a:r>
              <a:rPr sz="900" b="1">
                <a:solidFill>
                  <a:srgbClr val="0B194C"/>
                </a:solidFill>
                <a:latin typeface="Segoe UI"/>
              </a:rPr>
              <a:t>• Tuân thủ pháp lý ATTT: </a:t>
            </a:r>
            <a:r>
              <a:rPr sz="900">
                <a:solidFill>
                  <a:srgbClr val="1E293B"/>
                </a:solidFill>
                <a:latin typeface="Segoe UI"/>
              </a:rPr>
              <a:t>Đáp ứng Luật An toàn thông tin mạng 86/2015 và Nghị định 13/2023/NĐ-CP về bảo vệ dữ liệu cá nhân.</a:t>
            </a:r>
          </a:p>
          <a:p>
            <a:pPr>
              <a:spcBef>
                <a:spcPts val="600"/>
              </a:spcBef>
            </a:pPr>
            <a:r>
              <a:rPr sz="900" b="1">
                <a:solidFill>
                  <a:srgbClr val="0B194C"/>
                </a:solidFill>
                <a:latin typeface="Segoe UI"/>
              </a:rPr>
              <a:t>• Can thiệp khẩn cấp (Emergency): </a:t>
            </a:r>
            <a:r>
              <a:rPr sz="900">
                <a:solidFill>
                  <a:srgbClr val="1E293B"/>
                </a:solidFill>
                <a:latin typeface="Segoe UI"/>
              </a:rPr>
              <a:t>Admin chỉ được can thiệp khi có văn bản giải trình (Justification) lưu vào Audit Log.</a:t>
            </a:r>
          </a:p>
        </p:txBody>
      </p:sp>
      <p:sp>
        <p:nvSpPr>
          <p:cNvPr id="18" name="Rectangle 1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0" name="Rectangle 1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ĐỐI CHUẨN &amp; QUYẾT ĐỊNH</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Đối chuẩn tính năng và 4 quyết định thiết kế then chốt</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Học hỏi ưu điểm của Duolingo, Quizlet và khắc phục nhược điểm bằng thiết kế phù hợp</a:t>
            </a:r>
          </a:p>
        </p:txBody>
      </p:sp>
      <p:sp>
        <p:nvSpPr>
          <p:cNvPr id="7" name="Rounded Rectangle 6"/>
          <p:cNvSpPr/>
          <p:nvPr/>
        </p:nvSpPr>
        <p:spPr>
          <a:xfrm>
            <a:off x="731520" y="178308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52120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20240"/>
            <a:ext cx="4846320" cy="4206240"/>
          </a:xfrm>
          <a:prstGeom prst="rect">
            <a:avLst/>
          </a:prstGeom>
          <a:noFill/>
        </p:spPr>
        <p:txBody>
          <a:bodyPr wrap="square" lIns="0" rIns="0" tIns="0" bIns="0">
            <a:spAutoFit/>
          </a:bodyPr>
          <a:lstStyle/>
          <a:p>
            <a:pPr>
              <a:defRPr sz="1100" b="1">
                <a:solidFill>
                  <a:srgbClr val="2563EB"/>
                </a:solidFill>
                <a:latin typeface="Segoe UI"/>
              </a:defRPr>
            </a:pPr>
            <a:r>
              <a:t>ĐỐI CHUẨN NỀN TẢNG (BENCHMARK)</a:t>
            </a:r>
          </a:p>
          <a:p>
            <a:pPr>
              <a:spcBef>
                <a:spcPts val="600"/>
              </a:spcBef>
            </a:pPr>
            <a:r>
              <a:rPr sz="950" b="1">
                <a:solidFill>
                  <a:srgbClr val="0B194C"/>
                </a:solidFill>
                <a:latin typeface="Segoe UI"/>
              </a:rPr>
              <a:t>Duolingo (Gamification mạnh mẽ):
</a:t>
            </a:r>
            <a:r>
              <a:rPr sz="900">
                <a:solidFill>
                  <a:srgbClr val="1E293B"/>
                </a:solidFill>
                <a:latin typeface="Segoe UI"/>
              </a:rPr>
              <a:t>• Ưu điểm: Giữ chân người học xuất sắc nhờ chuỗi Streak và bài học vi mô.
• Nhược điểm: Giải thích ngữ pháp rất sơ sài; bài học thiếu ngữ cảnh giao tiếp thực tế.</a:t>
            </a:r>
          </a:p>
          <a:p>
            <a:pPr>
              <a:spcBef>
                <a:spcPts val="600"/>
              </a:spcBef>
            </a:pPr>
            <a:r>
              <a:rPr sz="950" b="1">
                <a:solidFill>
                  <a:srgbClr val="0B194C"/>
                </a:solidFill>
                <a:latin typeface="Segoe UI"/>
              </a:rPr>
              <a:t>Quizlet (Ghi nhớ từ vựng Flashcard):
</a:t>
            </a:r>
            <a:r>
              <a:rPr sz="900">
                <a:solidFill>
                  <a:srgbClr val="1E293B"/>
                </a:solidFill>
                <a:latin typeface="Segoe UI"/>
              </a:rPr>
              <a:t>• Ưu điểm: Ôn tập từ vựng nhanh, cho phép cộng đồng tự do tạo học liệu.
• Nhược điểm: Thiếu lộ trình bài bản; học liệu do người dùng tạo có tỷ lệ sai ngữ pháp và phát âm rất cao.</a:t>
            </a:r>
          </a:p>
          <a:p>
            <a:pPr>
              <a:spcBef>
                <a:spcPts val="600"/>
              </a:spcBef>
            </a:pPr>
            <a:r>
              <a:rPr sz="950" b="1">
                <a:solidFill>
                  <a:srgbClr val="0B194C"/>
                </a:solidFill>
                <a:latin typeface="Segoe UI"/>
              </a:rPr>
              <a:t>Định vị khác biệt của Lingora:
</a:t>
            </a:r>
            <a:r>
              <a:rPr sz="900">
                <a:solidFill>
                  <a:srgbClr val="1E293B"/>
                </a:solidFill>
                <a:latin typeface="Segoe UI"/>
              </a:rPr>
              <a:t>• Kết hợp ưu điểm cả hai: Vừa có tính kỷ luật (Streak, vi mô 5–10p, SRS) vừa có học liệu được kiểm duyệt 4 mắt chặt chẽ kèm giải thích cặn kẽ.</a:t>
            </a:r>
          </a:p>
        </p:txBody>
      </p:sp>
      <p:sp>
        <p:nvSpPr>
          <p:cNvPr id="10" name="Rounded Rectangle 9"/>
          <p:cNvSpPr/>
          <p:nvPr/>
        </p:nvSpPr>
        <p:spPr>
          <a:xfrm>
            <a:off x="6217920" y="1783080"/>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83080"/>
            <a:ext cx="73152"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92808"/>
            <a:ext cx="4937760" cy="868680"/>
          </a:xfrm>
          <a:prstGeom prst="rect">
            <a:avLst/>
          </a:prstGeom>
          <a:noFill/>
        </p:spPr>
        <p:txBody>
          <a:bodyPr wrap="square" lIns="0" rIns="0" tIns="0" bIns="0">
            <a:spAutoFit/>
          </a:bodyPr>
          <a:lstStyle/>
          <a:p>
            <a:pPr>
              <a:defRPr sz="1050" b="1">
                <a:solidFill>
                  <a:srgbClr val="2563EB"/>
                </a:solidFill>
                <a:latin typeface="Segoe UI"/>
              </a:defRPr>
            </a:pPr>
            <a:r>
              <a:t>1. Chuẩn hóa 5 dạng bài tập tương tác</a:t>
            </a:r>
          </a:p>
          <a:p>
            <a:pPr>
              <a:spcBef>
                <a:spcPts val="300"/>
              </a:spcBef>
              <a:defRPr sz="919">
                <a:solidFill>
                  <a:srgbClr val="1E293B"/>
                </a:solidFill>
                <a:latin typeface="Segoe UI"/>
              </a:defRPr>
            </a:pPr>
            <a:r>
              <a:t>Trắc nghiệm, Điền từ, Sắp xếp câu, Nghe nhận diện và Ngữ pháp có giải thích tức thì.</a:t>
            </a:r>
          </a:p>
        </p:txBody>
      </p:sp>
      <p:sp>
        <p:nvSpPr>
          <p:cNvPr id="13" name="Rounded Rectangle 12"/>
          <p:cNvSpPr/>
          <p:nvPr/>
        </p:nvSpPr>
        <p:spPr>
          <a:xfrm>
            <a:off x="6217920" y="2907792"/>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907792"/>
            <a:ext cx="73152" cy="1051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017520"/>
            <a:ext cx="4937760" cy="868680"/>
          </a:xfrm>
          <a:prstGeom prst="rect">
            <a:avLst/>
          </a:prstGeom>
          <a:noFill/>
        </p:spPr>
        <p:txBody>
          <a:bodyPr wrap="square" lIns="0" rIns="0" tIns="0" bIns="0">
            <a:spAutoFit/>
          </a:bodyPr>
          <a:lstStyle/>
          <a:p>
            <a:pPr>
              <a:defRPr sz="1050" b="1">
                <a:solidFill>
                  <a:srgbClr val="10B981"/>
                </a:solidFill>
                <a:latin typeface="Segoe UI"/>
              </a:defRPr>
            </a:pPr>
            <a:r>
              <a:t>2. Thuật toán SRS cố định 5 mốc ngày</a:t>
            </a:r>
          </a:p>
          <a:p>
            <a:pPr>
              <a:spcBef>
                <a:spcPts val="300"/>
              </a:spcBef>
              <a:defRPr sz="919">
                <a:solidFill>
                  <a:srgbClr val="1E293B"/>
                </a:solidFill>
                <a:latin typeface="Segoe UI"/>
              </a:defRPr>
            </a:pPr>
            <a:r>
              <a:t>Chu kỳ giãn cách: 1 → 3 → 7 → 14 → 30 ngày (Trực quan, ổn định, dễ dự báo).</a:t>
            </a:r>
          </a:p>
        </p:txBody>
      </p:sp>
      <p:sp>
        <p:nvSpPr>
          <p:cNvPr id="16" name="Rounded Rectangle 15"/>
          <p:cNvSpPr/>
          <p:nvPr/>
        </p:nvSpPr>
        <p:spPr>
          <a:xfrm>
            <a:off x="6217920" y="4032504"/>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4032504"/>
            <a:ext cx="73152" cy="10515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142232"/>
            <a:ext cx="4937760" cy="868680"/>
          </a:xfrm>
          <a:prstGeom prst="rect">
            <a:avLst/>
          </a:prstGeom>
          <a:noFill/>
        </p:spPr>
        <p:txBody>
          <a:bodyPr wrap="square" lIns="0" rIns="0" tIns="0" bIns="0">
            <a:spAutoFit/>
          </a:bodyPr>
          <a:lstStyle/>
          <a:p>
            <a:pPr>
              <a:defRPr sz="1050" b="1">
                <a:solidFill>
                  <a:srgbClr val="7C3AED"/>
                </a:solidFill>
                <a:latin typeface="Segoe UI"/>
              </a:defRPr>
            </a:pPr>
            <a:r>
              <a:t>3. Quy tắc tính Streak chuẩn múi giờ địa phương</a:t>
            </a:r>
          </a:p>
          <a:p>
            <a:pPr>
              <a:spcBef>
                <a:spcPts val="300"/>
              </a:spcBef>
              <a:defRPr sz="919">
                <a:solidFill>
                  <a:srgbClr val="1E293B"/>
                </a:solidFill>
                <a:latin typeface="Segoe UI"/>
              </a:defRPr>
            </a:pPr>
            <a:r>
              <a:t>Học xong trước 23:59:59 → +1 ngày; lỡ ngày → về 1 (Không bán Streak Freeze để giữ kỷ luật).</a:t>
            </a:r>
          </a:p>
        </p:txBody>
      </p:sp>
      <p:sp>
        <p:nvSpPr>
          <p:cNvPr id="19" name="Rounded Rectangle 18"/>
          <p:cNvSpPr/>
          <p:nvPr/>
        </p:nvSpPr>
        <p:spPr>
          <a:xfrm>
            <a:off x="6217920" y="5157216"/>
            <a:ext cx="521208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5157216"/>
            <a:ext cx="73152" cy="10515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5266944"/>
            <a:ext cx="4937760" cy="868680"/>
          </a:xfrm>
          <a:prstGeom prst="rect">
            <a:avLst/>
          </a:prstGeom>
          <a:noFill/>
        </p:spPr>
        <p:txBody>
          <a:bodyPr wrap="square" lIns="0" rIns="0" tIns="0" bIns="0">
            <a:spAutoFit/>
          </a:bodyPr>
          <a:lstStyle/>
          <a:p>
            <a:pPr>
              <a:defRPr sz="1050" b="1">
                <a:solidFill>
                  <a:srgbClr val="EA580C"/>
                </a:solidFill>
                <a:latin typeface="Segoe UI"/>
              </a:defRPr>
            </a:pPr>
            <a:r>
              <a:t>4. Kiểm tra xếp lớp đầu vào (Placement Test)</a:t>
            </a:r>
          </a:p>
          <a:p>
            <a:pPr>
              <a:spcBef>
                <a:spcPts val="300"/>
              </a:spcBef>
              <a:defRPr sz="919">
                <a:solidFill>
                  <a:srgbClr val="1E293B"/>
                </a:solidFill>
                <a:latin typeface="Segoe UI"/>
              </a:defRPr>
            </a:pPr>
            <a:r>
              <a:t>30 câu hỏi đánh giá nhanh; cho phép học viên tùy chọn 'Bỏ qua bài test' để học từ đầu.</a:t>
            </a:r>
          </a:p>
        </p:txBody>
      </p:sp>
      <p:sp>
        <p:nvSpPr>
          <p:cNvPr id="22" name="Rectangle 21"/>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4" name="Rectangle 23"/>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TRUY VẾT YÊU CẦU</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Ma trận truy vết thực tế: Từ nghiên cứu đến tính năng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Mỗi quyết định thiết kế hệ thống đều bắt nguồn từ dữ liệu khảo sát hoặc phỏng vấn đã kiểm chứng</a:t>
            </a:r>
          </a:p>
        </p:txBody>
      </p:sp>
      <p:graphicFrame>
        <p:nvGraphicFramePr>
          <p:cNvPr id="7" name="Table 6"/>
          <p:cNvGraphicFramePr>
            <a:graphicFrameLocks noGrp="1"/>
          </p:cNvGraphicFramePr>
          <p:nvPr/>
        </p:nvGraphicFramePr>
        <p:xfrm>
          <a:off x="731520" y="1783080"/>
          <a:ext cx="10698480" cy="4434840"/>
        </p:xfrm>
        <a:graphic>
          <a:graphicData uri="http://schemas.openxmlformats.org/drawingml/2006/table">
            <a:tbl>
              <a:tblPr firstRow="1" bandRow="1">
                <a:tableStyleId>{5C22544A-7EE6-4342-B048-85BDC9FD1C3A}</a:tableStyleId>
              </a:tblPr>
              <a:tblGrid>
                <a:gridCol w="594360"/>
                <a:gridCol w="4663440"/>
                <a:gridCol w="5440680"/>
              </a:tblGrid>
              <a:tr h="295656">
                <a:tc>
                  <a:txBody>
                    <a:bodyPr/>
                    <a:lstStyle/>
                    <a:p>
                      <a:pPr algn="ctr">
                        <a:defRPr sz="950" b="1">
                          <a:solidFill>
                            <a:srgbClr val="FFFFFF"/>
                          </a:solidFill>
                          <a:latin typeface="Segoe UI"/>
                        </a:defRPr>
                      </a:pPr>
                      <a:r>
                        <a:t>STT</a:t>
                      </a:r>
                    </a:p>
                  </a:txBody>
                  <a:tcPr anchor="ctr">
                    <a:solidFill>
                      <a:srgbClr val="0B194C"/>
                    </a:solidFill>
                  </a:tcPr>
                </a:tc>
                <a:tc>
                  <a:txBody>
                    <a:bodyPr/>
                    <a:lstStyle/>
                    <a:p>
                      <a:pPr algn="l">
                        <a:defRPr sz="950" b="1">
                          <a:solidFill>
                            <a:srgbClr val="FFFFFF"/>
                          </a:solidFill>
                          <a:latin typeface="Segoe UI"/>
                        </a:defRPr>
                      </a:pPr>
                      <a:r>
                        <a:t>Bằng chứng thực nghiệm / Phát hiện thực tế</a:t>
                      </a:r>
                    </a:p>
                  </a:txBody>
                  <a:tcPr anchor="ctr">
                    <a:solidFill>
                      <a:srgbClr val="0B194C"/>
                    </a:solidFill>
                  </a:tcPr>
                </a:tc>
                <a:tc>
                  <a:txBody>
                    <a:bodyPr/>
                    <a:lstStyle/>
                    <a:p>
                      <a:pPr algn="l">
                        <a:defRPr sz="950" b="1">
                          <a:solidFill>
                            <a:srgbClr val="FFFFFF"/>
                          </a:solidFill>
                          <a:latin typeface="Segoe UI"/>
                        </a:defRPr>
                      </a:pPr>
                      <a:r>
                        <a:t>Mã Yêu cầu hệ thống &amp; Giải pháp phần mềm tương ứng</a:t>
                      </a:r>
                    </a:p>
                  </a:txBody>
                  <a:tcPr anchor="ctr">
                    <a:solidFill>
                      <a:srgbClr val="0B194C"/>
                    </a:solidFill>
                  </a:tcPr>
                </a:tc>
              </a:tr>
              <a:tr h="295656">
                <a:tc>
                  <a:txBody>
                    <a:bodyPr/>
                    <a:lstStyle/>
                    <a:p>
                      <a:pPr algn="ctr">
                        <a:defRPr sz="850" b="1">
                          <a:solidFill>
                            <a:srgbClr val="2563EB"/>
                          </a:solidFill>
                          <a:latin typeface="Segoe UI"/>
                        </a:defRPr>
                      </a:pPr>
                      <a:r>
                        <a:t>01</a:t>
                      </a:r>
                    </a:p>
                  </a:txBody>
                  <a:tcPr anchor="ctr">
                    <a:solidFill>
                      <a:srgbClr val="FFFFFF"/>
                    </a:solidFill>
                  </a:tcPr>
                </a:tc>
                <a:tc>
                  <a:txBody>
                    <a:bodyPr/>
                    <a:lstStyle/>
                    <a:p>
                      <a:pPr>
                        <a:defRPr sz="819">
                          <a:solidFill>
                            <a:srgbClr val="1E293B"/>
                          </a:solidFill>
                          <a:latin typeface="Segoe UI"/>
                        </a:defRPr>
                      </a:pPr>
                      <a:r>
                        <a:t>N=15, Q8: 15/15 (100%) gặp trở ngại nhanh quên từ vựng</a:t>
                      </a:r>
                    </a:p>
                  </a:txBody>
                  <a:tcPr anchor="ctr">
                    <a:solidFill>
                      <a:srgbClr val="FFFFFF"/>
                    </a:solidFill>
                  </a:tcPr>
                </a:tc>
                <a:tc>
                  <a:txBody>
                    <a:bodyPr/>
                    <a:lstStyle/>
                    <a:p>
                      <a:pPr>
                        <a:defRPr sz="819" b="1">
                          <a:solidFill>
                            <a:srgbClr val="0B194C"/>
                          </a:solidFill>
                          <a:latin typeface="Segoe UI"/>
                        </a:defRPr>
                      </a:pPr>
                      <a:r>
                        <a:t>CORE-08 — Thuật toán ôn tập ngắt quãng (SRS) chu kỳ cố định (1-3-7-14-30 ngày)</a:t>
                      </a:r>
                    </a:p>
                  </a:txBody>
                  <a:tcPr anchor="ctr">
                    <a:solidFill>
                      <a:srgbClr val="FFFFFF"/>
                    </a:solidFill>
                  </a:tcPr>
                </a:tc>
              </a:tr>
              <a:tr h="295656">
                <a:tc>
                  <a:txBody>
                    <a:bodyPr/>
                    <a:lstStyle/>
                    <a:p>
                      <a:pPr algn="ctr">
                        <a:defRPr sz="850" b="1">
                          <a:solidFill>
                            <a:srgbClr val="2563EB"/>
                          </a:solidFill>
                          <a:latin typeface="Segoe UI"/>
                        </a:defRPr>
                      </a:pPr>
                      <a:r>
                        <a:t>02</a:t>
                      </a:r>
                    </a:p>
                  </a:txBody>
                  <a:tcPr anchor="ctr">
                    <a:solidFill>
                      <a:srgbClr val="F8FAFC"/>
                    </a:solidFill>
                  </a:tcPr>
                </a:tc>
                <a:tc>
                  <a:txBody>
                    <a:bodyPr/>
                    <a:lstStyle/>
                    <a:p>
                      <a:pPr>
                        <a:defRPr sz="819">
                          <a:solidFill>
                            <a:srgbClr val="1E293B"/>
                          </a:solidFill>
                          <a:latin typeface="Segoe UI"/>
                        </a:defRPr>
                      </a:pPr>
                      <a:r>
                        <a:t>N=15, Q13: 12/15 (80.0%) rất cần nhắc ôn tự động (4.13/5)</a:t>
                      </a:r>
                    </a:p>
                  </a:txBody>
                  <a:tcPr anchor="ctr">
                    <a:solidFill>
                      <a:srgbClr val="F8FAFC"/>
                    </a:solidFill>
                  </a:tcPr>
                </a:tc>
                <a:tc>
                  <a:txBody>
                    <a:bodyPr/>
                    <a:lstStyle/>
                    <a:p>
                      <a:pPr>
                        <a:defRPr sz="819" b="1">
                          <a:solidFill>
                            <a:srgbClr val="0B194C"/>
                          </a:solidFill>
                          <a:latin typeface="Segoe UI"/>
                        </a:defRPr>
                      </a:pPr>
                      <a:r>
                        <a:t>CORE-08 — Bộ lọc từ vựng thông minh: Tự động gom từ đến hạn cần ôn trong ngày</a:t>
                      </a:r>
                    </a:p>
                  </a:txBody>
                  <a:tcPr anchor="ctr">
                    <a:solidFill>
                      <a:srgbClr val="F8FAFC"/>
                    </a:solidFill>
                  </a:tcPr>
                </a:tc>
              </a:tr>
              <a:tr h="295656">
                <a:tc>
                  <a:txBody>
                    <a:bodyPr/>
                    <a:lstStyle/>
                    <a:p>
                      <a:pPr algn="ctr">
                        <a:defRPr sz="850" b="1">
                          <a:solidFill>
                            <a:srgbClr val="2563EB"/>
                          </a:solidFill>
                          <a:latin typeface="Segoe UI"/>
                        </a:defRPr>
                      </a:pPr>
                      <a:r>
                        <a:t>03</a:t>
                      </a:r>
                    </a:p>
                  </a:txBody>
                  <a:tcPr anchor="ctr">
                    <a:solidFill>
                      <a:srgbClr val="FFFFFF"/>
                    </a:solidFill>
                  </a:tcPr>
                </a:tc>
                <a:tc>
                  <a:txBody>
                    <a:bodyPr/>
                    <a:lstStyle/>
                    <a:p>
                      <a:pPr>
                        <a:defRPr sz="819">
                          <a:solidFill>
                            <a:srgbClr val="1E293B"/>
                          </a:solidFill>
                          <a:latin typeface="Segoe UI"/>
                        </a:defRPr>
                      </a:pPr>
                      <a:r>
                        <a:t>N=15, Q15: 14/15 (93.3%) muốn tự đề xuất bài học phù hợp</a:t>
                      </a:r>
                    </a:p>
                  </a:txBody>
                  <a:tcPr anchor="ctr">
                    <a:solidFill>
                      <a:srgbClr val="FFFFFF"/>
                    </a:solidFill>
                  </a:tcPr>
                </a:tc>
                <a:tc>
                  <a:txBody>
                    <a:bodyPr/>
                    <a:lstStyle/>
                    <a:p>
                      <a:pPr>
                        <a:defRPr sz="819" b="1">
                          <a:solidFill>
                            <a:srgbClr val="0B194C"/>
                          </a:solidFill>
                          <a:latin typeface="Segoe UI"/>
                        </a:defRPr>
                      </a:pPr>
                      <a:r>
                        <a:t>CORE-09 + EXT-03 — Kiểm tra đầu vào Placement 30 câu + Gợi ý lộ trình cá nhân hóa</a:t>
                      </a:r>
                    </a:p>
                  </a:txBody>
                  <a:tcPr anchor="ctr">
                    <a:solidFill>
                      <a:srgbClr val="FFFFFF"/>
                    </a:solidFill>
                  </a:tcPr>
                </a:tc>
              </a:tr>
              <a:tr h="295656">
                <a:tc>
                  <a:txBody>
                    <a:bodyPr/>
                    <a:lstStyle/>
                    <a:p>
                      <a:pPr algn="ctr">
                        <a:defRPr sz="850" b="1">
                          <a:solidFill>
                            <a:srgbClr val="2563EB"/>
                          </a:solidFill>
                          <a:latin typeface="Segoe UI"/>
                        </a:defRPr>
                      </a:pPr>
                      <a:r>
                        <a:t>04</a:t>
                      </a:r>
                    </a:p>
                  </a:txBody>
                  <a:tcPr anchor="ctr">
                    <a:solidFill>
                      <a:srgbClr val="F8FAFC"/>
                    </a:solidFill>
                  </a:tcPr>
                </a:tc>
                <a:tc>
                  <a:txBody>
                    <a:bodyPr/>
                    <a:lstStyle/>
                    <a:p>
                      <a:pPr>
                        <a:defRPr sz="819">
                          <a:solidFill>
                            <a:srgbClr val="1E293B"/>
                          </a:solidFill>
                          <a:latin typeface="Segoe UI"/>
                        </a:defRPr>
                      </a:pPr>
                      <a:r>
                        <a:t>N=15, Q17 &amp; Q7: Nhu cầu cao bài tập điền từ, trắc nghiệm, nghe</a:t>
                      </a:r>
                    </a:p>
                  </a:txBody>
                  <a:tcPr anchor="ctr">
                    <a:solidFill>
                      <a:srgbClr val="F8FAFC"/>
                    </a:solidFill>
                  </a:tcPr>
                </a:tc>
                <a:tc>
                  <a:txBody>
                    <a:bodyPr/>
                    <a:lstStyle/>
                    <a:p>
                      <a:pPr>
                        <a:defRPr sz="819" b="1">
                          <a:solidFill>
                            <a:srgbClr val="0B194C"/>
                          </a:solidFill>
                          <a:latin typeface="Segoe UI"/>
                        </a:defRPr>
                      </a:pPr>
                      <a:r>
                        <a:t>CORE-03, CORE-07 — Bộ bài tập 5 dạng chuẩn tương tác cao kèm giải thích đáp án tức thì</a:t>
                      </a:r>
                    </a:p>
                  </a:txBody>
                  <a:tcPr anchor="ctr">
                    <a:solidFill>
                      <a:srgbClr val="F8FAFC"/>
                    </a:solidFill>
                  </a:tcPr>
                </a:tc>
              </a:tr>
              <a:tr h="295656">
                <a:tc>
                  <a:txBody>
                    <a:bodyPr/>
                    <a:lstStyle/>
                    <a:p>
                      <a:pPr algn="ctr">
                        <a:defRPr sz="850" b="1">
                          <a:solidFill>
                            <a:srgbClr val="2563EB"/>
                          </a:solidFill>
                          <a:latin typeface="Segoe UI"/>
                        </a:defRPr>
                      </a:pPr>
                      <a:r>
                        <a:t>05</a:t>
                      </a:r>
                    </a:p>
                  </a:txBody>
                  <a:tcPr anchor="ctr">
                    <a:solidFill>
                      <a:srgbClr val="FFFFFF"/>
                    </a:solidFill>
                  </a:tcPr>
                </a:tc>
                <a:tc>
                  <a:txBody>
                    <a:bodyPr/>
                    <a:lstStyle/>
                    <a:p>
                      <a:pPr>
                        <a:defRPr sz="819">
                          <a:solidFill>
                            <a:srgbClr val="1E293B"/>
                          </a:solidFill>
                          <a:latin typeface="Segoe UI"/>
                        </a:defRPr>
                      </a:pPr>
                      <a:r>
                        <a:t>N=35: 18/35 (51.4%) tự học khung 20h–22h [Pending-evidence]</a:t>
                      </a:r>
                    </a:p>
                  </a:txBody>
                  <a:tcPr anchor="ctr">
                    <a:solidFill>
                      <a:srgbClr val="FFFFFF"/>
                    </a:solidFill>
                  </a:tcPr>
                </a:tc>
                <a:tc>
                  <a:txBody>
                    <a:bodyPr/>
                    <a:lstStyle/>
                    <a:p>
                      <a:pPr>
                        <a:defRPr sz="819" b="1">
                          <a:solidFill>
                            <a:srgbClr val="0B194C"/>
                          </a:solidFill>
                          <a:latin typeface="Segoe UI"/>
                        </a:defRPr>
                      </a:pPr>
                      <a:r>
                        <a:t>CORE-10 — Nhắc nhở trong ứng dụng (In-app Reminder) có tham khảo khung giờ</a:t>
                      </a:r>
                    </a:p>
                  </a:txBody>
                  <a:tcPr anchor="ctr">
                    <a:solidFill>
                      <a:srgbClr val="FFFFFF"/>
                    </a:solidFill>
                  </a:tcPr>
                </a:tc>
              </a:tr>
              <a:tr h="295656">
                <a:tc>
                  <a:txBody>
                    <a:bodyPr/>
                    <a:lstStyle/>
                    <a:p>
                      <a:pPr algn="ctr">
                        <a:defRPr sz="850" b="1">
                          <a:solidFill>
                            <a:srgbClr val="2563EB"/>
                          </a:solidFill>
                          <a:latin typeface="Segoe UI"/>
                        </a:defRPr>
                      </a:pPr>
                      <a:r>
                        <a:t>06</a:t>
                      </a:r>
                    </a:p>
                  </a:txBody>
                  <a:tcPr anchor="ctr">
                    <a:solidFill>
                      <a:srgbClr val="F8FAFC"/>
                    </a:solidFill>
                  </a:tcPr>
                </a:tc>
                <a:tc>
                  <a:txBody>
                    <a:bodyPr/>
                    <a:lstStyle/>
                    <a:p>
                      <a:pPr>
                        <a:defRPr sz="819">
                          <a:solidFill>
                            <a:srgbClr val="1E293B"/>
                          </a:solidFill>
                          <a:latin typeface="Segoe UI"/>
                        </a:defRPr>
                      </a:pPr>
                      <a:r>
                        <a:t>N=35: Chỉ 5/35 (14.3%) từ chối câu sai [Pending-evidence]</a:t>
                      </a:r>
                    </a:p>
                  </a:txBody>
                  <a:tcPr anchor="ctr">
                    <a:solidFill>
                      <a:srgbClr val="F8FAFC"/>
                    </a:solidFill>
                  </a:tcPr>
                </a:tc>
                <a:tc>
                  <a:txBody>
                    <a:bodyPr/>
                    <a:lstStyle/>
                    <a:p>
                      <a:pPr>
                        <a:defRPr sz="819" b="1">
                          <a:solidFill>
                            <a:srgbClr val="0B194C"/>
                          </a:solidFill>
                          <a:latin typeface="Segoe UI"/>
                        </a:defRPr>
                      </a:pPr>
                      <a:r>
                        <a:t>CORE-07 — Cơ chế Controlled Retry gom tối đa 10% câu sai làm lại cuối bài</a:t>
                      </a:r>
                    </a:p>
                  </a:txBody>
                  <a:tcPr anchor="ctr">
                    <a:solidFill>
                      <a:srgbClr val="F8FAFC"/>
                    </a:solidFill>
                  </a:tcPr>
                </a:tc>
              </a:tr>
              <a:tr h="295656">
                <a:tc>
                  <a:txBody>
                    <a:bodyPr/>
                    <a:lstStyle/>
                    <a:p>
                      <a:pPr algn="ctr">
                        <a:defRPr sz="850" b="1">
                          <a:solidFill>
                            <a:srgbClr val="2563EB"/>
                          </a:solidFill>
                          <a:latin typeface="Segoe UI"/>
                        </a:defRPr>
                      </a:pPr>
                      <a:r>
                        <a:t>07</a:t>
                      </a:r>
                    </a:p>
                  </a:txBody>
                  <a:tcPr anchor="ctr">
                    <a:solidFill>
                      <a:srgbClr val="FFFFFF"/>
                    </a:solidFill>
                  </a:tcPr>
                </a:tc>
                <a:tc>
                  <a:txBody>
                    <a:bodyPr/>
                    <a:lstStyle/>
                    <a:p>
                      <a:pPr>
                        <a:defRPr sz="819">
                          <a:solidFill>
                            <a:srgbClr val="1E293B"/>
                          </a:solidFill>
                          <a:latin typeface="Segoe UI"/>
                        </a:defRPr>
                      </a:pPr>
                      <a:r>
                        <a:t>N=3 (Case 1): Nản lòng và bỏ dở do bài học cũ dồn ứ sau lỡ nhịp</a:t>
                      </a:r>
                    </a:p>
                  </a:txBody>
                  <a:tcPr anchor="ctr">
                    <a:solidFill>
                      <a:srgbClr val="FFFFFF"/>
                    </a:solidFill>
                  </a:tcPr>
                </a:tc>
                <a:tc>
                  <a:txBody>
                    <a:bodyPr/>
                    <a:lstStyle/>
                    <a:p>
                      <a:pPr>
                        <a:defRPr sz="819" b="1">
                          <a:solidFill>
                            <a:srgbClr val="0B194C"/>
                          </a:solidFill>
                          <a:latin typeface="Segoe UI"/>
                        </a:defRPr>
                      </a:pPr>
                      <a:r>
                        <a:t>CORE-07 + CORE-08 — Thiết kế bài vi mô 5–10 phút + khống chế không dồn bài phạt</a:t>
                      </a:r>
                    </a:p>
                  </a:txBody>
                  <a:tcPr anchor="ctr">
                    <a:solidFill>
                      <a:srgbClr val="FFFFFF"/>
                    </a:solidFill>
                  </a:tcPr>
                </a:tc>
              </a:tr>
              <a:tr h="295656">
                <a:tc>
                  <a:txBody>
                    <a:bodyPr/>
                    <a:lstStyle/>
                    <a:p>
                      <a:pPr algn="ctr">
                        <a:defRPr sz="850" b="1">
                          <a:solidFill>
                            <a:srgbClr val="2563EB"/>
                          </a:solidFill>
                          <a:latin typeface="Segoe UI"/>
                        </a:defRPr>
                      </a:pPr>
                      <a:r>
                        <a:t>08</a:t>
                      </a:r>
                    </a:p>
                  </a:txBody>
                  <a:tcPr anchor="ctr">
                    <a:solidFill>
                      <a:srgbClr val="F8FAFC"/>
                    </a:solidFill>
                  </a:tcPr>
                </a:tc>
                <a:tc>
                  <a:txBody>
                    <a:bodyPr/>
                    <a:lstStyle/>
                    <a:p>
                      <a:pPr>
                        <a:defRPr sz="819">
                          <a:solidFill>
                            <a:srgbClr val="1E293B"/>
                          </a:solidFill>
                          <a:latin typeface="Segoe UI"/>
                        </a:defRPr>
                      </a:pPr>
                      <a:r>
                        <a:t>N=3 (Case 2): Bức xúc vì làm sai chỉ thấy dấu X đỏ, không giải thích</a:t>
                      </a:r>
                    </a:p>
                  </a:txBody>
                  <a:tcPr anchor="ctr">
                    <a:solidFill>
                      <a:srgbClr val="F8FAFC"/>
                    </a:solidFill>
                  </a:tcPr>
                </a:tc>
                <a:tc>
                  <a:txBody>
                    <a:bodyPr/>
                    <a:lstStyle/>
                    <a:p>
                      <a:pPr>
                        <a:defRPr sz="819" b="1">
                          <a:solidFill>
                            <a:srgbClr val="0B194C"/>
                          </a:solidFill>
                          <a:latin typeface="Segoe UI"/>
                        </a:defRPr>
                      </a:pPr>
                      <a:r>
                        <a:t>CORE-03, CORE-07 — Phản hồi tức thì &amp; Bắt buộc giải thích ngữ pháp/nghĩa câu sai</a:t>
                      </a:r>
                    </a:p>
                  </a:txBody>
                  <a:tcPr anchor="ctr">
                    <a:solidFill>
                      <a:srgbClr val="F8FAFC"/>
                    </a:solidFill>
                  </a:tcPr>
                </a:tc>
              </a:tr>
              <a:tr h="295656">
                <a:tc>
                  <a:txBody>
                    <a:bodyPr/>
                    <a:lstStyle/>
                    <a:p>
                      <a:pPr algn="ctr">
                        <a:defRPr sz="850" b="1">
                          <a:solidFill>
                            <a:srgbClr val="2563EB"/>
                          </a:solidFill>
                          <a:latin typeface="Segoe UI"/>
                        </a:defRPr>
                      </a:pPr>
                      <a:r>
                        <a:t>09</a:t>
                      </a:r>
                    </a:p>
                  </a:txBody>
                  <a:tcPr anchor="ctr">
                    <a:solidFill>
                      <a:srgbClr val="FFFFFF"/>
                    </a:solidFill>
                  </a:tcPr>
                </a:tc>
                <a:tc>
                  <a:txBody>
                    <a:bodyPr/>
                    <a:lstStyle/>
                    <a:p>
                      <a:pPr>
                        <a:defRPr sz="819">
                          <a:solidFill>
                            <a:srgbClr val="1E293B"/>
                          </a:solidFill>
                          <a:latin typeface="Segoe UI"/>
                        </a:defRPr>
                      </a:pPr>
                      <a:r>
                        <a:t>N=3 (Case 3): Bài học dài (&gt;15 phút) gây nản, khó duy trì kỷ luật</a:t>
                      </a:r>
                    </a:p>
                  </a:txBody>
                  <a:tcPr anchor="ctr">
                    <a:solidFill>
                      <a:srgbClr val="FFFFFF"/>
                    </a:solidFill>
                  </a:tcPr>
                </a:tc>
                <a:tc>
                  <a:txBody>
                    <a:bodyPr/>
                    <a:lstStyle/>
                    <a:p>
                      <a:pPr>
                        <a:defRPr sz="819" b="1">
                          <a:solidFill>
                            <a:srgbClr val="0B194C"/>
                          </a:solidFill>
                          <a:latin typeface="Segoe UI"/>
                        </a:defRPr>
                      </a:pPr>
                      <a:r>
                        <a:t>CORE-02, CORE-05 — Quy chuẩn bài học tinh gọn (Bài học 5–10 phút, 8–10 từ trọng tâm)</a:t>
                      </a:r>
                    </a:p>
                  </a:txBody>
                  <a:tcPr anchor="ctr">
                    <a:solidFill>
                      <a:srgbClr val="FFFFFF"/>
                    </a:solidFill>
                  </a:tcPr>
                </a:tc>
              </a:tr>
              <a:tr h="295656">
                <a:tc>
                  <a:txBody>
                    <a:bodyPr/>
                    <a:lstStyle/>
                    <a:p>
                      <a:pPr algn="ctr">
                        <a:defRPr sz="850" b="1">
                          <a:solidFill>
                            <a:srgbClr val="2563EB"/>
                          </a:solidFill>
                          <a:latin typeface="Segoe UI"/>
                        </a:defRPr>
                      </a:pPr>
                      <a:r>
                        <a:t>10</a:t>
                      </a:r>
                    </a:p>
                  </a:txBody>
                  <a:tcPr anchor="ctr">
                    <a:solidFill>
                      <a:srgbClr val="F8FAFC"/>
                    </a:solidFill>
                  </a:tcPr>
                </a:tc>
                <a:tc>
                  <a:txBody>
                    <a:bodyPr/>
                    <a:lstStyle/>
                    <a:p>
                      <a:pPr>
                        <a:defRPr sz="819">
                          <a:solidFill>
                            <a:srgbClr val="1E293B"/>
                          </a:solidFill>
                          <a:latin typeface="Segoe UI"/>
                        </a:defRPr>
                      </a:pPr>
                      <a:r>
                        <a:t>Phỏng vấn Manager: Cần kiểm soát tiến độ và đóng gói theo Unit</a:t>
                      </a:r>
                    </a:p>
                  </a:txBody>
                  <a:tcPr anchor="ctr">
                    <a:solidFill>
                      <a:srgbClr val="F8FAFC"/>
                    </a:solidFill>
                  </a:tcPr>
                </a:tc>
                <a:tc>
                  <a:txBody>
                    <a:bodyPr/>
                    <a:lstStyle/>
                    <a:p>
                      <a:pPr>
                        <a:defRPr sz="819" b="1">
                          <a:solidFill>
                            <a:srgbClr val="0B194C"/>
                          </a:solidFill>
                          <a:latin typeface="Segoe UI"/>
                        </a:defRPr>
                      </a:pPr>
                      <a:r>
                        <a:t>CORE-02 + CORE-05 — Phân công qua Task Spec 5 trường + Đóng gói Unit đủ 4/4 bài</a:t>
                      </a:r>
                    </a:p>
                  </a:txBody>
                  <a:tcPr anchor="ctr">
                    <a:solidFill>
                      <a:srgbClr val="F8FAFC"/>
                    </a:solidFill>
                  </a:tcPr>
                </a:tc>
              </a:tr>
              <a:tr h="295656">
                <a:tc>
                  <a:txBody>
                    <a:bodyPr/>
                    <a:lstStyle/>
                    <a:p>
                      <a:pPr algn="ctr">
                        <a:defRPr sz="850" b="1">
                          <a:solidFill>
                            <a:srgbClr val="2563EB"/>
                          </a:solidFill>
                          <a:latin typeface="Segoe UI"/>
                        </a:defRPr>
                      </a:pPr>
                      <a:r>
                        <a:t>11</a:t>
                      </a:r>
                    </a:p>
                  </a:txBody>
                  <a:tcPr anchor="ctr">
                    <a:solidFill>
                      <a:srgbClr val="FFFFFF"/>
                    </a:solidFill>
                  </a:tcPr>
                </a:tc>
                <a:tc>
                  <a:txBody>
                    <a:bodyPr/>
                    <a:lstStyle/>
                    <a:p>
                      <a:pPr>
                        <a:defRPr sz="819">
                          <a:solidFill>
                            <a:srgbClr val="1E293B"/>
                          </a:solidFill>
                          <a:latin typeface="Segoe UI"/>
                        </a:defRPr>
                      </a:pPr>
                      <a:r>
                        <a:t>Phỏng vấn Creator: Tốn thời gian làm audio, cần nạp bài hàng loạt</a:t>
                      </a:r>
                    </a:p>
                  </a:txBody>
                  <a:tcPr anchor="ctr">
                    <a:solidFill>
                      <a:srgbClr val="FFFFFF"/>
                    </a:solidFill>
                  </a:tcPr>
                </a:tc>
                <a:tc>
                  <a:txBody>
                    <a:bodyPr/>
                    <a:lstStyle/>
                    <a:p>
                      <a:pPr>
                        <a:defRPr sz="819" b="1">
                          <a:solidFill>
                            <a:srgbClr val="0B194C"/>
                          </a:solidFill>
                          <a:latin typeface="Segoe UI"/>
                        </a:defRPr>
                      </a:pPr>
                      <a:r>
                        <a:t>CORE-03 + EXT-08 — Tích hợp 100% audio MP3 bản ngữ + Công cụ nạp bài hàng loạt qua CSV</a:t>
                      </a:r>
                    </a:p>
                  </a:txBody>
                  <a:tcPr anchor="ctr">
                    <a:solidFill>
                      <a:srgbClr val="FFFFFF"/>
                    </a:solidFill>
                  </a:tcPr>
                </a:tc>
              </a:tr>
              <a:tr h="295656">
                <a:tc>
                  <a:txBody>
                    <a:bodyPr/>
                    <a:lstStyle/>
                    <a:p>
                      <a:pPr algn="ctr">
                        <a:defRPr sz="850" b="1">
                          <a:solidFill>
                            <a:srgbClr val="2563EB"/>
                          </a:solidFill>
                          <a:latin typeface="Segoe UI"/>
                        </a:defRPr>
                      </a:pPr>
                      <a:r>
                        <a:t>12</a:t>
                      </a:r>
                    </a:p>
                  </a:txBody>
                  <a:tcPr anchor="ctr">
                    <a:solidFill>
                      <a:srgbClr val="F8FAFC"/>
                    </a:solidFill>
                  </a:tcPr>
                </a:tc>
                <a:tc>
                  <a:txBody>
                    <a:bodyPr/>
                    <a:lstStyle/>
                    <a:p>
                      <a:pPr>
                        <a:defRPr sz="819">
                          <a:solidFill>
                            <a:srgbClr val="1E293B"/>
                          </a:solidFill>
                          <a:latin typeface="Segoe UI"/>
                        </a:defRPr>
                      </a:pPr>
                      <a:r>
                        <a:t>Phỏng vấn Moderator: Nguy cơ học liệu sai sót lọt vào hệ thống</a:t>
                      </a:r>
                    </a:p>
                  </a:txBody>
                  <a:tcPr anchor="ctr">
                    <a:solidFill>
                      <a:srgbClr val="F8FAFC"/>
                    </a:solidFill>
                  </a:tcPr>
                </a:tc>
                <a:tc>
                  <a:txBody>
                    <a:bodyPr/>
                    <a:lstStyle/>
                    <a:p>
                      <a:pPr>
                        <a:defRPr sz="819" b="1">
                          <a:solidFill>
                            <a:srgbClr val="0B194C"/>
                          </a:solidFill>
                          <a:latin typeface="Segoe UI"/>
                        </a:defRPr>
                      </a:pPr>
                      <a:r>
                        <a:t>CORE-04 — Kiểm duyệt độc lập theo 6 tiêu chí QC + Khóa cấm tự duyệt (Nguyên tắc SoD)</a:t>
                      </a:r>
                    </a:p>
                  </a:txBody>
                  <a:tcPr anchor="ctr">
                    <a:solidFill>
                      <a:srgbClr val="F8FAFC"/>
                    </a:solidFill>
                  </a:tcPr>
                </a:tc>
              </a:tr>
              <a:tr h="295656">
                <a:tc>
                  <a:txBody>
                    <a:bodyPr/>
                    <a:lstStyle/>
                    <a:p>
                      <a:pPr algn="ctr">
                        <a:defRPr sz="850" b="1">
                          <a:solidFill>
                            <a:srgbClr val="2563EB"/>
                          </a:solidFill>
                          <a:latin typeface="Segoe UI"/>
                        </a:defRPr>
                      </a:pPr>
                      <a:r>
                        <a:t>13</a:t>
                      </a:r>
                    </a:p>
                  </a:txBody>
                  <a:tcPr anchor="ctr">
                    <a:solidFill>
                      <a:srgbClr val="FFFFFF"/>
                    </a:solidFill>
                  </a:tcPr>
                </a:tc>
                <a:tc>
                  <a:txBody>
                    <a:bodyPr/>
                    <a:lstStyle/>
                    <a:p>
                      <a:pPr>
                        <a:defRPr sz="819">
                          <a:solidFill>
                            <a:srgbClr val="1E293B"/>
                          </a:solidFill>
                          <a:latin typeface="Segoe UI"/>
                        </a:defRPr>
                      </a:pPr>
                      <a:r>
                        <a:t>Phỏng vấn Operations Staff: Cần phân luồng khiếu nại &amp; giới hạn</a:t>
                      </a:r>
                    </a:p>
                  </a:txBody>
                  <a:tcPr anchor="ctr">
                    <a:solidFill>
                      <a:srgbClr val="FFFFFF"/>
                    </a:solidFill>
                  </a:tcPr>
                </a:tc>
                <a:tc>
                  <a:txBody>
                    <a:bodyPr/>
                    <a:lstStyle/>
                    <a:p>
                      <a:pPr>
                        <a:defRPr sz="819" b="1">
                          <a:solidFill>
                            <a:srgbClr val="0B194C"/>
                          </a:solidFill>
                          <a:latin typeface="Segoe UI"/>
                        </a:defRPr>
                      </a:pPr>
                      <a:r>
                        <a:t>EXT-04 — Kênh tiếp nhận &amp; Phân luồng phiếu hỗ trợ người dùng 3 nhánh tự động</a:t>
                      </a:r>
                    </a:p>
                  </a:txBody>
                  <a:tcPr anchor="ctr">
                    <a:solidFill>
                      <a:srgbClr val="FFFFFF"/>
                    </a:solidFill>
                  </a:tcPr>
                </a:tc>
              </a:tr>
              <a:tr h="295656">
                <a:tc>
                  <a:txBody>
                    <a:bodyPr/>
                    <a:lstStyle/>
                    <a:p>
                      <a:pPr algn="ctr">
                        <a:defRPr sz="850" b="1">
                          <a:solidFill>
                            <a:srgbClr val="2563EB"/>
                          </a:solidFill>
                          <a:latin typeface="Segoe UI"/>
                        </a:defRPr>
                      </a:pPr>
                      <a:r>
                        <a:t>14</a:t>
                      </a:r>
                    </a:p>
                  </a:txBody>
                  <a:tcPr anchor="ctr">
                    <a:solidFill>
                      <a:srgbClr val="F8FAFC"/>
                    </a:solidFill>
                  </a:tcPr>
                </a:tc>
                <a:tc>
                  <a:txBody>
                    <a:bodyPr/>
                    <a:lstStyle/>
                    <a:p>
                      <a:pPr>
                        <a:defRPr sz="819">
                          <a:solidFill>
                            <a:srgbClr val="1E293B"/>
                          </a:solidFill>
                          <a:latin typeface="Segoe UI"/>
                        </a:defRPr>
                      </a:pPr>
                      <a:r>
                        <a:t>Phỏng vấn Admin &amp; Pháp lý: Tuân thủ ATTT &amp; Luật 86/2015; lưu vết</a:t>
                      </a:r>
                    </a:p>
                  </a:txBody>
                  <a:tcPr anchor="ctr">
                    <a:solidFill>
                      <a:srgbClr val="F8FAFC"/>
                    </a:solidFill>
                  </a:tcPr>
                </a:tc>
                <a:tc>
                  <a:txBody>
                    <a:bodyPr/>
                    <a:lstStyle/>
                    <a:p>
                      <a:pPr>
                        <a:defRPr sz="819" b="1">
                          <a:solidFill>
                            <a:srgbClr val="0B194C"/>
                          </a:solidFill>
                          <a:latin typeface="Segoe UI"/>
                        </a:defRPr>
                      </a:pPr>
                      <a:r>
                        <a:t>CORE-01, CORE-12 + NFR-AUD — Bảo vệ phiên HttpOnly, RBAC 6 vai trò &amp; Audit Log bất biến</a:t>
                      </a:r>
                    </a:p>
                  </a:txBody>
                  <a:tcPr anchor="ctr">
                    <a:solidFill>
                      <a:srgbClr val="F8FAFC"/>
                    </a:solidFill>
                  </a:tcPr>
                </a:tc>
              </a:tr>
            </a:tbl>
          </a:graphicData>
        </a:graphic>
      </p:graphicFrame>
      <p:sp>
        <p:nvSpPr>
          <p:cNvPr id="8" name="Rectangle 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0" name="Rectangle 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ĐẶC TẢ YÊU CẦU</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Bộ yêu cầu hệ thống: 12 CORE + 8 EXT + NFRs</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Phân cấp ưu tiên rõ ràng: Cốt lõi (Must) cho MVP, Mở rộng (Should/Could) và Tiêu chuẩn phi chức năng</a:t>
            </a:r>
          </a:p>
        </p:txBody>
      </p:sp>
      <p:sp>
        <p:nvSpPr>
          <p:cNvPr id="7" name="Rounded Rectangle 6"/>
          <p:cNvSpPr/>
          <p:nvPr/>
        </p:nvSpPr>
        <p:spPr>
          <a:xfrm>
            <a:off x="73152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4747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20240"/>
            <a:ext cx="3200400" cy="4206240"/>
          </a:xfrm>
          <a:prstGeom prst="rect">
            <a:avLst/>
          </a:prstGeom>
          <a:noFill/>
        </p:spPr>
        <p:txBody>
          <a:bodyPr wrap="square" lIns="0" rIns="0" tIns="0" bIns="0">
            <a:spAutoFit/>
          </a:bodyPr>
          <a:lstStyle/>
          <a:p>
            <a:pPr>
              <a:defRPr sz="1050" b="1">
                <a:solidFill>
                  <a:srgbClr val="2563EB"/>
                </a:solidFill>
                <a:latin typeface="Segoe UI"/>
              </a:defRPr>
            </a:pPr>
            <a:r>
              <a:t>12 YÊU CẦU CỐT LÕI (CORE — MUST)</a:t>
            </a:r>
          </a:p>
          <a:p>
            <a:pPr>
              <a:spcBef>
                <a:spcPts val="600"/>
              </a:spcBef>
            </a:pPr>
            <a:r>
              <a:rPr sz="880" b="1">
                <a:solidFill>
                  <a:srgbClr val="0B194C"/>
                </a:solidFill>
                <a:latin typeface="Segoe UI"/>
              </a:rPr>
              <a:t>Xác thực &amp; Bảo mật: </a:t>
            </a:r>
            <a:r>
              <a:rPr sz="880">
                <a:solidFill>
                  <a:srgbClr val="1E293B"/>
                </a:solidFill>
                <a:latin typeface="Segoe UI"/>
              </a:rPr>
              <a:t>Đăng ký, đăng nhập an toàn, phân quyền 6 vai trò chuẩn RBAC.</a:t>
            </a:r>
          </a:p>
          <a:p>
            <a:pPr>
              <a:spcBef>
                <a:spcPts val="600"/>
              </a:spcBef>
            </a:pPr>
            <a:r>
              <a:rPr sz="880" b="1">
                <a:solidFill>
                  <a:srgbClr val="0B194C"/>
                </a:solidFill>
                <a:latin typeface="Segoe UI"/>
              </a:rPr>
              <a:t>Biên soạn học liệu vi mô: </a:t>
            </a:r>
            <a:r>
              <a:rPr sz="880">
                <a:solidFill>
                  <a:srgbClr val="1E293B"/>
                </a:solidFill>
                <a:latin typeface="Segoe UI"/>
              </a:rPr>
              <a:t>Lập Task Spec 5 trường, soạn bài 8–10 từ kèm 100% audio bản xứ và 5 dạng bài tập.</a:t>
            </a:r>
          </a:p>
          <a:p>
            <a:pPr>
              <a:spcBef>
                <a:spcPts val="600"/>
              </a:spcBef>
            </a:pPr>
            <a:r>
              <a:rPr sz="880" b="1">
                <a:solidFill>
                  <a:srgbClr val="0B194C"/>
                </a:solidFill>
                <a:latin typeface="Segoe UI"/>
              </a:rPr>
              <a:t>Kiểm soát chất lượng SoD: </a:t>
            </a:r>
            <a:r>
              <a:rPr sz="880">
                <a:solidFill>
                  <a:srgbClr val="1E293B"/>
                </a:solidFill>
                <a:latin typeface="Segoe UI"/>
              </a:rPr>
              <a:t>Kiểm duyệt độc lập 6 điểm QC, cấm tự duyệt bài mình; Manager xuất bản khi đủ Unit 4/4.</a:t>
            </a:r>
          </a:p>
          <a:p>
            <a:pPr>
              <a:spcBef>
                <a:spcPts val="600"/>
              </a:spcBef>
            </a:pPr>
            <a:r>
              <a:rPr sz="880" b="1">
                <a:solidFill>
                  <a:srgbClr val="0B194C"/>
                </a:solidFill>
                <a:latin typeface="Segoe UI"/>
              </a:rPr>
              <a:t>Cơ chế Clone-to-Draft: </a:t>
            </a:r>
            <a:r>
              <a:rPr sz="880">
                <a:solidFill>
                  <a:srgbClr val="1E293B"/>
                </a:solidFill>
                <a:latin typeface="Segoe UI"/>
              </a:rPr>
              <a:t>Sửa bài xuất bản tạo bản sao Draft mới, bảo toàn tiến trình học viên.</a:t>
            </a:r>
          </a:p>
          <a:p>
            <a:pPr>
              <a:spcBef>
                <a:spcPts val="600"/>
              </a:spcBef>
            </a:pPr>
            <a:r>
              <a:rPr sz="880" b="1">
                <a:solidFill>
                  <a:srgbClr val="0B194C"/>
                </a:solidFill>
                <a:latin typeface="Segoe UI"/>
              </a:rPr>
              <a:t>Trải nghiệm học &amp; SRS: </a:t>
            </a:r>
            <a:r>
              <a:rPr sz="880">
                <a:solidFill>
                  <a:srgbClr val="1E293B"/>
                </a:solidFill>
                <a:latin typeface="Segoe UI"/>
              </a:rPr>
              <a:t>Học bài 5–10p, Controlled Retry cuối bài, Placement test 30 câu, SRS 1-3-7-14-30 ngày.</a:t>
            </a:r>
          </a:p>
          <a:p>
            <a:pPr>
              <a:spcBef>
                <a:spcPts val="600"/>
              </a:spcBef>
            </a:pPr>
            <a:r>
              <a:rPr sz="880" b="1">
                <a:solidFill>
                  <a:srgbClr val="0B194C"/>
                </a:solidFill>
                <a:latin typeface="Segoe UI"/>
              </a:rPr>
              <a:t>Động lực học tập: </a:t>
            </a:r>
            <a:r>
              <a:rPr sz="880">
                <a:solidFill>
                  <a:srgbClr val="1E293B"/>
                </a:solidFill>
                <a:latin typeface="Segoe UI"/>
              </a:rPr>
              <a:t>Theo dõi Streak theo múi giờ địa phương, báo cáo tiến độ và lịch sử làm bài.</a:t>
            </a:r>
          </a:p>
        </p:txBody>
      </p:sp>
      <p:sp>
        <p:nvSpPr>
          <p:cNvPr id="10" name="Rounded Rectangle 9"/>
          <p:cNvSpPr/>
          <p:nvPr/>
        </p:nvSpPr>
        <p:spPr>
          <a:xfrm>
            <a:off x="434340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78308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920240"/>
            <a:ext cx="3200400" cy="4206240"/>
          </a:xfrm>
          <a:prstGeom prst="rect">
            <a:avLst/>
          </a:prstGeom>
          <a:noFill/>
        </p:spPr>
        <p:txBody>
          <a:bodyPr wrap="square" lIns="0" rIns="0" tIns="0" bIns="0">
            <a:spAutoFit/>
          </a:bodyPr>
          <a:lstStyle/>
          <a:p>
            <a:pPr>
              <a:defRPr sz="1050" b="1">
                <a:solidFill>
                  <a:srgbClr val="7C3AED"/>
                </a:solidFill>
                <a:latin typeface="Segoe UI"/>
              </a:defRPr>
            </a:pPr>
            <a:r>
              <a:t>8 YÊU CẦU MỞ RỘNG (EXTENSIONS)</a:t>
            </a:r>
          </a:p>
          <a:p>
            <a:pPr>
              <a:spcBef>
                <a:spcPts val="600"/>
              </a:spcBef>
            </a:pPr>
            <a:r>
              <a:rPr sz="880" b="1">
                <a:solidFill>
                  <a:srgbClr val="0B194C"/>
                </a:solidFill>
                <a:latin typeface="Segoe UI"/>
              </a:rPr>
              <a:t>Ưu tiên vừa (SHOULD): </a:t>
            </a:r>
            <a:r>
              <a:rPr sz="880">
                <a:solidFill>
                  <a:srgbClr val="1E293B"/>
                </a:solidFill>
                <a:latin typeface="Segoe UI"/>
              </a:rPr>
              <a:t>Kiểm tra ngữ pháp tự luận (GEC service); Luyện hội thoại theo kịch bản tình huống đời sống; Đề xuất bài học thích ứng theo lịch sử sai; Kênh tiếp nhận &amp; điều phối phiếu hỗ trợ 3 nhánh; Giao diện tra cứu Audit Log cho Admin.</a:t>
            </a:r>
          </a:p>
          <a:p>
            <a:pPr>
              <a:spcBef>
                <a:spcPts val="600"/>
              </a:spcBef>
            </a:pPr>
            <a:r>
              <a:rPr sz="880" b="1">
                <a:solidFill>
                  <a:srgbClr val="0B194C"/>
                </a:solidFill>
                <a:latin typeface="Segoe UI"/>
              </a:rPr>
              <a:t>Ưu tiên thấp (COULD): </a:t>
            </a:r>
            <a:r>
              <a:rPr sz="880">
                <a:solidFill>
                  <a:srgbClr val="1E293B"/>
                </a:solidFill>
                <a:latin typeface="Segoe UI"/>
              </a:rPr>
              <a:t>Chuyển đổi giao diện song ngữ Việt – Anh; Gửi email nhắc Streak khi có nguy cơ đứt chuỗi; Nhập bài học hàng loạt từ file Excel/CSV.</a:t>
            </a:r>
          </a:p>
        </p:txBody>
      </p:sp>
      <p:sp>
        <p:nvSpPr>
          <p:cNvPr id="13" name="Rounded Rectangle 12"/>
          <p:cNvSpPr/>
          <p:nvPr/>
        </p:nvSpPr>
        <p:spPr>
          <a:xfrm>
            <a:off x="795528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783080"/>
            <a:ext cx="34747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920240"/>
            <a:ext cx="3200400" cy="4206240"/>
          </a:xfrm>
          <a:prstGeom prst="rect">
            <a:avLst/>
          </a:prstGeom>
          <a:noFill/>
        </p:spPr>
        <p:txBody>
          <a:bodyPr wrap="square" lIns="0" rIns="0" tIns="0" bIns="0">
            <a:spAutoFit/>
          </a:bodyPr>
          <a:lstStyle/>
          <a:p>
            <a:pPr>
              <a:defRPr sz="1050" b="1">
                <a:solidFill>
                  <a:srgbClr val="10B981"/>
                </a:solidFill>
                <a:latin typeface="Segoe UI"/>
              </a:defRPr>
            </a:pPr>
            <a:r>
              <a:t>TIÊU CHUẨN PHI CHỨC NĂNG (NFRs)</a:t>
            </a:r>
          </a:p>
          <a:p>
            <a:pPr>
              <a:spcBef>
                <a:spcPts val="600"/>
              </a:spcBef>
            </a:pPr>
            <a:r>
              <a:rPr sz="880" b="1">
                <a:solidFill>
                  <a:srgbClr val="0B194C"/>
                </a:solidFill>
                <a:latin typeface="Segoe UI"/>
              </a:rPr>
              <a:t>Bảo mật &amp; Kiểm toán (MUST): </a:t>
            </a:r>
            <a:r>
              <a:rPr sz="880">
                <a:solidFill>
                  <a:srgbClr val="1E293B"/>
                </a:solidFill>
                <a:latin typeface="Segoe UI"/>
              </a:rPr>
              <a:t>HttpOnly Cookies chống XSS; RLS ở tầng CSDL; Audit Log 6 trường bất biến.</a:t>
            </a:r>
          </a:p>
          <a:p>
            <a:pPr>
              <a:spcBef>
                <a:spcPts val="600"/>
              </a:spcBef>
            </a:pPr>
            <a:r>
              <a:rPr sz="880" b="1">
                <a:solidFill>
                  <a:srgbClr val="0B194C"/>
                </a:solidFill>
                <a:latin typeface="Segoe UI"/>
              </a:rPr>
              <a:t>Độ tin cậy &amp; Sẵn sàng (MUST): </a:t>
            </a:r>
            <a:r>
              <a:rPr sz="880">
                <a:solidFill>
                  <a:srgbClr val="1E293B"/>
                </a:solidFill>
                <a:latin typeface="Segoe UI"/>
              </a:rPr>
              <a:t>Mất mạng không ghi điểm dở dang; dịch vụ ngoài sập không làm hỏng luồng học cốt lõi.</a:t>
            </a:r>
          </a:p>
          <a:p>
            <a:pPr>
              <a:spcBef>
                <a:spcPts val="600"/>
              </a:spcBef>
            </a:pPr>
            <a:r>
              <a:rPr sz="880" b="1">
                <a:solidFill>
                  <a:srgbClr val="0B194C"/>
                </a:solidFill>
                <a:latin typeface="Segoe UI"/>
              </a:rPr>
              <a:t>Mục tiêu kỹ thuật (SHOULD): </a:t>
            </a:r>
            <a:r>
              <a:rPr sz="880">
                <a:solidFill>
                  <a:srgbClr val="1E293B"/>
                </a:solidFill>
                <a:latin typeface="Segoe UI"/>
              </a:rPr>
              <a:t>Chuyển câu &lt;1s, phản hồi ngữ pháp ≤3s, độ sẵn sàng 99.5% (đo kiểm thực tế).</a:t>
            </a:r>
          </a:p>
          <a:p>
            <a:pPr>
              <a:spcBef>
                <a:spcPts val="600"/>
              </a:spcBef>
            </a:pPr>
            <a:r>
              <a:rPr sz="880" b="1">
                <a:solidFill>
                  <a:srgbClr val="0B194C"/>
                </a:solidFill>
                <a:latin typeface="Segoe UI"/>
              </a:rPr>
              <a:t>Kiến trúc độc lập 3 tầng: </a:t>
            </a:r>
            <a:r>
              <a:rPr sz="880">
                <a:solidFill>
                  <a:srgbClr val="1E293B"/>
                </a:solidFill>
                <a:latin typeface="Segoe UI"/>
              </a:rPr>
              <a:t>Phân tách: Giao diện — Ngôn ngữ nguồn (Tiếng Việt) — Ngôn ngữ đích (Tiếng Anh).</a:t>
            </a:r>
          </a:p>
        </p:txBody>
      </p:sp>
      <p:sp>
        <p:nvSpPr>
          <p:cNvPr id="16" name="Rectangle 15"/>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8" name="Rectangle 17"/>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TÁC NHÂN &amp; PHÂN ĐỊNH</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Ma trận phân định trách nhiệm (Separation of Duties — SoD)</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Nguyên tắc 4 mắt chống gian lận: Ai được làm gì và ai bị hệ thống nghiêm cấm thực hiện?</a:t>
            </a:r>
          </a:p>
        </p:txBody>
      </p:sp>
      <p:graphicFrame>
        <p:nvGraphicFramePr>
          <p:cNvPr id="7" name="Table 6"/>
          <p:cNvGraphicFramePr>
            <a:graphicFrameLocks noGrp="1"/>
          </p:cNvGraphicFramePr>
          <p:nvPr/>
        </p:nvGraphicFramePr>
        <p:xfrm>
          <a:off x="731520" y="1783080"/>
          <a:ext cx="10698480" cy="4114800"/>
        </p:xfrm>
        <a:graphic>
          <a:graphicData uri="http://schemas.openxmlformats.org/drawingml/2006/table">
            <a:tbl>
              <a:tblPr firstRow="1" bandRow="1">
                <a:tableStyleId>{5C22544A-7EE6-4342-B048-85BDC9FD1C3A}</a:tableStyleId>
              </a:tblPr>
              <a:tblGrid>
                <a:gridCol w="2468880"/>
                <a:gridCol w="1371600"/>
                <a:gridCol w="1371600"/>
                <a:gridCol w="1371600"/>
                <a:gridCol w="1371600"/>
                <a:gridCol w="1371600"/>
                <a:gridCol w="1371600"/>
              </a:tblGrid>
              <a:tr h="587828">
                <a:tc>
                  <a:txBody>
                    <a:bodyPr/>
                    <a:lstStyle/>
                    <a:p>
                      <a:pPr algn="ctr">
                        <a:defRPr sz="950" b="1">
                          <a:solidFill>
                            <a:srgbClr val="FFFFFF"/>
                          </a:solidFill>
                          <a:latin typeface="Segoe UI"/>
                        </a:defRPr>
                      </a:pPr>
                      <a:r>
                        <a:t>Vai trò (Role)</a:t>
                      </a:r>
                    </a:p>
                  </a:txBody>
                  <a:tcPr anchor="ctr">
                    <a:solidFill>
                      <a:srgbClr val="0B194C"/>
                    </a:solidFill>
                  </a:tcPr>
                </a:tc>
                <a:tc>
                  <a:txBody>
                    <a:bodyPr/>
                    <a:lstStyle/>
                    <a:p>
                      <a:pPr algn="ctr">
                        <a:defRPr sz="950" b="1">
                          <a:solidFill>
                            <a:srgbClr val="FFFFFF"/>
                          </a:solidFill>
                          <a:latin typeface="Segoe UI"/>
                        </a:defRPr>
                      </a:pPr>
                      <a:r>
                        <a:t>Soạn Draft</a:t>
                      </a:r>
                    </a:p>
                  </a:txBody>
                  <a:tcPr anchor="ctr">
                    <a:solidFill>
                      <a:srgbClr val="0B194C"/>
                    </a:solidFill>
                  </a:tcPr>
                </a:tc>
                <a:tc>
                  <a:txBody>
                    <a:bodyPr/>
                    <a:lstStyle/>
                    <a:p>
                      <a:pPr algn="ctr">
                        <a:defRPr sz="950" b="1">
                          <a:solidFill>
                            <a:srgbClr val="FFFFFF"/>
                          </a:solidFill>
                          <a:latin typeface="Segoe UI"/>
                        </a:defRPr>
                      </a:pPr>
                      <a:r>
                        <a:t>Duyệt QC</a:t>
                      </a:r>
                    </a:p>
                  </a:txBody>
                  <a:tcPr anchor="ctr">
                    <a:solidFill>
                      <a:srgbClr val="0B194C"/>
                    </a:solidFill>
                  </a:tcPr>
                </a:tc>
                <a:tc>
                  <a:txBody>
                    <a:bodyPr/>
                    <a:lstStyle/>
                    <a:p>
                      <a:pPr algn="ctr">
                        <a:defRPr sz="950" b="1">
                          <a:solidFill>
                            <a:srgbClr val="FFFFFF"/>
                          </a:solidFill>
                          <a:latin typeface="Segoe UI"/>
                        </a:defRPr>
                      </a:pPr>
                      <a:r>
                        <a:t>Xuất bản</a:t>
                      </a:r>
                    </a:p>
                  </a:txBody>
                  <a:tcPr anchor="ctr">
                    <a:solidFill>
                      <a:srgbClr val="0B194C"/>
                    </a:solidFill>
                  </a:tcPr>
                </a:tc>
                <a:tc>
                  <a:txBody>
                    <a:bodyPr/>
                    <a:lstStyle/>
                    <a:p>
                      <a:pPr algn="ctr">
                        <a:defRPr sz="950" b="1">
                          <a:solidFill>
                            <a:srgbClr val="FFFFFF"/>
                          </a:solidFill>
                          <a:latin typeface="Segoe UI"/>
                        </a:defRPr>
                      </a:pPr>
                      <a:r>
                        <a:t>Quản trị User</a:t>
                      </a:r>
                    </a:p>
                  </a:txBody>
                  <a:tcPr anchor="ctr">
                    <a:solidFill>
                      <a:srgbClr val="0B194C"/>
                    </a:solidFill>
                  </a:tcPr>
                </a:tc>
                <a:tc>
                  <a:txBody>
                    <a:bodyPr/>
                    <a:lstStyle/>
                    <a:p>
                      <a:pPr algn="ctr">
                        <a:defRPr sz="950" b="1">
                          <a:solidFill>
                            <a:srgbClr val="FFFFFF"/>
                          </a:solidFill>
                          <a:latin typeface="Segoe UI"/>
                        </a:defRPr>
                      </a:pPr>
                      <a:r>
                        <a:t>Xử lý Ticket</a:t>
                      </a:r>
                    </a:p>
                  </a:txBody>
                  <a:tcPr anchor="ctr">
                    <a:solidFill>
                      <a:srgbClr val="0B194C"/>
                    </a:solidFill>
                  </a:tcPr>
                </a:tc>
                <a:tc>
                  <a:txBody>
                    <a:bodyPr/>
                    <a:lstStyle/>
                    <a:p>
                      <a:pPr algn="ctr">
                        <a:defRPr sz="950" b="1">
                          <a:solidFill>
                            <a:srgbClr val="FFFFFF"/>
                          </a:solidFill>
                          <a:latin typeface="Segoe UI"/>
                        </a:defRPr>
                      </a:pPr>
                      <a:r>
                        <a:t>Audit Log</a:t>
                      </a:r>
                    </a:p>
                  </a:txBody>
                  <a:tcPr anchor="ctr">
                    <a:solidFill>
                      <a:srgbClr val="0B194C"/>
                    </a:solidFill>
                  </a:tcPr>
                </a:tc>
              </a:tr>
              <a:tr h="587828">
                <a:tc>
                  <a:txBody>
                    <a:bodyPr/>
                    <a:lstStyle/>
                    <a:p>
                      <a:pPr algn="l">
                        <a:defRPr sz="900">
                          <a:solidFill>
                            <a:srgbClr val="1E293B"/>
                          </a:solidFill>
                          <a:latin typeface="Segoe UI"/>
                        </a:defRPr>
                      </a:pPr>
                      <a:r>
                        <a:t>Learner (Người học)</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r>
              <a:tr h="587828">
                <a:tc>
                  <a:txBody>
                    <a:bodyPr/>
                    <a:lstStyle/>
                    <a:p>
                      <a:pPr algn="l">
                        <a:defRPr sz="900">
                          <a:solidFill>
                            <a:srgbClr val="1E293B"/>
                          </a:solidFill>
                          <a:latin typeface="Segoe UI"/>
                        </a:defRPr>
                      </a:pPr>
                      <a:r>
                        <a:t>Lesson Creator (Biên soạn)</a:t>
                      </a:r>
                    </a:p>
                  </a:txBody>
                  <a:tcPr anchor="ctr">
                    <a:solidFill>
                      <a:srgbClr val="F8FAFC"/>
                    </a:solidFill>
                  </a:tcPr>
                </a:tc>
                <a:tc>
                  <a:txBody>
                    <a:bodyPr/>
                    <a:lstStyle/>
                    <a:p>
                      <a:pPr algn="ctr">
                        <a:defRPr sz="900" b="1">
                          <a:solidFill>
                            <a:srgbClr val="10B981"/>
                          </a:solidFill>
                          <a:latin typeface="Segoe UI"/>
                        </a:defRPr>
                      </a:pPr>
                      <a:r>
                        <a:t>✓ CÓ</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r>
              <a:tr h="587828">
                <a:tc>
                  <a:txBody>
                    <a:bodyPr/>
                    <a:lstStyle/>
                    <a:p>
                      <a:pPr algn="l">
                        <a:defRPr sz="900">
                          <a:solidFill>
                            <a:srgbClr val="1E293B"/>
                          </a:solidFill>
                          <a:latin typeface="Segoe UI"/>
                        </a:defRPr>
                      </a:pPr>
                      <a:r>
                        <a:t>Moderator (Kiểm duyệt)</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10B981"/>
                          </a:solidFill>
                          <a:latin typeface="Segoe UI"/>
                        </a:defRPr>
                      </a:pPr>
                      <a:r>
                        <a:t>✓ CÓ</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r>
              <a:tr h="587828">
                <a:tc>
                  <a:txBody>
                    <a:bodyPr/>
                    <a:lstStyle/>
                    <a:p>
                      <a:pPr algn="l">
                        <a:defRPr sz="900">
                          <a:solidFill>
                            <a:srgbClr val="1E293B"/>
                          </a:solidFill>
                          <a:latin typeface="Segoe UI"/>
                        </a:defRPr>
                      </a:pPr>
                      <a:r>
                        <a:t>Org Manager (Quản lý)</a:t>
                      </a:r>
                    </a:p>
                  </a:txBody>
                  <a:tcPr anchor="ctr">
                    <a:solidFill>
                      <a:srgbClr val="F8FAFC"/>
                    </a:solidFill>
                  </a:tcPr>
                </a:tc>
                <a:tc>
                  <a:txBody>
                    <a:bodyPr/>
                    <a:lstStyle/>
                    <a:p>
                      <a:pPr algn="ctr">
                        <a:defRPr sz="900" b="1">
                          <a:solidFill>
                            <a:srgbClr val="10B981"/>
                          </a:solidFill>
                          <a:latin typeface="Segoe UI"/>
                        </a:defRPr>
                      </a:pPr>
                      <a:r>
                        <a:t>✓ CÓ</a:t>
                      </a:r>
                    </a:p>
                  </a:txBody>
                  <a:tcPr anchor="ctr">
                    <a:solidFill>
                      <a:srgbClr val="F8FAFC"/>
                    </a:solidFill>
                  </a:tcPr>
                </a:tc>
                <a:tc>
                  <a:txBody>
                    <a:bodyPr/>
                    <a:lstStyle/>
                    <a:p>
                      <a:pPr algn="ctr">
                        <a:defRPr sz="900" b="1">
                          <a:solidFill>
                            <a:srgbClr val="10B981"/>
                          </a:solidFill>
                          <a:latin typeface="Segoe UI"/>
                        </a:defRPr>
                      </a:pPr>
                      <a:r>
                        <a:t>✓ CÓ</a:t>
                      </a:r>
                    </a:p>
                  </a:txBody>
                  <a:tcPr anchor="ctr">
                    <a:solidFill>
                      <a:srgbClr val="F8FAFC"/>
                    </a:solidFill>
                  </a:tcPr>
                </a:tc>
                <a:tc>
                  <a:txBody>
                    <a:bodyPr/>
                    <a:lstStyle/>
                    <a:p>
                      <a:pPr algn="ctr">
                        <a:defRPr sz="900" b="1">
                          <a:solidFill>
                            <a:srgbClr val="10B981"/>
                          </a:solidFill>
                          <a:latin typeface="Segoe UI"/>
                        </a:defRPr>
                      </a:pPr>
                      <a:r>
                        <a:t>✓ CÓ</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7C3AED"/>
                          </a:solidFill>
                          <a:latin typeface="Segoe UI"/>
                        </a:defRPr>
                      </a:pPr>
                      <a:r>
                        <a:t>Xem phân hệ</a:t>
                      </a:r>
                    </a:p>
                  </a:txBody>
                  <a:tcPr anchor="ctr">
                    <a:solidFill>
                      <a:srgbClr val="F8FAFC"/>
                    </a:solidFill>
                  </a:tcPr>
                </a:tc>
              </a:tr>
              <a:tr h="587828">
                <a:tc>
                  <a:txBody>
                    <a:bodyPr/>
                    <a:lstStyle/>
                    <a:p>
                      <a:pPr algn="l">
                        <a:defRPr sz="900">
                          <a:solidFill>
                            <a:srgbClr val="1E293B"/>
                          </a:solidFill>
                          <a:latin typeface="Segoe UI"/>
                        </a:defRPr>
                      </a:pPr>
                      <a:r>
                        <a:t>Operations Staff (Vận hành)</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c>
                  <a:txBody>
                    <a:bodyPr/>
                    <a:lstStyle/>
                    <a:p>
                      <a:pPr algn="ctr">
                        <a:defRPr sz="900" b="1">
                          <a:solidFill>
                            <a:srgbClr val="10B981"/>
                          </a:solidFill>
                          <a:latin typeface="Segoe UI"/>
                        </a:defRPr>
                      </a:pPr>
                      <a:r>
                        <a:t>✓ CÓ (Ticket)</a:t>
                      </a:r>
                    </a:p>
                  </a:txBody>
                  <a:tcPr anchor="ctr">
                    <a:solidFill>
                      <a:srgbClr val="FFFFFF"/>
                    </a:solidFill>
                  </a:tcPr>
                </a:tc>
                <a:tc>
                  <a:txBody>
                    <a:bodyPr/>
                    <a:lstStyle/>
                    <a:p>
                      <a:pPr algn="ctr">
                        <a:defRPr sz="900" b="1">
                          <a:solidFill>
                            <a:srgbClr val="DC2626"/>
                          </a:solidFill>
                          <a:latin typeface="Segoe UI"/>
                        </a:defRPr>
                      </a:pPr>
                      <a:r>
                        <a:t>✗ CẤM</a:t>
                      </a:r>
                    </a:p>
                  </a:txBody>
                  <a:tcPr anchor="ctr">
                    <a:solidFill>
                      <a:srgbClr val="FFFFFF"/>
                    </a:solidFill>
                  </a:tcPr>
                </a:tc>
              </a:tr>
              <a:tr h="587832">
                <a:tc>
                  <a:txBody>
                    <a:bodyPr/>
                    <a:lstStyle/>
                    <a:p>
                      <a:pPr algn="l">
                        <a:defRPr sz="900">
                          <a:solidFill>
                            <a:srgbClr val="1E293B"/>
                          </a:solidFill>
                          <a:latin typeface="Segoe UI"/>
                        </a:defRPr>
                      </a:pPr>
                      <a:r>
                        <a:t>Administrator (Quản trị)</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DC2626"/>
                          </a:solidFill>
                          <a:latin typeface="Segoe UI"/>
                        </a:defRPr>
                      </a:pPr>
                      <a:r>
                        <a:t>✗ CẤM</a:t>
                      </a:r>
                    </a:p>
                  </a:txBody>
                  <a:tcPr anchor="ctr">
                    <a:solidFill>
                      <a:srgbClr val="F8FAFC"/>
                    </a:solidFill>
                  </a:tcPr>
                </a:tc>
                <a:tc>
                  <a:txBody>
                    <a:bodyPr/>
                    <a:lstStyle/>
                    <a:p>
                      <a:pPr algn="ctr">
                        <a:defRPr sz="900" b="1">
                          <a:solidFill>
                            <a:srgbClr val="7C3AED"/>
                          </a:solidFill>
                          <a:latin typeface="Segoe UI"/>
                        </a:defRPr>
                      </a:pPr>
                      <a:r>
                        <a:t>Chỉ khẩn cấp</a:t>
                      </a:r>
                    </a:p>
                  </a:txBody>
                  <a:tcPr anchor="ctr">
                    <a:solidFill>
                      <a:srgbClr val="F8FAFC"/>
                    </a:solidFill>
                  </a:tcPr>
                </a:tc>
                <a:tc>
                  <a:txBody>
                    <a:bodyPr/>
                    <a:lstStyle/>
                    <a:p>
                      <a:pPr algn="ctr">
                        <a:defRPr sz="900" b="1">
                          <a:solidFill>
                            <a:srgbClr val="10B981"/>
                          </a:solidFill>
                          <a:latin typeface="Segoe UI"/>
                        </a:defRPr>
                      </a:pPr>
                      <a:r>
                        <a:t>✓ CÓ (Toàn quyền)</a:t>
                      </a:r>
                    </a:p>
                  </a:txBody>
                  <a:tcPr anchor="ctr">
                    <a:solidFill>
                      <a:srgbClr val="F8FAFC"/>
                    </a:solidFill>
                  </a:tcPr>
                </a:tc>
                <a:tc>
                  <a:txBody>
                    <a:bodyPr/>
                    <a:lstStyle/>
                    <a:p>
                      <a:pPr algn="ctr">
                        <a:defRPr sz="900" b="1">
                          <a:solidFill>
                            <a:srgbClr val="10B981"/>
                          </a:solidFill>
                          <a:latin typeface="Segoe UI"/>
                        </a:defRPr>
                      </a:pPr>
                      <a:r>
                        <a:t>✓ CÓ</a:t>
                      </a:r>
                    </a:p>
                  </a:txBody>
                  <a:tcPr anchor="ctr">
                    <a:solidFill>
                      <a:srgbClr val="F8FAFC"/>
                    </a:solidFill>
                  </a:tcPr>
                </a:tc>
                <a:tc>
                  <a:txBody>
                    <a:bodyPr/>
                    <a:lstStyle/>
                    <a:p>
                      <a:pPr algn="ctr">
                        <a:defRPr sz="900" b="1">
                          <a:solidFill>
                            <a:srgbClr val="10B981"/>
                          </a:solidFill>
                          <a:latin typeface="Segoe UI"/>
                        </a:defRPr>
                      </a:pPr>
                      <a:r>
                        <a:t>✓ CÓ (Toàn quyền)</a:t>
                      </a:r>
                    </a:p>
                  </a:txBody>
                  <a:tcPr anchor="ctr">
                    <a:solidFill>
                      <a:srgbClr val="F8FAFC"/>
                    </a:solidFill>
                  </a:tcPr>
                </a:tc>
              </a:tr>
            </a:tbl>
          </a:graphicData>
        </a:graphic>
      </p:graphicFrame>
      <p:sp>
        <p:nvSpPr>
          <p:cNvPr id="8" name="TextBox 7"/>
          <p:cNvSpPr txBox="1"/>
          <p:nvPr/>
        </p:nvSpPr>
        <p:spPr>
          <a:xfrm>
            <a:off x="731520" y="5989320"/>
            <a:ext cx="10698480" cy="365760"/>
          </a:xfrm>
          <a:prstGeom prst="rect">
            <a:avLst/>
          </a:prstGeom>
          <a:noFill/>
        </p:spPr>
        <p:txBody>
          <a:bodyPr wrap="none">
            <a:spAutoFit/>
          </a:bodyPr>
          <a:lstStyle/>
          <a:p>
            <a:pPr>
              <a:defRPr sz="880" i="1">
                <a:solidFill>
                  <a:srgbClr val="64748B"/>
                </a:solidFill>
                <a:latin typeface="Segoe UI"/>
              </a:defRPr>
            </a:pPr>
            <a:r>
              <a:t>(*) CẤM tự duyệt: Hệ thống tự động khóa chức năng duyệt nếu người duyệt chính là người tạo bài học đó (Nguyên tắc SoD).</a:t>
            </a:r>
          </a:p>
        </p:txBody>
      </p:sp>
      <p:sp>
        <p:nvSpPr>
          <p:cNvPr id="9" name="Rectangle 8"/>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1" name="Rectangle 10"/>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QUY TRÌNH NGHIỆP VỤ</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Mô hình hóa 2 quy trình nghiệp vụ cốt lõi</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Vòng đời học liệu đảm bảo kiểm soát chất lượng &amp; Quy trình học tập tối ưu hóa khả năng ghi nhớ</a:t>
            </a:r>
          </a:p>
        </p:txBody>
      </p:sp>
      <p:sp>
        <p:nvSpPr>
          <p:cNvPr id="7" name="TextBox 6"/>
          <p:cNvSpPr txBox="1"/>
          <p:nvPr/>
        </p:nvSpPr>
        <p:spPr>
          <a:xfrm>
            <a:off x="731520" y="1600200"/>
            <a:ext cx="10725912" cy="292608"/>
          </a:xfrm>
          <a:prstGeom prst="rect">
            <a:avLst/>
          </a:prstGeom>
          <a:noFill/>
        </p:spPr>
        <p:txBody>
          <a:bodyPr wrap="none" lIns="0" rIns="0" tIns="0" bIns="0">
            <a:spAutoFit/>
          </a:bodyPr>
          <a:lstStyle/>
          <a:p>
            <a:pPr>
              <a:defRPr sz="1100" b="1">
                <a:solidFill>
                  <a:srgbClr val="0B194C"/>
                </a:solidFill>
                <a:latin typeface="Segoe UI"/>
              </a:defRPr>
            </a:pPr>
            <a:r>
              <a:t>1. VÒNG ĐỜI HỌC LIỆU &amp; KIỂM SOÁT SOD 4 MẮT (CREATOR → MODERATOR → MANAGER)</a:t>
            </a:r>
          </a:p>
        </p:txBody>
      </p:sp>
      <p:pic>
        <p:nvPicPr>
          <p:cNvPr id="8" name="Picture 7" descr="s15_content_flow.png"/>
          <p:cNvPicPr>
            <a:picLocks noChangeAspect="1"/>
          </p:cNvPicPr>
          <p:nvPr/>
        </p:nvPicPr>
        <p:blipFill>
          <a:blip r:embed="rId2"/>
          <a:stretch>
            <a:fillRect/>
          </a:stretch>
        </p:blipFill>
        <p:spPr>
          <a:xfrm>
            <a:off x="731520" y="1874519"/>
            <a:ext cx="10725912" cy="2176272"/>
          </a:xfrm>
          <a:prstGeom prst="rect">
            <a:avLst/>
          </a:prstGeom>
        </p:spPr>
      </p:pic>
      <p:sp>
        <p:nvSpPr>
          <p:cNvPr id="9" name="TextBox 8"/>
          <p:cNvSpPr txBox="1"/>
          <p:nvPr/>
        </p:nvSpPr>
        <p:spPr>
          <a:xfrm>
            <a:off x="731520" y="4114800"/>
            <a:ext cx="10725912" cy="256032"/>
          </a:xfrm>
          <a:prstGeom prst="rect">
            <a:avLst/>
          </a:prstGeom>
          <a:noFill/>
        </p:spPr>
        <p:txBody>
          <a:bodyPr wrap="none" lIns="0" rIns="0" tIns="0" bIns="0">
            <a:spAutoFit/>
          </a:bodyPr>
          <a:lstStyle/>
          <a:p>
            <a:pPr>
              <a:defRPr sz="1100" b="1">
                <a:solidFill>
                  <a:srgbClr val="2563EB"/>
                </a:solidFill>
                <a:latin typeface="Segoe UI"/>
              </a:defRPr>
            </a:pPr>
            <a:r>
              <a:t>2. VÒNG LẶP HỌC TẬP HÀNG NGÀY &amp; ĐAN XEN ÔN TẬP SRS (DAILY LEARNER ROUTINE &amp; SRS INTERLEAVING)</a:t>
            </a:r>
          </a:p>
        </p:txBody>
      </p:sp>
      <p:pic>
        <p:nvPicPr>
          <p:cNvPr id="10" name="Picture 9" descr="s15_learner_flow.png"/>
          <p:cNvPicPr>
            <a:picLocks noChangeAspect="1"/>
          </p:cNvPicPr>
          <p:nvPr/>
        </p:nvPicPr>
        <p:blipFill>
          <a:blip r:embed="rId3"/>
          <a:stretch>
            <a:fillRect/>
          </a:stretch>
        </p:blipFill>
        <p:spPr>
          <a:xfrm>
            <a:off x="731520" y="4370832"/>
            <a:ext cx="10725912" cy="2066543"/>
          </a:xfrm>
          <a:prstGeom prst="rect">
            <a:avLst/>
          </a:prstGeom>
        </p:spPr>
      </p:pic>
      <p:sp>
        <p:nvSpPr>
          <p:cNvPr id="11" name="Rectangle 10"/>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3" name="Rectangle 12"/>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MÔ HÌNH HÓA USE CASE</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Sơ đồ Use Case tổng quát: 14 Chức năng cốt lõi hệ thống</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Phân rã 3 phân hệ chính quy theo chuẩn UML: Core Learning, Content Workflow (SoD 4 mắt) và Administration &amp; Operations</a:t>
            </a:r>
          </a:p>
        </p:txBody>
      </p:sp>
      <p:pic>
        <p:nvPicPr>
          <p:cNvPr id="7" name="Picture 6" descr="s16_uml_use_case_clean.png"/>
          <p:cNvPicPr>
            <a:picLocks noChangeAspect="1"/>
          </p:cNvPicPr>
          <p:nvPr/>
        </p:nvPicPr>
        <p:blipFill>
          <a:blip r:embed="rId2"/>
          <a:stretch>
            <a:fillRect/>
          </a:stretch>
        </p:blipFill>
        <p:spPr>
          <a:xfrm>
            <a:off x="1645920" y="1691640"/>
            <a:ext cx="8897112" cy="4645152"/>
          </a:xfrm>
          <a:prstGeom prst="rect">
            <a:avLst/>
          </a:prstGeom>
        </p:spPr>
      </p:pic>
      <p:sp>
        <p:nvSpPr>
          <p:cNvPr id="8" name="Rectangle 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0" name="Rectangle 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MA TRẬN TRUY VẾT USE CASE</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Bảng phân loại &amp; Ánh xạ 15 Use Cases chuẩn (Traceability Matrix)</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Ánh xạ toàn diện 15 Use Cases với 6 vai trò, 18/19 tính năng MVP và các yêu cầu hệ thống CORE/EXT</a:t>
            </a:r>
          </a:p>
        </p:txBody>
      </p:sp>
      <p:graphicFrame>
        <p:nvGraphicFramePr>
          <p:cNvPr id="7" name="Table 6"/>
          <p:cNvGraphicFramePr>
            <a:graphicFrameLocks noGrp="1"/>
          </p:cNvGraphicFramePr>
          <p:nvPr/>
        </p:nvGraphicFramePr>
        <p:xfrm>
          <a:off x="731520" y="1783080"/>
          <a:ext cx="10698480" cy="4434840"/>
        </p:xfrm>
        <a:graphic>
          <a:graphicData uri="http://schemas.openxmlformats.org/drawingml/2006/table">
            <a:tbl>
              <a:tblPr firstRow="1" bandRow="1">
                <a:tableStyleId>{5C22544A-7EE6-4342-B048-85BDC9FD1C3A}</a:tableStyleId>
              </a:tblPr>
              <a:tblGrid>
                <a:gridCol w="822960"/>
                <a:gridCol w="2926080"/>
                <a:gridCol w="2011680"/>
                <a:gridCol w="1280160"/>
                <a:gridCol w="1645920"/>
                <a:gridCol w="2011680"/>
              </a:tblGrid>
              <a:tr h="277177">
                <a:tc>
                  <a:txBody>
                    <a:bodyPr/>
                    <a:lstStyle/>
                    <a:p>
                      <a:pPr algn="ctr">
                        <a:defRPr sz="900" b="1">
                          <a:solidFill>
                            <a:srgbClr val="FFFFFF"/>
                          </a:solidFill>
                          <a:latin typeface="Segoe UI"/>
                        </a:defRPr>
                      </a:pPr>
                      <a:r>
                        <a:t>Mã UC</a:t>
                      </a:r>
                    </a:p>
                  </a:txBody>
                  <a:tcPr anchor="ctr">
                    <a:solidFill>
                      <a:srgbClr val="0B194C"/>
                    </a:solidFill>
                  </a:tcPr>
                </a:tc>
                <a:tc>
                  <a:txBody>
                    <a:bodyPr/>
                    <a:lstStyle/>
                    <a:p>
                      <a:pPr algn="l">
                        <a:defRPr sz="900" b="1">
                          <a:solidFill>
                            <a:srgbClr val="FFFFFF"/>
                          </a:solidFill>
                          <a:latin typeface="Segoe UI"/>
                        </a:defRPr>
                      </a:pPr>
                      <a:r>
                        <a:t>Tên Use Case chuẩn</a:t>
                      </a:r>
                    </a:p>
                  </a:txBody>
                  <a:tcPr anchor="ctr">
                    <a:solidFill>
                      <a:srgbClr val="0B194C"/>
                    </a:solidFill>
                  </a:tcPr>
                </a:tc>
                <a:tc>
                  <a:txBody>
                    <a:bodyPr/>
                    <a:lstStyle/>
                    <a:p>
                      <a:pPr algn="l">
                        <a:defRPr sz="900" b="1">
                          <a:solidFill>
                            <a:srgbClr val="FFFFFF"/>
                          </a:solidFill>
                          <a:latin typeface="Segoe UI"/>
                        </a:defRPr>
                      </a:pPr>
                      <a:r>
                        <a:t>Tác nhân chính</a:t>
                      </a:r>
                    </a:p>
                  </a:txBody>
                  <a:tcPr anchor="ctr">
                    <a:solidFill>
                      <a:srgbClr val="0B194C"/>
                    </a:solidFill>
                  </a:tcPr>
                </a:tc>
                <a:tc>
                  <a:txBody>
                    <a:bodyPr/>
                    <a:lstStyle/>
                    <a:p>
                      <a:pPr algn="ctr">
                        <a:defRPr sz="900" b="1">
                          <a:solidFill>
                            <a:srgbClr val="FFFFFF"/>
                          </a:solidFill>
                          <a:latin typeface="Segoe UI"/>
                        </a:defRPr>
                      </a:pPr>
                      <a:r>
                        <a:t>Phân hệ</a:t>
                      </a:r>
                    </a:p>
                  </a:txBody>
                  <a:tcPr anchor="ctr">
                    <a:solidFill>
                      <a:srgbClr val="0B194C"/>
                    </a:solidFill>
                  </a:tcPr>
                </a:tc>
                <a:tc>
                  <a:txBody>
                    <a:bodyPr/>
                    <a:lstStyle/>
                    <a:p>
                      <a:pPr algn="l">
                        <a:defRPr sz="900" b="1">
                          <a:solidFill>
                            <a:srgbClr val="FFFFFF"/>
                          </a:solidFill>
                          <a:latin typeface="Segoe UI"/>
                        </a:defRPr>
                      </a:pPr>
                      <a:r>
                        <a:t>Chức năng MVP</a:t>
                      </a:r>
                    </a:p>
                  </a:txBody>
                  <a:tcPr anchor="ctr">
                    <a:solidFill>
                      <a:srgbClr val="0B194C"/>
                    </a:solidFill>
                  </a:tcPr>
                </a:tc>
                <a:tc>
                  <a:txBody>
                    <a:bodyPr/>
                    <a:lstStyle/>
                    <a:p>
                      <a:pPr algn="l">
                        <a:defRPr sz="900" b="1">
                          <a:solidFill>
                            <a:srgbClr val="FFFFFF"/>
                          </a:solidFill>
                          <a:latin typeface="Segoe UI"/>
                        </a:defRPr>
                      </a:pPr>
                      <a:r>
                        <a:t>Yêu cầu hệ thống</a:t>
                      </a:r>
                    </a:p>
                  </a:txBody>
                  <a:tcPr anchor="ctr">
                    <a:solidFill>
                      <a:srgbClr val="0B194C"/>
                    </a:solidFill>
                  </a:tcPr>
                </a:tc>
              </a:tr>
              <a:tr h="277177">
                <a:tc>
                  <a:txBody>
                    <a:bodyPr/>
                    <a:lstStyle/>
                    <a:p>
                      <a:pPr algn="ctr">
                        <a:defRPr sz="819" b="1">
                          <a:solidFill>
                            <a:srgbClr val="2563EB"/>
                          </a:solidFill>
                          <a:latin typeface="Segoe UI"/>
                        </a:defRPr>
                      </a:pPr>
                      <a:r>
                        <a:t>UC-01</a:t>
                      </a:r>
                    </a:p>
                  </a:txBody>
                  <a:tcPr anchor="ctr">
                    <a:solidFill>
                      <a:srgbClr val="FFFFFF"/>
                    </a:solidFill>
                  </a:tcPr>
                </a:tc>
                <a:tc>
                  <a:txBody>
                    <a:bodyPr/>
                    <a:lstStyle/>
                    <a:p>
                      <a:pPr algn="l">
                        <a:defRPr sz="819">
                          <a:solidFill>
                            <a:srgbClr val="1E293B"/>
                          </a:solidFill>
                          <a:latin typeface="Segoe UI"/>
                        </a:defRPr>
                      </a:pPr>
                      <a:r>
                        <a:t>Authenticate &amp; Manage Session</a:t>
                      </a:r>
                    </a:p>
                  </a:txBody>
                  <a:tcPr anchor="ctr">
                    <a:solidFill>
                      <a:srgbClr val="FFFFFF"/>
                    </a:solidFill>
                  </a:tcPr>
                </a:tc>
                <a:tc>
                  <a:txBody>
                    <a:bodyPr/>
                    <a:lstStyle/>
                    <a:p>
                      <a:pPr algn="l">
                        <a:defRPr sz="819" b="1">
                          <a:solidFill>
                            <a:srgbClr val="2563EB"/>
                          </a:solidFill>
                          <a:latin typeface="Segoe UI"/>
                        </a:defRPr>
                      </a:pPr>
                      <a:r>
                        <a:t>Learner, Admin</a:t>
                      </a:r>
                    </a:p>
                  </a:txBody>
                  <a:tcPr anchor="ctr">
                    <a:solidFill>
                      <a:srgbClr val="FFFFFF"/>
                    </a:solidFill>
                  </a:tcPr>
                </a:tc>
                <a:tc>
                  <a:txBody>
                    <a:bodyPr/>
                    <a:lstStyle/>
                    <a:p>
                      <a:pPr algn="ctr">
                        <a:defRPr sz="819">
                          <a:solidFill>
                            <a:srgbClr val="1E293B"/>
                          </a:solidFill>
                          <a:latin typeface="Segoe UI"/>
                        </a:defRPr>
                      </a:pPr>
                      <a:r>
                        <a:t>Learning</a:t>
                      </a:r>
                    </a:p>
                  </a:txBody>
                  <a:tcPr anchor="ctr">
                    <a:solidFill>
                      <a:srgbClr val="FFFFFF"/>
                    </a:solidFill>
                  </a:tcPr>
                </a:tc>
                <a:tc>
                  <a:txBody>
                    <a:bodyPr/>
                    <a:lstStyle/>
                    <a:p>
                      <a:pPr algn="l">
                        <a:defRPr sz="819">
                          <a:solidFill>
                            <a:srgbClr val="1E293B"/>
                          </a:solidFill>
                          <a:latin typeface="Segoe UI"/>
                        </a:defRPr>
                      </a:pPr>
                      <a:r>
                        <a:t>MVP-01</a:t>
                      </a:r>
                    </a:p>
                  </a:txBody>
                  <a:tcPr anchor="ctr">
                    <a:solidFill>
                      <a:srgbClr val="FFFFFF"/>
                    </a:solidFill>
                  </a:tcPr>
                </a:tc>
                <a:tc>
                  <a:txBody>
                    <a:bodyPr/>
                    <a:lstStyle/>
                    <a:p>
                      <a:pPr algn="l">
                        <a:defRPr sz="819">
                          <a:solidFill>
                            <a:srgbClr val="1E293B"/>
                          </a:solidFill>
                          <a:latin typeface="Segoe UI"/>
                        </a:defRPr>
                      </a:pPr>
                      <a:r>
                        <a:t>CORE-01</a:t>
                      </a:r>
                    </a:p>
                  </a:txBody>
                  <a:tcPr anchor="ctr">
                    <a:solidFill>
                      <a:srgbClr val="FFFFFF"/>
                    </a:solidFill>
                  </a:tcPr>
                </a:tc>
              </a:tr>
              <a:tr h="277177">
                <a:tc>
                  <a:txBody>
                    <a:bodyPr/>
                    <a:lstStyle/>
                    <a:p>
                      <a:pPr algn="ctr">
                        <a:defRPr sz="819" b="1">
                          <a:solidFill>
                            <a:srgbClr val="2563EB"/>
                          </a:solidFill>
                          <a:latin typeface="Segoe UI"/>
                        </a:defRPr>
                      </a:pPr>
                      <a:r>
                        <a:t>UC-02</a:t>
                      </a:r>
                    </a:p>
                  </a:txBody>
                  <a:tcPr anchor="ctr">
                    <a:solidFill>
                      <a:srgbClr val="F8FAFC"/>
                    </a:solidFill>
                  </a:tcPr>
                </a:tc>
                <a:tc>
                  <a:txBody>
                    <a:bodyPr/>
                    <a:lstStyle/>
                    <a:p>
                      <a:pPr algn="l">
                        <a:defRPr sz="819">
                          <a:solidFill>
                            <a:srgbClr val="1E293B"/>
                          </a:solidFill>
                          <a:latin typeface="Segoe UI"/>
                        </a:defRPr>
                      </a:pPr>
                      <a:r>
                        <a:t>Configure Goals &amp; Study Time</a:t>
                      </a:r>
                    </a:p>
                  </a:txBody>
                  <a:tcPr anchor="ctr">
                    <a:solidFill>
                      <a:srgbClr val="F8FAFC"/>
                    </a:solidFill>
                  </a:tcPr>
                </a:tc>
                <a:tc>
                  <a:txBody>
                    <a:bodyPr/>
                    <a:lstStyle/>
                    <a:p>
                      <a:pPr algn="l">
                        <a:defRPr sz="819" b="1">
                          <a:solidFill>
                            <a:srgbClr val="2563EB"/>
                          </a:solidFill>
                          <a:latin typeface="Segoe UI"/>
                        </a:defRPr>
                      </a:pPr>
                      <a:r>
                        <a:t>Learner</a:t>
                      </a:r>
                    </a:p>
                  </a:txBody>
                  <a:tcPr anchor="ctr">
                    <a:solidFill>
                      <a:srgbClr val="F8FAFC"/>
                    </a:solidFill>
                  </a:tcPr>
                </a:tc>
                <a:tc>
                  <a:txBody>
                    <a:bodyPr/>
                    <a:lstStyle/>
                    <a:p>
                      <a:pPr algn="ctr">
                        <a:defRPr sz="819">
                          <a:solidFill>
                            <a:srgbClr val="1E293B"/>
                          </a:solidFill>
                          <a:latin typeface="Segoe UI"/>
                        </a:defRPr>
                      </a:pPr>
                      <a:r>
                        <a:t>Learning</a:t>
                      </a:r>
                    </a:p>
                  </a:txBody>
                  <a:tcPr anchor="ctr">
                    <a:solidFill>
                      <a:srgbClr val="F8FAFC"/>
                    </a:solidFill>
                  </a:tcPr>
                </a:tc>
                <a:tc>
                  <a:txBody>
                    <a:bodyPr/>
                    <a:lstStyle/>
                    <a:p>
                      <a:pPr algn="l">
                        <a:defRPr sz="819">
                          <a:solidFill>
                            <a:srgbClr val="1E293B"/>
                          </a:solidFill>
                          <a:latin typeface="Segoe UI"/>
                        </a:defRPr>
                      </a:pPr>
                      <a:r>
                        <a:t>MVP-02, MVP-10</a:t>
                      </a:r>
                    </a:p>
                  </a:txBody>
                  <a:tcPr anchor="ctr">
                    <a:solidFill>
                      <a:srgbClr val="F8FAFC"/>
                    </a:solidFill>
                  </a:tcPr>
                </a:tc>
                <a:tc>
                  <a:txBody>
                    <a:bodyPr/>
                    <a:lstStyle/>
                    <a:p>
                      <a:pPr algn="l">
                        <a:defRPr sz="819">
                          <a:solidFill>
                            <a:srgbClr val="1E293B"/>
                          </a:solidFill>
                          <a:latin typeface="Segoe UI"/>
                        </a:defRPr>
                      </a:pPr>
                      <a:r>
                        <a:t>CORE-01, CORE-10</a:t>
                      </a:r>
                    </a:p>
                  </a:txBody>
                  <a:tcPr anchor="ctr">
                    <a:solidFill>
                      <a:srgbClr val="F8FAFC"/>
                    </a:solidFill>
                  </a:tcPr>
                </a:tc>
              </a:tr>
              <a:tr h="277177">
                <a:tc>
                  <a:txBody>
                    <a:bodyPr/>
                    <a:lstStyle/>
                    <a:p>
                      <a:pPr algn="ctr">
                        <a:defRPr sz="819" b="1">
                          <a:solidFill>
                            <a:srgbClr val="2563EB"/>
                          </a:solidFill>
                          <a:latin typeface="Segoe UI"/>
                        </a:defRPr>
                      </a:pPr>
                      <a:r>
                        <a:t>UC-03</a:t>
                      </a:r>
                    </a:p>
                  </a:txBody>
                  <a:tcPr anchor="ctr">
                    <a:solidFill>
                      <a:srgbClr val="FFFFFF"/>
                    </a:solidFill>
                  </a:tcPr>
                </a:tc>
                <a:tc>
                  <a:txBody>
                    <a:bodyPr/>
                    <a:lstStyle/>
                    <a:p>
                      <a:pPr algn="l">
                        <a:defRPr sz="819">
                          <a:solidFill>
                            <a:srgbClr val="1E293B"/>
                          </a:solidFill>
                          <a:latin typeface="Segoe UI"/>
                        </a:defRPr>
                      </a:pPr>
                      <a:r>
                        <a:t>Take Placement Test (30 câu)</a:t>
                      </a:r>
                    </a:p>
                  </a:txBody>
                  <a:tcPr anchor="ctr">
                    <a:solidFill>
                      <a:srgbClr val="FFFFFF"/>
                    </a:solidFill>
                  </a:tcPr>
                </a:tc>
                <a:tc>
                  <a:txBody>
                    <a:bodyPr/>
                    <a:lstStyle/>
                    <a:p>
                      <a:pPr algn="l">
                        <a:defRPr sz="819" b="1">
                          <a:solidFill>
                            <a:srgbClr val="2563EB"/>
                          </a:solidFill>
                          <a:latin typeface="Segoe UI"/>
                        </a:defRPr>
                      </a:pPr>
                      <a:r>
                        <a:t>Learner</a:t>
                      </a:r>
                    </a:p>
                  </a:txBody>
                  <a:tcPr anchor="ctr">
                    <a:solidFill>
                      <a:srgbClr val="FFFFFF"/>
                    </a:solidFill>
                  </a:tcPr>
                </a:tc>
                <a:tc>
                  <a:txBody>
                    <a:bodyPr/>
                    <a:lstStyle/>
                    <a:p>
                      <a:pPr algn="ctr">
                        <a:defRPr sz="819">
                          <a:solidFill>
                            <a:srgbClr val="1E293B"/>
                          </a:solidFill>
                          <a:latin typeface="Segoe UI"/>
                        </a:defRPr>
                      </a:pPr>
                      <a:r>
                        <a:t>Learning</a:t>
                      </a:r>
                    </a:p>
                  </a:txBody>
                  <a:tcPr anchor="ctr">
                    <a:solidFill>
                      <a:srgbClr val="FFFFFF"/>
                    </a:solidFill>
                  </a:tcPr>
                </a:tc>
                <a:tc>
                  <a:txBody>
                    <a:bodyPr/>
                    <a:lstStyle/>
                    <a:p>
                      <a:pPr algn="l">
                        <a:defRPr sz="819">
                          <a:solidFill>
                            <a:srgbClr val="1E293B"/>
                          </a:solidFill>
                          <a:latin typeface="Segoe UI"/>
                        </a:defRPr>
                      </a:pPr>
                      <a:r>
                        <a:t>MVP-03</a:t>
                      </a:r>
                    </a:p>
                  </a:txBody>
                  <a:tcPr anchor="ctr">
                    <a:solidFill>
                      <a:srgbClr val="FFFFFF"/>
                    </a:solidFill>
                  </a:tcPr>
                </a:tc>
                <a:tc>
                  <a:txBody>
                    <a:bodyPr/>
                    <a:lstStyle/>
                    <a:p>
                      <a:pPr algn="l">
                        <a:defRPr sz="819">
                          <a:solidFill>
                            <a:srgbClr val="1E293B"/>
                          </a:solidFill>
                          <a:latin typeface="Segoe UI"/>
                        </a:defRPr>
                      </a:pPr>
                      <a:r>
                        <a:t>CORE-09</a:t>
                      </a:r>
                    </a:p>
                  </a:txBody>
                  <a:tcPr anchor="ctr">
                    <a:solidFill>
                      <a:srgbClr val="FFFFFF"/>
                    </a:solidFill>
                  </a:tcPr>
                </a:tc>
              </a:tr>
              <a:tr h="277177">
                <a:tc>
                  <a:txBody>
                    <a:bodyPr/>
                    <a:lstStyle/>
                    <a:p>
                      <a:pPr algn="ctr">
                        <a:defRPr sz="819" b="1">
                          <a:solidFill>
                            <a:srgbClr val="2563EB"/>
                          </a:solidFill>
                          <a:latin typeface="Segoe UI"/>
                        </a:defRPr>
                      </a:pPr>
                      <a:r>
                        <a:t>UC-04</a:t>
                      </a:r>
                    </a:p>
                  </a:txBody>
                  <a:tcPr anchor="ctr">
                    <a:solidFill>
                      <a:srgbClr val="F8FAFC"/>
                    </a:solidFill>
                  </a:tcPr>
                </a:tc>
                <a:tc>
                  <a:txBody>
                    <a:bodyPr/>
                    <a:lstStyle/>
                    <a:p>
                      <a:pPr algn="l">
                        <a:defRPr sz="819">
                          <a:solidFill>
                            <a:srgbClr val="1E293B"/>
                          </a:solidFill>
                          <a:latin typeface="Segoe UI"/>
                        </a:defRPr>
                      </a:pPr>
                      <a:r>
                        <a:t>Browse Learning Path</a:t>
                      </a:r>
                    </a:p>
                  </a:txBody>
                  <a:tcPr anchor="ctr">
                    <a:solidFill>
                      <a:srgbClr val="F8FAFC"/>
                    </a:solidFill>
                  </a:tcPr>
                </a:tc>
                <a:tc>
                  <a:txBody>
                    <a:bodyPr/>
                    <a:lstStyle/>
                    <a:p>
                      <a:pPr algn="l">
                        <a:defRPr sz="819" b="1">
                          <a:solidFill>
                            <a:srgbClr val="2563EB"/>
                          </a:solidFill>
                          <a:latin typeface="Segoe UI"/>
                        </a:defRPr>
                      </a:pPr>
                      <a:r>
                        <a:t>Learner</a:t>
                      </a:r>
                    </a:p>
                  </a:txBody>
                  <a:tcPr anchor="ctr">
                    <a:solidFill>
                      <a:srgbClr val="F8FAFC"/>
                    </a:solidFill>
                  </a:tcPr>
                </a:tc>
                <a:tc>
                  <a:txBody>
                    <a:bodyPr/>
                    <a:lstStyle/>
                    <a:p>
                      <a:pPr algn="ctr">
                        <a:defRPr sz="819">
                          <a:solidFill>
                            <a:srgbClr val="1E293B"/>
                          </a:solidFill>
                          <a:latin typeface="Segoe UI"/>
                        </a:defRPr>
                      </a:pPr>
                      <a:r>
                        <a:t>Learning</a:t>
                      </a:r>
                    </a:p>
                  </a:txBody>
                  <a:tcPr anchor="ctr">
                    <a:solidFill>
                      <a:srgbClr val="F8FAFC"/>
                    </a:solidFill>
                  </a:tcPr>
                </a:tc>
                <a:tc>
                  <a:txBody>
                    <a:bodyPr/>
                    <a:lstStyle/>
                    <a:p>
                      <a:pPr algn="l">
                        <a:defRPr sz="819">
                          <a:solidFill>
                            <a:srgbClr val="1E293B"/>
                          </a:solidFill>
                          <a:latin typeface="Segoe UI"/>
                        </a:defRPr>
                      </a:pPr>
                      <a:r>
                        <a:t>MVP-04</a:t>
                      </a:r>
                    </a:p>
                  </a:txBody>
                  <a:tcPr anchor="ctr">
                    <a:solidFill>
                      <a:srgbClr val="F8FAFC"/>
                    </a:solidFill>
                  </a:tcPr>
                </a:tc>
                <a:tc>
                  <a:txBody>
                    <a:bodyPr/>
                    <a:lstStyle/>
                    <a:p>
                      <a:pPr algn="l">
                        <a:defRPr sz="819">
                          <a:solidFill>
                            <a:srgbClr val="1E293B"/>
                          </a:solidFill>
                          <a:latin typeface="Segoe UI"/>
                        </a:defRPr>
                      </a:pPr>
                      <a:r>
                        <a:t>CORE-07</a:t>
                      </a:r>
                    </a:p>
                  </a:txBody>
                  <a:tcPr anchor="ctr">
                    <a:solidFill>
                      <a:srgbClr val="F8FAFC"/>
                    </a:solidFill>
                  </a:tcPr>
                </a:tc>
              </a:tr>
              <a:tr h="277177">
                <a:tc>
                  <a:txBody>
                    <a:bodyPr/>
                    <a:lstStyle/>
                    <a:p>
                      <a:pPr algn="ctr">
                        <a:defRPr sz="819" b="1">
                          <a:solidFill>
                            <a:srgbClr val="2563EB"/>
                          </a:solidFill>
                          <a:latin typeface="Segoe UI"/>
                        </a:defRPr>
                      </a:pPr>
                      <a:r>
                        <a:t>UC-05</a:t>
                      </a:r>
                    </a:p>
                  </a:txBody>
                  <a:tcPr anchor="ctr">
                    <a:solidFill>
                      <a:srgbClr val="FFFFFF"/>
                    </a:solidFill>
                  </a:tcPr>
                </a:tc>
                <a:tc>
                  <a:txBody>
                    <a:bodyPr/>
                    <a:lstStyle/>
                    <a:p>
                      <a:pPr algn="l">
                        <a:defRPr sz="819">
                          <a:solidFill>
                            <a:srgbClr val="1E293B"/>
                          </a:solidFill>
                          <a:latin typeface="Segoe UI"/>
                        </a:defRPr>
                      </a:pPr>
                      <a:r>
                        <a:t>Complete Lesson Exercises &amp; Retry</a:t>
                      </a:r>
                    </a:p>
                  </a:txBody>
                  <a:tcPr anchor="ctr">
                    <a:solidFill>
                      <a:srgbClr val="FFFFFF"/>
                    </a:solidFill>
                  </a:tcPr>
                </a:tc>
                <a:tc>
                  <a:txBody>
                    <a:bodyPr/>
                    <a:lstStyle/>
                    <a:p>
                      <a:pPr algn="l">
                        <a:defRPr sz="819" b="1">
                          <a:solidFill>
                            <a:srgbClr val="2563EB"/>
                          </a:solidFill>
                          <a:latin typeface="Segoe UI"/>
                        </a:defRPr>
                      </a:pPr>
                      <a:r>
                        <a:t>Learner</a:t>
                      </a:r>
                    </a:p>
                  </a:txBody>
                  <a:tcPr anchor="ctr">
                    <a:solidFill>
                      <a:srgbClr val="FFFFFF"/>
                    </a:solidFill>
                  </a:tcPr>
                </a:tc>
                <a:tc>
                  <a:txBody>
                    <a:bodyPr/>
                    <a:lstStyle/>
                    <a:p>
                      <a:pPr algn="ctr">
                        <a:defRPr sz="819">
                          <a:solidFill>
                            <a:srgbClr val="1E293B"/>
                          </a:solidFill>
                          <a:latin typeface="Segoe UI"/>
                        </a:defRPr>
                      </a:pPr>
                      <a:r>
                        <a:t>Learning</a:t>
                      </a:r>
                    </a:p>
                  </a:txBody>
                  <a:tcPr anchor="ctr">
                    <a:solidFill>
                      <a:srgbClr val="FFFFFF"/>
                    </a:solidFill>
                  </a:tcPr>
                </a:tc>
                <a:tc>
                  <a:txBody>
                    <a:bodyPr/>
                    <a:lstStyle/>
                    <a:p>
                      <a:pPr algn="l">
                        <a:defRPr sz="819">
                          <a:solidFill>
                            <a:srgbClr val="1E293B"/>
                          </a:solidFill>
                          <a:latin typeface="Segoe UI"/>
                        </a:defRPr>
                      </a:pPr>
                      <a:r>
                        <a:t>MVP-05, 06, 07</a:t>
                      </a:r>
                    </a:p>
                  </a:txBody>
                  <a:tcPr anchor="ctr">
                    <a:solidFill>
                      <a:srgbClr val="FFFFFF"/>
                    </a:solidFill>
                  </a:tcPr>
                </a:tc>
                <a:tc>
                  <a:txBody>
                    <a:bodyPr/>
                    <a:lstStyle/>
                    <a:p>
                      <a:pPr algn="l">
                        <a:defRPr sz="819">
                          <a:solidFill>
                            <a:srgbClr val="1E293B"/>
                          </a:solidFill>
                          <a:latin typeface="Segoe UI"/>
                        </a:defRPr>
                      </a:pPr>
                      <a:r>
                        <a:t>CORE-03, CORE-07</a:t>
                      </a:r>
                    </a:p>
                  </a:txBody>
                  <a:tcPr anchor="ctr">
                    <a:solidFill>
                      <a:srgbClr val="FFFFFF"/>
                    </a:solidFill>
                  </a:tcPr>
                </a:tc>
              </a:tr>
              <a:tr h="277177">
                <a:tc>
                  <a:txBody>
                    <a:bodyPr/>
                    <a:lstStyle/>
                    <a:p>
                      <a:pPr algn="ctr">
                        <a:defRPr sz="819" b="1">
                          <a:solidFill>
                            <a:srgbClr val="2563EB"/>
                          </a:solidFill>
                          <a:latin typeface="Segoe UI"/>
                        </a:defRPr>
                      </a:pPr>
                      <a:r>
                        <a:t>UC-06</a:t>
                      </a:r>
                    </a:p>
                  </a:txBody>
                  <a:tcPr anchor="ctr">
                    <a:solidFill>
                      <a:srgbClr val="F8FAFC"/>
                    </a:solidFill>
                  </a:tcPr>
                </a:tc>
                <a:tc>
                  <a:txBody>
                    <a:bodyPr/>
                    <a:lstStyle/>
                    <a:p>
                      <a:pPr algn="l">
                        <a:defRPr sz="819">
                          <a:solidFill>
                            <a:srgbClr val="1E293B"/>
                          </a:solidFill>
                          <a:latin typeface="Segoe UI"/>
                        </a:defRPr>
                      </a:pPr>
                      <a:r>
                        <a:t>Spaced Repetition Review (SRS)</a:t>
                      </a:r>
                    </a:p>
                  </a:txBody>
                  <a:tcPr anchor="ctr">
                    <a:solidFill>
                      <a:srgbClr val="F8FAFC"/>
                    </a:solidFill>
                  </a:tcPr>
                </a:tc>
                <a:tc>
                  <a:txBody>
                    <a:bodyPr/>
                    <a:lstStyle/>
                    <a:p>
                      <a:pPr algn="l">
                        <a:defRPr sz="819" b="1">
                          <a:solidFill>
                            <a:srgbClr val="2563EB"/>
                          </a:solidFill>
                          <a:latin typeface="Segoe UI"/>
                        </a:defRPr>
                      </a:pPr>
                      <a:r>
                        <a:t>Learner</a:t>
                      </a:r>
                    </a:p>
                  </a:txBody>
                  <a:tcPr anchor="ctr">
                    <a:solidFill>
                      <a:srgbClr val="F8FAFC"/>
                    </a:solidFill>
                  </a:tcPr>
                </a:tc>
                <a:tc>
                  <a:txBody>
                    <a:bodyPr/>
                    <a:lstStyle/>
                    <a:p>
                      <a:pPr algn="ctr">
                        <a:defRPr sz="819">
                          <a:solidFill>
                            <a:srgbClr val="1E293B"/>
                          </a:solidFill>
                          <a:latin typeface="Segoe UI"/>
                        </a:defRPr>
                      </a:pPr>
                      <a:r>
                        <a:t>Learning</a:t>
                      </a:r>
                    </a:p>
                  </a:txBody>
                  <a:tcPr anchor="ctr">
                    <a:solidFill>
                      <a:srgbClr val="F8FAFC"/>
                    </a:solidFill>
                  </a:tcPr>
                </a:tc>
                <a:tc>
                  <a:txBody>
                    <a:bodyPr/>
                    <a:lstStyle/>
                    <a:p>
                      <a:pPr algn="l">
                        <a:defRPr sz="819">
                          <a:solidFill>
                            <a:srgbClr val="1E293B"/>
                          </a:solidFill>
                          <a:latin typeface="Segoe UI"/>
                        </a:defRPr>
                      </a:pPr>
                      <a:r>
                        <a:t>MVP-09</a:t>
                      </a:r>
                    </a:p>
                  </a:txBody>
                  <a:tcPr anchor="ctr">
                    <a:solidFill>
                      <a:srgbClr val="F8FAFC"/>
                    </a:solidFill>
                  </a:tcPr>
                </a:tc>
                <a:tc>
                  <a:txBody>
                    <a:bodyPr/>
                    <a:lstStyle/>
                    <a:p>
                      <a:pPr algn="l">
                        <a:defRPr sz="819">
                          <a:solidFill>
                            <a:srgbClr val="1E293B"/>
                          </a:solidFill>
                          <a:latin typeface="Segoe UI"/>
                        </a:defRPr>
                      </a:pPr>
                      <a:r>
                        <a:t>CORE-08</a:t>
                      </a:r>
                    </a:p>
                  </a:txBody>
                  <a:tcPr anchor="ctr">
                    <a:solidFill>
                      <a:srgbClr val="F8FAFC"/>
                    </a:solidFill>
                  </a:tcPr>
                </a:tc>
              </a:tr>
              <a:tr h="277177">
                <a:tc>
                  <a:txBody>
                    <a:bodyPr/>
                    <a:lstStyle/>
                    <a:p>
                      <a:pPr algn="ctr">
                        <a:defRPr sz="819" b="1">
                          <a:solidFill>
                            <a:srgbClr val="2563EB"/>
                          </a:solidFill>
                          <a:latin typeface="Segoe UI"/>
                        </a:defRPr>
                      </a:pPr>
                      <a:r>
                        <a:t>UC-07</a:t>
                      </a:r>
                    </a:p>
                  </a:txBody>
                  <a:tcPr anchor="ctr">
                    <a:solidFill>
                      <a:srgbClr val="FFFFFF"/>
                    </a:solidFill>
                  </a:tcPr>
                </a:tc>
                <a:tc>
                  <a:txBody>
                    <a:bodyPr/>
                    <a:lstStyle/>
                    <a:p>
                      <a:pPr algn="l">
                        <a:defRPr sz="819">
                          <a:solidFill>
                            <a:srgbClr val="1E293B"/>
                          </a:solidFill>
                          <a:latin typeface="Segoe UI"/>
                        </a:defRPr>
                      </a:pPr>
                      <a:r>
                        <a:t>Track Progress &amp; Streak</a:t>
                      </a:r>
                    </a:p>
                  </a:txBody>
                  <a:tcPr anchor="ctr">
                    <a:solidFill>
                      <a:srgbClr val="FFFFFF"/>
                    </a:solidFill>
                  </a:tcPr>
                </a:tc>
                <a:tc>
                  <a:txBody>
                    <a:bodyPr/>
                    <a:lstStyle/>
                    <a:p>
                      <a:pPr algn="l">
                        <a:defRPr sz="819" b="1">
                          <a:solidFill>
                            <a:srgbClr val="2563EB"/>
                          </a:solidFill>
                          <a:latin typeface="Segoe UI"/>
                        </a:defRPr>
                      </a:pPr>
                      <a:r>
                        <a:t>Learner</a:t>
                      </a:r>
                    </a:p>
                  </a:txBody>
                  <a:tcPr anchor="ctr">
                    <a:solidFill>
                      <a:srgbClr val="FFFFFF"/>
                    </a:solidFill>
                  </a:tcPr>
                </a:tc>
                <a:tc>
                  <a:txBody>
                    <a:bodyPr/>
                    <a:lstStyle/>
                    <a:p>
                      <a:pPr algn="ctr">
                        <a:defRPr sz="819">
                          <a:solidFill>
                            <a:srgbClr val="1E293B"/>
                          </a:solidFill>
                          <a:latin typeface="Segoe UI"/>
                        </a:defRPr>
                      </a:pPr>
                      <a:r>
                        <a:t>Learning</a:t>
                      </a:r>
                    </a:p>
                  </a:txBody>
                  <a:tcPr anchor="ctr">
                    <a:solidFill>
                      <a:srgbClr val="FFFFFF"/>
                    </a:solidFill>
                  </a:tcPr>
                </a:tc>
                <a:tc>
                  <a:txBody>
                    <a:bodyPr/>
                    <a:lstStyle/>
                    <a:p>
                      <a:pPr algn="l">
                        <a:defRPr sz="819">
                          <a:solidFill>
                            <a:srgbClr val="1E293B"/>
                          </a:solidFill>
                          <a:latin typeface="Segoe UI"/>
                        </a:defRPr>
                      </a:pPr>
                      <a:r>
                        <a:t>MVP-08, 10, 11</a:t>
                      </a:r>
                    </a:p>
                  </a:txBody>
                  <a:tcPr anchor="ctr">
                    <a:solidFill>
                      <a:srgbClr val="FFFFFF"/>
                    </a:solidFill>
                  </a:tcPr>
                </a:tc>
                <a:tc>
                  <a:txBody>
                    <a:bodyPr/>
                    <a:lstStyle/>
                    <a:p>
                      <a:pPr algn="l">
                        <a:defRPr sz="819">
                          <a:solidFill>
                            <a:srgbClr val="1E293B"/>
                          </a:solidFill>
                          <a:latin typeface="Segoe UI"/>
                        </a:defRPr>
                      </a:pPr>
                      <a:r>
                        <a:t>CORE-10, CORE-11</a:t>
                      </a:r>
                    </a:p>
                  </a:txBody>
                  <a:tcPr anchor="ctr">
                    <a:solidFill>
                      <a:srgbClr val="FFFFFF"/>
                    </a:solidFill>
                  </a:tcPr>
                </a:tc>
              </a:tr>
              <a:tr h="277177">
                <a:tc>
                  <a:txBody>
                    <a:bodyPr/>
                    <a:lstStyle/>
                    <a:p>
                      <a:pPr algn="ctr">
                        <a:defRPr sz="819" b="1">
                          <a:solidFill>
                            <a:srgbClr val="2563EB"/>
                          </a:solidFill>
                          <a:latin typeface="Segoe UI"/>
                        </a:defRPr>
                      </a:pPr>
                      <a:r>
                        <a:t>UC-08</a:t>
                      </a:r>
                    </a:p>
                  </a:txBody>
                  <a:tcPr anchor="ctr">
                    <a:solidFill>
                      <a:srgbClr val="F8FAFC"/>
                    </a:solidFill>
                  </a:tcPr>
                </a:tc>
                <a:tc>
                  <a:txBody>
                    <a:bodyPr/>
                    <a:lstStyle/>
                    <a:p>
                      <a:pPr algn="l">
                        <a:defRPr sz="819">
                          <a:solidFill>
                            <a:srgbClr val="1E293B"/>
                          </a:solidFill>
                          <a:latin typeface="Segoe UI"/>
                        </a:defRPr>
                      </a:pPr>
                      <a:r>
                        <a:t>Create &amp; Edit Lesson Draft</a:t>
                      </a:r>
                    </a:p>
                  </a:txBody>
                  <a:tcPr anchor="ctr">
                    <a:solidFill>
                      <a:srgbClr val="F8FAFC"/>
                    </a:solidFill>
                  </a:tcPr>
                </a:tc>
                <a:tc>
                  <a:txBody>
                    <a:bodyPr/>
                    <a:lstStyle/>
                    <a:p>
                      <a:pPr algn="l">
                        <a:defRPr sz="819" b="1">
                          <a:solidFill>
                            <a:srgbClr val="EA580C"/>
                          </a:solidFill>
                          <a:latin typeface="Segoe UI"/>
                        </a:defRPr>
                      </a:pPr>
                      <a:r>
                        <a:t>Lesson Creator</a:t>
                      </a:r>
                    </a:p>
                  </a:txBody>
                  <a:tcPr anchor="ctr">
                    <a:solidFill>
                      <a:srgbClr val="F8FAFC"/>
                    </a:solidFill>
                  </a:tcPr>
                </a:tc>
                <a:tc>
                  <a:txBody>
                    <a:bodyPr/>
                    <a:lstStyle/>
                    <a:p>
                      <a:pPr algn="ctr">
                        <a:defRPr sz="819">
                          <a:solidFill>
                            <a:srgbClr val="1E293B"/>
                          </a:solidFill>
                          <a:latin typeface="Segoe UI"/>
                        </a:defRPr>
                      </a:pPr>
                      <a:r>
                        <a:t>Content</a:t>
                      </a:r>
                    </a:p>
                  </a:txBody>
                  <a:tcPr anchor="ctr">
                    <a:solidFill>
                      <a:srgbClr val="F8FAFC"/>
                    </a:solidFill>
                  </a:tcPr>
                </a:tc>
                <a:tc>
                  <a:txBody>
                    <a:bodyPr/>
                    <a:lstStyle/>
                    <a:p>
                      <a:pPr algn="l">
                        <a:defRPr sz="819">
                          <a:solidFill>
                            <a:srgbClr val="1E293B"/>
                          </a:solidFill>
                          <a:latin typeface="Segoe UI"/>
                        </a:defRPr>
                      </a:pPr>
                      <a:r>
                        <a:t>MVP-05, 06, 12</a:t>
                      </a:r>
                    </a:p>
                  </a:txBody>
                  <a:tcPr anchor="ctr">
                    <a:solidFill>
                      <a:srgbClr val="F8FAFC"/>
                    </a:solidFill>
                  </a:tcPr>
                </a:tc>
                <a:tc>
                  <a:txBody>
                    <a:bodyPr/>
                    <a:lstStyle/>
                    <a:p>
                      <a:pPr algn="l">
                        <a:defRPr sz="819">
                          <a:solidFill>
                            <a:srgbClr val="1E293B"/>
                          </a:solidFill>
                          <a:latin typeface="Segoe UI"/>
                        </a:defRPr>
                      </a:pPr>
                      <a:r>
                        <a:t>CORE-02, 03, 06</a:t>
                      </a:r>
                    </a:p>
                  </a:txBody>
                  <a:tcPr anchor="ctr">
                    <a:solidFill>
                      <a:srgbClr val="F8FAFC"/>
                    </a:solidFill>
                  </a:tcPr>
                </a:tc>
              </a:tr>
              <a:tr h="277177">
                <a:tc>
                  <a:txBody>
                    <a:bodyPr/>
                    <a:lstStyle/>
                    <a:p>
                      <a:pPr algn="ctr">
                        <a:defRPr sz="819" b="1">
                          <a:solidFill>
                            <a:srgbClr val="2563EB"/>
                          </a:solidFill>
                          <a:latin typeface="Segoe UI"/>
                        </a:defRPr>
                      </a:pPr>
                      <a:r>
                        <a:t>UC-09</a:t>
                      </a:r>
                    </a:p>
                  </a:txBody>
                  <a:tcPr anchor="ctr">
                    <a:solidFill>
                      <a:srgbClr val="FFFFFF"/>
                    </a:solidFill>
                  </a:tcPr>
                </a:tc>
                <a:tc>
                  <a:txBody>
                    <a:bodyPr/>
                    <a:lstStyle/>
                    <a:p>
                      <a:pPr algn="l">
                        <a:defRPr sz="819">
                          <a:solidFill>
                            <a:srgbClr val="1E293B"/>
                          </a:solidFill>
                          <a:latin typeface="Segoe UI"/>
                        </a:defRPr>
                      </a:pPr>
                      <a:r>
                        <a:t>Review &amp; Approve Content</a:t>
                      </a:r>
                    </a:p>
                  </a:txBody>
                  <a:tcPr anchor="ctr">
                    <a:solidFill>
                      <a:srgbClr val="FFFFFF"/>
                    </a:solidFill>
                  </a:tcPr>
                </a:tc>
                <a:tc>
                  <a:txBody>
                    <a:bodyPr/>
                    <a:lstStyle/>
                    <a:p>
                      <a:pPr algn="l">
                        <a:defRPr sz="819" b="1">
                          <a:solidFill>
                            <a:srgbClr val="10B981"/>
                          </a:solidFill>
                          <a:latin typeface="Segoe UI"/>
                        </a:defRPr>
                      </a:pPr>
                      <a:r>
                        <a:t>Moderator</a:t>
                      </a:r>
                    </a:p>
                  </a:txBody>
                  <a:tcPr anchor="ctr">
                    <a:solidFill>
                      <a:srgbClr val="FFFFFF"/>
                    </a:solidFill>
                  </a:tcPr>
                </a:tc>
                <a:tc>
                  <a:txBody>
                    <a:bodyPr/>
                    <a:lstStyle/>
                    <a:p>
                      <a:pPr algn="ctr">
                        <a:defRPr sz="819">
                          <a:solidFill>
                            <a:srgbClr val="1E293B"/>
                          </a:solidFill>
                          <a:latin typeface="Segoe UI"/>
                        </a:defRPr>
                      </a:pPr>
                      <a:r>
                        <a:t>Content</a:t>
                      </a:r>
                    </a:p>
                  </a:txBody>
                  <a:tcPr anchor="ctr">
                    <a:solidFill>
                      <a:srgbClr val="FFFFFF"/>
                    </a:solidFill>
                  </a:tcPr>
                </a:tc>
                <a:tc>
                  <a:txBody>
                    <a:bodyPr/>
                    <a:lstStyle/>
                    <a:p>
                      <a:pPr algn="l">
                        <a:defRPr sz="819">
                          <a:solidFill>
                            <a:srgbClr val="1E293B"/>
                          </a:solidFill>
                          <a:latin typeface="Segoe UI"/>
                        </a:defRPr>
                      </a:pPr>
                      <a:r>
                        <a:t>MVP-07, MVP-13</a:t>
                      </a:r>
                    </a:p>
                  </a:txBody>
                  <a:tcPr anchor="ctr">
                    <a:solidFill>
                      <a:srgbClr val="FFFFFF"/>
                    </a:solidFill>
                  </a:tcPr>
                </a:tc>
                <a:tc>
                  <a:txBody>
                    <a:bodyPr/>
                    <a:lstStyle/>
                    <a:p>
                      <a:pPr algn="l">
                        <a:defRPr sz="819">
                          <a:solidFill>
                            <a:srgbClr val="1E293B"/>
                          </a:solidFill>
                          <a:latin typeface="Segoe UI"/>
                        </a:defRPr>
                      </a:pPr>
                      <a:r>
                        <a:t>CORE-04</a:t>
                      </a:r>
                    </a:p>
                  </a:txBody>
                  <a:tcPr anchor="ctr">
                    <a:solidFill>
                      <a:srgbClr val="FFFFFF"/>
                    </a:solidFill>
                  </a:tcPr>
                </a:tc>
              </a:tr>
              <a:tr h="277177">
                <a:tc>
                  <a:txBody>
                    <a:bodyPr/>
                    <a:lstStyle/>
                    <a:p>
                      <a:pPr algn="ctr">
                        <a:defRPr sz="819" b="1">
                          <a:solidFill>
                            <a:srgbClr val="2563EB"/>
                          </a:solidFill>
                          <a:latin typeface="Segoe UI"/>
                        </a:defRPr>
                      </a:pPr>
                      <a:r>
                        <a:t>UC-10</a:t>
                      </a:r>
                    </a:p>
                  </a:txBody>
                  <a:tcPr anchor="ctr">
                    <a:solidFill>
                      <a:srgbClr val="F8FAFC"/>
                    </a:solidFill>
                  </a:tcPr>
                </a:tc>
                <a:tc>
                  <a:txBody>
                    <a:bodyPr/>
                    <a:lstStyle/>
                    <a:p>
                      <a:pPr algn="l">
                        <a:defRPr sz="819">
                          <a:solidFill>
                            <a:srgbClr val="1E293B"/>
                          </a:solidFill>
                          <a:latin typeface="Segoe UI"/>
                        </a:defRPr>
                      </a:pPr>
                      <a:r>
                        <a:t>Publish Approved Content</a:t>
                      </a:r>
                    </a:p>
                  </a:txBody>
                  <a:tcPr anchor="ctr">
                    <a:solidFill>
                      <a:srgbClr val="F8FAFC"/>
                    </a:solidFill>
                  </a:tcPr>
                </a:tc>
                <a:tc>
                  <a:txBody>
                    <a:bodyPr/>
                    <a:lstStyle/>
                    <a:p>
                      <a:pPr algn="l">
                        <a:defRPr sz="819" b="1">
                          <a:solidFill>
                            <a:srgbClr val="7C3AED"/>
                          </a:solidFill>
                          <a:latin typeface="Segoe UI"/>
                        </a:defRPr>
                      </a:pPr>
                      <a:r>
                        <a:t>Organizational Manager</a:t>
                      </a:r>
                    </a:p>
                  </a:txBody>
                  <a:tcPr anchor="ctr">
                    <a:solidFill>
                      <a:srgbClr val="F8FAFC"/>
                    </a:solidFill>
                  </a:tcPr>
                </a:tc>
                <a:tc>
                  <a:txBody>
                    <a:bodyPr/>
                    <a:lstStyle/>
                    <a:p>
                      <a:pPr algn="ctr">
                        <a:defRPr sz="819">
                          <a:solidFill>
                            <a:srgbClr val="1E293B"/>
                          </a:solidFill>
                          <a:latin typeface="Segoe UI"/>
                        </a:defRPr>
                      </a:pPr>
                      <a:r>
                        <a:t>Content</a:t>
                      </a:r>
                    </a:p>
                  </a:txBody>
                  <a:tcPr anchor="ctr">
                    <a:solidFill>
                      <a:srgbClr val="F8FAFC"/>
                    </a:solidFill>
                  </a:tcPr>
                </a:tc>
                <a:tc>
                  <a:txBody>
                    <a:bodyPr/>
                    <a:lstStyle/>
                    <a:p>
                      <a:pPr algn="l">
                        <a:defRPr sz="819">
                          <a:solidFill>
                            <a:srgbClr val="1E293B"/>
                          </a:solidFill>
                          <a:latin typeface="Segoe UI"/>
                        </a:defRPr>
                      </a:pPr>
                      <a:r>
                        <a:t>MVP-13</a:t>
                      </a:r>
                    </a:p>
                  </a:txBody>
                  <a:tcPr anchor="ctr">
                    <a:solidFill>
                      <a:srgbClr val="F8FAFC"/>
                    </a:solidFill>
                  </a:tcPr>
                </a:tc>
                <a:tc>
                  <a:txBody>
                    <a:bodyPr/>
                    <a:lstStyle/>
                    <a:p>
                      <a:pPr algn="l">
                        <a:defRPr sz="819">
                          <a:solidFill>
                            <a:srgbClr val="1E293B"/>
                          </a:solidFill>
                          <a:latin typeface="Segoe UI"/>
                        </a:defRPr>
                      </a:pPr>
                      <a:r>
                        <a:t>CORE-05</a:t>
                      </a:r>
                    </a:p>
                  </a:txBody>
                  <a:tcPr anchor="ctr">
                    <a:solidFill>
                      <a:srgbClr val="F8FAFC"/>
                    </a:solidFill>
                  </a:tcPr>
                </a:tc>
              </a:tr>
              <a:tr h="277177">
                <a:tc>
                  <a:txBody>
                    <a:bodyPr/>
                    <a:lstStyle/>
                    <a:p>
                      <a:pPr algn="ctr">
                        <a:defRPr sz="819" b="1">
                          <a:solidFill>
                            <a:srgbClr val="2563EB"/>
                          </a:solidFill>
                          <a:latin typeface="Segoe UI"/>
                        </a:defRPr>
                      </a:pPr>
                      <a:r>
                        <a:t>UC-11</a:t>
                      </a:r>
                    </a:p>
                  </a:txBody>
                  <a:tcPr anchor="ctr">
                    <a:solidFill>
                      <a:srgbClr val="FFFFFF"/>
                    </a:solidFill>
                  </a:tcPr>
                </a:tc>
                <a:tc>
                  <a:txBody>
                    <a:bodyPr/>
                    <a:lstStyle/>
                    <a:p>
                      <a:pPr algn="l">
                        <a:defRPr sz="819">
                          <a:solidFill>
                            <a:srgbClr val="1E293B"/>
                          </a:solidFill>
                          <a:latin typeface="Segoe UI"/>
                        </a:defRPr>
                      </a:pPr>
                      <a:r>
                        <a:t>Manage Accounts &amp; Roles</a:t>
                      </a:r>
                    </a:p>
                  </a:txBody>
                  <a:tcPr anchor="ctr">
                    <a:solidFill>
                      <a:srgbClr val="FFFFFF"/>
                    </a:solidFill>
                  </a:tcPr>
                </a:tc>
                <a:tc>
                  <a:txBody>
                    <a:bodyPr/>
                    <a:lstStyle/>
                    <a:p>
                      <a:pPr algn="l">
                        <a:defRPr sz="819" b="1">
                          <a:solidFill>
                            <a:srgbClr val="DC2626"/>
                          </a:solidFill>
                          <a:latin typeface="Segoe UI"/>
                        </a:defRPr>
                      </a:pPr>
                      <a:r>
                        <a:t>Administrator</a:t>
                      </a:r>
                    </a:p>
                  </a:txBody>
                  <a:tcPr anchor="ctr">
                    <a:solidFill>
                      <a:srgbClr val="FFFFFF"/>
                    </a:solidFill>
                  </a:tcPr>
                </a:tc>
                <a:tc>
                  <a:txBody>
                    <a:bodyPr/>
                    <a:lstStyle/>
                    <a:p>
                      <a:pPr algn="ctr">
                        <a:defRPr sz="819">
                          <a:solidFill>
                            <a:srgbClr val="1E293B"/>
                          </a:solidFill>
                          <a:latin typeface="Segoe UI"/>
                        </a:defRPr>
                      </a:pPr>
                      <a:r>
                        <a:t>Admin/Ops</a:t>
                      </a:r>
                    </a:p>
                  </a:txBody>
                  <a:tcPr anchor="ctr">
                    <a:solidFill>
                      <a:srgbClr val="FFFFFF"/>
                    </a:solidFill>
                  </a:tcPr>
                </a:tc>
                <a:tc>
                  <a:txBody>
                    <a:bodyPr/>
                    <a:lstStyle/>
                    <a:p>
                      <a:pPr algn="l">
                        <a:defRPr sz="819">
                          <a:solidFill>
                            <a:srgbClr val="1E293B"/>
                          </a:solidFill>
                          <a:latin typeface="Segoe UI"/>
                        </a:defRPr>
                      </a:pPr>
                      <a:r>
                        <a:t>MVP-14, MVP-19</a:t>
                      </a:r>
                    </a:p>
                  </a:txBody>
                  <a:tcPr anchor="ctr">
                    <a:solidFill>
                      <a:srgbClr val="FFFFFF"/>
                    </a:solidFill>
                  </a:tcPr>
                </a:tc>
                <a:tc>
                  <a:txBody>
                    <a:bodyPr/>
                    <a:lstStyle/>
                    <a:p>
                      <a:pPr algn="l">
                        <a:defRPr sz="819">
                          <a:solidFill>
                            <a:srgbClr val="1E293B"/>
                          </a:solidFill>
                          <a:latin typeface="Segoe UI"/>
                        </a:defRPr>
                      </a:pPr>
                      <a:r>
                        <a:t>CORE-12</a:t>
                      </a:r>
                    </a:p>
                  </a:txBody>
                  <a:tcPr anchor="ctr">
                    <a:solidFill>
                      <a:srgbClr val="FFFFFF"/>
                    </a:solidFill>
                  </a:tcPr>
                </a:tc>
              </a:tr>
              <a:tr h="277177">
                <a:tc>
                  <a:txBody>
                    <a:bodyPr/>
                    <a:lstStyle/>
                    <a:p>
                      <a:pPr algn="ctr">
                        <a:defRPr sz="819" b="1">
                          <a:solidFill>
                            <a:srgbClr val="2563EB"/>
                          </a:solidFill>
                          <a:latin typeface="Segoe UI"/>
                        </a:defRPr>
                      </a:pPr>
                      <a:r>
                        <a:t>UC-12</a:t>
                      </a:r>
                    </a:p>
                  </a:txBody>
                  <a:tcPr anchor="ctr">
                    <a:solidFill>
                      <a:srgbClr val="F8FAFC"/>
                    </a:solidFill>
                  </a:tcPr>
                </a:tc>
                <a:tc>
                  <a:txBody>
                    <a:bodyPr/>
                    <a:lstStyle/>
                    <a:p>
                      <a:pPr algn="l">
                        <a:defRPr sz="819">
                          <a:solidFill>
                            <a:srgbClr val="1E293B"/>
                          </a:solidFill>
                          <a:latin typeface="Segoe UI"/>
                        </a:defRPr>
                      </a:pPr>
                      <a:r>
                        <a:t>View System Reports</a:t>
                      </a:r>
                    </a:p>
                  </a:txBody>
                  <a:tcPr anchor="ctr">
                    <a:solidFill>
                      <a:srgbClr val="F8FAFC"/>
                    </a:solidFill>
                  </a:tcPr>
                </a:tc>
                <a:tc>
                  <a:txBody>
                    <a:bodyPr/>
                    <a:lstStyle/>
                    <a:p>
                      <a:pPr algn="l">
                        <a:defRPr sz="819" b="1">
                          <a:solidFill>
                            <a:srgbClr val="DC2626"/>
                          </a:solidFill>
                          <a:latin typeface="Segoe UI"/>
                        </a:defRPr>
                      </a:pPr>
                      <a:r>
                        <a:t>Administrator</a:t>
                      </a:r>
                    </a:p>
                  </a:txBody>
                  <a:tcPr anchor="ctr">
                    <a:solidFill>
                      <a:srgbClr val="F8FAFC"/>
                    </a:solidFill>
                  </a:tcPr>
                </a:tc>
                <a:tc>
                  <a:txBody>
                    <a:bodyPr/>
                    <a:lstStyle/>
                    <a:p>
                      <a:pPr algn="ctr">
                        <a:defRPr sz="819">
                          <a:solidFill>
                            <a:srgbClr val="1E293B"/>
                          </a:solidFill>
                          <a:latin typeface="Segoe UI"/>
                        </a:defRPr>
                      </a:pPr>
                      <a:r>
                        <a:t>Admin/Ops</a:t>
                      </a:r>
                    </a:p>
                  </a:txBody>
                  <a:tcPr anchor="ctr">
                    <a:solidFill>
                      <a:srgbClr val="F8FAFC"/>
                    </a:solidFill>
                  </a:tcPr>
                </a:tc>
                <a:tc>
                  <a:txBody>
                    <a:bodyPr/>
                    <a:lstStyle/>
                    <a:p>
                      <a:pPr algn="l">
                        <a:defRPr sz="819">
                          <a:solidFill>
                            <a:srgbClr val="1E293B"/>
                          </a:solidFill>
                          <a:latin typeface="Segoe UI"/>
                        </a:defRPr>
                      </a:pPr>
                      <a:r>
                        <a:t>MVP-15</a:t>
                      </a:r>
                    </a:p>
                  </a:txBody>
                  <a:tcPr anchor="ctr">
                    <a:solidFill>
                      <a:srgbClr val="F8FAFC"/>
                    </a:solidFill>
                  </a:tcPr>
                </a:tc>
                <a:tc>
                  <a:txBody>
                    <a:bodyPr/>
                    <a:lstStyle/>
                    <a:p>
                      <a:pPr algn="l">
                        <a:defRPr sz="819">
                          <a:solidFill>
                            <a:srgbClr val="1E293B"/>
                          </a:solidFill>
                          <a:latin typeface="Segoe UI"/>
                        </a:defRPr>
                      </a:pPr>
                      <a:r>
                        <a:t>EXT-05 (Báo cáo)</a:t>
                      </a:r>
                    </a:p>
                  </a:txBody>
                  <a:tcPr anchor="ctr">
                    <a:solidFill>
                      <a:srgbClr val="F8FAFC"/>
                    </a:solidFill>
                  </a:tcPr>
                </a:tc>
              </a:tr>
              <a:tr h="277177">
                <a:tc>
                  <a:txBody>
                    <a:bodyPr/>
                    <a:lstStyle/>
                    <a:p>
                      <a:pPr algn="ctr">
                        <a:defRPr sz="819" b="1">
                          <a:solidFill>
                            <a:srgbClr val="2563EB"/>
                          </a:solidFill>
                          <a:latin typeface="Segoe UI"/>
                        </a:defRPr>
                      </a:pPr>
                      <a:r>
                        <a:t>UC-13</a:t>
                      </a:r>
                    </a:p>
                  </a:txBody>
                  <a:tcPr anchor="ctr">
                    <a:solidFill>
                      <a:srgbClr val="FFFFFF"/>
                    </a:solidFill>
                  </a:tcPr>
                </a:tc>
                <a:tc>
                  <a:txBody>
                    <a:bodyPr/>
                    <a:lstStyle/>
                    <a:p>
                      <a:pPr algn="l">
                        <a:defRPr sz="819">
                          <a:solidFill>
                            <a:srgbClr val="1E293B"/>
                          </a:solidFill>
                          <a:latin typeface="Segoe UI"/>
                        </a:defRPr>
                      </a:pPr>
                      <a:r>
                        <a:t>View &amp; Audit Security Logs</a:t>
                      </a:r>
                    </a:p>
                  </a:txBody>
                  <a:tcPr anchor="ctr">
                    <a:solidFill>
                      <a:srgbClr val="FFFFFF"/>
                    </a:solidFill>
                  </a:tcPr>
                </a:tc>
                <a:tc>
                  <a:txBody>
                    <a:bodyPr/>
                    <a:lstStyle/>
                    <a:p>
                      <a:pPr algn="l">
                        <a:defRPr sz="819" b="1">
                          <a:solidFill>
                            <a:srgbClr val="DC2626"/>
                          </a:solidFill>
                          <a:latin typeface="Segoe UI"/>
                        </a:defRPr>
                      </a:pPr>
                      <a:r>
                        <a:t>Administrator</a:t>
                      </a:r>
                    </a:p>
                  </a:txBody>
                  <a:tcPr anchor="ctr">
                    <a:solidFill>
                      <a:srgbClr val="FFFFFF"/>
                    </a:solidFill>
                  </a:tcPr>
                </a:tc>
                <a:tc>
                  <a:txBody>
                    <a:bodyPr/>
                    <a:lstStyle/>
                    <a:p>
                      <a:pPr algn="ctr">
                        <a:defRPr sz="819">
                          <a:solidFill>
                            <a:srgbClr val="1E293B"/>
                          </a:solidFill>
                          <a:latin typeface="Segoe UI"/>
                        </a:defRPr>
                      </a:pPr>
                      <a:r>
                        <a:t>Admin/Ops</a:t>
                      </a:r>
                    </a:p>
                  </a:txBody>
                  <a:tcPr anchor="ctr">
                    <a:solidFill>
                      <a:srgbClr val="FFFFFF"/>
                    </a:solidFill>
                  </a:tcPr>
                </a:tc>
                <a:tc>
                  <a:txBody>
                    <a:bodyPr/>
                    <a:lstStyle/>
                    <a:p>
                      <a:pPr algn="l">
                        <a:defRPr sz="819">
                          <a:solidFill>
                            <a:srgbClr val="1E293B"/>
                          </a:solidFill>
                          <a:latin typeface="Segoe UI"/>
                        </a:defRPr>
                      </a:pPr>
                      <a:r>
                        <a:t>MVP-19</a:t>
                      </a:r>
                    </a:p>
                  </a:txBody>
                  <a:tcPr anchor="ctr">
                    <a:solidFill>
                      <a:srgbClr val="FFFFFF"/>
                    </a:solidFill>
                  </a:tcPr>
                </a:tc>
                <a:tc>
                  <a:txBody>
                    <a:bodyPr/>
                    <a:lstStyle/>
                    <a:p>
                      <a:pPr algn="l">
                        <a:defRPr sz="819">
                          <a:solidFill>
                            <a:srgbClr val="1E293B"/>
                          </a:solidFill>
                          <a:latin typeface="Segoe UI"/>
                        </a:defRPr>
                      </a:pPr>
                      <a:r>
                        <a:t>CORE-05, 12, EXT-05</a:t>
                      </a:r>
                    </a:p>
                  </a:txBody>
                  <a:tcPr anchor="ctr">
                    <a:solidFill>
                      <a:srgbClr val="FFFFFF"/>
                    </a:solidFill>
                  </a:tcPr>
                </a:tc>
              </a:tr>
              <a:tr h="277177">
                <a:tc>
                  <a:txBody>
                    <a:bodyPr/>
                    <a:lstStyle/>
                    <a:p>
                      <a:pPr algn="ctr">
                        <a:defRPr sz="819" b="1">
                          <a:solidFill>
                            <a:srgbClr val="2563EB"/>
                          </a:solidFill>
                          <a:latin typeface="Segoe UI"/>
                        </a:defRPr>
                      </a:pPr>
                      <a:r>
                        <a:t>UC-14</a:t>
                      </a:r>
                    </a:p>
                  </a:txBody>
                  <a:tcPr anchor="ctr">
                    <a:solidFill>
                      <a:srgbClr val="F8FAFC"/>
                    </a:solidFill>
                  </a:tcPr>
                </a:tc>
                <a:tc>
                  <a:txBody>
                    <a:bodyPr/>
                    <a:lstStyle/>
                    <a:p>
                      <a:pPr algn="l">
                        <a:defRPr sz="819">
                          <a:solidFill>
                            <a:srgbClr val="1E293B"/>
                          </a:solidFill>
                          <a:latin typeface="Segoe UI"/>
                        </a:defRPr>
                      </a:pPr>
                      <a:r>
                        <a:t>Handle Support Tickets</a:t>
                      </a:r>
                    </a:p>
                  </a:txBody>
                  <a:tcPr anchor="ctr">
                    <a:solidFill>
                      <a:srgbClr val="F8FAFC"/>
                    </a:solidFill>
                  </a:tcPr>
                </a:tc>
                <a:tc>
                  <a:txBody>
                    <a:bodyPr/>
                    <a:lstStyle/>
                    <a:p>
                      <a:pPr algn="l">
                        <a:defRPr sz="819" b="1">
                          <a:solidFill>
                            <a:srgbClr val="64748B"/>
                          </a:solidFill>
                          <a:latin typeface="Segoe UI"/>
                        </a:defRPr>
                      </a:pPr>
                      <a:r>
                        <a:t>Operations Staff</a:t>
                      </a:r>
                    </a:p>
                  </a:txBody>
                  <a:tcPr anchor="ctr">
                    <a:solidFill>
                      <a:srgbClr val="F8FAFC"/>
                    </a:solidFill>
                  </a:tcPr>
                </a:tc>
                <a:tc>
                  <a:txBody>
                    <a:bodyPr/>
                    <a:lstStyle/>
                    <a:p>
                      <a:pPr algn="ctr">
                        <a:defRPr sz="819">
                          <a:solidFill>
                            <a:srgbClr val="1E293B"/>
                          </a:solidFill>
                          <a:latin typeface="Segoe UI"/>
                        </a:defRPr>
                      </a:pPr>
                      <a:r>
                        <a:t>Admin/Ops</a:t>
                      </a:r>
                    </a:p>
                  </a:txBody>
                  <a:tcPr anchor="ctr">
                    <a:solidFill>
                      <a:srgbClr val="F8FAFC"/>
                    </a:solidFill>
                  </a:tcPr>
                </a:tc>
                <a:tc>
                  <a:txBody>
                    <a:bodyPr/>
                    <a:lstStyle/>
                    <a:p>
                      <a:pPr algn="l">
                        <a:defRPr sz="819">
                          <a:solidFill>
                            <a:srgbClr val="1E293B"/>
                          </a:solidFill>
                          <a:latin typeface="Segoe UI"/>
                        </a:defRPr>
                      </a:pPr>
                      <a:r>
                        <a:t>MVP-16</a:t>
                      </a:r>
                    </a:p>
                  </a:txBody>
                  <a:tcPr anchor="ctr">
                    <a:solidFill>
                      <a:srgbClr val="F8FAFC"/>
                    </a:solidFill>
                  </a:tcPr>
                </a:tc>
                <a:tc>
                  <a:txBody>
                    <a:bodyPr/>
                    <a:lstStyle/>
                    <a:p>
                      <a:pPr algn="l">
                        <a:defRPr sz="819">
                          <a:solidFill>
                            <a:srgbClr val="1E293B"/>
                          </a:solidFill>
                          <a:latin typeface="Segoe UI"/>
                        </a:defRPr>
                      </a:pPr>
                      <a:r>
                        <a:t>EXT-04</a:t>
                      </a:r>
                    </a:p>
                  </a:txBody>
                  <a:tcPr anchor="ctr">
                    <a:solidFill>
                      <a:srgbClr val="F8FAFC"/>
                    </a:solidFill>
                  </a:tcPr>
                </a:tc>
              </a:tr>
              <a:tr h="277185">
                <a:tc>
                  <a:txBody>
                    <a:bodyPr/>
                    <a:lstStyle/>
                    <a:p>
                      <a:pPr algn="ctr">
                        <a:defRPr sz="819" b="1">
                          <a:solidFill>
                            <a:srgbClr val="2563EB"/>
                          </a:solidFill>
                          <a:latin typeface="Segoe UI"/>
                        </a:defRPr>
                      </a:pPr>
                      <a:r>
                        <a:t>UC-15</a:t>
                      </a:r>
                    </a:p>
                  </a:txBody>
                  <a:tcPr anchor="ctr">
                    <a:solidFill>
                      <a:srgbClr val="FFFFFF"/>
                    </a:solidFill>
                  </a:tcPr>
                </a:tc>
                <a:tc>
                  <a:txBody>
                    <a:bodyPr/>
                    <a:lstStyle/>
                    <a:p>
                      <a:pPr algn="l">
                        <a:defRPr sz="819">
                          <a:solidFill>
                            <a:srgbClr val="1E293B"/>
                          </a:solidFill>
                          <a:latin typeface="Segoe UI"/>
                        </a:defRPr>
                      </a:pPr>
                      <a:r>
                        <a:t>[OPTIONAL B2B] Manage Cohorts</a:t>
                      </a:r>
                    </a:p>
                  </a:txBody>
                  <a:tcPr anchor="ctr">
                    <a:solidFill>
                      <a:srgbClr val="FFFFFF"/>
                    </a:solidFill>
                  </a:tcPr>
                </a:tc>
                <a:tc>
                  <a:txBody>
                    <a:bodyPr/>
                    <a:lstStyle/>
                    <a:p>
                      <a:pPr algn="l">
                        <a:defRPr sz="819" b="1">
                          <a:solidFill>
                            <a:srgbClr val="7C3AED"/>
                          </a:solidFill>
                          <a:latin typeface="Segoe UI"/>
                        </a:defRPr>
                      </a:pPr>
                      <a:r>
                        <a:t>Organizational Manager</a:t>
                      </a:r>
                    </a:p>
                  </a:txBody>
                  <a:tcPr anchor="ctr">
                    <a:solidFill>
                      <a:srgbClr val="FFFFFF"/>
                    </a:solidFill>
                  </a:tcPr>
                </a:tc>
                <a:tc>
                  <a:txBody>
                    <a:bodyPr/>
                    <a:lstStyle/>
                    <a:p>
                      <a:pPr algn="ctr">
                        <a:defRPr sz="819">
                          <a:solidFill>
                            <a:srgbClr val="1E293B"/>
                          </a:solidFill>
                          <a:latin typeface="Segoe UI"/>
                        </a:defRPr>
                      </a:pPr>
                      <a:r>
                        <a:t>Cohort B2B</a:t>
                      </a:r>
                    </a:p>
                  </a:txBody>
                  <a:tcPr anchor="ctr">
                    <a:solidFill>
                      <a:srgbClr val="FFFFFF"/>
                    </a:solidFill>
                  </a:tcPr>
                </a:tc>
                <a:tc>
                  <a:txBody>
                    <a:bodyPr/>
                    <a:lstStyle/>
                    <a:p>
                      <a:pPr algn="l">
                        <a:defRPr sz="819">
                          <a:solidFill>
                            <a:srgbClr val="1E293B"/>
                          </a:solidFill>
                          <a:latin typeface="Segoe UI"/>
                        </a:defRPr>
                      </a:pPr>
                      <a:r>
                        <a:t>MVP-17</a:t>
                      </a:r>
                    </a:p>
                  </a:txBody>
                  <a:tcPr anchor="ctr">
                    <a:solidFill>
                      <a:srgbClr val="FFFFFF"/>
                    </a:solidFill>
                  </a:tcPr>
                </a:tc>
                <a:tc>
                  <a:txBody>
                    <a:bodyPr/>
                    <a:lstStyle/>
                    <a:p>
                      <a:pPr algn="l">
                        <a:defRPr sz="819">
                          <a:solidFill>
                            <a:srgbClr val="1E293B"/>
                          </a:solidFill>
                          <a:latin typeface="Segoe UI"/>
                        </a:defRPr>
                      </a:pPr>
                      <a:r>
                        <a:t>Phân hệ Cohort B2B</a:t>
                      </a:r>
                    </a:p>
                  </a:txBody>
                  <a:tcPr anchor="ctr">
                    <a:solidFill>
                      <a:srgbClr val="FFFFFF"/>
                    </a:solidFill>
                  </a:tcPr>
                </a:tc>
              </a:tr>
            </a:tbl>
          </a:graphicData>
        </a:graphic>
      </p:graphicFrame>
      <p:sp>
        <p:nvSpPr>
          <p:cNvPr id="8" name="Rectangle 7"/>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10" name="Rectangle 9"/>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508760" y="347472"/>
            <a:ext cx="2377440" cy="2743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KẾT LUẬN &amp; ĐỊNH HƯỚNG</a:t>
            </a:r>
          </a:p>
        </p:txBody>
      </p:sp>
      <p:sp>
        <p:nvSpPr>
          <p:cNvPr id="3" name="TextBox 2"/>
          <p:cNvSpPr txBox="1"/>
          <p:nvPr/>
        </p:nvSpPr>
        <p:spPr>
          <a:xfrm>
            <a:off x="1508760" y="658368"/>
            <a:ext cx="10058400" cy="475488"/>
          </a:xfrm>
          <a:prstGeom prst="rect">
            <a:avLst/>
          </a:prstGeom>
          <a:noFill/>
        </p:spPr>
        <p:txBody>
          <a:bodyPr wrap="square" lIns="0" rIns="0" tIns="0" bIns="0">
            <a:spAutoFit/>
          </a:bodyPr>
          <a:lstStyle/>
          <a:p>
            <a:pPr>
              <a:defRPr sz="2100" b="1">
                <a:solidFill>
                  <a:srgbClr val="0B194C"/>
                </a:solidFill>
                <a:latin typeface="Segoe UI"/>
              </a:defRPr>
            </a:pPr>
            <a:r>
              <a:t>Hiện trạng kỹ thuật &amp; Ranh giới liêm chính nghiên cứu</a:t>
            </a:r>
          </a:p>
        </p:txBody>
      </p:sp>
      <p:sp>
        <p:nvSpPr>
          <p:cNvPr id="4" name="Rectangle 3"/>
          <p:cNvSpPr/>
          <p:nvPr/>
        </p:nvSpPr>
        <p:spPr>
          <a:xfrm>
            <a:off x="1508760" y="1152144"/>
            <a:ext cx="109728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51760" y="1152144"/>
            <a:ext cx="164592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225296"/>
            <a:ext cx="10058400" cy="320040"/>
          </a:xfrm>
          <a:prstGeom prst="rect">
            <a:avLst/>
          </a:prstGeom>
          <a:noFill/>
        </p:spPr>
        <p:txBody>
          <a:bodyPr wrap="square" lIns="0" rIns="0" tIns="0" bIns="0">
            <a:spAutoFit/>
          </a:bodyPr>
          <a:lstStyle/>
          <a:p>
            <a:pPr>
              <a:defRPr sz="1150">
                <a:solidFill>
                  <a:srgbClr val="475569"/>
                </a:solidFill>
                <a:latin typeface="Segoe UI"/>
              </a:defRPr>
            </a:pPr>
            <a:r>
              <a:t>Tổng kết kết quả Đồ án 1: Bằng chứng thực nghiệm đầy đủ, thiết kế hệ thống sẵn sàng cho triển khai</a:t>
            </a:r>
          </a:p>
        </p:txBody>
      </p:sp>
      <p:sp>
        <p:nvSpPr>
          <p:cNvPr id="7" name="Rounded Rectangle 6"/>
          <p:cNvSpPr/>
          <p:nvPr/>
        </p:nvSpPr>
        <p:spPr>
          <a:xfrm>
            <a:off x="73152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4747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1965960"/>
            <a:ext cx="502920" cy="5029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01</a:t>
            </a:r>
          </a:p>
        </p:txBody>
      </p:sp>
      <p:sp>
        <p:nvSpPr>
          <p:cNvPr id="10" name="TextBox 9"/>
          <p:cNvSpPr txBox="1"/>
          <p:nvPr/>
        </p:nvSpPr>
        <p:spPr>
          <a:xfrm>
            <a:off x="1508760" y="1938528"/>
            <a:ext cx="2606040" cy="594360"/>
          </a:xfrm>
          <a:prstGeom prst="rect">
            <a:avLst/>
          </a:prstGeom>
          <a:noFill/>
        </p:spPr>
        <p:txBody>
          <a:bodyPr wrap="square" lIns="0" rIns="0" tIns="0" bIns="0">
            <a:spAutoFit/>
          </a:bodyPr>
          <a:lstStyle/>
          <a:p>
            <a:pPr>
              <a:defRPr sz="1100" b="1">
                <a:solidFill>
                  <a:srgbClr val="0B194C"/>
                </a:solidFill>
                <a:latin typeface="Segoe UI"/>
              </a:defRPr>
            </a:pPr>
            <a:r>
              <a:t>Truy vết yêu cầu 100%</a:t>
            </a:r>
          </a:p>
        </p:txBody>
      </p:sp>
      <p:sp>
        <p:nvSpPr>
          <p:cNvPr id="11" name="Rounded Rectangle 10"/>
          <p:cNvSpPr/>
          <p:nvPr/>
        </p:nvSpPr>
        <p:spPr>
          <a:xfrm>
            <a:off x="1508760" y="2304288"/>
            <a:ext cx="1828800" cy="219456"/>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2563EB"/>
                </a:solidFill>
                <a:latin typeface="Segoe UI"/>
              </a:defRPr>
            </a:pPr>
            <a:r>
              <a:t>100% TRACEABLE</a:t>
            </a:r>
          </a:p>
        </p:txBody>
      </p:sp>
      <p:sp>
        <p:nvSpPr>
          <p:cNvPr id="12" name="TextBox 11"/>
          <p:cNvSpPr txBox="1"/>
          <p:nvPr/>
        </p:nvSpPr>
        <p:spPr>
          <a:xfrm>
            <a:off x="896112" y="2697480"/>
            <a:ext cx="3145536" cy="3383280"/>
          </a:xfrm>
          <a:prstGeom prst="rect">
            <a:avLst/>
          </a:prstGeom>
          <a:noFill/>
        </p:spPr>
        <p:txBody>
          <a:bodyPr wrap="square" lIns="0" rIns="0" tIns="0" bIns="0">
            <a:spAutoFit/>
          </a:bodyPr>
          <a:lstStyle/>
          <a:p>
            <a:pPr>
              <a:defRPr sz="919">
                <a:solidFill>
                  <a:srgbClr val="1E293B"/>
                </a:solidFill>
                <a:latin typeface="Segoe UI"/>
              </a:defRPr>
            </a:pPr>
            <a:r>
              <a:t>• 14/14 tính năng phần mềm đều truy xuất được nguồn gốc từ khảo sát N=15, N=35 hoặc phỏng vấn 7 chuyên gia.</a:t>
            </a:r>
            <a:br/>
            <a:br/>
            <a:r>
              <a:t>• Không có bất kỳ tính năng nào đưa vào theo suy đoán chủ quan; triệt tiêu hoàn toàn tính năng thừa thãi.</a:t>
            </a:r>
            <a:br/>
            <a:br/>
            <a:r>
              <a:t>• 15 Use Cases bao phủ toàn diện 6 vai trò trong hệ thống.</a:t>
            </a:r>
          </a:p>
        </p:txBody>
      </p:sp>
      <p:sp>
        <p:nvSpPr>
          <p:cNvPr id="13" name="Rounded Rectangle 12"/>
          <p:cNvSpPr/>
          <p:nvPr/>
        </p:nvSpPr>
        <p:spPr>
          <a:xfrm>
            <a:off x="434340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783080"/>
            <a:ext cx="34747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07992" y="196596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02</a:t>
            </a:r>
          </a:p>
        </p:txBody>
      </p:sp>
      <p:sp>
        <p:nvSpPr>
          <p:cNvPr id="16" name="TextBox 15"/>
          <p:cNvSpPr txBox="1"/>
          <p:nvPr/>
        </p:nvSpPr>
        <p:spPr>
          <a:xfrm>
            <a:off x="5120640" y="1938528"/>
            <a:ext cx="2606040" cy="594360"/>
          </a:xfrm>
          <a:prstGeom prst="rect">
            <a:avLst/>
          </a:prstGeom>
          <a:noFill/>
        </p:spPr>
        <p:txBody>
          <a:bodyPr wrap="square" lIns="0" rIns="0" tIns="0" bIns="0">
            <a:spAutoFit/>
          </a:bodyPr>
          <a:lstStyle/>
          <a:p>
            <a:pPr>
              <a:defRPr sz="1100" b="1">
                <a:solidFill>
                  <a:srgbClr val="0B194C"/>
                </a:solidFill>
                <a:latin typeface="Segoe UI"/>
              </a:defRPr>
            </a:pPr>
            <a:r>
              <a:t>Hiện trạng kỹ thuật (Phase 0)</a:t>
            </a:r>
          </a:p>
        </p:txBody>
      </p:sp>
      <p:sp>
        <p:nvSpPr>
          <p:cNvPr id="17" name="Rounded Rectangle 16"/>
          <p:cNvSpPr/>
          <p:nvPr/>
        </p:nvSpPr>
        <p:spPr>
          <a:xfrm>
            <a:off x="5120640" y="2304288"/>
            <a:ext cx="1828800" cy="219456"/>
          </a:xfrm>
          <a:prstGeom prst="roundRect">
            <a:avLst/>
          </a:prstGeom>
          <a:solidFill>
            <a:srgbClr val="EFF6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10B981"/>
                </a:solidFill>
                <a:latin typeface="Segoe UI"/>
              </a:defRPr>
            </a:pPr>
            <a:r>
              <a:t>PHASE 0 HOÀN TẤT</a:t>
            </a:r>
          </a:p>
        </p:txBody>
      </p:sp>
      <p:sp>
        <p:nvSpPr>
          <p:cNvPr id="18" name="TextBox 17"/>
          <p:cNvSpPr txBox="1"/>
          <p:nvPr/>
        </p:nvSpPr>
        <p:spPr>
          <a:xfrm>
            <a:off x="4507992" y="2697480"/>
            <a:ext cx="3145536" cy="3383280"/>
          </a:xfrm>
          <a:prstGeom prst="rect">
            <a:avLst/>
          </a:prstGeom>
          <a:noFill/>
        </p:spPr>
        <p:txBody>
          <a:bodyPr wrap="square" lIns="0" rIns="0" tIns="0" bIns="0">
            <a:spAutoFit/>
          </a:bodyPr>
          <a:lstStyle/>
          <a:p>
            <a:pPr>
              <a:defRPr sz="919">
                <a:solidFill>
                  <a:srgbClr val="1E293B"/>
                </a:solidFill>
                <a:latin typeface="Segoe UI"/>
              </a:defRPr>
            </a:pPr>
            <a:r>
              <a:t>• Báo cáo hoàn tất toàn bộ giai đoạn Phân tích yêu cầu &amp; Thiết kế kiến trúc (Phase 0).</a:t>
            </a:r>
            <a:br/>
            <a:br/>
            <a:r>
              <a:t>• CSDL chuẩn hóa 14 bảng dữ liệu, 12 hàm RPC và chính sách bảo mật RLS nghiêm ngặt.</a:t>
            </a:r>
            <a:br/>
            <a:br/>
            <a:r>
              <a:t>• Hệ thống sẵn sàng 100% bước vào Phase 1 (Triển khai mã nguồn &amp; Kiểm thử TDD).</a:t>
            </a:r>
          </a:p>
        </p:txBody>
      </p:sp>
      <p:sp>
        <p:nvSpPr>
          <p:cNvPr id="19" name="Rounded Rectangle 18"/>
          <p:cNvSpPr/>
          <p:nvPr/>
        </p:nvSpPr>
        <p:spPr>
          <a:xfrm>
            <a:off x="7955280" y="178308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0" y="178308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19872" y="1965960"/>
            <a:ext cx="502920" cy="5029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1300" b="1">
                <a:solidFill>
                  <a:srgbClr val="FFFFFF"/>
                </a:solidFill>
                <a:latin typeface="Segoe UI"/>
              </a:defRPr>
            </a:pPr>
            <a:r>
              <a:t>03</a:t>
            </a:r>
          </a:p>
        </p:txBody>
      </p:sp>
      <p:sp>
        <p:nvSpPr>
          <p:cNvPr id="22" name="TextBox 21"/>
          <p:cNvSpPr txBox="1"/>
          <p:nvPr/>
        </p:nvSpPr>
        <p:spPr>
          <a:xfrm>
            <a:off x="8732520" y="1938528"/>
            <a:ext cx="2606040" cy="594360"/>
          </a:xfrm>
          <a:prstGeom prst="rect">
            <a:avLst/>
          </a:prstGeom>
          <a:noFill/>
        </p:spPr>
        <p:txBody>
          <a:bodyPr wrap="square" lIns="0" rIns="0" tIns="0" bIns="0">
            <a:spAutoFit/>
          </a:bodyPr>
          <a:lstStyle/>
          <a:p>
            <a:pPr>
              <a:defRPr sz="1100" b="1">
                <a:solidFill>
                  <a:srgbClr val="0B194C"/>
                </a:solidFill>
                <a:latin typeface="Segoe UI"/>
              </a:defRPr>
            </a:pPr>
            <a:r>
              <a:t>Ranh giới liêm chính nghiên cứu</a:t>
            </a:r>
          </a:p>
        </p:txBody>
      </p:sp>
      <p:sp>
        <p:nvSpPr>
          <p:cNvPr id="23" name="Rounded Rectangle 22"/>
          <p:cNvSpPr/>
          <p:nvPr/>
        </p:nvSpPr>
        <p:spPr>
          <a:xfrm>
            <a:off x="8732520" y="2304288"/>
            <a:ext cx="1828800" cy="219456"/>
          </a:xfrm>
          <a:prstGeom prst="roundRect">
            <a:avLst/>
          </a:prstGeom>
          <a:solidFill>
            <a:srgbClr val="EFF6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7C3AED"/>
                </a:solidFill>
                <a:latin typeface="Segoe UI"/>
              </a:defRPr>
            </a:pPr>
            <a:r>
              <a:t>NGHIÊN CỨU TRUNG THỰC</a:t>
            </a:r>
          </a:p>
        </p:txBody>
      </p:sp>
      <p:sp>
        <p:nvSpPr>
          <p:cNvPr id="24" name="TextBox 23"/>
          <p:cNvSpPr txBox="1"/>
          <p:nvPr/>
        </p:nvSpPr>
        <p:spPr>
          <a:xfrm>
            <a:off x="8119872" y="2697480"/>
            <a:ext cx="3145536" cy="3383280"/>
          </a:xfrm>
          <a:prstGeom prst="rect">
            <a:avLst/>
          </a:prstGeom>
          <a:noFill/>
        </p:spPr>
        <p:txBody>
          <a:bodyPr wrap="square" lIns="0" rIns="0" tIns="0" bIns="0">
            <a:spAutoFit/>
          </a:bodyPr>
          <a:lstStyle/>
          <a:p>
            <a:pPr>
              <a:defRPr sz="919">
                <a:solidFill>
                  <a:srgbClr val="1E293B"/>
                </a:solidFill>
                <a:latin typeface="Segoe UI"/>
              </a:defRPr>
            </a:pPr>
            <a:r>
              <a:t>• Mọi số liệu khảo sát và phỏng vấn đều được thu thập và lưu trữ minh bạch.</a:t>
            </a:r>
            <a:br/>
            <a:br/>
            <a:r>
              <a:t>• Loại bỏ hoàn toàn phương pháp Time-study khỏi báo cáo do chưa đủ điều kiện đo kiểm khách quan.</a:t>
            </a:r>
            <a:br/>
            <a:br/>
            <a:r>
              <a:t>• Đồ án phản ánh trung thực năng lực và tiến độ nghiên cứu của sinh viên.</a:t>
            </a:r>
          </a:p>
        </p:txBody>
      </p:sp>
      <p:sp>
        <p:nvSpPr>
          <p:cNvPr id="25" name="Rectangle 24"/>
          <p:cNvSpPr/>
          <p:nvPr/>
        </p:nvSpPr>
        <p:spPr>
          <a:xfrm>
            <a:off x="0" y="6473952"/>
            <a:ext cx="12191695" cy="384048"/>
          </a:xfrm>
          <a:prstGeom prst="rect">
            <a:avLst/>
          </a:prstGeom>
          <a:solidFill>
            <a:srgbClr val="0B1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510528"/>
            <a:ext cx="4572000" cy="292608"/>
          </a:xfrm>
          <a:prstGeom prst="rect">
            <a:avLst/>
          </a:prstGeom>
          <a:noFill/>
        </p:spPr>
        <p:txBody>
          <a:bodyPr wrap="none">
            <a:spAutoFit/>
          </a:bodyPr>
          <a:lstStyle/>
          <a:p>
            <a:pPr>
              <a:defRPr sz="950">
                <a:solidFill>
                  <a:srgbClr val="E2E8F0"/>
                </a:solidFill>
                <a:latin typeface="Segoe UI"/>
              </a:defRPr>
            </a:pPr>
            <a:r>
              <a:t>Dự án 1 — Nhóm 3 | Nền tảng Lingora</a:t>
            </a:r>
          </a:p>
        </p:txBody>
      </p:sp>
      <p:sp>
        <p:nvSpPr>
          <p:cNvPr id="27" name="Rectangle 26"/>
          <p:cNvSpPr/>
          <p:nvPr/>
        </p:nvSpPr>
        <p:spPr>
          <a:xfrm>
            <a:off x="5029200" y="6656832"/>
            <a:ext cx="5669280"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6492240"/>
            <a:ext cx="822960" cy="320040"/>
          </a:xfrm>
          <a:prstGeom prst="rect">
            <a:avLst/>
          </a:prstGeom>
          <a:noFill/>
        </p:spPr>
        <p:txBody>
          <a:bodyPr wrap="none">
            <a:spAutoFit/>
          </a:bodyPr>
          <a:lstStyle/>
          <a:p>
            <a:pPr algn="r">
              <a:defRPr sz="1100" b="1">
                <a:solidFill>
                  <a:srgbClr val="FFFFFF"/>
                </a:solidFill>
                <a:latin typeface="Segoe UI"/>
              </a:defRPr>
            </a:pPr>
            <a:r>
              <a:t>18</a:t>
            </a: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ài liệu" ma:contentTypeID="0x01010060811C320DB09146B949355C1F67BBAE" ma:contentTypeVersion="7" ma:contentTypeDescription="Tạo tài liệu mới." ma:contentTypeScope="" ma:versionID="ca2d4ab66a161cc7c4457210eee4cb1a">
  <xsd:schema xmlns:xsd="http://www.w3.org/2001/XMLSchema" xmlns:xs="http://www.w3.org/2001/XMLSchema" xmlns:p="http://schemas.microsoft.com/office/2006/metadata/properties" xmlns:ns2="fd63efce-8fbd-4040-94f1-ea540616c8b8" targetNamespace="http://schemas.microsoft.com/office/2006/metadata/properties" ma:root="true" ma:fieldsID="1c7eaee93ad99eb446dcbd3c704fa23a" ns2:_="">
    <xsd:import namespace="fd63efce-8fbd-4040-94f1-ea540616c8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63efce-8fbd-4040-94f1-ea540616c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C4D521-0D26-4840-9D47-26175F4F494F}">
  <ds:schemaRefs/>
</ds:datastoreItem>
</file>

<file path=customXml/itemProps2.xml><?xml version="1.0" encoding="utf-8"?>
<ds:datastoreItem xmlns:ds="http://schemas.openxmlformats.org/officeDocument/2006/customXml" ds:itemID="{B0F4B562-84E9-4060-9761-9EDF48B0D71C}">
  <ds:schemaRefs/>
</ds:datastoreItem>
</file>

<file path=customXml/itemProps3.xml><?xml version="1.0" encoding="utf-8"?>
<ds:datastoreItem xmlns:ds="http://schemas.openxmlformats.org/officeDocument/2006/customXml" ds:itemID="{73E56004-A989-4E15-9184-F5E96785329C}">
  <ds:schemaRefs/>
</ds:datastoreItem>
</file>

<file path=docProps/app.xml><?xml version="1.0" encoding="utf-8"?>
<Properties xmlns="http://schemas.openxmlformats.org/officeDocument/2006/extended-properties" xmlns:vt="http://schemas.openxmlformats.org/officeDocument/2006/docPropsVTypes">
  <TotalTime>0</TotalTime>
  <Words>0</Words>
  <Application>WPS Presentation</Application>
  <PresentationFormat>Màn hình rộng</PresentationFormat>
  <Paragraphs>0</Paragraphs>
  <Slides>1</Slides>
  <Notes>43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SimSun</vt:lpstr>
      <vt:lpstr>Wingdings</vt:lpstr>
      <vt:lpstr>Arial</vt:lpstr>
      <vt:lpstr>Times New Roman</vt:lpstr>
      <vt:lpstr>Calibri</vt:lpstr>
      <vt:lpstr>Microsoft YaHei</vt:lpstr>
      <vt:lpstr>Arial Unicode MS</vt:lpstr>
      <vt:lpstr>Theme1</vt:lpstr>
      <vt:lpstr>TRƯỜNG ĐẠI HỌC GIAO THÔNG VẬN TẢI UNIVERSITY OF TRANSPOST AND COMMUNICATIONS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GIAO THÔNG VẬN TẢI UNIVERSITY OF TRANSPOST AND COMMUNICATIONS</dc:title>
  <dc:creator>NGUYEN QUANG  HUAN</dc:creator>
  <cp:lastModifiedBy>tungt</cp:lastModifiedBy>
  <cp:revision>6</cp:revision>
  <dcterms:created xsi:type="dcterms:W3CDTF">2022-12-05T13:13:00Z</dcterms:created>
  <dcterms:modified xsi:type="dcterms:W3CDTF">2026-09-21T01:27:59Z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ContentTypeId">
    <vt:lpwstr>0x01010060811C320DB09146B949355C1F67BBAE</vt:lpwstr>
  </property>
  <property fmtid="{D5CDD505-2E9C-101B-9397-08002B2CF9AE}" pid="4" name="ICV">
    <vt:lpwstr>6C58EB0633564694A65888EF796954F7_12</vt:lpwstr>
  </property>
</Properties>
</file>