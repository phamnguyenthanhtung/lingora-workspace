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</p:sldIdLst>
  <p:sldSz cx="12192000" cy="6858000"/>
  <p:notesSz cx="6858000" cy="9144000"/>
  <p:embeddedFontLst>
    <p:embeddedFont>
      <p:font typeface="Calibri" panose="020F0502020204030204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6F4F7D-73C1-67D0-64F8-21A110678158}" name="NGUYỄN THU HƯƠNG" initials="NH" userId="S::huong221230872@lms.utc.edu.vn::e66aaea9-0883-446e-870a-cc2e76c0dd2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Relationship Id="rId8" Type="http://schemas.microsoft.com/office/2018/10/relationships/authors" Target="authors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customXml" Target="../customXml/item1.xml"/><Relationship Id="rId14" Type="http://schemas.openxmlformats.org/officeDocument/2006/relationships/customXml" Target="../customXml/item2.xml"/><Relationship Id="rId15" Type="http://schemas.openxmlformats.org/officeDocument/2006/relationships/customXml" Target="../customXml/item3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êu đề và Nội dung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title"/>
          </p:nvPr>
        </p:nvSpPr>
        <p:spPr>
          <a:xfrm>
            <a:off x="1200727" y="1"/>
            <a:ext cx="10991273" cy="107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19" name="Google Shape;1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20" name="Google Shape;20;p6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êu đề Bản chiếu">
  <p:cSld name="Tiêu đề Bản chiếu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-1379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7"/>
          <p:cNvSpPr txBox="1"/>
          <p:nvPr/>
        </p:nvSpPr>
        <p:spPr>
          <a:xfrm>
            <a:off x="1154545" y="558741"/>
            <a:ext cx="11037454" cy="521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 panose="02020603050405020304"/>
              <a:buNone/>
            </a:pPr>
            <a:r>
              <a:rPr lang="vi-VN" sz="240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UNIVERSITY OF TRANSPORT AND COMMUNICATIONS</a:t>
            </a:r>
            <a:endParaRPr lang="vi-VN" sz="240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" name="Google Shape;24;p7"/>
          <p:cNvSpPr txBox="1"/>
          <p:nvPr/>
        </p:nvSpPr>
        <p:spPr>
          <a:xfrm>
            <a:off x="1154546" y="59846"/>
            <a:ext cx="11037454" cy="521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 panose="02020603050405020304"/>
              <a:buNone/>
            </a:pPr>
            <a:r>
              <a:rPr lang="vi-VN" sz="2800" b="1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TRƯỜNG ĐẠI HỌC GIAO THÔNG VẬN TẢI</a:t>
            </a:r>
            <a:endParaRPr lang="vi-VN" sz="28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" name="Google Shape;25;p7"/>
          <p:cNvSpPr txBox="1"/>
          <p:nvPr/>
        </p:nvSpPr>
        <p:spPr>
          <a:xfrm>
            <a:off x="0" y="1478154"/>
            <a:ext cx="12192000" cy="521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</a:pPr>
            <a:r>
              <a:rPr lang="vi-VN" sz="2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LUẬN VĂN THẠC SĨ</a:t>
            </a:r>
            <a:endParaRPr lang="vi-VN" sz="20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" name="Google Shape;26;p7"/>
          <p:cNvSpPr txBox="1"/>
          <p:nvPr/>
        </p:nvSpPr>
        <p:spPr>
          <a:xfrm>
            <a:off x="-1" y="1978448"/>
            <a:ext cx="12192000" cy="16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r>
              <a:rPr lang="vi-VN" sz="3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NGHIÊN CỨU PHƯƠNG PHÁP ĐO ĐẠC HIỆN TRƯỜNG</a:t>
            </a:r>
            <a:endParaRPr lang="vi-VN" sz="32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r>
              <a:rPr lang="vi-VN" sz="3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RUNG ĐỘNG ĐẤT NỀN KHI THI CÔNG TUYẾN ĐƯỜNG SẮT</a:t>
            </a:r>
            <a:endParaRPr lang="vi-VN" sz="32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r>
              <a:rPr lang="vi-VN" sz="3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ĐÔ THỊ THÍ ĐIỂM THÀNH PHỐ HÀ NỘI</a:t>
            </a:r>
            <a:endParaRPr lang="vi-VN" sz="32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" name="Google Shape;27;p7"/>
          <p:cNvSpPr txBox="1"/>
          <p:nvPr/>
        </p:nvSpPr>
        <p:spPr>
          <a:xfrm>
            <a:off x="0" y="3729627"/>
            <a:ext cx="12192000" cy="1397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vi-VN" sz="1800" i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NGÀNH: KỸ THUẬT XÂY DỰNG CÔNG TRÌNH GIAO THÔNG</a:t>
            </a:r>
            <a:endParaRPr lang="vi-VN" sz="1800" i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vi-VN" sz="1800" i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MÃ SỐ: 60.58.02.05</a:t>
            </a:r>
            <a:endParaRPr lang="vi-VN" sz="1800" i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vi-VN" sz="1800" i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CHUYÊN NGÀNH: XÂY DỰNG CẦU HẦM</a:t>
            </a:r>
            <a:endParaRPr lang="vi-VN" sz="1800" i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" name="Google Shape;28;p7"/>
          <p:cNvSpPr txBox="1"/>
          <p:nvPr/>
        </p:nvSpPr>
        <p:spPr>
          <a:xfrm>
            <a:off x="0" y="5202948"/>
            <a:ext cx="12192000" cy="521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vi-VN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TRẦN THẢO LINH</a:t>
            </a:r>
            <a:endParaRPr lang="vi-VN" sz="24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vi-VN" sz="2400" b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HƯỚNG DẪN KHOA HỌC: TS. NGUYỄN THỊ CẨM NHUNG</a:t>
            </a:r>
            <a:endParaRPr lang="vi-VN" sz="2400" b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" name="Google Shape;29;p7"/>
          <p:cNvSpPr txBox="1"/>
          <p:nvPr/>
        </p:nvSpPr>
        <p:spPr>
          <a:xfrm>
            <a:off x="-1" y="6468481"/>
            <a:ext cx="12192000" cy="521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vi-VN" sz="2400" i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Hà Nội – 2020</a:t>
            </a:r>
            <a:endParaRPr lang="vi-VN" sz="2400" i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Đầu trang của Phần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imes New Roman" panose="020206030504050203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35" name="Google Shape;3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Hai Nội dung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1200727" y="1"/>
            <a:ext cx="10991273" cy="107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42" name="Google Shape;4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Phép so sánh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7" name="Google Shape;47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9" name="Google Shape;49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51" name="Google Shape;5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Chỉ Tiêu đề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1200727" y="1"/>
            <a:ext cx="10991273" cy="107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56" name="Google Shape;5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Trống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60" name="Google Shape;6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Nội dung với Chú thích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 panose="020206030504050203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67" name="Google Shape;6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68" name="Google Shape;68;p13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Ảnh với Chú thích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 panose="020206030504050203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  <a:defRPr sz="3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74" name="Google Shape;7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êu đề và Văn bản Dọc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1200727" y="1"/>
            <a:ext cx="10991273" cy="107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80" name="Google Shape;8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81" name="Google Shape;81;p15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Tiêu đề Dọc và Văn bản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86" name="Google Shape;8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1_Tiêu đề Bản chiếu">
  <p:cSld name="TITL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imes New Roman" panose="020206030504050203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image" Target="../media/image1.png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5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-2" y="-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5"/>
          <p:cNvSpPr txBox="1">
            <a:spLocks noGrp="1"/>
          </p:cNvSpPr>
          <p:nvPr>
            <p:ph type="title"/>
          </p:nvPr>
        </p:nvSpPr>
        <p:spPr>
          <a:xfrm>
            <a:off x="1200727" y="1"/>
            <a:ext cx="10991273" cy="107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 panose="02020603050405020304"/>
              <a:buNone/>
              <a:defRPr sz="3600" b="0" i="0" u="none" strike="noStrike" cap="none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13" name="Google Shape;13;p5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371600"/>
            <a:ext cx="237744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BÁO CÁO DỰ ÁN 1 — CNTT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A2540"/>
                </a:solidFill>
                <a:latin typeface="Segoe UI"/>
              </a:defRPr>
            </a:pPr>
            <a:r>
              <a:t>LINGORA — NỀN TẢNG HỌC NGOẠI NGỮ TRỰC TUYẾN</a:t>
            </a:r>
          </a:p>
          <a:p>
            <a:pPr>
              <a:spcBef>
                <a:spcPts val="800"/>
              </a:spcBef>
              <a:defRPr sz="1600">
                <a:solidFill>
                  <a:srgbClr val="2563EB"/>
                </a:solidFill>
                <a:latin typeface="Segoe UI"/>
              </a:defRPr>
            </a:pPr>
            <a:r>
              <a:t>Nghiên cứu nhu cầu người học, phân tích nghiệp vụ &amp; đặc tả yêu cầu hệ thống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29000"/>
            <a:ext cx="1371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48840" y="3429000"/>
            <a:ext cx="2286000" cy="457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777240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400"/>
              </a:spcAft>
            </a:pPr>
            <a:r>
              <a:rPr b="1" sz="1100">
                <a:solidFill>
                  <a:srgbClr val="0A2540"/>
                </a:solidFill>
              </a:rPr>
              <a:t>Cơ sở đào tạo: </a:t>
            </a:r>
            <a:r>
              <a:rPr sz="1100">
                <a:solidFill>
                  <a:srgbClr val="1E293B"/>
                </a:solidFill>
              </a:rPr>
              <a:t>Trường Đại học Giao thông Vận tải (UTC) — Khoa Công nghệ Thông tin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A2540"/>
                </a:solidFill>
              </a:rPr>
              <a:t>Học phần: </a:t>
            </a:r>
            <a:r>
              <a:rPr sz="1100">
                <a:solidFill>
                  <a:srgbClr val="1E293B"/>
                </a:solidFill>
              </a:rPr>
              <a:t>Dự án 1 — Phân tích yêu cầu &amp; Thiết kế hệ thống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A2540"/>
                </a:solidFill>
              </a:rPr>
              <a:t>Sinh viên thực hiện: </a:t>
            </a:r>
            <a:r>
              <a:rPr sz="1100">
                <a:solidFill>
                  <a:srgbClr val="1E293B"/>
                </a:solidFill>
              </a:rPr>
              <a:t>Phạm Nguyễn Thanh Tùng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A2540"/>
                </a:solidFill>
              </a:rPr>
              <a:t>Giảng viên hướng dẫn: </a:t>
            </a:r>
            <a:r>
              <a:rPr sz="1100">
                <a:solidFill>
                  <a:srgbClr val="1E293B"/>
                </a:solidFill>
              </a:rPr>
              <a:t>TS. Nguyễn Thị Thu Trang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A2540"/>
                </a:solidFill>
              </a:rPr>
              <a:t>Thời gian thực hiện: </a:t>
            </a:r>
            <a:r>
              <a:rPr sz="1100">
                <a:solidFill>
                  <a:srgbClr val="1E293B"/>
                </a:solidFill>
              </a:rPr>
              <a:t>Tháng 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MỤC LỤC CHƯƠNG TRÌNH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t>Từ vấn đề thực tế đến yêu cầu hệ thống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9144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91640" y="1170432"/>
            <a:ext cx="137160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43584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Lộ trình 5 phần báo cáo được xây dựng trên bằng chứng thực nghiệm và đối chuẩn thực tế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51560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837944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783080"/>
            <a:ext cx="941832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0A2540"/>
                </a:solidFill>
              </a:defRPr>
            </a:pPr>
            <a:r>
              <a:t>Bối cảnh &amp; Phương pháp luận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Thực trạng học ngoại ngữ, bài toán kỷ luật &amp; 5 phương pháp nghiên cứu tiếp cận.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51560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70662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651760"/>
            <a:ext cx="941832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0A2540"/>
                </a:solidFill>
              </a:defRPr>
            </a:pPr>
            <a:r>
              <a:t>Nghiên cứu thực nghiệm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Khảo sát ban đầu N=15, khảo sát bổ sung N=35 &amp; phỏng vấn định tính N=3 người học.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29000"/>
            <a:ext cx="1051560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3575304"/>
            <a:ext cx="457200" cy="4572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520440"/>
            <a:ext cx="941832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0A2540"/>
                </a:solidFill>
              </a:defRPr>
            </a:pPr>
            <a:r>
              <a:t>Nghiên cứu chuyên gia &amp; Vận hành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Phỏng vấn chuyên sâu 7 chuyên gia (Manager, Creator, Moderator, Ops, Admin) &amp; Pháp lý.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79"/>
            <a:ext cx="1051560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443983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389119"/>
            <a:ext cx="941832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0A2540"/>
                </a:solidFill>
              </a:defRPr>
            </a:pPr>
            <a:r>
              <a:t>Ma trận &amp; Đặc tả yêu cầu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Ma trận truy vết thực tế, bộ yêu cầu 12 CORE + 8 EXT + NFRs &amp; Ma trận SoD 6 vai trò.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66360"/>
            <a:ext cx="1051560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5312664"/>
            <a:ext cx="457200" cy="457200"/>
          </a:xfrm>
          <a:prstGeom prst="ellipse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257800"/>
            <a:ext cx="941832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300">
                <a:solidFill>
                  <a:srgbClr val="0A2540"/>
                </a:solidFill>
              </a:defRPr>
            </a:pPr>
            <a:r>
              <a:t>Quy trình, Use Case &amp; Kết luận</a:t>
            </a:r>
          </a:p>
          <a:p>
            <a:pPr>
              <a:spcBef>
                <a:spcPts val="200"/>
              </a:spcBef>
              <a:defRPr sz="1050">
                <a:solidFill>
                  <a:srgbClr val="64748B"/>
                </a:solidFill>
              </a:defRPr>
            </a:pPr>
            <a:r>
              <a:t>2 luồng nghiệp vụ cốt lõi, 15 Canonical Use Cases, hiện trạng kỹ thuật &amp; ranh giới liêm chính.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BỐI CẢNH THỰC TẾ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t>Vấn đề không chỉ là học, mà là học đều và nhớ lâu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9144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91640" y="1170432"/>
            <a:ext cx="137160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43584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Khoảng trống giữa mong muốn học ngoại ngữ và thói quen duy trì kỷ luật học tập hàng ngày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3891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THỰC TRẠNG &amp; BÀI TOÁN BỎ DỞ (PAIN POINTS)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B91C1C"/>
                </a:solidFill>
              </a:rPr>
              <a:t>• Học dồn và nhanh nản lòng: </a:t>
            </a:r>
            <a:r>
              <a:rPr sz="1000">
                <a:solidFill>
                  <a:srgbClr val="1E293B"/>
                </a:solidFill>
              </a:rPr>
              <a:t>Người học ban đầu rất hào hứng nhưng thường học dồn 30–45 phút, nhanh chóng kiệt sức và bỏ dở sau 1–2 tuần.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B91C1C"/>
                </a:solidFill>
              </a:rPr>
              <a:t>• Quy luật lãng quên từ vựng: </a:t>
            </a:r>
            <a:r>
              <a:rPr sz="1000">
                <a:solidFill>
                  <a:srgbClr val="1E293B"/>
                </a:solidFill>
              </a:rPr>
              <a:t>100% người học đối mặt với đường cong lãng quên (Ebbinghaus). Thiếu cơ chế tự động nhắc ôn tập ngắt quãng đúng thời điểm.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B91C1C"/>
                </a:solidFill>
              </a:rPr>
              <a:t>• Nội dung quá tải &amp; lan man: </a:t>
            </a:r>
            <a:r>
              <a:rPr sz="1000">
                <a:solidFill>
                  <a:srgbClr val="1E293B"/>
                </a:solidFill>
              </a:rPr>
              <a:t>Các bài học truyền thống quá dài dòng (&gt;15 phút), thiếu giải thích cặn kẽ ngay khi làm sai khiến người học mất hứng thú.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B91C1C"/>
                </a:solidFill>
              </a:rPr>
              <a:t>• Khủng hoảng vận hành học liệu: </a:t>
            </a:r>
            <a:r>
              <a:rPr sz="1000">
                <a:solidFill>
                  <a:srgbClr val="1E293B"/>
                </a:solidFill>
              </a:rPr>
              <a:t>Thiếu quy trình kiểm duyệt độc lập dẫn tới sai sót âm thanh, lỗi ngữ pháp và nguy cơ gian lận tự duyệt bài.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5120640" cy="43891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5120640" cy="43891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GIẢI PHÁP ĐỘT PHÁ CỦA LINGORA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47857"/>
                </a:solidFill>
              </a:rPr>
              <a:t>✓ Thiết kế bài học vi mô (Micro-learning): </a:t>
            </a:r>
            <a:r>
              <a:rPr sz="1000">
                <a:solidFill>
                  <a:srgbClr val="1E293B"/>
                </a:solidFill>
              </a:rPr>
              <a:t>Gói gọn bài học trong 5–10 phút, chỉ gồm 8–10 từ vựng trọng tâm kèm 5 dạng bài tập tương tác.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47857"/>
                </a:solidFill>
              </a:rPr>
              <a:t>✓ Thuật toán ôn tập ngắt quãng (SRS): </a:t>
            </a:r>
            <a:r>
              <a:rPr sz="1000">
                <a:solidFill>
                  <a:srgbClr val="1E293B"/>
                </a:solidFill>
              </a:rPr>
              <a:t>Tự động tính toán chu kỳ lặp lại 1 → 3 → 7 → 14 → 30 ngày, lọc chính xác từ vựng đến hạn cần ôn.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47857"/>
                </a:solidFill>
              </a:rPr>
              <a:t>✓ Phản hồi tức thì &amp; Controlled Retry: </a:t>
            </a:r>
            <a:r>
              <a:rPr sz="1000">
                <a:solidFill>
                  <a:srgbClr val="1E293B"/>
                </a:solidFill>
              </a:rPr>
              <a:t>Giải thích ngữ pháp/nghĩa từ ngay khi làm sai; cho phép làm lại câu sai ngay cuối bài (~10%) để khắc sâu kiến thức.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47857"/>
                </a:solidFill>
              </a:rPr>
              <a:t>✓ Mô hình quản trị học liệu SoD 4 mắt: </a:t>
            </a:r>
            <a:r>
              <a:rPr sz="1000">
                <a:solidFill>
                  <a:srgbClr val="1E293B"/>
                </a:solidFill>
              </a:rPr>
              <a:t>Phân định nghiêm ngặt: Creator soạn bài != Moderator duyệt != Manager xuất bản; Audit Log bất biến bảo vệ toàn bộ dữ liệu.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PHƯƠNG PHÁP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t>Mỗi câu hỏi được trả lời bằng phương pháp độc lập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9144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91640" y="1170432"/>
            <a:ext cx="137160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43584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Không quy chụp dữ liệu; kết hợp khảo sát định lượng, phỏng vấn định tính và kiểm chứng pháp lý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51560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09728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1856232"/>
            <a:ext cx="2011680" cy="42062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Khảo sát sơ bộ N=15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24 câu hỏi bao quát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8288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Xác định các trở ngại cốt lõi: 100% quên từ vựng, 4.13/5 nhu cầu nhắc ôn và thói quen tự học.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1051560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560320"/>
            <a:ext cx="109728" cy="7498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2724912"/>
            <a:ext cx="2011680" cy="42062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Khảo sát bổ sung N=35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Tập trung 2 biến số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6974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Xác định khung giờ vàng tự học (20:00–22:00 chiếm 51.4%) và tỷ lệ đồng ý làm lại câu sai (54.3%).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29000"/>
            <a:ext cx="1051560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429000"/>
            <a:ext cx="109728" cy="7498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3593592"/>
            <a:ext cx="2011680" cy="420624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Phỏng vấn định tính N=3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Bán cấu trúc chuyên sâu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5661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Tìm hiểu nguyên nhân bỏ dở ứng dụng: tâm lý nản lòng vì dồn ứ bài, sai không giải thích, bài học quá dài.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97679"/>
            <a:ext cx="1051560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297679"/>
            <a:ext cx="109728" cy="7498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" y="4462271"/>
            <a:ext cx="2011680" cy="42062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Phỏng vấn chuyên gia (7)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5 nhóm vai trò vận hành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43483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Xây dựng quy tắc quản trị: Task Spec 5 trường, Unit 4/4 bài, tiêu chí QC 6 điểm và phân định SoD.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66360"/>
            <a:ext cx="10515600" cy="7498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166360"/>
            <a:ext cx="109728" cy="749808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05840" y="5330952"/>
            <a:ext cx="2011680" cy="420624"/>
          </a:xfrm>
          <a:prstGeom prst="round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Đối chuẩn &amp; Pháp lý</a:t>
            </a:r>
          </a:p>
          <a:p>
            <a:pPr algn="ctr">
              <a:defRPr sz="800">
                <a:solidFill>
                  <a:srgbClr val="FFFFFF"/>
                </a:solidFill>
              </a:defRPr>
            </a:pPr>
            <a:r>
              <a:t>Benchmark &amp; Legal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3035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So sánh Duolingo/Quizlet; rà soát Luật ATTT 86/2015, Nghị định 13/2023 về bảo vệ dữ liệu cá nhân.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KHẢO SÁT THỰC NGHIỆM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t>Khảo sát ban đầu N=15: Vấn đề nào cần giải quyết?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9144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91640" y="1170432"/>
            <a:ext cx="137160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43584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24 câu hỏi khảo sát giúp xác định chính xác các rào cản tâm lý và nhu cầu học tập cốt lõi</a:t>
            </a:r>
          </a:p>
        </p:txBody>
      </p:sp>
      <p:pic>
        <p:nvPicPr>
          <p:cNvPr id="7" name="Picture 6" descr="s5_survey_n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515600" cy="287268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114800"/>
            <a:ext cx="251460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114800"/>
            <a:ext cx="2514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25196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Trở ngại quên từ vựng (100%):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Toàn bộ 15/15 người được khảo sát thừa nhận thường xuyên quên từ vựng sau khi học. Cần thuật toán ôn tập tự động.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4114800"/>
            <a:ext cx="251460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1568" y="4114800"/>
            <a:ext cx="2514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8728" y="425196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Nhắc nhở ôn tập (4.13/5):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Nhu cầu tự động nhắc ôn từ vựng ở mức rất cấp thiết (12/15 người đánh giá 4 hoặc 5 điểm Likert).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71616" y="4114800"/>
            <a:ext cx="251460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71616" y="4114800"/>
            <a:ext cx="25146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425196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7C3AED"/>
                </a:solidFill>
              </a:defRPr>
            </a:pPr>
            <a:r>
              <a:t>Gợi ý lộ trình (93.3%):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14/15 người học mong muốn hệ thống tự động kiểm tra đầu vào và đề xuất bài học phù hợp với trình độ.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41664" y="4114800"/>
            <a:ext cx="251460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41664" y="4114800"/>
            <a:ext cx="251460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78824" y="425196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A580C"/>
                </a:solidFill>
              </a:defRPr>
            </a:pPr>
            <a:r>
              <a:t>Bài tập tương tác (73.3%):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Người học ưu tiên các dạng bài tập điền từ, trắc nghiệm nhanh và nghe nhận diện từ có phản hồi ngay.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KHẢO SÁT THỰC NGHIỆM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t>Khảo sát bổ sung N=35: Khung giờ học và cơ chế làm lại câu sai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9144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91640" y="1170432"/>
            <a:ext cx="137160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43584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Thu thập dữ liệu chuyên sâu để định hình 2 quyết định thiết kế then chốt của ứng dụng</a:t>
            </a:r>
          </a:p>
        </p:txBody>
      </p:sp>
      <p:pic>
        <p:nvPicPr>
          <p:cNvPr id="7" name="Picture 6" descr="s6_survey_n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515600" cy="334380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206240"/>
            <a:ext cx="512064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2563EB"/>
                </a:solidFill>
              </a:defRPr>
            </a:pPr>
            <a:r>
              <a:t>QUYẾT ĐỊNH 1: CẤU HÌNH THÔNG BÁO NHẮC HỌC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Dữ liệu N=35 chỉ ra 51.4% (18 người) chọn khung giờ 20:00–22:00 để tự học.</a:t>
            </a:r>
            <a:br/>
            <a:r>
              <a:t>• Ứng dụng thiết lập mặc định nhắc nhở học tập vào khung giờ vàng này.</a:t>
            </a:r>
            <a:br/>
            <a:r>
              <a:t>• Cho phép người dùng tùy chỉnh giờ học cá nhân hoặc tắt thông báo nếu muốn.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206240"/>
            <a:ext cx="512064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297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0B981"/>
                </a:solidFill>
              </a:defRPr>
            </a:pPr>
            <a:r>
              <a:t>QUYẾT ĐỊNH 2: CƠ CHẾ LÀM LẠI CÂU SAI (CONTROLLED RETRY)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54.3% (19/35) đồng ý làm lại câu sai ngay cuối bài; 31.4% đồng ý tùy bài học.</a:t>
            </a:r>
            <a:br/>
            <a:r>
              <a:t>• Hệ thống đưa ra cơ chế Controlled Retry: Tự động gom tối đa 10% số câu sai vào cuối bài.</a:t>
            </a:r>
            <a:br/>
            <a:r>
              <a:t>• Giúp người học sửa lỗi ngay lập tức mà không gây cảm giác ức chế hay quá tải.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PHỎNG VẤN ĐỊNH TÍNH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t>Phỏng vấn N=3: Vì sao người học từng bỏ dở ứng dụng?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9144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91640" y="1170432"/>
            <a:ext cx="137160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43584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Phỏng vấn bán cấu trúc chuyên sâu giải mã rào cản tâm lý dẫn đến việc bỏ ngang việc học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2900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👤 Case 1: Lỡ nhịp &amp; Dồn ứ (Sinh viên năm 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2563EB"/>
                </a:solidFill>
              </a:rPr>
              <a:t>Thực trạng:
</a:t>
            </a:r>
            <a:r>
              <a:rPr sz="950">
                <a:solidFill>
                  <a:srgbClr val="1E293B"/>
                </a:solidFill>
              </a:rPr>
              <a:t>Bỏ lỡ 1 ngày học bận rộn, hôm sau app dồn bài học gấp đôi kèm danh sách từ ôn tập quá dài khiến người học hoảng loạn và từ bỏ.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2563EB"/>
                </a:solidFill>
              </a:rPr>
              <a:t>Tác động tâm lý:
</a:t>
            </a:r>
            <a:r>
              <a:rPr sz="950">
                <a:solidFill>
                  <a:srgbClr val="1E293B"/>
                </a:solidFill>
              </a:rPr>
              <a:t>Cảm giác tội lỗi và áp lực bị phạt bài học dồn làm triệt tiêu hoàn toàn động lực học.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2563EB"/>
                </a:solidFill>
              </a:rPr>
              <a:t>Giải pháp Lingora:
</a:t>
            </a:r>
            <a:r>
              <a:rPr sz="950">
                <a:solidFill>
                  <a:srgbClr val="1E293B"/>
                </a:solidFill>
              </a:rPr>
              <a:t>Thiết kế bài vi mô 5–10 phút; khống chế số lượng từ cần ôn mỗi ngày, không dồn bài phạt.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42900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645920"/>
            <a:ext cx="3429000" cy="43891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👤 Case 2: Làm sai không giải thích (Người đi làm)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9456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EA580C"/>
                </a:solidFill>
              </a:rPr>
              <a:t>Thực trạng:
</a:t>
            </a:r>
            <a:r>
              <a:rPr sz="950">
                <a:solidFill>
                  <a:srgbClr val="1E293B"/>
                </a:solidFill>
              </a:rPr>
              <a:t>Làm sai bài tập nhưng app chỉ hiển thị dấu X đỏ và đáp án đúng mà hoàn toàn không giải thích vì sao sai.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EA580C"/>
                </a:solidFill>
              </a:rPr>
              <a:t>Tác động tâm lý:
</a:t>
            </a:r>
            <a:r>
              <a:rPr sz="950">
                <a:solidFill>
                  <a:srgbClr val="1E293B"/>
                </a:solidFill>
              </a:rPr>
              <a:t>Bức xúc, cảm thấy bị đánh đố và không tiến bộ sau các lỗi sai.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EA580C"/>
                </a:solidFill>
              </a:rPr>
              <a:t>Giải pháp Lingora:
</a:t>
            </a:r>
            <a:r>
              <a:rPr sz="950">
                <a:solidFill>
                  <a:srgbClr val="1E293B"/>
                </a:solidFill>
              </a:rPr>
              <a:t>Phản hồi tức thì: Bắt buộc kèm giải thích ngữ pháp và từ vựng chi tiết ngay tại chỗ sau mỗi câu sai.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645920"/>
            <a:ext cx="342900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63840" y="1645920"/>
            <a:ext cx="3429000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👤 Case 3: Bài học quá dài dòng (Sinh viên năm 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19456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7C3AED"/>
                </a:solidFill>
              </a:rPr>
              <a:t>Thực trạng:
</a:t>
            </a:r>
            <a:r>
              <a:rPr sz="950">
                <a:solidFill>
                  <a:srgbClr val="1E293B"/>
                </a:solidFill>
              </a:rPr>
              <a:t>Bài học kéo dài lê thê (&gt;15 phút) khiến người học khó tranh thủ học trong các khoảng thời gian trống ngắn.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7C3AED"/>
                </a:solidFill>
              </a:rPr>
              <a:t>Tác động tâm lý:
</a:t>
            </a:r>
            <a:r>
              <a:rPr sz="950">
                <a:solidFill>
                  <a:srgbClr val="1E293B"/>
                </a:solidFill>
              </a:rPr>
              <a:t>Khó duy trì thói quen học tập đều đặn khi lịch học và làm việc bận rộn.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7C3AED"/>
                </a:solidFill>
              </a:rPr>
              <a:t>Giải pháp Lingora:
</a:t>
            </a:r>
            <a:r>
              <a:rPr sz="950">
                <a:solidFill>
                  <a:srgbClr val="1E293B"/>
                </a:solidFill>
              </a:rPr>
              <a:t>Chuẩn hóa mỗi bài học chỉ gồm 8–10 từ vựng cốt lõi, hoàn thành trong 5–10 phút.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GÓC NHÌN CHUYÊN 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t>Kiểm chứng yêu cầu với 6 vai trò trong hệ thống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9144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91640" y="1170432"/>
            <a:ext cx="137160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43584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7 chuyên gia được phỏng vấn chuyên sâu giúp xác lập mô hình phân quyền và vận hành chặt chẽ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42900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315468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Learner (Người học) — Nghiệp vụ Học tập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1E293B"/>
                </a:solidFill>
              </a:defRPr>
            </a:pPr>
            <a:r>
              <a:t>Học viên học theo lộ trình, làm bài tập tương tác, tự ôn ngắt quãng (SRS), làm lại câu sai và theo dõi Streak.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91640"/>
            <a:ext cx="342900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154680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Organizational Manager — Quản lý Đào tạo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8600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1E293B"/>
                </a:solidFill>
              </a:defRPr>
            </a:pPr>
            <a:r>
              <a:t>Lập khung chương trình, giao việc cho Creator qua Task Spec, phê duyệt xuất bản Unit (4/4 bài) và quản lý lớp học.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691640"/>
            <a:ext cx="342900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01000" y="1828800"/>
            <a:ext cx="3154680" cy="34747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Lesson Creator — Biên soạn Học liệu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28600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1E293B"/>
                </a:solidFill>
              </a:defRPr>
            </a:pPr>
            <a:r>
              <a:t>Nhập liệu bài học vi mô (8–10 từ), gắn audio chuẩn, tạo bài tập 5 dạng có giải thích. Cấm tự duyệt bài mình tạo.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342900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4069080"/>
            <a:ext cx="3154680" cy="34747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Moderator (Kiểm duyệt) — Kiểm soát Chất lượng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2628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1E293B"/>
                </a:solidFill>
              </a:defRPr>
            </a:pPr>
            <a:r>
              <a:t>Thẩm định độc lập theo bộ tiêu chí QC 6 điểm, thẩm âm bắt buộc, trả bài sửa kèm lý do. Cấm xuất bản.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931920"/>
            <a:ext cx="342900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34840" y="4069080"/>
            <a:ext cx="3154680" cy="347472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Operations Staff — Vận hành &amp; Hỗ trợ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52628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1E293B"/>
                </a:solidFill>
              </a:defRPr>
            </a:pPr>
            <a:r>
              <a:t>Tiếp nhận và xử lý phiếu phản ánh học tập (3 nhánh); không được phép can thiệp chỉnh sửa học liệu.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3931920"/>
            <a:ext cx="342900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01000" y="4069080"/>
            <a:ext cx="3154680" cy="347472"/>
          </a:xfrm>
          <a:prstGeom prst="round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Administrator (Quản trị) — Bảo mật &amp; Kỹ thuật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452628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1E293B"/>
                </a:solidFill>
              </a:defRPr>
            </a:pPr>
            <a:r>
              <a:t>Quản lý tài khoản, phân quyền RBAC, giám sát Audit Log bất biến và can thiệp xuất bản khẩn cấp có giải trình.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PHỎNG VẤN CHUYÊN SÂU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t>Manager &amp; Creator: Quy trình quản lý và biên soạn học liệu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9144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91640" y="1170432"/>
            <a:ext cx="137160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43584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Xác lập tiêu chuẩn giao việc 5 trường và quy chuẩn đóng gói bài học vi mô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ORGANIZATIONAL MANAGER (QUẢN LÝ TỔ CHỨC)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100">
                <a:solidFill>
                  <a:srgbClr val="7C3AED"/>
                </a:solidFill>
              </a:rPr>
              <a:t>• Phiếu giao việc Task Spec chuẩn hóa 5 trường:
</a:t>
            </a:r>
            <a:r>
              <a:rPr sz="1000">
                <a:solidFill>
                  <a:srgbClr val="1E293B"/>
                </a:solidFill>
              </a:rPr>
              <a:t>Bao gồm: Mã Unit, Danh sách từ vựng trọng tâm, Ngữ pháp mục tiêu, Creator phụ trách, và Hạn hoàn thành.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7C3AED"/>
                </a:solidFill>
              </a:rPr>
              <a:t>• Quy tắc đóng gói Unit hoàn chỉnh (4/4 bài):
</a:t>
            </a:r>
            <a:r>
              <a:rPr sz="1000">
                <a:solidFill>
                  <a:srgbClr val="1E293B"/>
                </a:solidFill>
              </a:rPr>
              <a:t>Chỉ xuất bản khi đủ trọn vẹn 4 bài học (3 bài học mới + 1 bài tổng hợp). Không xuất bản dở dang làm vỡ lộ trình.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7C3AED"/>
                </a:solidFill>
              </a:rPr>
              <a:t>• Thẩm quyền xuất bản nội dung chính thức:
</a:t>
            </a:r>
            <a:r>
              <a:rPr sz="1000">
                <a:solidFill>
                  <a:srgbClr val="1E293B"/>
                </a:solidFill>
              </a:rPr>
              <a:t>Manager là vai trò duy nhất có thẩm quyền xuất bản học liệu thường nhật sau khi đã qua Moderator phê duyệt.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5120640" cy="43891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LESSON CREATOR (NGƯỜI BIÊN SOẠN HỌC LIỆU)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100">
                <a:solidFill>
                  <a:srgbClr val="EA580C"/>
                </a:solidFill>
              </a:rPr>
              <a:t>• Bộ bài tập 5 dạng chuẩn tương tác cao:
</a:t>
            </a:r>
            <a:r>
              <a:rPr sz="1000">
                <a:solidFill>
                  <a:srgbClr val="1E293B"/>
                </a:solidFill>
              </a:rPr>
              <a:t>Trắc nghiệm, Điền từ vào chỗ trống, Sắp xếp từ thành câu, Nghe chọn từ đúng và Câu hỏi ngữ pháp kèm giải thích.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EA580C"/>
                </a:solidFill>
              </a:rPr>
              <a:t>• 100% từ vựng có âm thanh phát âm bản xứ:
</a:t>
            </a:r>
            <a:r>
              <a:rPr sz="1000">
                <a:solidFill>
                  <a:srgbClr val="1E293B"/>
                </a:solidFill>
              </a:rPr>
              <a:t>Chuẩn hóa file MP3 chất lượng cao cho toàn bộ từ mới và câu ví dụ, hỗ trợ người học nghe chuẩn ngay từ đầu.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EA580C"/>
                </a:solidFill>
              </a:rPr>
              <a:t>• Công cụ nhập liệu bài học hàng loạt (Bulk Import):
</a:t>
            </a:r>
            <a:r>
              <a:rPr sz="1000">
                <a:solidFill>
                  <a:srgbClr val="1E293B"/>
                </a:solidFill>
              </a:rPr>
              <a:t>Hỗ trợ nạp bài từ file Excel/CSV theo mẫu chuẩn; toàn bộ dữ liệu nạp vào phải ở trạng thái Draft và qua kiểm duyệt.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PHỎNG VẤN CHUYÊN SÂU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t>Kiểm soát chất lượng, hỗ trợ và quản trị an ninh hệ thống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9144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91640" y="1170432"/>
            <a:ext cx="137160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43584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Bộ tiêu chí QC 6 điểm, quy trình xử lý ticket 3 nhánh và ghi nhật ký kiểm toán bất biến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29000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MODERATOR (KIỂM DUYỆT)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10B981"/>
                </a:solidFill>
              </a:rPr>
              <a:t>• Bộ tiêu chí QC 6 điểm:
</a:t>
            </a:r>
            <a:r>
              <a:rPr sz="950">
                <a:solidFill>
                  <a:srgbClr val="1E293B"/>
                </a:solidFill>
              </a:rPr>
              <a:t>Đúng ngữ pháp, chính tả, ngữ cảnh, đủ 5 dạng bài, giải thích rõ ràng và âm thanh chuẩn.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10B981"/>
                </a:solidFill>
              </a:rPr>
              <a:t>• Thẩm âm bắt buộc:
</a:t>
            </a:r>
            <a:r>
              <a:rPr sz="950">
                <a:solidFill>
                  <a:srgbClr val="1E293B"/>
                </a:solidFill>
              </a:rPr>
              <a:t>Moderator phải nghe thẩm định 100% file audio trước khi bấm phê duyệt bài học.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10B981"/>
                </a:solidFill>
              </a:rPr>
              <a:t>• Khóa cấm tự duyệt (SoD):
</a:t>
            </a:r>
            <a:r>
              <a:rPr sz="950">
                <a:solidFill>
                  <a:srgbClr val="1E293B"/>
                </a:solidFill>
              </a:rPr>
              <a:t>Hệ thống tự động khóa chức năng duyệt nếu Moderator chính là người biên soạn bài đó.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42900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645920"/>
            <a:ext cx="3429000" cy="438912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OPERATIONS STAFF (VẬN HÀNH)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9456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64748B"/>
                </a:solidFill>
              </a:rPr>
              <a:t>• Phân luồng hỗ trợ 3 nhánh:
</a:t>
            </a:r>
            <a:r>
              <a:rPr sz="950">
                <a:solidFill>
                  <a:srgbClr val="1E293B"/>
                </a:solidFill>
              </a:rPr>
              <a:t>Nội dung sai sót → Moderator; Lỗi kỹ thuật hệ thống → Dev/Admin; Tài khoản → Ops xử lý.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64748B"/>
                </a:solidFill>
              </a:rPr>
              <a:t>• Ranh giới dữ liệu an toàn:
</a:t>
            </a:r>
            <a:r>
              <a:rPr sz="950">
                <a:solidFill>
                  <a:srgbClr val="1E293B"/>
                </a:solidFill>
              </a:rPr>
              <a:t>Operations chỉ xem nội dung phiếu và phản hồi; tuyệt đối không có quyền sửa trực tiếp CSDL học liệu.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645920"/>
            <a:ext cx="342900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63840" y="1645920"/>
            <a:ext cx="3429000" cy="438912"/>
          </a:xfrm>
          <a:prstGeom prst="round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ADMIN &amp; PHÁP LÝ (LEGAL)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19456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BE123C"/>
                </a:solidFill>
              </a:rPr>
              <a:t>• Bảo mật phiên đăng nhập:
</a:t>
            </a:r>
            <a:r>
              <a:rPr sz="950">
                <a:solidFill>
                  <a:srgbClr val="1E293B"/>
                </a:solidFill>
              </a:rPr>
              <a:t>Sử dụng HttpOnly Cookies chống XSS; phân quyền RBAC chặt chẽ ở tầng CSDL.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BE123C"/>
                </a:solidFill>
              </a:rPr>
              <a:t>• Ghi nhật ký kiểm toán bất biến:
</a:t>
            </a:r>
            <a:r>
              <a:rPr sz="950">
                <a:solidFill>
                  <a:srgbClr val="1E293B"/>
                </a:solidFill>
              </a:rPr>
              <a:t>Ghi nhận đầy đủ 6 trường dữ liệu; tuân thủ nghiêm ngặt Luật ATTT 86/2015 và Nghị định 13/2023/NĐ-CP.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ĐỐI CHUẨN &amp; QUYẾT ĐỊNH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t>Đối chuẩn tính năng và 4 quyết định thiết kế then chốt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9144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91640" y="1170432"/>
            <a:ext cx="137160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43584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Học hỏi ưu điểm của Duolingo, Quizlet và khắc phục nhược điểm bằng thiết kế phù hợp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ĐỐI CHUẨN NỀN TẢNG (BENCHMARK)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2563EB"/>
                </a:solidFill>
              </a:rPr>
              <a:t>Duolingo (Gamification mạnh mẽ):
</a:t>
            </a:r>
            <a:r>
              <a:rPr sz="950">
                <a:solidFill>
                  <a:srgbClr val="1E293B"/>
                </a:solidFill>
              </a:rPr>
              <a:t>Ưu điểm: Giữ chân người học tốt nhờ chuỗi Streak và bài tập vi mô.
Nhược điểm: Giải thích ngữ pháp rất sơ sài, bài học thiếu ngữ cảnh thực tế.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2563EB"/>
                </a:solidFill>
              </a:rPr>
              <a:t>Quizlet (Ghi nhớ từ vựng Flashcard):
</a:t>
            </a:r>
            <a:r>
              <a:rPr sz="950">
                <a:solidFill>
                  <a:srgbClr val="1E293B"/>
                </a:solidFill>
              </a:rPr>
              <a:t>Ưu điểm: Ôn tập từ vựng nhanh, cho phép tự tạo học liệu.
Nhược điểm: Thiếu lộ trình có cấu trúc; học liệu do người dùng tạo có tỷ lệ lỗi phát âm và ngữ pháp rất cao.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2563EB"/>
                </a:solidFill>
              </a:rPr>
              <a:t>Định vị khác biệt của Lingora:
</a:t>
            </a:r>
            <a:r>
              <a:rPr sz="950">
                <a:solidFill>
                  <a:srgbClr val="1E293B"/>
                </a:solidFill>
              </a:rPr>
              <a:t>Kết hợp ưu điểm của cả hai: Vừa có tính kỷ luật (Streak, vi mô 5–10p, SRS) vừa có học liệu được kiểm duyệt 4 mắt chặt chẽ kèm giải thích cặn kẽ.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5120640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4 QUYẾT ĐỊNH THIẾT KẾ THEN CHỐT [ĐÃ CHỐT]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10B981"/>
                </a:solidFill>
              </a:rPr>
              <a:t>1. Chuẩn hóa 5 dạng bài tập tương tác: </a:t>
            </a:r>
            <a:r>
              <a:rPr sz="950">
                <a:solidFill>
                  <a:srgbClr val="1E293B"/>
                </a:solidFill>
              </a:rPr>
              <a:t>Trắc nghiệm, Điền từ, Sắp xếp câu, Nghe nhận diện và Ngữ pháp có giải thích.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10B981"/>
                </a:solidFill>
              </a:rPr>
              <a:t>2. Thuật toán SRS cố định 5 mốc ngày: </a:t>
            </a:r>
            <a:r>
              <a:rPr sz="950">
                <a:solidFill>
                  <a:srgbClr val="1E293B"/>
                </a:solidFill>
              </a:rPr>
              <a:t>Chu kỳ giãn cách: 1 → 3 → 7 → 14 → 30 ngày (Trực quan, ổn định, dễ dự báo).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10B981"/>
                </a:solidFill>
              </a:rPr>
              <a:t>3. Quy tắc tính Streak chuẩn múi giờ địa phương: </a:t>
            </a:r>
            <a:r>
              <a:rPr sz="950">
                <a:solidFill>
                  <a:srgbClr val="1E293B"/>
                </a:solidFill>
              </a:rPr>
              <a:t>Học xong trước 23:59:59 → +1 ngày; lỡ ngày → về 1 (Không bán Streak Freeze).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10B981"/>
                </a:solidFill>
              </a:rPr>
              <a:t>4. Kiểm tra xếp lớp đầu vào (Placement Test): </a:t>
            </a:r>
            <a:r>
              <a:rPr sz="950">
                <a:solidFill>
                  <a:srgbClr val="1E293B"/>
                </a:solidFill>
              </a:rPr>
              <a:t>30 câu hỏi đánh giá nhanh; cho phép học viên tùy chọn 'Bỏ qua bài test' để học từ đầu.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MA TRẬN TRUY VẾT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t>Từ bằng chứng thực tế đến tính năng phần mềm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9144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91640" y="1170432"/>
            <a:ext cx="137160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43584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Mỗi tính năng của Lingora đều giải quyết trực tiếp một phát hiện thực nghiệm hoặc yêu cầu chuyên gia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515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737360"/>
          <a:ext cx="103327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023360"/>
                <a:gridCol w="4297680"/>
              </a:tblGrid>
              <a:tr h="280416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Nguồn bằng chứng thực tế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Phát hiện cốt lõi từ thực tế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Tính năng / Giải pháp phần mềm tương ứng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N=15, Q8: 15/15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100% người khảo sát từng quên từ vựng đã học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A2540"/>
                          </a:solidFill>
                          <a:latin typeface="Segoe UI"/>
                        </a:defRPr>
                      </a:pPr>
                      <a:r>
                        <a:t>Thuật toán ôn tập ngắt quãng (SRS) tự động tính chu kỳ quên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N=15, Q13: 12/15 (80%)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Nhu cầu tự động nhắc ôn từ vựng ở mức rất cấp thiết (4.13/5)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A2540"/>
                          </a:solidFill>
                          <a:latin typeface="Segoe UI"/>
                        </a:defRPr>
                      </a:pPr>
                      <a:r>
                        <a:t>Bộ lọc thông minh: Tự động gom từ vựng đến hạn cần ôn trong ngày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N=15, Q15: 14/15 (93.3%)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Quan tâm tính năng tự đề xuất bài học theo năng lực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A2540"/>
                          </a:solidFill>
                          <a:latin typeface="Segoe UI"/>
                        </a:defRPr>
                      </a:pPr>
                      <a:r>
                        <a:t>Kiểm tra trình độ đầu vào (Placement 30 câu) &amp; Gợi ý bài học cá nhân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N=15, Q17 &amp; Q7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Nhu cầu bài tập điền từ, trắc nghiệm, nghe và giải thích ngữ pháp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A2540"/>
                          </a:solidFill>
                          <a:latin typeface="Segoe UI"/>
                        </a:defRPr>
                      </a:pPr>
                      <a:r>
                        <a:t>Bộ bài tập tương tác 5 dạng: Trắc nghiệm, Điền từ, Nghe, Ghép, Viết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N=35: 18/35 (51.4%)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Khung giờ 20:00–22:00 buổi tối là thời điểm tự học phổ biến nhất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A2540"/>
                          </a:solidFill>
                          <a:latin typeface="Segoe UI"/>
                        </a:defRPr>
                      </a:pPr>
                      <a:r>
                        <a:t>Nhắc nhở học tập thông minh qua thông báo đẩy vào khung giờ vàng (20h–22h)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N=35: 19/35 (54.3%)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Đa số người học đồng ý làm lại câu sai ở cuối bài học (~10%)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A2540"/>
                          </a:solidFill>
                          <a:latin typeface="Segoe UI"/>
                        </a:defRPr>
                      </a:pPr>
                      <a:r>
                        <a:t>Cơ chế tự động cho phép làm lại câu sai (Controlled Retry) ngay cuối bài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N=3, Case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Tâm lý nản lòng vì nội dung bị dồn ứ sau khi lỡ nhịp 1 ngày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A2540"/>
                          </a:solidFill>
                          <a:latin typeface="Segoe UI"/>
                        </a:defRPr>
                      </a:pPr>
                      <a:r>
                        <a:t>Thiết kế bài học vi mô (Micro-learning 5–10 phút) tránh dồn ứ kiến thức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N=3, Case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Bức xúc vì làm sai nhưng không được giải thích lý do tại chỗ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A2540"/>
                          </a:solidFill>
                          <a:latin typeface="Segoe UI"/>
                        </a:defRPr>
                      </a:pPr>
                      <a:r>
                        <a:t>Phản hồi tức thì &amp; Giải thích ngữ pháp/nghĩa từ cặn kẽ ngay khi làm sai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N=3, Case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Bỏ học vì bài học quá dài dòng lê thê (&gt;15 phút)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A2540"/>
                          </a:solidFill>
                          <a:latin typeface="Segoe UI"/>
                        </a:defRPr>
                      </a:pPr>
                      <a:r>
                        <a:t>Quy chuẩn bài học tinh gọn (Unit 5–10 phút) giúp duy trì kỷ luật học tập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PV Manager (2 người)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Cần Task Spec 5 trường và quy tắc đóng gói Unit hoàn chỉnh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A2540"/>
                          </a:solidFill>
                          <a:latin typeface="Segoe UI"/>
                        </a:defRPr>
                      </a:pPr>
                      <a:r>
                        <a:t>Phân công bài học theo Task Spec 5 trường &amp; Đóng gói Unit 4/4 hoàn chỉnh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PV Creator (2 người)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Khâu chuẩn bị audio tốn thời gian; cần tính năng nạp bài hàng loạt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A2540"/>
                          </a:solidFill>
                          <a:latin typeface="Segoe UI"/>
                        </a:defRPr>
                      </a:pPr>
                      <a:r>
                        <a:t>Tích hợp Audio phát âm bản xứ chuẩn &amp; Công cụ nhập học liệu hàng loạt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PV Moderator (1 người)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Cần bộ tiêu chí QC 6 điểm và khóa cấm tự duyệt bài mình soạn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A2540"/>
                          </a:solidFill>
                          <a:latin typeface="Segoe UI"/>
                        </a:defRPr>
                      </a:pPr>
                      <a:r>
                        <a:t>Kiểm duyệt 2 cấp độc lập: Khóa cấm tự duyệt bài mình biên soạn (SoD)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PV Operations (1 người)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Cần phân luồng 3 nhánh hỗ trợ; không được sửa trực tiếp học liệu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A2540"/>
                          </a:solidFill>
                          <a:latin typeface="Segoe UI"/>
                        </a:defRPr>
                      </a:pPr>
                      <a:r>
                        <a:t>Kênh tiếp nhận &amp; Phân luồng phiếu khiếu nại/hỗ trợ người dùng 3 nhánh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PV Admin &amp; Legal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Cần bảo vệ phiên, phân quyền 6 vai trò và ghi Audit Log bất biến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A2540"/>
                          </a:solidFill>
                          <a:latin typeface="Segoe UI"/>
                        </a:defRPr>
                      </a:pPr>
                      <a:r>
                        <a:t>Bảo vệ phiên đăng nhập, phân quyền 6 vai trò &amp; Nhật ký kiểm toán bất biến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ĐẶC TẢ YÊU CẦU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t>Bộ yêu cầu hệ thống: 12 CORE + 8 EXT + NFRs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9144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91640" y="1170432"/>
            <a:ext cx="137160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43584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Phân cấp ưu tiên rõ ràng: Cốt lõi (Must) cho MVP, Mở rộng (Should/Could) và Tiêu chuẩn phi chức năng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2900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12 YÊU CẦU CỐT LÕI (CORE — MUST)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2563EB"/>
                </a:solidFill>
              </a:rPr>
              <a:t>Xác thực &amp; Bảo mật: </a:t>
            </a:r>
            <a:r>
              <a:rPr sz="900">
                <a:solidFill>
                  <a:srgbClr val="1E293B"/>
                </a:solidFill>
              </a:rPr>
              <a:t>Đăng ký, đăng nhập an toàn, phân quyền 6 vai trò chuẩn RBAC.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2563EB"/>
                </a:solidFill>
              </a:rPr>
              <a:t>Biên soạn học liệu vi mô: </a:t>
            </a:r>
            <a:r>
              <a:rPr sz="900">
                <a:solidFill>
                  <a:srgbClr val="1E293B"/>
                </a:solidFill>
              </a:rPr>
              <a:t>Lập Task Spec 5 trường, soạn bài 8–10 từ kèm 100% audio bản xứ và 5 dạng bài tập.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2563EB"/>
                </a:solidFill>
              </a:rPr>
              <a:t>Kiểm soát chất lượng SoD: </a:t>
            </a:r>
            <a:r>
              <a:rPr sz="900">
                <a:solidFill>
                  <a:srgbClr val="1E293B"/>
                </a:solidFill>
              </a:rPr>
              <a:t>Kiểm duyệt độc lập 6 điểm QC, cấm tự duyệt bài mình; Manager xuất bản khi đủ Unit 4/4.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2563EB"/>
                </a:solidFill>
              </a:rPr>
              <a:t>Cơ chế Clone-to-Draft: </a:t>
            </a:r>
            <a:r>
              <a:rPr sz="900">
                <a:solidFill>
                  <a:srgbClr val="1E293B"/>
                </a:solidFill>
              </a:rPr>
              <a:t>Sửa bài xuất bản tạo bản sao Draft mới, bảo toàn tiến trình học viên.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2563EB"/>
                </a:solidFill>
              </a:rPr>
              <a:t>Trải nghiệm học &amp; SRS: </a:t>
            </a:r>
            <a:r>
              <a:rPr sz="900">
                <a:solidFill>
                  <a:srgbClr val="1E293B"/>
                </a:solidFill>
              </a:rPr>
              <a:t>Học bài 5–10p, Controlled Retry cuối bài, Placement test 30 câu, SRS 1-3-7-14-30 ngày.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2563EB"/>
                </a:solidFill>
              </a:rPr>
              <a:t>Động lực học tập: </a:t>
            </a:r>
            <a:r>
              <a:rPr sz="900">
                <a:solidFill>
                  <a:srgbClr val="1E293B"/>
                </a:solidFill>
              </a:rPr>
              <a:t>Theo dõi Streak theo múi giờ địa phương, báo cáo tiến độ và lịch sử làm bài.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42900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645920"/>
            <a:ext cx="3429000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8 YÊU CẦU MỞ RỘNG (EXTENSIONS)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9456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7C3AED"/>
                </a:solidFill>
              </a:rPr>
              <a:t>Ưu tiên vừa (SHOULD): </a:t>
            </a:r>
            <a:r>
              <a:rPr sz="900">
                <a:solidFill>
                  <a:srgbClr val="1E293B"/>
                </a:solidFill>
              </a:rPr>
              <a:t>Kiểm tra ngữ pháp tự luận (GEC service); Luyện hội thoại theo kịch bản tình huống đời sống; Đề xuất bài học thích ứng theo lịch sử sai; Kênh tiếp nhận &amp; điều phối phiếu hỗ trợ 3 nhánh; Giao diện tra cứu Audit Log cho Admin.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7C3AED"/>
                </a:solidFill>
              </a:rPr>
              <a:t>Ưu tiên thấp (COULD): </a:t>
            </a:r>
            <a:r>
              <a:rPr sz="900">
                <a:solidFill>
                  <a:srgbClr val="1E293B"/>
                </a:solidFill>
              </a:rPr>
              <a:t>Chuyển đổi giao diện song ngữ Việt – Anh; Gửi email nhắc Streak khi có nguy cơ đứt chuỗi; Nhập bài học hàng loạt từ file Excel/CSV.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645920"/>
            <a:ext cx="342900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63840" y="1645920"/>
            <a:ext cx="3429000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</a:defRPr>
            </a:pPr>
            <a:r>
              <a:t>TIÊU CHUẨN PHI CHỨC NĂNG (NFRs)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19456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00">
                <a:solidFill>
                  <a:srgbClr val="10B981"/>
                </a:solidFill>
              </a:rPr>
              <a:t>Bảo mật &amp; Kiểm toán (MUST): </a:t>
            </a:r>
            <a:r>
              <a:rPr sz="900">
                <a:solidFill>
                  <a:srgbClr val="1E293B"/>
                </a:solidFill>
              </a:rPr>
              <a:t>HttpOnly Cookies chống XSS; RLS ở tầng CSDL; Audit Log 6 trường bất biến.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10B981"/>
                </a:solidFill>
              </a:rPr>
              <a:t>Độ tin cậy &amp; Sẵn sàng (MUST): </a:t>
            </a:r>
            <a:r>
              <a:rPr sz="900">
                <a:solidFill>
                  <a:srgbClr val="1E293B"/>
                </a:solidFill>
              </a:rPr>
              <a:t>Mất mạng không ghi điểm dở dang; dịch vụ ngoài sập không làm hỏng luồng học cốt lõi.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10B981"/>
                </a:solidFill>
              </a:rPr>
              <a:t>Mục tiêu kỹ thuật (SHOULD): </a:t>
            </a:r>
            <a:r>
              <a:rPr sz="900">
                <a:solidFill>
                  <a:srgbClr val="1E293B"/>
                </a:solidFill>
              </a:rPr>
              <a:t>Chuyển câu &lt;1s, phản hồi ngữ pháp ≤3s, độ sẵn sàng 99.5% (đo kiểm thực tế).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10B981"/>
                </a:solidFill>
              </a:rPr>
              <a:t>Kiến trúc độc lập 3 tầng: </a:t>
            </a:r>
            <a:r>
              <a:rPr sz="900">
                <a:solidFill>
                  <a:srgbClr val="1E293B"/>
                </a:solidFill>
              </a:rPr>
              <a:t>Phân tách: Giao diện — Ngôn ngữ nguồn (Tiếng Việt) — Ngôn ngữ đích (Tiếng Anh).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TÁC NHÂN &amp; PHÂN ĐỊNH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t>Ma trận phân định trách nhiệm (Separation of Duties — SoD)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9144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91640" y="1170432"/>
            <a:ext cx="137160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43584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Nguyên tắc 4 mắt chống gian lận: Ai được làm gì và ai bị hệ thống nghiêm cấm thực hiện?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515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737360"/>
          <a:ext cx="10332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Vai trò (Role)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Soạn Draft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Duyệt QC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Xuất bản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Quản trị User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Xử lý Ticket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Audit Log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A2540"/>
                          </a:solidFill>
                          <a:latin typeface="Segoe UI"/>
                        </a:defRPr>
                      </a:pPr>
                      <a:r>
                        <a:t>Learner (Người học)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✗ CẤM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✗ CẤM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✗ CẤM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✗ CẤM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✗ CẤM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✗ CẤM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A2540"/>
                          </a:solidFill>
                          <a:latin typeface="Segoe UI"/>
                        </a:defRPr>
                      </a:pPr>
                      <a:r>
                        <a:t>Lesson Creator (Biên soạn)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✓ CÓ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✗ CẤM*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✗ CẤM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✗ CẤM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✗ CẤM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✗ CẤM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A2540"/>
                          </a:solidFill>
                          <a:latin typeface="Segoe UI"/>
                        </a:defRPr>
                      </a:pPr>
                      <a:r>
                        <a:t>Moderator (Kiểm duyệt)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✗ CẤM*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✓ CÓ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✗ CẤM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✗ CẤM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✗ CẤM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✗ CẤM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A2540"/>
                          </a:solidFill>
                          <a:latin typeface="Segoe UI"/>
                        </a:defRPr>
                      </a:pPr>
                      <a:r>
                        <a:t>Org Manager (Quản lý)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✓ CÓ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✓ CÓ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✓ CÓ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✗ CẤM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✗ CẤM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7C3AED"/>
                          </a:solidFill>
                          <a:latin typeface="Segoe UI"/>
                        </a:defRPr>
                      </a:pPr>
                      <a:r>
                        <a:t>Xem phân hệ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A2540"/>
                          </a:solidFill>
                          <a:latin typeface="Segoe UI"/>
                        </a:defRPr>
                      </a:pPr>
                      <a:r>
                        <a:t>Operations Staff (Vận hành)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✗ CẤM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✗ CẤM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✗ CẤM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✗ CẤM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✓ CÓ (Ticket)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✗ CẤM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A2540"/>
                          </a:solidFill>
                          <a:latin typeface="Segoe UI"/>
                        </a:defRPr>
                      </a:pPr>
                      <a:r>
                        <a:t>Administrator (Quản trị)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✗ CẤM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✗ CẤM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7C3AED"/>
                          </a:solidFill>
                          <a:latin typeface="Segoe UI"/>
                        </a:defRPr>
                      </a:pPr>
                      <a:r>
                        <a:t>Chỉ khẩn cấp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✓ CÓ (Toàn quyền)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✓ CÓ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✓ CÓ (Toàn quyền)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QUY TRÌNH NGHIỆP VỤ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t>Hai luồng nghiệp vụ cốt lõi: Quản trị học liệu &amp; Học tập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9144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91640" y="1170432"/>
            <a:ext cx="137160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43584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Quy trình kiểm soát trạng thái học liệu bất biến và chu trình khép kín giúp người học duy trì kỷ luật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515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15_conten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10332720" cy="203121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3931920"/>
            <a:ext cx="10515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15_learner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77639"/>
            <a:ext cx="10332720" cy="15896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MÔ HÌNH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t>Mô hình Use Case: 14 Core Use Cases &amp; 1 Optional B2B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9144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91640" y="1170432"/>
            <a:ext cx="137160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43584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Chuẩn hóa danh mục 15 Use Cases chính quy, gắn kết chặt chẽ với yêu cầu hệ thống và chức năng 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515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691640"/>
          <a:ext cx="104241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926080"/>
                <a:gridCol w="2103120"/>
                <a:gridCol w="1371600"/>
                <a:gridCol w="1463040"/>
                <a:gridCol w="1645920"/>
              </a:tblGrid>
              <a:tr h="268605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Mã UC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Tên Use Case chuẩn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Tác nhân chính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Phân hệ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Chức năng MVP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Yêu cầu hệ thống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UC-01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Authenticate &amp; Manage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Learner,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MVP-01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CORE-01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UC-02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Configure Goals &amp; Study 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Learner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Learning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MVP-02, MVP-10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CORE-01, CORE-10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UC-03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Take Placement Test (30 câu)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Learner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MVP-03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CORE-09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UC-04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Browse Learning Path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Learner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Learning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MVP-04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CORE-07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UC-05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Complete Lesson Exercises &amp; Retry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Learner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MVP-05, 06, 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CORE-03, CORE-07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UC-06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Spaced Repetition Review (SRS)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Learner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Learning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MVP-09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CORE-08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UC-07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Track Progress &amp; Streak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Learner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MVP-08, 10,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CORE-10, CORE-11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UC-08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Create &amp; Edit Lesson Draft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EA580C"/>
                          </a:solidFill>
                          <a:latin typeface="Segoe UI"/>
                        </a:defRPr>
                      </a:pPr>
                      <a:r>
                        <a:t>Lesson Creator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MVP-05, 06, 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CORE-02, 03, 06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UC-09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Review &amp; Approve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Moderator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MVP-07, MVP-13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CORE-04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UC-10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Publish Approved Content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7C3AED"/>
                          </a:solidFill>
                          <a:latin typeface="Segoe UI"/>
                        </a:defRPr>
                      </a:pPr>
                      <a:r>
                        <a:t>Organizational Manager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Content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MVP-13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CORE-05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UC-11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Manage Accounts &amp; Roles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Admin/Ops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MVP-14, MVP-19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CORE-12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UC-12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View System Reports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Administrator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Admin/Ops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MVP-15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EXT-05 (Báo cáo)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UC-13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View &amp; Audit Security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BE123C"/>
                          </a:solidFill>
                          <a:latin typeface="Segoe UI"/>
                        </a:defRPr>
                      </a:pPr>
                      <a:r>
                        <a:t>Administrator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Admin/Ops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MVP-19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CORE-05, 12, EXT-05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UC-14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Handle Support Tickets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Operations Staff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Admin/Ops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MVP-16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EXT-04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UC-15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latin typeface="Segoe UI"/>
                        </a:defRPr>
                      </a:pPr>
                      <a:r>
                        <a:t>[OPTIONAL B2B] Manage Cohorts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7C3AED"/>
                          </a:solidFill>
                          <a:latin typeface="Segoe UI"/>
                        </a:defRPr>
                      </a:pPr>
                      <a:r>
                        <a:t>Organizational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Cohort B2B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MVP-17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Segoe UI"/>
                        </a:defRPr>
                      </a:pPr>
                      <a:r>
                        <a:t>Phân hệ Cohort B2B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01168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HIỆN TRẠNG &amp; ĐỊNH HƯỚNG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t>Kết quả nghiên cứu, hiện trạng hệ thống và định hướng phát triển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70432"/>
            <a:ext cx="9144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91640" y="1170432"/>
            <a:ext cx="137160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43584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Tổng kết kết quả đặc tả, hiện trạng triển khai kỹ thuật và ranh giới liêm chính học thuật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2900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1. KẾT QUẢ ĐẶC TẢ YÊU CẦU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176272"/>
            <a:ext cx="288036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2563EB"/>
                </a:solidFill>
              </a:defRPr>
            </a:pPr>
            <a:r>
              <a:t>★ 100% TRACEABLE (ĐA NGUỒN)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42032"/>
            <a:ext cx="3154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2563EB"/>
                </a:solidFill>
              </a:rPr>
              <a:t>Cơ sở thực nghiệm đa nguồn:
</a:t>
            </a:r>
            <a:r>
              <a:rPr sz="950">
                <a:solidFill>
                  <a:srgbClr val="1E293B"/>
                </a:solidFill>
              </a:rPr>
              <a:t>Xây dựng từ N=15 khảo sát gốc, N=35 khảo sát bổ sung, N=3 phỏng vấn định tính, 7 chuyên gia và 3 Nghị định pháp lý.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2563EB"/>
                </a:solidFill>
              </a:rPr>
              <a:t>Mô hình quản trị chặt chẽ:
</a:t>
            </a:r>
            <a:r>
              <a:rPr sz="950">
                <a:solidFill>
                  <a:srgbClr val="1E293B"/>
                </a:solidFill>
              </a:rPr>
              <a:t>Chuẩn hóa 6 vai trò độc lập, ma trận SoD chống gian lận học liệu, quy trình kiểm soát 6 trạng thái và cơ chế Clone-to-Draft.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2563EB"/>
                </a:solidFill>
              </a:rPr>
              <a:t>Đặc tả chức năng toàn diện:
</a:t>
            </a:r>
            <a:r>
              <a:rPr sz="950">
                <a:solidFill>
                  <a:srgbClr val="1E293B"/>
                </a:solidFill>
              </a:rPr>
              <a:t>12 Yêu cầu cốt lõi (Must) + 8 Mở rộng (Should/Could) ánh xạ nhất quán sang 15 Canonical Use Cases và 19 chức năng MVP.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45920"/>
            <a:ext cx="342900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1645920"/>
            <a:ext cx="3429000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2. HIỆN TRẠNG KỸ THUẬT LINGORA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176272"/>
            <a:ext cx="288036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7C3AED"/>
                </a:solidFill>
              </a:defRPr>
            </a:pPr>
            <a:r>
              <a:t>★ PHASE 0: HOÀN TẤT (VERIFIED)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542032"/>
            <a:ext cx="3154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7C3AED"/>
                </a:solidFill>
              </a:rPr>
              <a:t>Phase 0 — Đặc tả &amp; Phân tích:
</a:t>
            </a:r>
            <a:r>
              <a:rPr sz="950">
                <a:solidFill>
                  <a:srgbClr val="1E293B"/>
                </a:solidFill>
              </a:rPr>
              <a:t>ĐÃ HOÀN TẤT và được kiểm chứng độc lập (Pass toàn bộ Verification Gates về bằng chứng và ma trận truy vết).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7C3AED"/>
                </a:solidFill>
              </a:rPr>
              <a:t>Milestone M1 — Nền tảng Core:
</a:t>
            </a:r>
            <a:r>
              <a:rPr sz="950">
                <a:solidFill>
                  <a:srgbClr val="1E293B"/>
                </a:solidFill>
              </a:rPr>
              <a:t>ĐÃ HOÀN TẤT xác thực an toàn (Next.js 15 SSR Auth, Supabase GoTrue, PostgreSQL RLS, Prisma ORM và API Skeleton).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7C3AED"/>
                </a:solidFill>
              </a:rPr>
              <a:t>Milestone M2 — Kế hoạch tiếp theo:
</a:t>
            </a:r>
            <a:r>
              <a:rPr sz="950">
                <a:solidFill>
                  <a:srgbClr val="1E293B"/>
                </a:solidFill>
              </a:rPr>
              <a:t>Sẵn sàng triển khai Web Core Lesson Flow và công cụ bài tập tương tác 5 dạng chuẩn.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645920"/>
            <a:ext cx="342900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0" y="1645920"/>
            <a:ext cx="3429000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3. GIỚI HẠN &amp; LIÊM CHÍNH KHOA HỌC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176272"/>
            <a:ext cx="288036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10B981"/>
                </a:solidFill>
              </a:defRPr>
            </a:pPr>
            <a:r>
              <a:t>★ NGHIÊN CỨU TRUNG THỰC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542032"/>
            <a:ext cx="3154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50">
                <a:solidFill>
                  <a:srgbClr val="10B981"/>
                </a:solidFill>
              </a:rPr>
              <a:t>Quy mô mẫu nghiên cứu:
</a:t>
            </a:r>
            <a:r>
              <a:rPr sz="950">
                <a:solidFill>
                  <a:srgbClr val="1E293B"/>
                </a:solidFill>
              </a:rPr>
              <a:t>Khảo sát N=15 và N=35 là mẫu sơ bộ thuận tiện; phỏng vấn N=3 là nghiên cứu định tính khám phá; nhóm cam kết không suy rộng thống kê sai lệch.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10B981"/>
                </a:solidFill>
              </a:rPr>
              <a:t>Chỉ số phi chức năng NFR:
</a:t>
            </a:r>
            <a:r>
              <a:rPr sz="950">
                <a:solidFill>
                  <a:srgbClr val="1E293B"/>
                </a:solidFill>
              </a:rPr>
              <a:t>Các mục tiêu (&lt;1s, ≤3s, 99.5%) là ngưỡng kỹ thuật đề xuất, sẽ được đo kiểm chính xác bằng công cụ chuyên dụng khi nghiệm thu.</a:t>
            </a:r>
          </a:p>
          <a:p>
            <a:pPr>
              <a:spcAft>
                <a:spcPts val="1000"/>
              </a:spcAft>
            </a:pPr>
            <a:r>
              <a:rPr b="1" sz="1050">
                <a:solidFill>
                  <a:srgbClr val="10B981"/>
                </a:solidFill>
              </a:rPr>
              <a:t>Thông điệp cốt lõi:
</a:t>
            </a:r>
            <a:r>
              <a:rPr sz="950">
                <a:solidFill>
                  <a:srgbClr val="1E293B"/>
                </a:solidFill>
              </a:rPr>
              <a:t>Lingora là nền tảng vận hành học liệu có kiểm soát, giải quyết thực chất bài toán duy trì kỷ luật và ghi nhớ từ vựng.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60811C320DB09146B949355C1F67BBAE" ma:contentTypeVersion="7" ma:contentTypeDescription="Tạo tài liệu mới." ma:contentTypeScope="" ma:versionID="ca2d4ab66a161cc7c4457210eee4cb1a">
  <xsd:schema xmlns:xsd="http://www.w3.org/2001/XMLSchema" xmlns:xs="http://www.w3.org/2001/XMLSchema" xmlns:p="http://schemas.microsoft.com/office/2006/metadata/properties" xmlns:ns2="fd63efce-8fbd-4040-94f1-ea540616c8b8" targetNamespace="http://schemas.microsoft.com/office/2006/metadata/properties" ma:root="true" ma:fieldsID="1c7eaee93ad99eb446dcbd3c704fa23a" ns2:_="">
    <xsd:import namespace="fd63efce-8fbd-4040-94f1-ea540616c8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63efce-8fbd-4040-94f1-ea540616c8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C4D521-0D26-4840-9D47-26175F4F494F}">
  <ds:schemaRefs/>
</ds:datastoreItem>
</file>

<file path=customXml/itemProps2.xml><?xml version="1.0" encoding="utf-8"?>
<ds:datastoreItem xmlns:ds="http://schemas.openxmlformats.org/officeDocument/2006/customXml" ds:itemID="{B0F4B562-84E9-4060-9761-9EDF48B0D71C}">
  <ds:schemaRefs/>
</ds:datastoreItem>
</file>

<file path=customXml/itemProps3.xml><?xml version="1.0" encoding="utf-8"?>
<ds:datastoreItem xmlns:ds="http://schemas.openxmlformats.org/officeDocument/2006/customXml" ds:itemID="{73E56004-A989-4E15-9184-F5E96785329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Màn hình rộng</PresentationFormat>
  <Paragraphs>0</Paragraphs>
  <Slides>1</Slides>
  <Notes>43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Arial</vt:lpstr>
      <vt:lpstr>Times New Roman</vt:lpstr>
      <vt:lpstr>Calibri</vt:lpstr>
      <vt:lpstr>Microsoft YaHei</vt:lpstr>
      <vt:lpstr>Arial Unicode MS</vt:lpstr>
      <vt:lpstr>Theme1</vt:lpstr>
      <vt:lpstr>TRƯỜNG ĐẠI HỌC GIAO THÔNG VẬN TẢI UNIVERSITY OF TRANSPOST AND COMMUNICATIONS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TRƯỜNG ĐẠI HỌC GIAO THÔNG VẬN TẢI UNIVERSITY OF TRANSPOST AND COMMUNICATIONS</dc:title>
  <dc:creator>NGUYEN QUANG  HUAN</dc:creator>
  <cp:lastModifiedBy>tungt</cp:lastModifiedBy>
  <cp:revision>6</cp:revision>
  <dcterms:created xsi:type="dcterms:W3CDTF">2022-12-05T13:13:00Z</dcterms:created>
  <dcterms:modified xsi:type="dcterms:W3CDTF">2026-09-21T01:27:59Z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ContentTypeId">
    <vt:lpwstr>0x01010060811C320DB09146B949355C1F67BBAE</vt:lpwstr>
  </property>
  <property fmtid="{D5CDD505-2E9C-101B-9397-08002B2CF9AE}" pid="4" name="ICV">
    <vt:lpwstr>6C58EB0633564694A65888EF796954F7_12</vt:lpwstr>
  </property>
</Properties>
</file>