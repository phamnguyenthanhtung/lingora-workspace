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mừng Hội đồng và Thầy Cô. Bài báo cáo này tập trung chuyên sâu vào phân tích và mô hình hóa hệ thống của nền tảng học ngoại ngữ Lingora theo chuẩn mực Kỹ nghệ Phần mềm. Nội dung trình bày đi xuyên suốt từ mô hình ca sử dụng (Use Case), mô hình hoạt động nghiệp vụ (Activity Diagram), cấu trúc dữ liệu tĩnh (Class Diagram), đến ma trận truy vết yêu cầu (Traceability). Hệ thống vận hành trên nền tảng Web với 6 vai trò chuẩn tắc và các giải thuật học tập tất định.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Lingora được phân rã thành ba gói kiến trúc nghiệp vụ rõ ràng: Learning, Content và Administration. Mô hình con người chuẩn hóa trên đúng 6 vai trò, loại bỏ hoàn toàn các vai trò phân mảnh trước đây như Teacher hay Student. Trong đó, chức năng hỗ trợ người dùng UC-14 thuộc phạm vi MVP ở mức điều phối hỗ trợ, còn UC-15 quản lý nhóm học Cohort là ranh giới mở rộng trong tương lai (Future Extension).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góc nhìn Use Case tổng quan, 6 vai trò chuyên biệt đều kế thừa từ Authenticated User để sử dụng dịch vụ xác thực phiên làm việc tập trung UC-01. Quan hệ include được áp dụng chặt chẽ: học bài hoặc ôn tập SRS thành công sẽ kích hoạt cập nhật chuỗi Streak theo múi giờ. Nhánh Skip và Retake mở rộng từ Placement, và xuất bản khẩn cấp của Admin là quan hệ extend từ Publish với điều kiện bài đã Approved.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ca sử dụng của học viên thể hiện chu trình học tập khép kín. Người học thiết lập mục tiêu, làm bài kiểm tra xếp lớp 30 câu hoặc chọn bỏ qua để vào thẳng Unit 1. Tính năng nhảy cóc Jump Challenge là luồng kiểm tra vượt cấp nằm trong UC-04. Chuỗi ngày học liên tục UC-07 hoàn toàn tự động được include bởi UC-05 và UC-06 dựa trên hoạt động thực chất, loại bỏ hành vi gian lận tự bấm tăng chuỗi.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quản trị và kiểm duyệt thực thi nghiêm ngặt nguyên tắc phân tách nhiệm vụ (SoD). Creator biên soạn, Moderator kiểm duyệt chuyên môn, và Organizational Manager giữ thẩm quyền xuất bản. Admin không có quyền xuất bản tự do mà chỉ được xuất bản khẩn cấp khi bài học đã qua phê duyệt Approved, đồng thời bắt buộc phải có lý do giải trình để ghi vết vào sổ cái AuditLog.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đánh giá chẩn đoán đầu vào thực hiện chuẩn hóa trên bộ 30 câu hỏi chọn lọc do con người biên soạn, áp dụng thang điểm thô 0–30 không chuẩn hóa phức tạp. Thuật toán Mapping A tất định ánh xạ số câu đúng trực tiếp vào các Unit từ 1 đến 6. Học viên chọn Skip sẽ được xếp vào Unit 1 với trạng thái chưa kiểm định và phát sinh đúng 0 bản ghi kết quả để bảo đảm liêm chính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luồng hoạt động trung tâm gồm chính xác 14 bước. Điểm cải tiến quan trọng là Lesson Content Viewer được đặt ngay trước khi bắt đầu bài tập, đảm bảo người học được tiếp thu kiến thức trước khi kiểm tra. Điều kiện mở Unit 4/4 Published được kiểm tra tự động ở bước 2. Cơ chế Controlled Retry ở bước 11-12 cho phép làm lại câu sai với trần điểm 70%, và hoàn thành bài học không phụ thuộc vào điểm sàn 80%.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Thử thách Jump Challenge là một hoạt động kiểm tra độc lập trên lộ trình học tập, không tự động kích hoạt sau bài học. Yêu cầu đạt ngưỡng điểm rất cao là từ 95% trở lên. Khi vượt qua, các bài học bị nhảy qua sẽ nhận nhãn SKIPPED_BY_JUMP với cờ by_jump = true, và Unit đích được mở khóa. Nếu không đạt, hệ thống kích hoạt thời gian phạt hồi chiêu 24 giờ trên máy chủ.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quản trị nội dung thực hiện chu trình kiểm duyệt khép kín 6 trạng thái. Phân định rõ ràng: Creator soạn bài, Moderator thẩm định, và Manager xuất bản. Cơ chế Clone-to-Draft v2 đảm bảo nội dung đã xuất bản không bao giờ bị sửa đè trực tiếp mà được tạo revision mới liên kết qua trường supersedes_id.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lớp phân hệ nội dung phân định rõ giữa thực thể hiện tại trong database và các thành phần mở rộng Phase 2. Course, Unit, Lesson, Vocabulary, Exercise là các bảng hiện có. Bảng LessonRevision là thiết kế mục tiêu để hiện thực hóa cơ chế quản lý phiên bản và Clone-to-Draft v2, trong đó Exercise sẽ trỏ về Revision thay vì trỏ thẳng vào Lesson.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lớp trạng thái học viên phản ánh tính liêm chính trong đo lường tiến độ. UserProgress chỉ đo lường tiến trình hoàn thành nội dung bài học, tuyệt đối không đồng nhất với năng lực thực chất (SkillProfile). Các bảng AssessmentResult và SkillProfile là thiết kế mục tiêu để lưu trữ lịch sử đánh giá chẩn đoán bất biến. Role được cài đặt dưới dạng enumeration gắn trực tiếp vào Profile theo mô hình vai trò đơn.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trận truy vết là mắt xích liên kết toàn diện giữa 15 Ca sử dụng, các biểu đồ hoạt động và các lớp thực thể trong cơ sở dữ liệu. Mọi hành vi được mô tả trong Activity Diagram đều có các lớp cụ thể bảo trợ dữ liệu, và mọi Use Case đều truy vết được nguồn gốc từ yêu cầu người dùng. Đây là cơ sở vững chắc để bước vào giai đoạn cài đặt hệ thống ở Giai đoạn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3657600"/>
          </a:xfrm>
          <a:prstGeom prst="rect">
            <a:avLst/>
          </a:prstGeom>
          <a:noFill/>
        </p:spPr>
        <p:txBody>
          <a:bodyPr wrap="square">
            <a:spAutoFit/>
          </a:bodyPr>
          <a:lstStyle/>
          <a:p>
            <a:pPr>
              <a:spcAft>
                <a:spcPts val="1200"/>
              </a:spcAft>
              <a:defRPr sz="4800" b="1">
                <a:solidFill>
                  <a:srgbClr val="FFFFFF"/>
                </a:solidFill>
                <a:latin typeface="Segoe UI"/>
              </a:defRPr>
            </a:pPr>
            <a:r>
              <a:t>LINGORA</a:t>
            </a:r>
          </a:p>
          <a:p>
            <a:pPr>
              <a:spcAft>
                <a:spcPts val="2800"/>
              </a:spcAft>
              <a:defRPr sz="2200" b="1">
                <a:solidFill>
                  <a:srgbClr val="38BDF8"/>
                </a:solidFill>
                <a:latin typeface="Segoe UI"/>
              </a:defRPr>
            </a:pPr>
            <a:r>
              <a:t>Phân tích và mô hình hóa hệ thống nền tảng học ngoại ngữ trực tuyến</a:t>
            </a:r>
          </a:p>
          <a:p>
            <a:pPr>
              <a:spcAft>
                <a:spcPts val="3600"/>
              </a:spcAft>
              <a:defRPr sz="1400">
                <a:solidFill>
                  <a:srgbClr val="94A3B8"/>
                </a:solidFill>
                <a:latin typeface="Segoe UI"/>
              </a:defRPr>
            </a:pPr>
            <a:r>
              <a:t>Use Case  ·  Activity Diagram  ·  Class Diagram  ·  Traceability</a:t>
            </a:r>
          </a:p>
          <a:p>
            <a:pPr>
              <a:defRPr sz="1200">
                <a:solidFill>
                  <a:srgbClr val="CBD5E1"/>
                </a:solidFill>
                <a:latin typeface="Segoe UI"/>
              </a:defRPr>
            </a:pPr>
            <a:r>
              <a:t>Hệ thống chuẩn mực Kỹ nghệ Phần mềm  |  Giai đoạn 2 (Phase 2 SE Core Baseline)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0284C7"/>
                </a:solidFill>
                <a:latin typeface="Segoe UI"/>
              </a:defRPr>
            </a:pPr>
            <a:r>
              <a:t>PHÂN TÍCH &amp; MÔ HÌNH HÓA HỆ THỐNG</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000" b="1">
                <a:solidFill>
                  <a:srgbClr val="1E293B"/>
                </a:solidFill>
                <a:latin typeface="Segoe UI"/>
              </a:defRPr>
            </a:pPr>
            <a:r>
              <a:t>Tổng quan Hệ thống: Phân rã Gói chức năng &amp; 6 Vai trò Chuẩn tắc</a:t>
            </a:r>
          </a:p>
        </p:txBody>
      </p:sp>
      <p:sp>
        <p:nvSpPr>
          <p:cNvPr id="4" name="Rounded Rectangle 3"/>
          <p:cNvSpPr/>
          <p:nvPr/>
        </p:nvSpPr>
        <p:spPr>
          <a:xfrm>
            <a:off x="731520" y="1371600"/>
            <a:ext cx="3474720" cy="384048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347472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PACKAGE LEARNING</a:t>
            </a:r>
          </a:p>
        </p:txBody>
      </p:sp>
      <p:sp>
        <p:nvSpPr>
          <p:cNvPr id="6" name="TextBox 5"/>
          <p:cNvSpPr txBox="1"/>
          <p:nvPr/>
        </p:nvSpPr>
        <p:spPr>
          <a:xfrm>
            <a:off x="822960" y="1965960"/>
            <a:ext cx="3291840" cy="3108960"/>
          </a:xfrm>
          <a:prstGeom prst="rect">
            <a:avLst/>
          </a:prstGeom>
          <a:noFill/>
        </p:spPr>
        <p:txBody>
          <a:bodyPr wrap="square">
            <a:spAutoFit/>
          </a:bodyPr>
          <a:lstStyle/>
          <a:p>
            <a:pPr>
              <a:spcAft>
                <a:spcPts val="400"/>
              </a:spcAft>
              <a:defRPr sz="1000">
                <a:solidFill>
                  <a:srgbClr val="1E293B"/>
                </a:solidFill>
                <a:latin typeface="Segoe UI"/>
              </a:defRPr>
            </a:pPr>
            <a:r>
              <a:t>• Quản lý phiên làm việc &amp; xác thực học viên</a:t>
            </a:r>
          </a:p>
          <a:p>
            <a:pPr>
              <a:spcAft>
                <a:spcPts val="400"/>
              </a:spcAft>
              <a:defRPr sz="1000">
                <a:solidFill>
                  <a:srgbClr val="1E293B"/>
                </a:solidFill>
                <a:latin typeface="Segoe UI"/>
              </a:defRPr>
            </a:pPr>
            <a:r>
              <a:t>• Đánh giá chẩn đoán đầu vào (Placement Mapping A)</a:t>
            </a:r>
          </a:p>
          <a:p>
            <a:pPr>
              <a:spcAft>
                <a:spcPts val="400"/>
              </a:spcAft>
              <a:defRPr sz="1000">
                <a:solidFill>
                  <a:srgbClr val="1E293B"/>
                </a:solidFill>
                <a:latin typeface="Segoe UI"/>
              </a:defRPr>
            </a:pPr>
            <a:r>
              <a:t>• Điều hướng giáo trình (Curriculum Dashboard)</a:t>
            </a:r>
          </a:p>
          <a:p>
            <a:pPr>
              <a:spcAft>
                <a:spcPts val="400"/>
              </a:spcAft>
              <a:defRPr sz="1000">
                <a:solidFill>
                  <a:srgbClr val="1E293B"/>
                </a:solidFill>
                <a:latin typeface="Segoe UI"/>
              </a:defRPr>
            </a:pPr>
            <a:r>
              <a:t>• Xem nội dung bài học (Lesson Content Viewer)</a:t>
            </a:r>
          </a:p>
          <a:p>
            <a:pPr>
              <a:spcAft>
                <a:spcPts val="400"/>
              </a:spcAft>
              <a:defRPr sz="1000">
                <a:solidFill>
                  <a:srgbClr val="1E293B"/>
                </a:solidFill>
                <a:latin typeface="Segoe UI"/>
              </a:defRPr>
            </a:pPr>
            <a:r>
              <a:t>• Luyện tập tương tác (5 dạng bài tập chuẩn tắc)</a:t>
            </a:r>
          </a:p>
          <a:p>
            <a:pPr>
              <a:spcAft>
                <a:spcPts val="400"/>
              </a:spcAft>
              <a:defRPr sz="1000">
                <a:solidFill>
                  <a:srgbClr val="1E293B"/>
                </a:solidFill>
                <a:latin typeface="Segoe UI"/>
              </a:defRPr>
            </a:pPr>
            <a:r>
              <a:t>• Làm lại có kiểm soát (Controlled Retry ≤70% credit)</a:t>
            </a:r>
          </a:p>
          <a:p>
            <a:pPr>
              <a:spcAft>
                <a:spcPts val="400"/>
              </a:spcAft>
              <a:defRPr sz="1000">
                <a:solidFill>
                  <a:srgbClr val="1E293B"/>
                </a:solidFill>
                <a:latin typeface="Segoe UI"/>
              </a:defRPr>
            </a:pPr>
            <a:r>
              <a:t>• Ôn tập ngắt quãng tất định (SRS Policy B)</a:t>
            </a:r>
          </a:p>
          <a:p>
            <a:pPr>
              <a:spcAft>
                <a:spcPts val="400"/>
              </a:spcAft>
              <a:defRPr sz="1000">
                <a:solidFill>
                  <a:srgbClr val="1E293B"/>
                </a:solidFill>
                <a:latin typeface="Segoe UI"/>
              </a:defRPr>
            </a:pPr>
            <a:r>
              <a:t>• Theo dõi chuỗi học tập cá nhân theo múi giờ IANA</a:t>
            </a:r>
          </a:p>
        </p:txBody>
      </p:sp>
      <p:sp>
        <p:nvSpPr>
          <p:cNvPr id="7" name="Rounded Rectangle 6"/>
          <p:cNvSpPr/>
          <p:nvPr/>
        </p:nvSpPr>
        <p:spPr>
          <a:xfrm>
            <a:off x="4343400" y="1371600"/>
            <a:ext cx="3474720" cy="3840480"/>
          </a:xfrm>
          <a:prstGeom prst="roundRect">
            <a:avLst/>
          </a:prstGeom>
          <a:solidFill>
            <a:srgbClr val="FFFF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43400" y="1371600"/>
            <a:ext cx="3474720" cy="5029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PACKAGE CONTENT</a:t>
            </a:r>
          </a:p>
        </p:txBody>
      </p:sp>
      <p:sp>
        <p:nvSpPr>
          <p:cNvPr id="9" name="TextBox 8"/>
          <p:cNvSpPr txBox="1"/>
          <p:nvPr/>
        </p:nvSpPr>
        <p:spPr>
          <a:xfrm>
            <a:off x="4434840" y="1965960"/>
            <a:ext cx="3291840" cy="3108960"/>
          </a:xfrm>
          <a:prstGeom prst="rect">
            <a:avLst/>
          </a:prstGeom>
          <a:noFill/>
        </p:spPr>
        <p:txBody>
          <a:bodyPr wrap="square">
            <a:spAutoFit/>
          </a:bodyPr>
          <a:lstStyle/>
          <a:p>
            <a:pPr>
              <a:spcAft>
                <a:spcPts val="400"/>
              </a:spcAft>
              <a:defRPr sz="1000">
                <a:solidFill>
                  <a:srgbClr val="1E293B"/>
                </a:solidFill>
                <a:latin typeface="Segoe UI"/>
              </a:defRPr>
            </a:pPr>
            <a:r>
              <a:t>• Quản lý giáo trình (Course / Unit / Lesson)</a:t>
            </a:r>
          </a:p>
          <a:p>
            <a:pPr>
              <a:spcAft>
                <a:spcPts val="400"/>
              </a:spcAft>
              <a:defRPr sz="1000">
                <a:solidFill>
                  <a:srgbClr val="1E293B"/>
                </a:solidFill>
                <a:latin typeface="Segoe UI"/>
              </a:defRPr>
            </a:pPr>
            <a:r>
              <a:t>• Phân công biên soạn bài học cho Creator</a:t>
            </a:r>
          </a:p>
          <a:p>
            <a:pPr>
              <a:spcAft>
                <a:spcPts val="400"/>
              </a:spcAft>
              <a:defRPr sz="1000">
                <a:solidFill>
                  <a:srgbClr val="1E293B"/>
                </a:solidFill>
                <a:latin typeface="Segoe UI"/>
              </a:defRPr>
            </a:pPr>
            <a:r>
              <a:t>• Soạn thảo bản thảo bài học &amp; ngân hàng bài tập</a:t>
            </a:r>
          </a:p>
          <a:p>
            <a:pPr>
              <a:spcAft>
                <a:spcPts val="400"/>
              </a:spcAft>
              <a:defRPr sz="1000">
                <a:solidFill>
                  <a:srgbClr val="1E293B"/>
                </a:solidFill>
                <a:latin typeface="Segoe UI"/>
              </a:defRPr>
            </a:pPr>
            <a:r>
              <a:t>• Hàng đợi kiểm duyệt chuyên môn sư phạm (Moderator)</a:t>
            </a:r>
          </a:p>
          <a:p>
            <a:pPr>
              <a:spcAft>
                <a:spcPts val="400"/>
              </a:spcAft>
              <a:defRPr sz="1000">
                <a:solidFill>
                  <a:srgbClr val="1E293B"/>
                </a:solidFill>
                <a:latin typeface="Segoe UI"/>
              </a:defRPr>
            </a:pPr>
            <a:r>
              <a:t>• Quy trình xuất bản &amp; kiểm soát hiển thị (Unit 4/4)</a:t>
            </a:r>
          </a:p>
          <a:p>
            <a:pPr>
              <a:spcAft>
                <a:spcPts val="400"/>
              </a:spcAft>
              <a:defRPr sz="1000">
                <a:solidFill>
                  <a:srgbClr val="1E293B"/>
                </a:solidFill>
                <a:latin typeface="Segoe UI"/>
              </a:defRPr>
            </a:pPr>
            <a:r>
              <a:t>• Nhân bản bài học nâng cấp (Clone-to-Draft v2)</a:t>
            </a:r>
          </a:p>
          <a:p>
            <a:pPr>
              <a:spcAft>
                <a:spcPts val="400"/>
              </a:spcAft>
              <a:defRPr sz="1000">
                <a:solidFill>
                  <a:srgbClr val="1E293B"/>
                </a:solidFill>
                <a:latin typeface="Segoe UI"/>
              </a:defRPr>
            </a:pPr>
            <a:r>
              <a:t>• Xuất bản khẩn cấp có lý do giải trình &amp; audit trail</a:t>
            </a:r>
          </a:p>
          <a:p>
            <a:pPr>
              <a:spcAft>
                <a:spcPts val="400"/>
              </a:spcAft>
              <a:defRPr sz="1000">
                <a:solidFill>
                  <a:srgbClr val="1E293B"/>
                </a:solidFill>
                <a:latin typeface="Segoe UI"/>
              </a:defRPr>
            </a:pPr>
            <a:r>
              <a:t>• Lưu trữ bài học đã hết hiệu lực (Archived)</a:t>
            </a:r>
          </a:p>
        </p:txBody>
      </p:sp>
      <p:sp>
        <p:nvSpPr>
          <p:cNvPr id="10" name="Rounded Rectangle 9"/>
          <p:cNvSpPr/>
          <p:nvPr/>
        </p:nvSpPr>
        <p:spPr>
          <a:xfrm>
            <a:off x="7955280" y="1371600"/>
            <a:ext cx="3474720" cy="3840480"/>
          </a:xfrm>
          <a:prstGeom prst="roundRect">
            <a:avLst/>
          </a:prstGeom>
          <a:solidFill>
            <a:srgbClr val="FFFFFF"/>
          </a:solidFill>
          <a:ln w="2540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955280" y="1371600"/>
            <a:ext cx="3474720" cy="502920"/>
          </a:xfrm>
          <a:prstGeom prst="round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PACKAGE ADMINISTRATION</a:t>
            </a:r>
          </a:p>
        </p:txBody>
      </p:sp>
      <p:sp>
        <p:nvSpPr>
          <p:cNvPr id="12" name="TextBox 11"/>
          <p:cNvSpPr txBox="1"/>
          <p:nvPr/>
        </p:nvSpPr>
        <p:spPr>
          <a:xfrm>
            <a:off x="8046720" y="1965960"/>
            <a:ext cx="3291840" cy="3108960"/>
          </a:xfrm>
          <a:prstGeom prst="rect">
            <a:avLst/>
          </a:prstGeom>
          <a:noFill/>
        </p:spPr>
        <p:txBody>
          <a:bodyPr wrap="square">
            <a:spAutoFit/>
          </a:bodyPr>
          <a:lstStyle/>
          <a:p>
            <a:pPr>
              <a:spcAft>
                <a:spcPts val="400"/>
              </a:spcAft>
              <a:defRPr sz="1000">
                <a:solidFill>
                  <a:srgbClr val="1E293B"/>
                </a:solidFill>
                <a:latin typeface="Segoe UI"/>
              </a:defRPr>
            </a:pPr>
            <a:r>
              <a:t>• Quản trị tài khoản &amp; gán 6 vai trò người dùng</a:t>
            </a:r>
          </a:p>
          <a:p>
            <a:pPr>
              <a:spcAft>
                <a:spcPts val="400"/>
              </a:spcAft>
              <a:defRPr sz="1000">
                <a:solidFill>
                  <a:srgbClr val="1E293B"/>
                </a:solidFill>
                <a:latin typeface="Segoe UI"/>
              </a:defRPr>
            </a:pPr>
            <a:r>
              <a:t>• Bảo vệ thuộc tính hồ sơ bằng PostgreSQL grants</a:t>
            </a:r>
          </a:p>
          <a:p>
            <a:pPr>
              <a:spcAft>
                <a:spcPts val="400"/>
              </a:spcAft>
              <a:defRPr sz="1000" b="1">
                <a:solidFill>
                  <a:srgbClr val="0D9488"/>
                </a:solidFill>
                <a:latin typeface="Segoe UI"/>
              </a:defRPr>
            </a:pPr>
            <a:r>
              <a:t>• Điều phối &amp; xử lý hỗ trợ người dùng (UC-14 MVP)</a:t>
            </a:r>
          </a:p>
          <a:p>
            <a:pPr>
              <a:spcAft>
                <a:spcPts val="400"/>
              </a:spcAft>
              <a:defRPr sz="1000">
                <a:solidFill>
                  <a:srgbClr val="1E293B"/>
                </a:solidFill>
                <a:latin typeface="Segoe UI"/>
              </a:defRPr>
            </a:pPr>
            <a:r>
              <a:t>• Báo cáo tổng hợp vận hành &amp; tỷ lệ hoàn thành</a:t>
            </a:r>
          </a:p>
          <a:p>
            <a:pPr>
              <a:spcAft>
                <a:spcPts val="400"/>
              </a:spcAft>
              <a:defRPr sz="1000">
                <a:solidFill>
                  <a:srgbClr val="1E293B"/>
                </a:solidFill>
                <a:latin typeface="Segoe UI"/>
              </a:defRPr>
            </a:pPr>
            <a:r>
              <a:t>• Sổ cái kiểm toán an ninh bất biến (11 loại sự kiện)</a:t>
            </a:r>
          </a:p>
          <a:p>
            <a:pPr>
              <a:spcAft>
                <a:spcPts val="400"/>
              </a:spcAft>
              <a:defRPr sz="1000" b="1">
                <a:solidFill>
                  <a:srgbClr val="94A3B8"/>
                </a:solidFill>
                <a:latin typeface="Segoe UI"/>
              </a:defRPr>
            </a:pPr>
            <a:r>
              <a:t>• Quản lý nhóm học &amp; lớp học (UC-15 Future)</a:t>
            </a:r>
          </a:p>
          <a:p>
            <a:pPr>
              <a:spcAft>
                <a:spcPts val="400"/>
              </a:spcAft>
              <a:defRPr sz="1000">
                <a:solidFill>
                  <a:srgbClr val="1E293B"/>
                </a:solidFill>
                <a:latin typeface="Segoe UI"/>
              </a:defRPr>
            </a:pPr>
            <a:r>
              <a:t>  ↳ Phân định ranh giới mở rộng ngoài MVP cốt lõi</a:t>
            </a:r>
          </a:p>
          <a:p>
            <a:pPr>
              <a:spcAft>
                <a:spcPts val="400"/>
              </a:spcAft>
              <a:defRPr sz="1000">
                <a:solidFill>
                  <a:srgbClr val="1E293B"/>
                </a:solidFill>
                <a:latin typeface="Segoe UI"/>
              </a:defRPr>
            </a:pPr>
            <a:r>
              <a:t>  ↳ Nét đứt, không phụ thuộc vào Core Learning</a:t>
            </a:r>
          </a:p>
        </p:txBody>
      </p:sp>
      <p:sp>
        <p:nvSpPr>
          <p:cNvPr id="13" name="Rounded Rectangle 12"/>
          <p:cNvSpPr/>
          <p:nvPr/>
        </p:nvSpPr>
        <p:spPr>
          <a:xfrm>
            <a:off x="731520" y="5394960"/>
            <a:ext cx="10698480" cy="10058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64748B"/>
                </a:solidFill>
                <a:latin typeface="Segoe UI"/>
              </a:defRPr>
            </a:pPr>
            <a:r>
              <a:t>6 VAI TRÒ CHUẨN TẮC TRONG HỆ THỐNG LINGORA (CANONICAL HUMAN ROLES)</a:t>
            </a:r>
          </a:p>
        </p:txBody>
      </p:sp>
      <p:sp>
        <p:nvSpPr>
          <p:cNvPr id="14" name="Rounded Rectangle 13"/>
          <p:cNvSpPr/>
          <p:nvPr/>
        </p:nvSpPr>
        <p:spPr>
          <a:xfrm>
            <a:off x="914400" y="5715000"/>
            <a:ext cx="160020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Segoe UI"/>
              </a:defRPr>
            </a:pPr>
            <a:r>
              <a:t>Learner</a:t>
            </a:r>
          </a:p>
        </p:txBody>
      </p:sp>
      <p:sp>
        <p:nvSpPr>
          <p:cNvPr id="15" name="Rounded Rectangle 14"/>
          <p:cNvSpPr/>
          <p:nvPr/>
        </p:nvSpPr>
        <p:spPr>
          <a:xfrm>
            <a:off x="2651760" y="5715000"/>
            <a:ext cx="1600200" cy="50292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Segoe UI"/>
              </a:defRPr>
            </a:pPr>
            <a:r>
              <a:t>Lesson Creator</a:t>
            </a:r>
          </a:p>
        </p:txBody>
      </p:sp>
      <p:sp>
        <p:nvSpPr>
          <p:cNvPr id="16" name="Rounded Rectangle 15"/>
          <p:cNvSpPr/>
          <p:nvPr/>
        </p:nvSpPr>
        <p:spPr>
          <a:xfrm>
            <a:off x="4389120" y="5715000"/>
            <a:ext cx="1600200" cy="5029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Segoe UI"/>
              </a:defRPr>
            </a:pPr>
            <a:r>
              <a:t>Moderator</a:t>
            </a:r>
          </a:p>
        </p:txBody>
      </p:sp>
      <p:sp>
        <p:nvSpPr>
          <p:cNvPr id="17" name="Rounded Rectangle 16"/>
          <p:cNvSpPr/>
          <p:nvPr/>
        </p:nvSpPr>
        <p:spPr>
          <a:xfrm>
            <a:off x="6126479" y="5715000"/>
            <a:ext cx="1600200" cy="5029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Segoe UI"/>
              </a:defRPr>
            </a:pPr>
            <a:r>
              <a:t>Org Manager</a:t>
            </a:r>
          </a:p>
        </p:txBody>
      </p:sp>
      <p:sp>
        <p:nvSpPr>
          <p:cNvPr id="18" name="Rounded Rectangle 17"/>
          <p:cNvSpPr/>
          <p:nvPr/>
        </p:nvSpPr>
        <p:spPr>
          <a:xfrm>
            <a:off x="7863840" y="5715000"/>
            <a:ext cx="1600200" cy="5029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Segoe UI"/>
              </a:defRPr>
            </a:pPr>
            <a:r>
              <a:t>Operations Staff</a:t>
            </a:r>
          </a:p>
        </p:txBody>
      </p:sp>
      <p:sp>
        <p:nvSpPr>
          <p:cNvPr id="19" name="Rounded Rectangle 18"/>
          <p:cNvSpPr/>
          <p:nvPr/>
        </p:nvSpPr>
        <p:spPr>
          <a:xfrm>
            <a:off x="9601200" y="5715000"/>
            <a:ext cx="1600200" cy="502920"/>
          </a:xfrm>
          <a:prstGeom prst="round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Segoe UI"/>
              </a:defRPr>
            </a:pPr>
            <a:r>
              <a:t>Administrator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0284C7"/>
                </a:solidFill>
                <a:latin typeface="Segoe UI"/>
              </a:defRPr>
            </a:pPr>
            <a:r>
              <a:t>PHÂN TÍCH &amp; MÔ HÌNH HÓA HỆ THỐNG</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000" b="1">
                <a:solidFill>
                  <a:srgbClr val="1E293B"/>
                </a:solidFill>
                <a:latin typeface="Segoe UI"/>
              </a:defRPr>
            </a:pPr>
            <a:r>
              <a:t>Overall Use Case Diagram: Tổng quan Ca Sử dụng &amp; 3 Phân hệ Nghiệp vụ</a:t>
            </a:r>
          </a:p>
        </p:txBody>
      </p:sp>
      <p:sp>
        <p:nvSpPr>
          <p:cNvPr id="4" name="Rounded Rectangle 3"/>
          <p:cNvSpPr/>
          <p:nvPr/>
        </p:nvSpPr>
        <p:spPr>
          <a:xfrm>
            <a:off x="731520" y="1371600"/>
            <a:ext cx="1554480" cy="502920"/>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«Actor»</a:t>
            </a:r>
            <a:br/>
            <a:r>
              <a:t>Authenticated User</a:t>
            </a:r>
          </a:p>
        </p:txBody>
      </p:sp>
      <p:sp>
        <p:nvSpPr>
          <p:cNvPr id="5" name="TextBox 4"/>
          <p:cNvSpPr txBox="1"/>
          <p:nvPr/>
        </p:nvSpPr>
        <p:spPr>
          <a:xfrm>
            <a:off x="731520" y="1965960"/>
            <a:ext cx="1554480" cy="274320"/>
          </a:xfrm>
          <a:prstGeom prst="rect">
            <a:avLst/>
          </a:prstGeom>
          <a:noFill/>
        </p:spPr>
        <p:txBody>
          <a:bodyPr wrap="none">
            <a:spAutoFit/>
          </a:bodyPr>
          <a:lstStyle/>
          <a:p>
            <a:pPr algn="ctr">
              <a:defRPr sz="900">
                <a:solidFill>
                  <a:srgbClr val="64748B"/>
                </a:solidFill>
              </a:defRPr>
            </a:pPr>
            <a:r>
              <a:t>▲ generalization</a:t>
            </a:r>
          </a:p>
        </p:txBody>
      </p:sp>
      <p:sp>
        <p:nvSpPr>
          <p:cNvPr id="6" name="Rounded Rectangle 5"/>
          <p:cNvSpPr/>
          <p:nvPr/>
        </p:nvSpPr>
        <p:spPr>
          <a:xfrm>
            <a:off x="731520" y="2286000"/>
            <a:ext cx="155448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«Actor»</a:t>
            </a:r>
            <a:br/>
            <a:r>
              <a:t>Learner</a:t>
            </a:r>
          </a:p>
        </p:txBody>
      </p:sp>
      <p:sp>
        <p:nvSpPr>
          <p:cNvPr id="7" name="Rounded Rectangle 6"/>
          <p:cNvSpPr/>
          <p:nvPr/>
        </p:nvSpPr>
        <p:spPr>
          <a:xfrm>
            <a:off x="731520" y="2926080"/>
            <a:ext cx="1554480" cy="50292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«Actor»</a:t>
            </a:r>
            <a:br/>
            <a:r>
              <a:t>Lesson Creator</a:t>
            </a:r>
          </a:p>
        </p:txBody>
      </p:sp>
      <p:sp>
        <p:nvSpPr>
          <p:cNvPr id="8" name="Rounded Rectangle 7"/>
          <p:cNvSpPr/>
          <p:nvPr/>
        </p:nvSpPr>
        <p:spPr>
          <a:xfrm>
            <a:off x="731520" y="3566160"/>
            <a:ext cx="1554480" cy="5029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«Actor»</a:t>
            </a:r>
            <a:br/>
            <a:r>
              <a:t>Moderator</a:t>
            </a:r>
          </a:p>
        </p:txBody>
      </p:sp>
      <p:sp>
        <p:nvSpPr>
          <p:cNvPr id="9" name="Rounded Rectangle 8"/>
          <p:cNvSpPr/>
          <p:nvPr/>
        </p:nvSpPr>
        <p:spPr>
          <a:xfrm>
            <a:off x="731520" y="4206240"/>
            <a:ext cx="1554480" cy="5029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«Actor»</a:t>
            </a:r>
            <a:br/>
            <a:r>
              <a:t>Org Manager</a:t>
            </a:r>
          </a:p>
        </p:txBody>
      </p:sp>
      <p:sp>
        <p:nvSpPr>
          <p:cNvPr id="10" name="Rounded Rectangle 9"/>
          <p:cNvSpPr/>
          <p:nvPr/>
        </p:nvSpPr>
        <p:spPr>
          <a:xfrm>
            <a:off x="731520" y="4846320"/>
            <a:ext cx="1554480" cy="5029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«Actor»</a:t>
            </a:r>
            <a:br/>
            <a:r>
              <a:t>Operations Staff</a:t>
            </a:r>
          </a:p>
        </p:txBody>
      </p:sp>
      <p:sp>
        <p:nvSpPr>
          <p:cNvPr id="11" name="Rounded Rectangle 10"/>
          <p:cNvSpPr/>
          <p:nvPr/>
        </p:nvSpPr>
        <p:spPr>
          <a:xfrm>
            <a:off x="731520" y="5486400"/>
            <a:ext cx="1554480" cy="502920"/>
          </a:xfrm>
          <a:prstGeom prst="round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«Actor»</a:t>
            </a:r>
            <a:br/>
            <a:r>
              <a:t>Administrator</a:t>
            </a:r>
          </a:p>
        </p:txBody>
      </p:sp>
      <p:sp>
        <p:nvSpPr>
          <p:cNvPr id="12" name="Rectangle 11"/>
          <p:cNvSpPr/>
          <p:nvPr/>
        </p:nvSpPr>
        <p:spPr>
          <a:xfrm>
            <a:off x="2560320" y="1280160"/>
            <a:ext cx="8961120" cy="5029200"/>
          </a:xfrm>
          <a:prstGeom prst="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51760" y="1325880"/>
            <a:ext cx="3657600" cy="274320"/>
          </a:xfrm>
          <a:prstGeom prst="rect">
            <a:avLst/>
          </a:prstGeom>
          <a:noFill/>
        </p:spPr>
        <p:txBody>
          <a:bodyPr wrap="none">
            <a:spAutoFit/>
          </a:bodyPr>
          <a:lstStyle/>
          <a:p>
            <a:pPr>
              <a:defRPr sz="1000" b="1">
                <a:solidFill>
                  <a:srgbClr val="64748B"/>
                </a:solidFill>
              </a:defRPr>
            </a:pPr>
            <a:r>
              <a:t>System Boundary: Lingora Learning Platform</a:t>
            </a:r>
          </a:p>
        </p:txBody>
      </p:sp>
      <p:sp>
        <p:nvSpPr>
          <p:cNvPr id="14" name="Oval 13"/>
          <p:cNvSpPr/>
          <p:nvPr/>
        </p:nvSpPr>
        <p:spPr>
          <a:xfrm>
            <a:off x="2926080" y="1691640"/>
            <a:ext cx="2011680" cy="685800"/>
          </a:xfrm>
          <a:prstGeom prst="ellipse">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475569"/>
                </a:solidFill>
                <a:latin typeface="Segoe UI"/>
              </a:defRPr>
            </a:pPr>
            <a:r>
              <a:t>UC-01: Authenticate</a:t>
            </a:r>
            <a:br/>
            <a:r>
              <a:t>&amp; Manage Session</a:t>
            </a:r>
          </a:p>
        </p:txBody>
      </p:sp>
      <p:sp>
        <p:nvSpPr>
          <p:cNvPr id="15" name="Rounded Rectangle 14"/>
          <p:cNvSpPr/>
          <p:nvPr/>
        </p:nvSpPr>
        <p:spPr>
          <a:xfrm>
            <a:off x="2743200" y="2514600"/>
            <a:ext cx="4114800" cy="361188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34640" y="2560320"/>
            <a:ext cx="2743200" cy="274320"/>
          </a:xfrm>
          <a:prstGeom prst="rect">
            <a:avLst/>
          </a:prstGeom>
          <a:noFill/>
        </p:spPr>
        <p:txBody>
          <a:bodyPr wrap="none">
            <a:spAutoFit/>
          </a:bodyPr>
          <a:lstStyle/>
          <a:p>
            <a:pPr>
              <a:defRPr b="1" sz="1000">
                <a:solidFill>
                  <a:srgbClr val="2563EB"/>
                </a:solidFill>
              </a:defRPr>
            </a:pPr>
            <a:r>
              <a:t>Package LEARNING</a:t>
            </a:r>
          </a:p>
        </p:txBody>
      </p:sp>
      <p:sp>
        <p:nvSpPr>
          <p:cNvPr id="17" name="Oval 16"/>
          <p:cNvSpPr/>
          <p:nvPr/>
        </p:nvSpPr>
        <p:spPr>
          <a:xfrm>
            <a:off x="2926080" y="2880360"/>
            <a:ext cx="1828800" cy="59436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UC-03: Placement</a:t>
            </a:r>
            <a:br/>
            <a:r>
              <a:t>Assessment</a:t>
            </a:r>
          </a:p>
        </p:txBody>
      </p:sp>
      <p:sp>
        <p:nvSpPr>
          <p:cNvPr id="18" name="Oval 17"/>
          <p:cNvSpPr/>
          <p:nvPr/>
        </p:nvSpPr>
        <p:spPr>
          <a:xfrm>
            <a:off x="4892040" y="2880360"/>
            <a:ext cx="1737360" cy="54864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«extend»</a:t>
            </a:r>
            <a:br/>
            <a:r>
              <a:t>Skip / Retake</a:t>
            </a:r>
          </a:p>
        </p:txBody>
      </p:sp>
      <p:sp>
        <p:nvSpPr>
          <p:cNvPr id="19" name="Oval 18"/>
          <p:cNvSpPr/>
          <p:nvPr/>
        </p:nvSpPr>
        <p:spPr>
          <a:xfrm>
            <a:off x="2926080" y="3611880"/>
            <a:ext cx="1828800" cy="59436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UC-04: Browse Path &amp;</a:t>
            </a:r>
            <a:br/>
            <a:r>
              <a:t>Jump Challenge*</a:t>
            </a:r>
          </a:p>
        </p:txBody>
      </p:sp>
      <p:sp>
        <p:nvSpPr>
          <p:cNvPr id="20" name="Oval 19"/>
          <p:cNvSpPr/>
          <p:nvPr/>
        </p:nvSpPr>
        <p:spPr>
          <a:xfrm>
            <a:off x="2926080" y="4343400"/>
            <a:ext cx="1828800" cy="59436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UC-05: Complete</a:t>
            </a:r>
            <a:br/>
            <a:r>
              <a:t>Lesson Exercises</a:t>
            </a:r>
          </a:p>
        </p:txBody>
      </p:sp>
      <p:sp>
        <p:nvSpPr>
          <p:cNvPr id="21" name="Oval 20"/>
          <p:cNvSpPr/>
          <p:nvPr/>
        </p:nvSpPr>
        <p:spPr>
          <a:xfrm>
            <a:off x="4892040" y="4343400"/>
            <a:ext cx="1737360" cy="54864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«include»</a:t>
            </a:r>
            <a:br/>
            <a:r>
              <a:t>Update Streak</a:t>
            </a:r>
          </a:p>
        </p:txBody>
      </p:sp>
      <p:sp>
        <p:nvSpPr>
          <p:cNvPr id="22" name="Oval 21"/>
          <p:cNvSpPr/>
          <p:nvPr/>
        </p:nvSpPr>
        <p:spPr>
          <a:xfrm>
            <a:off x="2926080" y="5074920"/>
            <a:ext cx="1828800" cy="59436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UC-06: Spaced</a:t>
            </a:r>
            <a:br/>
            <a:r>
              <a:t>Repetition (SRS)</a:t>
            </a:r>
          </a:p>
        </p:txBody>
      </p:sp>
      <p:sp>
        <p:nvSpPr>
          <p:cNvPr id="23" name="Oval 22"/>
          <p:cNvSpPr/>
          <p:nvPr/>
        </p:nvSpPr>
        <p:spPr>
          <a:xfrm>
            <a:off x="4892040" y="5074920"/>
            <a:ext cx="1737360" cy="54864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«include»</a:t>
            </a:r>
            <a:br/>
            <a:r>
              <a:t>Update Streak</a:t>
            </a:r>
          </a:p>
        </p:txBody>
      </p:sp>
      <p:sp>
        <p:nvSpPr>
          <p:cNvPr id="24" name="Rounded Rectangle 23"/>
          <p:cNvSpPr/>
          <p:nvPr/>
        </p:nvSpPr>
        <p:spPr>
          <a:xfrm>
            <a:off x="7040880" y="1691640"/>
            <a:ext cx="4297680" cy="2377440"/>
          </a:xfrm>
          <a:prstGeom prst="roundRect">
            <a:avLst/>
          </a:prstGeom>
          <a:solidFill>
            <a:srgbClr val="F5F3FF"/>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1737360"/>
            <a:ext cx="2743200" cy="274320"/>
          </a:xfrm>
          <a:prstGeom prst="rect">
            <a:avLst/>
          </a:prstGeom>
          <a:noFill/>
        </p:spPr>
        <p:txBody>
          <a:bodyPr wrap="none">
            <a:spAutoFit/>
          </a:bodyPr>
          <a:lstStyle/>
          <a:p>
            <a:pPr>
              <a:defRPr b="1" sz="1000">
                <a:solidFill>
                  <a:srgbClr val="7C3AED"/>
                </a:solidFill>
              </a:defRPr>
            </a:pPr>
            <a:r>
              <a:t>Package CONTENT (SoD Enforcement)</a:t>
            </a:r>
          </a:p>
        </p:txBody>
      </p:sp>
      <p:sp>
        <p:nvSpPr>
          <p:cNvPr id="26" name="Oval 25"/>
          <p:cNvSpPr/>
          <p:nvPr/>
        </p:nvSpPr>
        <p:spPr>
          <a:xfrm>
            <a:off x="7223760" y="2057400"/>
            <a:ext cx="1828800" cy="548640"/>
          </a:xfrm>
          <a:prstGeom prst="ellipse">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EA580C"/>
                </a:solidFill>
                <a:latin typeface="Segoe UI"/>
              </a:defRPr>
            </a:pPr>
            <a:r>
              <a:t>UC-08: Create/Edit</a:t>
            </a:r>
            <a:br/>
            <a:r>
              <a:t>Lesson Draft</a:t>
            </a:r>
          </a:p>
        </p:txBody>
      </p:sp>
      <p:sp>
        <p:nvSpPr>
          <p:cNvPr id="27" name="Oval 26"/>
          <p:cNvSpPr/>
          <p:nvPr/>
        </p:nvSpPr>
        <p:spPr>
          <a:xfrm>
            <a:off x="9235440" y="2057400"/>
            <a:ext cx="1920240" cy="548640"/>
          </a:xfrm>
          <a:prstGeom prst="ellipse">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16A34A"/>
                </a:solidFill>
                <a:latin typeface="Segoe UI"/>
              </a:defRPr>
            </a:pPr>
            <a:r>
              <a:t>UC-09: Moderate &amp;</a:t>
            </a:r>
            <a:br/>
            <a:r>
              <a:t>Approve Content</a:t>
            </a:r>
          </a:p>
        </p:txBody>
      </p:sp>
      <p:sp>
        <p:nvSpPr>
          <p:cNvPr id="28" name="Oval 27"/>
          <p:cNvSpPr/>
          <p:nvPr/>
        </p:nvSpPr>
        <p:spPr>
          <a:xfrm>
            <a:off x="7223760" y="2743200"/>
            <a:ext cx="1828800" cy="548640"/>
          </a:xfrm>
          <a:prstGeom prst="ellipse">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7C3AED"/>
                </a:solidFill>
                <a:latin typeface="Segoe UI"/>
              </a:defRPr>
            </a:pPr>
            <a:r>
              <a:t>UC-10: Publish</a:t>
            </a:r>
            <a:br/>
            <a:r>
              <a:t>Approved Content</a:t>
            </a:r>
          </a:p>
        </p:txBody>
      </p:sp>
      <p:sp>
        <p:nvSpPr>
          <p:cNvPr id="29" name="Oval 28"/>
          <p:cNvSpPr/>
          <p:nvPr/>
        </p:nvSpPr>
        <p:spPr>
          <a:xfrm>
            <a:off x="9235440" y="2743200"/>
            <a:ext cx="1920240" cy="548640"/>
          </a:xfrm>
          <a:prstGeom prst="ellipse">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9F1239"/>
                </a:solidFill>
                <a:latin typeface="Segoe UI"/>
              </a:defRPr>
            </a:pPr>
            <a:r>
              <a:t>«extend» Emergency</a:t>
            </a:r>
            <a:br/>
            <a:r>
              <a:t>Publish (Admin only)</a:t>
            </a:r>
          </a:p>
        </p:txBody>
      </p:sp>
      <p:sp>
        <p:nvSpPr>
          <p:cNvPr id="30" name="Oval 29"/>
          <p:cNvSpPr/>
          <p:nvPr/>
        </p:nvSpPr>
        <p:spPr>
          <a:xfrm>
            <a:off x="8138160" y="3429000"/>
            <a:ext cx="2103120" cy="548640"/>
          </a:xfrm>
          <a:prstGeom prst="ellipse">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7C3AED"/>
                </a:solidFill>
                <a:latin typeface="Segoe UI"/>
              </a:defRPr>
            </a:pPr>
            <a:r>
              <a:t>Clone-to-Draft v2</a:t>
            </a:r>
            <a:br/>
            <a:r>
              <a:t>(supersedes_id)</a:t>
            </a:r>
          </a:p>
        </p:txBody>
      </p:sp>
      <p:sp>
        <p:nvSpPr>
          <p:cNvPr id="31" name="Rounded Rectangle 30"/>
          <p:cNvSpPr/>
          <p:nvPr/>
        </p:nvSpPr>
        <p:spPr>
          <a:xfrm>
            <a:off x="7040880" y="4206240"/>
            <a:ext cx="4297680" cy="1920240"/>
          </a:xfrm>
          <a:prstGeom prst="roundRect">
            <a:avLst/>
          </a:prstGeom>
          <a:solidFill>
            <a:srgbClr val="FFF1F2"/>
          </a:solidFill>
          <a:ln>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0" y="4251960"/>
            <a:ext cx="2743200" cy="274320"/>
          </a:xfrm>
          <a:prstGeom prst="rect">
            <a:avLst/>
          </a:prstGeom>
          <a:noFill/>
        </p:spPr>
        <p:txBody>
          <a:bodyPr wrap="none">
            <a:spAutoFit/>
          </a:bodyPr>
          <a:lstStyle/>
          <a:p>
            <a:pPr>
              <a:defRPr b="1" sz="1000">
                <a:solidFill>
                  <a:srgbClr val="9F1239"/>
                </a:solidFill>
              </a:defRPr>
            </a:pPr>
            <a:r>
              <a:t>Package ADMINISTRATION &amp; SUPPORT</a:t>
            </a:r>
          </a:p>
        </p:txBody>
      </p:sp>
      <p:sp>
        <p:nvSpPr>
          <p:cNvPr id="33" name="Oval 32"/>
          <p:cNvSpPr/>
          <p:nvPr/>
        </p:nvSpPr>
        <p:spPr>
          <a:xfrm>
            <a:off x="7223760" y="4572000"/>
            <a:ext cx="1920240" cy="548640"/>
          </a:xfrm>
          <a:prstGeom prst="ellipse">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9F1239"/>
                </a:solidFill>
                <a:latin typeface="Segoe UI"/>
              </a:defRPr>
            </a:pPr>
            <a:r>
              <a:t>UC-11: Manage</a:t>
            </a:r>
            <a:br/>
            <a:r>
              <a:t>Accounts &amp; Roles</a:t>
            </a:r>
          </a:p>
        </p:txBody>
      </p:sp>
      <p:sp>
        <p:nvSpPr>
          <p:cNvPr id="34" name="Oval 33"/>
          <p:cNvSpPr/>
          <p:nvPr/>
        </p:nvSpPr>
        <p:spPr>
          <a:xfrm>
            <a:off x="9235440" y="4572000"/>
            <a:ext cx="1920240" cy="548640"/>
          </a:xfrm>
          <a:prstGeom prst="ellipse">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9F1239"/>
                </a:solidFill>
                <a:latin typeface="Segoe UI"/>
              </a:defRPr>
            </a:pPr>
            <a:r>
              <a:t>UC-13: Audit</a:t>
            </a:r>
            <a:br/>
            <a:r>
              <a:t>Security Logs</a:t>
            </a:r>
          </a:p>
        </p:txBody>
      </p:sp>
      <p:sp>
        <p:nvSpPr>
          <p:cNvPr id="35" name="Oval 34"/>
          <p:cNvSpPr/>
          <p:nvPr/>
        </p:nvSpPr>
        <p:spPr>
          <a:xfrm>
            <a:off x="7223760" y="5303520"/>
            <a:ext cx="1920240" cy="548640"/>
          </a:xfrm>
          <a:prstGeom prst="ellipse">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0D9488"/>
                </a:solidFill>
                <a:latin typeface="Segoe UI"/>
              </a:defRPr>
            </a:pPr>
            <a:r>
              <a:t>UC-14: Support</a:t>
            </a:r>
            <a:br/>
            <a:r>
              <a:t>Coordination (MVP)</a:t>
            </a:r>
          </a:p>
        </p:txBody>
      </p:sp>
      <p:sp>
        <p:nvSpPr>
          <p:cNvPr id="36" name="Oval 35"/>
          <p:cNvSpPr/>
          <p:nvPr/>
        </p:nvSpPr>
        <p:spPr>
          <a:xfrm>
            <a:off x="9235440" y="5303520"/>
            <a:ext cx="1920240" cy="548640"/>
          </a:xfrm>
          <a:prstGeom prst="ellipse">
            <a:avLst/>
          </a:prstGeom>
          <a:solidFill>
            <a:srgbClr val="FFFFFF"/>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94A3B8"/>
                </a:solidFill>
                <a:latin typeface="Segoe UI"/>
              </a:defRPr>
            </a:pPr>
            <a:r>
              <a:t>UC-15: Cohorts</a:t>
            </a:r>
            <a:br/>
            <a:r>
              <a:t>(Future Extension)</a:t>
            </a:r>
          </a:p>
        </p:txBody>
      </p:sp>
      <p:sp>
        <p:nvSpPr>
          <p:cNvPr id="37" name="TextBox 36"/>
          <p:cNvSpPr txBox="1"/>
          <p:nvPr/>
        </p:nvSpPr>
        <p:spPr>
          <a:xfrm>
            <a:off x="2560320" y="6309360"/>
            <a:ext cx="8961120" cy="365760"/>
          </a:xfrm>
          <a:prstGeom prst="rect">
            <a:avLst/>
          </a:prstGeom>
          <a:noFill/>
        </p:spPr>
        <p:txBody>
          <a:bodyPr wrap="none">
            <a:spAutoFit/>
          </a:bodyPr>
          <a:lstStyle/>
          <a:p>
            <a:pPr>
              <a:defRPr sz="900" i="1">
                <a:solidFill>
                  <a:srgbClr val="64748B"/>
                </a:solidFill>
              </a:defRPr>
            </a:pPr>
            <a:r>
              <a:t>* Ghi chú: Conditional Jump Challenge là sub-flow thuộc phạm vi nghiệp vụ UC-04, không tạo Use Case ID mới ngoài 15 canonical UCs.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0284C7"/>
                </a:solidFill>
                <a:latin typeface="Segoe UI"/>
              </a:defRPr>
            </a:pPr>
            <a:r>
              <a:t>PHÂN TÍCH &amp; MÔ HÌNH HÓA HỆ THỐNG</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000" b="1">
                <a:solidFill>
                  <a:srgbClr val="1E293B"/>
                </a:solidFill>
                <a:latin typeface="Segoe UI"/>
              </a:defRPr>
            </a:pPr>
            <a:r>
              <a:t>Use Case Chi tiết: Phân hệ Học viên (Learner Core Learning)</a:t>
            </a:r>
          </a:p>
        </p:txBody>
      </p:sp>
      <p:sp>
        <p:nvSpPr>
          <p:cNvPr id="4" name="Rounded Rectangle 3"/>
          <p:cNvSpPr/>
          <p:nvPr/>
        </p:nvSpPr>
        <p:spPr>
          <a:xfrm>
            <a:off x="731520" y="2926080"/>
            <a:ext cx="155448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«Actor»</a:t>
            </a:r>
            <a:br/>
            <a:r>
              <a:t>Learner</a:t>
            </a:r>
          </a:p>
        </p:txBody>
      </p:sp>
      <p:sp>
        <p:nvSpPr>
          <p:cNvPr id="5" name="Rectangle 4"/>
          <p:cNvSpPr/>
          <p:nvPr/>
        </p:nvSpPr>
        <p:spPr>
          <a:xfrm>
            <a:off x="2743200" y="1280160"/>
            <a:ext cx="8686800" cy="512064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200400" y="1554480"/>
            <a:ext cx="2286000" cy="73152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UC-02: Configure Goals</a:t>
            </a:r>
            <a:br/>
            <a:r>
              <a:t>&amp; Local Timezone</a:t>
            </a:r>
          </a:p>
        </p:txBody>
      </p:sp>
      <p:sp>
        <p:nvSpPr>
          <p:cNvPr id="7" name="Oval 6"/>
          <p:cNvSpPr/>
          <p:nvPr/>
        </p:nvSpPr>
        <p:spPr>
          <a:xfrm>
            <a:off x="3200400" y="2514600"/>
            <a:ext cx="2286000" cy="73152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UC-03: Take Placement</a:t>
            </a:r>
            <a:br/>
            <a:r>
              <a:t>Diagnostic (30 items)</a:t>
            </a:r>
          </a:p>
        </p:txBody>
      </p:sp>
      <p:sp>
        <p:nvSpPr>
          <p:cNvPr id="8" name="Oval 7"/>
          <p:cNvSpPr/>
          <p:nvPr/>
        </p:nvSpPr>
        <p:spPr>
          <a:xfrm>
            <a:off x="6217920" y="2148840"/>
            <a:ext cx="2011680" cy="59436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«extend»</a:t>
            </a:r>
            <a:br/>
            <a:r>
              <a:t>Skip Pathway (U1)</a:t>
            </a:r>
          </a:p>
        </p:txBody>
      </p:sp>
      <p:sp>
        <p:nvSpPr>
          <p:cNvPr id="9" name="Oval 8"/>
          <p:cNvSpPr/>
          <p:nvPr/>
        </p:nvSpPr>
        <p:spPr>
          <a:xfrm>
            <a:off x="6217920" y="2880360"/>
            <a:ext cx="2011680" cy="59436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«extend»</a:t>
            </a:r>
            <a:br/>
            <a:r>
              <a:t>Retake from Profile</a:t>
            </a:r>
          </a:p>
        </p:txBody>
      </p:sp>
      <p:sp>
        <p:nvSpPr>
          <p:cNvPr id="10" name="Oval 9"/>
          <p:cNvSpPr/>
          <p:nvPr/>
        </p:nvSpPr>
        <p:spPr>
          <a:xfrm>
            <a:off x="3200400" y="3657600"/>
            <a:ext cx="2286000" cy="73152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UC-04: Browse Path</a:t>
            </a:r>
            <a:br/>
            <a:r>
              <a:t>(English A1 6 Units)</a:t>
            </a:r>
          </a:p>
        </p:txBody>
      </p:sp>
      <p:sp>
        <p:nvSpPr>
          <p:cNvPr id="11" name="Oval 10"/>
          <p:cNvSpPr/>
          <p:nvPr/>
        </p:nvSpPr>
        <p:spPr>
          <a:xfrm>
            <a:off x="6217920" y="3657600"/>
            <a:ext cx="2377440" cy="73152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«sub-flow» Conditional</a:t>
            </a:r>
            <a:br/>
            <a:r>
              <a:t>Jump Challenge (≥95%)</a:t>
            </a:r>
          </a:p>
        </p:txBody>
      </p:sp>
      <p:sp>
        <p:nvSpPr>
          <p:cNvPr id="12" name="Oval 11"/>
          <p:cNvSpPr/>
          <p:nvPr/>
        </p:nvSpPr>
        <p:spPr>
          <a:xfrm>
            <a:off x="3200400" y="4663440"/>
            <a:ext cx="2286000" cy="73152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UC-05: Complete Lesson</a:t>
            </a:r>
            <a:br/>
            <a:r>
              <a:t>&amp; Controlled Retry</a:t>
            </a:r>
          </a:p>
        </p:txBody>
      </p:sp>
      <p:sp>
        <p:nvSpPr>
          <p:cNvPr id="13" name="Oval 12"/>
          <p:cNvSpPr/>
          <p:nvPr/>
        </p:nvSpPr>
        <p:spPr>
          <a:xfrm>
            <a:off x="3200400" y="5532120"/>
            <a:ext cx="2286000" cy="64008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UC-06: Spaced Repetition</a:t>
            </a:r>
            <a:br/>
            <a:r>
              <a:t>Review (Policy B)</a:t>
            </a:r>
          </a:p>
        </p:txBody>
      </p:sp>
      <p:sp>
        <p:nvSpPr>
          <p:cNvPr id="14" name="Oval 13"/>
          <p:cNvSpPr/>
          <p:nvPr/>
        </p:nvSpPr>
        <p:spPr>
          <a:xfrm>
            <a:off x="6858000" y="4983480"/>
            <a:ext cx="2103120" cy="731520"/>
          </a:xfrm>
          <a:prstGeom prst="ellipse">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2563EB"/>
                </a:solidFill>
                <a:latin typeface="Segoe UI"/>
              </a:defRPr>
            </a:pPr>
            <a:r>
              <a:t>«included by UC-05,06»</a:t>
            </a:r>
            <a:br/>
            <a:r>
              <a:t>UC-07: Update Daily</a:t>
            </a:r>
            <a:br/>
            <a:r>
              <a:t>Streak &amp; Progress</a:t>
            </a:r>
          </a:p>
        </p:txBody>
      </p:sp>
      <p:sp>
        <p:nvSpPr>
          <p:cNvPr id="15" name="Oval 14"/>
          <p:cNvSpPr/>
          <p:nvPr/>
        </p:nvSpPr>
        <p:spPr>
          <a:xfrm>
            <a:off x="9144000" y="2926080"/>
            <a:ext cx="2011680" cy="731520"/>
          </a:xfrm>
          <a:prstGeom prst="ellipse">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0D9488"/>
                </a:solidFill>
                <a:latin typeface="Segoe UI"/>
              </a:defRPr>
            </a:pPr>
            <a:r>
              <a:t>Submit Support</a:t>
            </a:r>
            <a:br/>
            <a:r>
              <a:t>Ticket (to UC-14)</a:t>
            </a:r>
          </a:p>
        </p:txBody>
      </p:sp>
      <p:sp>
        <p:nvSpPr>
          <p:cNvPr id="16" name="Rounded Rectangle 15"/>
          <p:cNvSpPr/>
          <p:nvPr/>
        </p:nvSpPr>
        <p:spPr>
          <a:xfrm>
            <a:off x="8778240" y="4023360"/>
            <a:ext cx="2468880" cy="20116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a:solidFill>
                  <a:srgbClr val="1E293B"/>
                </a:solidFill>
                <a:latin typeface="Segoe UI"/>
              </a:defRPr>
            </a:pPr>
            <a:r>
              <a:t>RÀNG BUỘC NGHIỆP VỤ HỌC VIÊN:</a:t>
            </a:r>
            <a:br/>
            <a:r>
              <a:t>• Streak không phải ca sử dụng độc lập do học viên gọi tùy tiện; chỉ cập nhật qua hoàn thành bài hoặc SRS.</a:t>
            </a:r>
            <a:br/>
            <a:r>
              <a:t>• Jump là cơ chế thử thách gắn trong UC-04, có khóa hồi chiêu 24h khi trượt.</a:t>
            </a:r>
            <a:br/>
            <a:r>
              <a:t>• Điểm đúng bài tập ≠ Hoàn thành bài ≠ Mastery ≠ Năng lực.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0284C7"/>
                </a:solidFill>
                <a:latin typeface="Segoe UI"/>
              </a:defRPr>
            </a:pPr>
            <a:r>
              <a:t>PHÂN TÍCH &amp; MÔ HÌNH HÓA HỆ THỐNG</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000" b="1">
                <a:solidFill>
                  <a:srgbClr val="1E293B"/>
                </a:solidFill>
                <a:latin typeface="Segoe UI"/>
              </a:defRPr>
            </a:pPr>
            <a:r>
              <a:t>Use Case Chi tiết: Quản trị Nội dung, Phân tách Nhiệm vụ &amp; Vận hành</a:t>
            </a:r>
          </a:p>
        </p:txBody>
      </p:sp>
      <p:sp>
        <p:nvSpPr>
          <p:cNvPr id="4" name="Rounded Rectangle 3"/>
          <p:cNvSpPr/>
          <p:nvPr/>
        </p:nvSpPr>
        <p:spPr>
          <a:xfrm>
            <a:off x="731520" y="1463040"/>
            <a:ext cx="1554480" cy="50292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«Actor»</a:t>
            </a:r>
            <a:br/>
            <a:r>
              <a:t>Lesson Creator</a:t>
            </a:r>
          </a:p>
        </p:txBody>
      </p:sp>
      <p:sp>
        <p:nvSpPr>
          <p:cNvPr id="5" name="Rounded Rectangle 4"/>
          <p:cNvSpPr/>
          <p:nvPr/>
        </p:nvSpPr>
        <p:spPr>
          <a:xfrm>
            <a:off x="731520" y="2651760"/>
            <a:ext cx="1554480" cy="5029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«Actor»</a:t>
            </a:r>
            <a:br/>
            <a:r>
              <a:t>Moderator</a:t>
            </a:r>
          </a:p>
        </p:txBody>
      </p:sp>
      <p:sp>
        <p:nvSpPr>
          <p:cNvPr id="6" name="Rounded Rectangle 5"/>
          <p:cNvSpPr/>
          <p:nvPr/>
        </p:nvSpPr>
        <p:spPr>
          <a:xfrm>
            <a:off x="731520" y="3840480"/>
            <a:ext cx="1554480" cy="50292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«Actor»</a:t>
            </a:r>
            <a:br/>
            <a:r>
              <a:t>Org Manager</a:t>
            </a:r>
          </a:p>
        </p:txBody>
      </p:sp>
      <p:sp>
        <p:nvSpPr>
          <p:cNvPr id="7" name="Rounded Rectangle 6"/>
          <p:cNvSpPr/>
          <p:nvPr/>
        </p:nvSpPr>
        <p:spPr>
          <a:xfrm>
            <a:off x="731520" y="5029200"/>
            <a:ext cx="1554480" cy="502920"/>
          </a:xfrm>
          <a:prstGeom prst="round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«Actor»</a:t>
            </a:r>
            <a:br/>
            <a:r>
              <a:t>Administrator</a:t>
            </a:r>
          </a:p>
        </p:txBody>
      </p:sp>
      <p:sp>
        <p:nvSpPr>
          <p:cNvPr id="8" name="Rounded Rectangle 7"/>
          <p:cNvSpPr/>
          <p:nvPr/>
        </p:nvSpPr>
        <p:spPr>
          <a:xfrm>
            <a:off x="731520" y="5943600"/>
            <a:ext cx="1554480" cy="50292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Segoe UI"/>
              </a:defRPr>
            </a:pPr>
            <a:r>
              <a:t>«Actor»</a:t>
            </a:r>
            <a:br/>
            <a:r>
              <a:t>Operations Staff</a:t>
            </a:r>
          </a:p>
        </p:txBody>
      </p:sp>
      <p:sp>
        <p:nvSpPr>
          <p:cNvPr id="9" name="Rectangle 8"/>
          <p:cNvSpPr/>
          <p:nvPr/>
        </p:nvSpPr>
        <p:spPr>
          <a:xfrm>
            <a:off x="2651760" y="1280160"/>
            <a:ext cx="8778240" cy="5212080"/>
          </a:xfrm>
          <a:prstGeom prst="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017520" y="1463040"/>
            <a:ext cx="2286000" cy="685800"/>
          </a:xfrm>
          <a:prstGeom prst="ellipse">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EA580C"/>
                </a:solidFill>
                <a:latin typeface="Segoe UI"/>
              </a:defRPr>
            </a:pPr>
            <a:r>
              <a:t>UC-08: Author Lesson</a:t>
            </a:r>
            <a:br/>
            <a:r>
              <a:t>&amp; 5 Exercise Payloads</a:t>
            </a:r>
          </a:p>
        </p:txBody>
      </p:sp>
      <p:sp>
        <p:nvSpPr>
          <p:cNvPr id="11" name="Oval 10"/>
          <p:cNvSpPr/>
          <p:nvPr/>
        </p:nvSpPr>
        <p:spPr>
          <a:xfrm>
            <a:off x="5669280" y="1463040"/>
            <a:ext cx="2011680" cy="685800"/>
          </a:xfrm>
          <a:prstGeom prst="ellipse">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EA580C"/>
                </a:solidFill>
                <a:latin typeface="Segoe UI"/>
              </a:defRPr>
            </a:pPr>
            <a:r>
              <a:t>Submit Lesson</a:t>
            </a:r>
            <a:br/>
            <a:r>
              <a:t>for Review</a:t>
            </a:r>
          </a:p>
        </p:txBody>
      </p:sp>
      <p:sp>
        <p:nvSpPr>
          <p:cNvPr id="12" name="Oval 11"/>
          <p:cNvSpPr/>
          <p:nvPr/>
        </p:nvSpPr>
        <p:spPr>
          <a:xfrm>
            <a:off x="3017520" y="2560320"/>
            <a:ext cx="2286000" cy="685800"/>
          </a:xfrm>
          <a:prstGeom prst="ellipse">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16A34A"/>
                </a:solidFill>
                <a:latin typeface="Segoe UI"/>
              </a:defRPr>
            </a:pPr>
            <a:r>
              <a:t>UC-09: Moderate &amp;</a:t>
            </a:r>
            <a:br/>
            <a:r>
              <a:t>Evaluate Pedagogical Quality</a:t>
            </a:r>
          </a:p>
        </p:txBody>
      </p:sp>
      <p:sp>
        <p:nvSpPr>
          <p:cNvPr id="13" name="Oval 12"/>
          <p:cNvSpPr/>
          <p:nvPr/>
        </p:nvSpPr>
        <p:spPr>
          <a:xfrm>
            <a:off x="5669280" y="2560320"/>
            <a:ext cx="2011680" cy="685800"/>
          </a:xfrm>
          <a:prstGeom prst="ellipse">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16A34A"/>
                </a:solidFill>
                <a:latin typeface="Segoe UI"/>
              </a:defRPr>
            </a:pPr>
            <a:r>
              <a:t>Approve / Request</a:t>
            </a:r>
            <a:br/>
            <a:r>
              <a:t>Changes (review notes)</a:t>
            </a:r>
          </a:p>
        </p:txBody>
      </p:sp>
      <p:sp>
        <p:nvSpPr>
          <p:cNvPr id="14" name="Oval 13"/>
          <p:cNvSpPr/>
          <p:nvPr/>
        </p:nvSpPr>
        <p:spPr>
          <a:xfrm>
            <a:off x="3017520" y="3657600"/>
            <a:ext cx="2286000" cy="685800"/>
          </a:xfrm>
          <a:prstGeom prst="ellipse">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7C3AED"/>
                </a:solidFill>
                <a:latin typeface="Segoe UI"/>
              </a:defRPr>
            </a:pPr>
            <a:r>
              <a:t>UC-10: Publish Approved</a:t>
            </a:r>
            <a:br/>
            <a:r>
              <a:t>Content (Unit 4/4 Rule)</a:t>
            </a:r>
          </a:p>
        </p:txBody>
      </p:sp>
      <p:sp>
        <p:nvSpPr>
          <p:cNvPr id="15" name="Oval 14"/>
          <p:cNvSpPr/>
          <p:nvPr/>
        </p:nvSpPr>
        <p:spPr>
          <a:xfrm>
            <a:off x="5669280" y="3657600"/>
            <a:ext cx="2011680" cy="685800"/>
          </a:xfrm>
          <a:prstGeom prst="ellipse">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7C3AED"/>
                </a:solidFill>
                <a:latin typeface="Segoe UI"/>
              </a:defRPr>
            </a:pPr>
            <a:r>
              <a:t>Clone-to-Draft v2</a:t>
            </a:r>
            <a:br/>
            <a:r>
              <a:t>(supersedes_id)</a:t>
            </a:r>
          </a:p>
        </p:txBody>
      </p:sp>
      <p:sp>
        <p:nvSpPr>
          <p:cNvPr id="16" name="Oval 15"/>
          <p:cNvSpPr/>
          <p:nvPr/>
        </p:nvSpPr>
        <p:spPr>
          <a:xfrm>
            <a:off x="8229600" y="3657600"/>
            <a:ext cx="2377440" cy="685800"/>
          </a:xfrm>
          <a:prstGeom prst="ellipse">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9F1239"/>
                </a:solidFill>
                <a:latin typeface="Segoe UI"/>
              </a:defRPr>
            </a:pPr>
            <a:r>
              <a:t>«extend» Emergency</a:t>
            </a:r>
            <a:br/>
            <a:r>
              <a:t>Publish (Admin Only)*</a:t>
            </a:r>
          </a:p>
        </p:txBody>
      </p:sp>
      <p:sp>
        <p:nvSpPr>
          <p:cNvPr id="17" name="Oval 16"/>
          <p:cNvSpPr/>
          <p:nvPr/>
        </p:nvSpPr>
        <p:spPr>
          <a:xfrm>
            <a:off x="3017520" y="4663440"/>
            <a:ext cx="2286000" cy="685800"/>
          </a:xfrm>
          <a:prstGeom prst="ellipse">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9F1239"/>
                </a:solidFill>
                <a:latin typeface="Segoe UI"/>
              </a:defRPr>
            </a:pPr>
            <a:r>
              <a:t>UC-11: Manage Accounts</a:t>
            </a:r>
            <a:br/>
            <a:r>
              <a:t>&amp; Column Security Grants</a:t>
            </a:r>
          </a:p>
        </p:txBody>
      </p:sp>
      <p:sp>
        <p:nvSpPr>
          <p:cNvPr id="18" name="Oval 17"/>
          <p:cNvSpPr/>
          <p:nvPr/>
        </p:nvSpPr>
        <p:spPr>
          <a:xfrm>
            <a:off x="5669280" y="4663440"/>
            <a:ext cx="2011680" cy="685800"/>
          </a:xfrm>
          <a:prstGeom prst="ellipse">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9F1239"/>
                </a:solidFill>
                <a:latin typeface="Segoe UI"/>
              </a:defRPr>
            </a:pPr>
            <a:r>
              <a:t>UC-13: Audit Security</a:t>
            </a:r>
            <a:br/>
            <a:r>
              <a:t>&amp; Inspect 11 Events</a:t>
            </a:r>
          </a:p>
        </p:txBody>
      </p:sp>
      <p:sp>
        <p:nvSpPr>
          <p:cNvPr id="19" name="Oval 18"/>
          <p:cNvSpPr/>
          <p:nvPr/>
        </p:nvSpPr>
        <p:spPr>
          <a:xfrm>
            <a:off x="3017520" y="5623560"/>
            <a:ext cx="2286000" cy="685800"/>
          </a:xfrm>
          <a:prstGeom prst="ellipse">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0D9488"/>
                </a:solidFill>
                <a:latin typeface="Segoe UI"/>
              </a:defRPr>
            </a:pPr>
            <a:r>
              <a:t>UC-14: Coordinate User</a:t>
            </a:r>
            <a:br/>
            <a:r>
              <a:t>Support Tickets (MVP)</a:t>
            </a:r>
          </a:p>
        </p:txBody>
      </p:sp>
      <p:sp>
        <p:nvSpPr>
          <p:cNvPr id="20" name="Oval 19"/>
          <p:cNvSpPr/>
          <p:nvPr/>
        </p:nvSpPr>
        <p:spPr>
          <a:xfrm>
            <a:off x="5669280" y="5623560"/>
            <a:ext cx="2011680" cy="685800"/>
          </a:xfrm>
          <a:prstGeom prst="ellipse">
            <a:avLst/>
          </a:prstGeom>
          <a:solidFill>
            <a:srgbClr val="FFFFFF"/>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defRPr sz="950" b="1">
                <a:solidFill>
                  <a:srgbClr val="94A3B8"/>
                </a:solidFill>
                <a:latin typeface="Segoe UI"/>
              </a:defRPr>
            </a:pPr>
            <a:r>
              <a:t>UC-15: Cohort / Group</a:t>
            </a:r>
            <a:br/>
            <a:r>
              <a:t>Management (Future)</a:t>
            </a:r>
          </a:p>
        </p:txBody>
      </p:sp>
      <p:sp>
        <p:nvSpPr>
          <p:cNvPr id="21" name="Rounded Rectangle 20"/>
          <p:cNvSpPr/>
          <p:nvPr/>
        </p:nvSpPr>
        <p:spPr>
          <a:xfrm>
            <a:off x="8138160" y="1463040"/>
            <a:ext cx="3108960" cy="1920240"/>
          </a:xfrm>
          <a:prstGeom prst="roundRect">
            <a:avLst/>
          </a:prstGeom>
          <a:solidFill>
            <a:srgbClr val="FEF2F2"/>
          </a:solidFill>
          <a:ln>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50">
                <a:solidFill>
                  <a:srgbClr val="9F1239"/>
                </a:solidFill>
              </a:defRPr>
            </a:pPr>
            <a:r>
              <a:t>NGUYÊN TẮC PHÂN TÁCH NHIỆM VỤ (SOD):</a:t>
            </a:r>
            <a:br/>
            <a:r>
              <a:t>Creator ≠ Moderator ≠ Publisher</a:t>
            </a:r>
          </a:p>
          <a:p>
            <a:pPr>
              <a:defRPr sz="850">
                <a:solidFill>
                  <a:srgbClr val="1E293B"/>
                </a:solidFill>
              </a:defRPr>
            </a:pPr>
            <a:r>
              <a:t>• Creator cấm tự duyệt bài học.</a:t>
            </a:r>
            <a:br/>
            <a:r>
              <a:t>• Moderator cấm tự xuất bản bài học.</a:t>
            </a:r>
            <a:br/>
            <a:r>
              <a:t>• Manager xuất bản thông thường.</a:t>
            </a:r>
            <a:br/>
            <a:r>
              <a:t>• *Admin xuất bản khẩn cấp: Chỉ áp dụng trên bài đã APPROVED kèm lý do bắt buộc và ghi Audit Log.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0284C7"/>
                </a:solidFill>
                <a:latin typeface="Segoe UI"/>
              </a:defRPr>
            </a:pPr>
            <a:r>
              <a:t>PHÂN TÍCH &amp; MÔ HÌNH HÓA HỆ THỐNG</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000" b="1">
                <a:solidFill>
                  <a:srgbClr val="1E293B"/>
                </a:solidFill>
                <a:latin typeface="Segoe UI"/>
              </a:defRPr>
            </a:pPr>
            <a:r>
              <a:t>Activity Diagram: Quy trình Đánh giá Chẩn đoán &amp; Xác định Điểm Xuất phát</a:t>
            </a:r>
          </a:p>
        </p:txBody>
      </p:sp>
      <p:sp>
        <p:nvSpPr>
          <p:cNvPr id="4" name="Rectangle 3"/>
          <p:cNvSpPr/>
          <p:nvPr/>
        </p:nvSpPr>
        <p:spPr>
          <a:xfrm>
            <a:off x="731520" y="1280160"/>
            <a:ext cx="5212080" cy="502920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280160"/>
            <a:ext cx="5486400" cy="5029200"/>
          </a:xfrm>
          <a:prstGeom prst="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5212080" cy="365760"/>
          </a:xfrm>
          <a:prstGeom prst="rect">
            <a:avLst/>
          </a:prstGeom>
          <a:noFill/>
        </p:spPr>
        <p:txBody>
          <a:bodyPr wrap="none">
            <a:spAutoFit/>
          </a:bodyPr>
          <a:lstStyle/>
          <a:p>
            <a:pPr algn="ctr">
              <a:defRPr b="1">
                <a:solidFill>
                  <a:srgbClr val="2563EB"/>
                </a:solidFill>
              </a:defRPr>
            </a:pPr>
            <a:r>
              <a:t>HỌC VIÊN (LEARNER)</a:t>
            </a:r>
          </a:p>
        </p:txBody>
      </p:sp>
      <p:sp>
        <p:nvSpPr>
          <p:cNvPr id="7" name="TextBox 6"/>
          <p:cNvSpPr txBox="1"/>
          <p:nvPr/>
        </p:nvSpPr>
        <p:spPr>
          <a:xfrm>
            <a:off x="5943600" y="1325880"/>
            <a:ext cx="5486400" cy="365760"/>
          </a:xfrm>
          <a:prstGeom prst="rect">
            <a:avLst/>
          </a:prstGeom>
          <a:noFill/>
        </p:spPr>
        <p:txBody>
          <a:bodyPr wrap="none">
            <a:spAutoFit/>
          </a:bodyPr>
          <a:lstStyle/>
          <a:p>
            <a:pPr algn="ctr">
              <a:defRPr b="1">
                <a:solidFill>
                  <a:srgbClr val="0284C7"/>
                </a:solidFill>
              </a:defRPr>
            </a:pPr>
            <a:r>
              <a:t>HỆ THỐNG (SYSTEM ENGINE)</a:t>
            </a:r>
          </a:p>
        </p:txBody>
      </p:sp>
      <p:sp>
        <p:nvSpPr>
          <p:cNvPr id="8" name="Rounded Rectangle 7"/>
          <p:cNvSpPr/>
          <p:nvPr/>
        </p:nvSpPr>
        <p:spPr>
          <a:xfrm>
            <a:off x="1097280" y="1828800"/>
            <a:ext cx="1828800" cy="5486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Start Placement</a:t>
            </a:r>
            <a:br/>
            <a:r>
              <a:t>Assessment</a:t>
            </a:r>
          </a:p>
        </p:txBody>
      </p:sp>
      <p:sp>
        <p:nvSpPr>
          <p:cNvPr id="9" name="Diamond 8"/>
          <p:cNvSpPr/>
          <p:nvPr/>
        </p:nvSpPr>
        <p:spPr>
          <a:xfrm>
            <a:off x="3291840" y="1783080"/>
            <a:ext cx="1280160" cy="640080"/>
          </a:xfrm>
          <a:prstGeom prst="diamond">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lIns="18288" rIns="18288"/>
          <a:lstStyle/>
          <a:p>
            <a:pPr algn="ctr">
              <a:defRPr sz="850" b="1">
                <a:solidFill>
                  <a:srgbClr val="B45309"/>
                </a:solidFill>
                <a:latin typeface="Segoe UI"/>
              </a:defRPr>
            </a:pPr>
            <a:r>
              <a:t>Skip</a:t>
            </a:r>
            <a:br/>
            <a:r>
              <a:t>Diagnostic?</a:t>
            </a:r>
          </a:p>
        </p:txBody>
      </p:sp>
      <p:sp>
        <p:nvSpPr>
          <p:cNvPr id="10" name="Rounded Rectangle 9"/>
          <p:cNvSpPr/>
          <p:nvPr/>
        </p:nvSpPr>
        <p:spPr>
          <a:xfrm>
            <a:off x="1828800" y="2926080"/>
            <a:ext cx="2194560" cy="5943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Answer 30 Human-Selected</a:t>
            </a:r>
            <a:br/>
            <a:r>
              <a:t>Questions (0–30 Raw)</a:t>
            </a:r>
          </a:p>
        </p:txBody>
      </p:sp>
      <p:sp>
        <p:nvSpPr>
          <p:cNvPr id="11" name="Rounded Rectangle 10"/>
          <p:cNvSpPr/>
          <p:nvPr/>
        </p:nvSpPr>
        <p:spPr>
          <a:xfrm>
            <a:off x="2011680" y="3931920"/>
            <a:ext cx="1828800" cy="5486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Submit Diagnostic</a:t>
            </a:r>
            <a:br/>
            <a:r>
              <a:t>Answers</a:t>
            </a:r>
          </a:p>
        </p:txBody>
      </p:sp>
      <p:sp>
        <p:nvSpPr>
          <p:cNvPr id="12" name="Rounded Rectangle 11"/>
          <p:cNvSpPr/>
          <p:nvPr/>
        </p:nvSpPr>
        <p:spPr>
          <a:xfrm>
            <a:off x="6400800" y="1828800"/>
            <a:ext cx="4389120" cy="64008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Skip Pathway: Gán Starting Unit = Unit 1</a:t>
            </a:r>
            <a:br/>
            <a:r>
              <a:t>Trạng thái UNVERIFIED | 0 AssessmentResult | 0 SkillProfile</a:t>
            </a:r>
          </a:p>
        </p:txBody>
      </p:sp>
      <p:sp>
        <p:nvSpPr>
          <p:cNvPr id="13" name="Rounded Rectangle 12"/>
          <p:cNvSpPr/>
          <p:nvPr/>
        </p:nvSpPr>
        <p:spPr>
          <a:xfrm>
            <a:off x="6400800" y="2788920"/>
            <a:ext cx="4389120" cy="54864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Calculate Raw Score (0–30 điểm thô)</a:t>
            </a:r>
            <a:br/>
            <a:r>
              <a:t>1 Correct Answer = 1 Raw Point</a:t>
            </a:r>
          </a:p>
        </p:txBody>
      </p:sp>
      <p:sp>
        <p:nvSpPr>
          <p:cNvPr id="14" name="Rounded Rectangle 13"/>
          <p:cNvSpPr/>
          <p:nvPr/>
        </p:nvSpPr>
        <p:spPr>
          <a:xfrm>
            <a:off x="6400800" y="3566160"/>
            <a:ext cx="4389120" cy="5943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Apply Mapping A (Phân lớp tất định)</a:t>
            </a:r>
            <a:br/>
            <a:r>
              <a:t>0–7→U1 · 8–12→U2 · 13–17→U3 · 18–22→U4 · 23–26→U5 · 27–30→U6</a:t>
            </a:r>
          </a:p>
        </p:txBody>
      </p:sp>
      <p:sp>
        <p:nvSpPr>
          <p:cNvPr id="15" name="Rounded Rectangle 14"/>
          <p:cNvSpPr/>
          <p:nvPr/>
        </p:nvSpPr>
        <p:spPr>
          <a:xfrm>
            <a:off x="6400800" y="4389120"/>
            <a:ext cx="4389120" cy="54864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Store Immutable AssessmentResult</a:t>
            </a:r>
            <a:br/>
            <a:r>
              <a:t>&amp; Derive SkillProfile (Radar Chart 4 chiều)</a:t>
            </a:r>
          </a:p>
        </p:txBody>
      </p:sp>
      <p:sp>
        <p:nvSpPr>
          <p:cNvPr id="16" name="Rounded Rectangle 15"/>
          <p:cNvSpPr/>
          <p:nvPr/>
        </p:nvSpPr>
        <p:spPr>
          <a:xfrm>
            <a:off x="6400800" y="5166360"/>
            <a:ext cx="4389120" cy="54864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Update Profile Starting Point (verified_starting_unit)</a:t>
            </a:r>
            <a:br/>
            <a:r>
              <a:t>&amp; Unlock Corresponding Unit Path (U1..U6)</a:t>
            </a:r>
          </a:p>
        </p:txBody>
      </p:sp>
      <p:sp>
        <p:nvSpPr>
          <p:cNvPr id="17" name="Rounded Rectangle 16"/>
          <p:cNvSpPr/>
          <p:nvPr/>
        </p:nvSpPr>
        <p:spPr>
          <a:xfrm>
            <a:off x="1371600" y="5166360"/>
            <a:ext cx="3108960" cy="5486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Display Starting Point Recommendation</a:t>
            </a:r>
            <a:br/>
            <a:r>
              <a:t>&amp; Multidimensional Skill Profile</a:t>
            </a:r>
          </a:p>
        </p:txBody>
      </p:sp>
      <p:sp>
        <p:nvSpPr>
          <p:cNvPr id="18" name="TextBox 17"/>
          <p:cNvSpPr txBox="1"/>
          <p:nvPr/>
        </p:nvSpPr>
        <p:spPr>
          <a:xfrm>
            <a:off x="731520" y="5806440"/>
            <a:ext cx="10698480" cy="457200"/>
          </a:xfrm>
          <a:prstGeom prst="rect">
            <a:avLst/>
          </a:prstGeom>
          <a:noFill/>
        </p:spPr>
        <p:txBody>
          <a:bodyPr wrap="none">
            <a:spAutoFit/>
          </a:bodyPr>
          <a:lstStyle/>
          <a:p>
            <a:pPr>
              <a:defRPr sz="850" i="1">
                <a:solidFill>
                  <a:srgbClr val="64748B"/>
                </a:solidFill>
              </a:defRPr>
            </a:pPr>
            <a:r>
              <a:t>Nhánh Thi lại (Retake): Khởi tạo từ Profile cá nhân → Sinh AssessmentResult bất biến mới, cập nhật SkillProfile mà không xóa kết quả cũ. Đặc tả: Đây là cơ chế xác định điểm xuất phát nội bộ (MVP Placement Rule), không cấp chứng chỉ CEFR quốc tế.</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0284C7"/>
                </a:solidFill>
                <a:latin typeface="Segoe UI"/>
              </a:defRPr>
            </a:pPr>
            <a:r>
              <a:t>PHÂN TÍCH &amp; MÔ HÌNH HÓA HỆ THỐNG</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000" b="1">
                <a:solidFill>
                  <a:srgbClr val="1E293B"/>
                </a:solidFill>
                <a:latin typeface="Segoe UI"/>
              </a:defRPr>
            </a:pPr>
            <a:r>
              <a:t>Activity Diagram: Luồng Học Bài Học, Trình Xem Nội Dung &amp; Luyện Tập (14 Nodes)</a:t>
            </a:r>
          </a:p>
        </p:txBody>
      </p:sp>
      <p:sp>
        <p:nvSpPr>
          <p:cNvPr id="4" name="Rectangle 3"/>
          <p:cNvSpPr/>
          <p:nvPr/>
        </p:nvSpPr>
        <p:spPr>
          <a:xfrm>
            <a:off x="731520" y="1280160"/>
            <a:ext cx="4937760" cy="512064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0" y="1280160"/>
            <a:ext cx="5760720" cy="5120640"/>
          </a:xfrm>
          <a:prstGeom prst="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4937760" cy="320040"/>
          </a:xfrm>
          <a:prstGeom prst="rect">
            <a:avLst/>
          </a:prstGeom>
          <a:noFill/>
        </p:spPr>
        <p:txBody>
          <a:bodyPr wrap="none">
            <a:spAutoFit/>
          </a:bodyPr>
          <a:lstStyle/>
          <a:p>
            <a:pPr algn="ctr">
              <a:defRPr b="1">
                <a:solidFill>
                  <a:srgbClr val="2563EB"/>
                </a:solidFill>
              </a:defRPr>
            </a:pPr>
            <a:r>
              <a:t>HỌC VIÊN (LEARNER)</a:t>
            </a:r>
          </a:p>
        </p:txBody>
      </p:sp>
      <p:sp>
        <p:nvSpPr>
          <p:cNvPr id="7" name="TextBox 6"/>
          <p:cNvSpPr txBox="1"/>
          <p:nvPr/>
        </p:nvSpPr>
        <p:spPr>
          <a:xfrm>
            <a:off x="5669280" y="1325880"/>
            <a:ext cx="5760720" cy="320040"/>
          </a:xfrm>
          <a:prstGeom prst="rect">
            <a:avLst/>
          </a:prstGeom>
          <a:noFill/>
        </p:spPr>
        <p:txBody>
          <a:bodyPr wrap="none">
            <a:spAutoFit/>
          </a:bodyPr>
          <a:lstStyle/>
          <a:p>
            <a:pPr algn="ctr">
              <a:defRPr b="1">
                <a:solidFill>
                  <a:srgbClr val="0284C7"/>
                </a:solidFill>
              </a:defRPr>
            </a:pPr>
            <a:r>
              <a:t>HỆ THỐNG (SYSTEM ENGINE)</a:t>
            </a:r>
          </a:p>
        </p:txBody>
      </p:sp>
      <p:sp>
        <p:nvSpPr>
          <p:cNvPr id="8" name="Rounded Rectangle 7"/>
          <p:cNvSpPr/>
          <p:nvPr/>
        </p:nvSpPr>
        <p:spPr>
          <a:xfrm>
            <a:off x="914400" y="1737360"/>
            <a:ext cx="1645920" cy="4572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1. Open Unit</a:t>
            </a:r>
          </a:p>
        </p:txBody>
      </p:sp>
      <p:sp>
        <p:nvSpPr>
          <p:cNvPr id="9" name="Diamond 8"/>
          <p:cNvSpPr/>
          <p:nvPr/>
        </p:nvSpPr>
        <p:spPr>
          <a:xfrm>
            <a:off x="5943600" y="1645920"/>
            <a:ext cx="2011680" cy="685800"/>
          </a:xfrm>
          <a:prstGeom prst="diamond">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lIns="18288" rIns="18288"/>
          <a:lstStyle/>
          <a:p>
            <a:pPr algn="ctr">
              <a:defRPr sz="850" b="1">
                <a:solidFill>
                  <a:srgbClr val="B45309"/>
                </a:solidFill>
                <a:latin typeface="Segoe UI"/>
              </a:defRPr>
            </a:pPr>
            <a:r>
              <a:t>2. Unit available?</a:t>
            </a:r>
            <a:br/>
            <a:r>
              <a:t>(4/4 Lessons Published)</a:t>
            </a:r>
          </a:p>
        </p:txBody>
      </p:sp>
      <p:sp>
        <p:nvSpPr>
          <p:cNvPr id="10" name="Rounded Rectangle 9"/>
          <p:cNvSpPr/>
          <p:nvPr/>
        </p:nvSpPr>
        <p:spPr>
          <a:xfrm>
            <a:off x="8412480" y="1691640"/>
            <a:ext cx="2560320" cy="548640"/>
          </a:xfrm>
          <a:prstGeom prst="roundRect">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3. Unit unavailable</a:t>
            </a:r>
            <a:br/>
            <a:r>
              <a:t>(Access blocked 403/404)</a:t>
            </a:r>
          </a:p>
        </p:txBody>
      </p:sp>
      <p:sp>
        <p:nvSpPr>
          <p:cNvPr id="11" name="Rounded Rectangle 10"/>
          <p:cNvSpPr/>
          <p:nvPr/>
        </p:nvSpPr>
        <p:spPr>
          <a:xfrm>
            <a:off x="914400" y="2514600"/>
            <a:ext cx="1645920" cy="4572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4. Open Lesson</a:t>
            </a:r>
          </a:p>
        </p:txBody>
      </p:sp>
      <p:sp>
        <p:nvSpPr>
          <p:cNvPr id="12" name="Rounded Rectangle 11"/>
          <p:cNvSpPr/>
          <p:nvPr/>
        </p:nvSpPr>
        <p:spPr>
          <a:xfrm>
            <a:off x="2834640" y="2468880"/>
            <a:ext cx="2560320" cy="5486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5. Lesson Content Viewer</a:t>
            </a:r>
            <a:br/>
            <a:r>
              <a:t>(Vocab, Audio, Meaning, Grammar)</a:t>
            </a:r>
          </a:p>
        </p:txBody>
      </p:sp>
      <p:sp>
        <p:nvSpPr>
          <p:cNvPr id="13" name="Rounded Rectangle 12"/>
          <p:cNvSpPr/>
          <p:nvPr/>
        </p:nvSpPr>
        <p:spPr>
          <a:xfrm>
            <a:off x="914400" y="3291840"/>
            <a:ext cx="2286000" cy="5029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6. Study Content +</a:t>
            </a:r>
            <a:br/>
            <a:r>
              <a:t>Start Exercises</a:t>
            </a:r>
          </a:p>
        </p:txBody>
      </p:sp>
      <p:sp>
        <p:nvSpPr>
          <p:cNvPr id="14" name="Rounded Rectangle 13"/>
          <p:cNvSpPr/>
          <p:nvPr/>
        </p:nvSpPr>
        <p:spPr>
          <a:xfrm>
            <a:off x="3474720" y="3291840"/>
            <a:ext cx="1920240" cy="5029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7. Answer Question</a:t>
            </a:r>
            <a:br/>
            <a:r>
              <a:t>(5 Unified Types)</a:t>
            </a:r>
          </a:p>
        </p:txBody>
      </p:sp>
      <p:sp>
        <p:nvSpPr>
          <p:cNvPr id="15" name="Diamond 14"/>
          <p:cNvSpPr/>
          <p:nvPr/>
        </p:nvSpPr>
        <p:spPr>
          <a:xfrm>
            <a:off x="5943600" y="3246120"/>
            <a:ext cx="1463040" cy="594360"/>
          </a:xfrm>
          <a:prstGeom prst="diamond">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lIns="18288" rIns="18288"/>
          <a:lstStyle/>
          <a:p>
            <a:pPr algn="ctr">
              <a:defRPr sz="850" b="1">
                <a:solidFill>
                  <a:srgbClr val="B45309"/>
                </a:solidFill>
                <a:latin typeface="Segoe UI"/>
              </a:defRPr>
            </a:pPr>
            <a:r>
              <a:t>8. Correct?</a:t>
            </a:r>
          </a:p>
        </p:txBody>
      </p:sp>
      <p:sp>
        <p:nvSpPr>
          <p:cNvPr id="16" name="Rounded Rectangle 15"/>
          <p:cNvSpPr/>
          <p:nvPr/>
        </p:nvSpPr>
        <p:spPr>
          <a:xfrm>
            <a:off x="7863840" y="3246120"/>
            <a:ext cx="2011680" cy="50292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10. Show Explanation</a:t>
            </a:r>
            <a:br/>
            <a:r>
              <a:t>&amp; Pedagogical Rule</a:t>
            </a:r>
          </a:p>
        </p:txBody>
      </p:sp>
      <p:sp>
        <p:nvSpPr>
          <p:cNvPr id="17" name="Diamond 16"/>
          <p:cNvSpPr/>
          <p:nvPr/>
        </p:nvSpPr>
        <p:spPr>
          <a:xfrm>
            <a:off x="7772400" y="4069080"/>
            <a:ext cx="2194560" cy="685800"/>
          </a:xfrm>
          <a:prstGeom prst="diamond">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lIns="18288" rIns="18288"/>
          <a:lstStyle/>
          <a:p>
            <a:pPr algn="ctr">
              <a:defRPr sz="850" b="1">
                <a:solidFill>
                  <a:srgbClr val="B45309"/>
                </a:solidFill>
                <a:latin typeface="Segoe UI"/>
              </a:defRPr>
            </a:pPr>
            <a:r>
              <a:t>11. Retries used &lt; allowance?</a:t>
            </a:r>
            <a:br/>
            <a:r>
              <a:t>[max(1, floor(N×0.10))]</a:t>
            </a:r>
          </a:p>
        </p:txBody>
      </p:sp>
      <p:sp>
        <p:nvSpPr>
          <p:cNvPr id="18" name="Rounded Rectangle 17"/>
          <p:cNvSpPr/>
          <p:nvPr/>
        </p:nvSpPr>
        <p:spPr>
          <a:xfrm>
            <a:off x="4389120" y="4160520"/>
            <a:ext cx="2926080" cy="5029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12. Controlled Retry</a:t>
            </a:r>
            <a:br/>
            <a:r>
              <a:t>(≤70% credit nếu làm lại đúng)</a:t>
            </a:r>
          </a:p>
        </p:txBody>
      </p:sp>
      <p:sp>
        <p:nvSpPr>
          <p:cNvPr id="19" name="Diamond 18"/>
          <p:cNvSpPr/>
          <p:nvPr/>
        </p:nvSpPr>
        <p:spPr>
          <a:xfrm>
            <a:off x="5943600" y="4983480"/>
            <a:ext cx="1645920" cy="594360"/>
          </a:xfrm>
          <a:prstGeom prst="diamond">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lIns="18288" rIns="18288"/>
          <a:lstStyle/>
          <a:p>
            <a:pPr algn="ctr">
              <a:defRPr sz="850" b="1">
                <a:solidFill>
                  <a:srgbClr val="B45309"/>
                </a:solidFill>
                <a:latin typeface="Segoe UI"/>
              </a:defRPr>
            </a:pPr>
            <a:r>
              <a:t>9. More Exercises?</a:t>
            </a:r>
          </a:p>
        </p:txBody>
      </p:sp>
      <p:sp>
        <p:nvSpPr>
          <p:cNvPr id="20" name="Rounded Rectangle 19"/>
          <p:cNvSpPr/>
          <p:nvPr/>
        </p:nvSpPr>
        <p:spPr>
          <a:xfrm>
            <a:off x="7863840" y="4983480"/>
            <a:ext cx="3291840" cy="6400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13. Calculate Result +</a:t>
            </a:r>
            <a:br/>
            <a:r>
              <a:t>Update Progress, Streak &amp; SRS</a:t>
            </a:r>
          </a:p>
        </p:txBody>
      </p:sp>
      <p:sp>
        <p:nvSpPr>
          <p:cNvPr id="21" name="Rounded Rectangle 20"/>
          <p:cNvSpPr/>
          <p:nvPr/>
        </p:nvSpPr>
        <p:spPr>
          <a:xfrm>
            <a:off x="1371600" y="5029200"/>
            <a:ext cx="2377440" cy="54864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14. Lesson Complete</a:t>
            </a:r>
            <a:br/>
            <a:r>
              <a:t>(UserProgress = COMPLETED)</a:t>
            </a:r>
          </a:p>
        </p:txBody>
      </p:sp>
      <p:sp>
        <p:nvSpPr>
          <p:cNvPr id="22" name="TextBox 21"/>
          <p:cNvSpPr txBox="1"/>
          <p:nvPr/>
        </p:nvSpPr>
        <p:spPr>
          <a:xfrm>
            <a:off x="731520" y="5897880"/>
            <a:ext cx="10698480" cy="457200"/>
          </a:xfrm>
          <a:prstGeom prst="rect">
            <a:avLst/>
          </a:prstGeom>
          <a:noFill/>
        </p:spPr>
        <p:txBody>
          <a:bodyPr wrap="none">
            <a:spAutoFit/>
          </a:bodyPr>
          <a:lstStyle/>
          <a:p>
            <a:pPr>
              <a:defRPr sz="850" i="1">
                <a:solidFill>
                  <a:srgbClr val="64748B"/>
                </a:solidFill>
              </a:defRPr>
            </a:pPr>
            <a:r>
              <a:t>Quy tắc cốt lõi: Hạn ngạch allowance = max(1, floor(N×0.10)) tính theo toàn bộ phiên học. Làm lại chỉ áp dụng cho câu vừa sai, trả lời đúng nhận trần 70% credit. Giao diện Lesson Content Viewer bắt buộc xuất hiện trước bài tập; việc xem nội dung không tự động công nhận hoàn thành bài học.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0284C7"/>
                </a:solidFill>
                <a:latin typeface="Segoe UI"/>
              </a:defRPr>
            </a:pPr>
            <a:r>
              <a:t>PHÂN TÍCH &amp; MÔ HÌNH HÓA HỆ THỐNG</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000" b="1">
                <a:solidFill>
                  <a:srgbClr val="1E293B"/>
                </a:solidFill>
                <a:latin typeface="Segoe UI"/>
              </a:defRPr>
            </a:pPr>
            <a:r>
              <a:t>Activity Diagram: Thử thách Vượt cấp Nhảy bài (Conditional Jump Challenge)</a:t>
            </a:r>
          </a:p>
        </p:txBody>
      </p:sp>
      <p:sp>
        <p:nvSpPr>
          <p:cNvPr id="4" name="Rectangle 3"/>
          <p:cNvSpPr/>
          <p:nvPr/>
        </p:nvSpPr>
        <p:spPr>
          <a:xfrm>
            <a:off x="731520" y="1280160"/>
            <a:ext cx="5029200" cy="502920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60720" y="1280160"/>
            <a:ext cx="5669280" cy="5029200"/>
          </a:xfrm>
          <a:prstGeom prst="rect">
            <a:avLst/>
          </a:prstGeom>
          <a:solidFill>
            <a:srgbClr val="F8FAFC"/>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5029200" cy="365760"/>
          </a:xfrm>
          <a:prstGeom prst="rect">
            <a:avLst/>
          </a:prstGeom>
          <a:noFill/>
        </p:spPr>
        <p:txBody>
          <a:bodyPr wrap="none">
            <a:spAutoFit/>
          </a:bodyPr>
          <a:lstStyle/>
          <a:p>
            <a:pPr algn="ctr">
              <a:defRPr b="1">
                <a:solidFill>
                  <a:srgbClr val="2563EB"/>
                </a:solidFill>
              </a:defRPr>
            </a:pPr>
            <a:r>
              <a:t>HỌC VIÊN (LEARNER)</a:t>
            </a:r>
          </a:p>
        </p:txBody>
      </p:sp>
      <p:sp>
        <p:nvSpPr>
          <p:cNvPr id="7" name="TextBox 6"/>
          <p:cNvSpPr txBox="1"/>
          <p:nvPr/>
        </p:nvSpPr>
        <p:spPr>
          <a:xfrm>
            <a:off x="5760720" y="1325880"/>
            <a:ext cx="5669280" cy="365760"/>
          </a:xfrm>
          <a:prstGeom prst="rect">
            <a:avLst/>
          </a:prstGeom>
          <a:noFill/>
        </p:spPr>
        <p:txBody>
          <a:bodyPr wrap="none">
            <a:spAutoFit/>
          </a:bodyPr>
          <a:lstStyle/>
          <a:p>
            <a:pPr algn="ctr">
              <a:defRPr b="1">
                <a:solidFill>
                  <a:srgbClr val="0284C7"/>
                </a:solidFill>
              </a:defRPr>
            </a:pPr>
            <a:r>
              <a:t>HỆ THỐNG (SYSTEM ENGINE)</a:t>
            </a:r>
          </a:p>
        </p:txBody>
      </p:sp>
      <p:sp>
        <p:nvSpPr>
          <p:cNvPr id="8" name="Rounded Rectangle 7"/>
          <p:cNvSpPr/>
          <p:nvPr/>
        </p:nvSpPr>
        <p:spPr>
          <a:xfrm>
            <a:off x="1097280" y="1828800"/>
            <a:ext cx="2560320" cy="5943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Open Conditional</a:t>
            </a:r>
            <a:br/>
            <a:r>
              <a:t>Jump Challenge</a:t>
            </a:r>
          </a:p>
        </p:txBody>
      </p:sp>
      <p:sp>
        <p:nvSpPr>
          <p:cNvPr id="9" name="Diamond 8"/>
          <p:cNvSpPr/>
          <p:nvPr/>
        </p:nvSpPr>
        <p:spPr>
          <a:xfrm>
            <a:off x="6858000" y="1783080"/>
            <a:ext cx="1828800" cy="685800"/>
          </a:xfrm>
          <a:prstGeom prst="diamond">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lIns="18288" rIns="18288"/>
          <a:lstStyle/>
          <a:p>
            <a:pPr algn="ctr">
              <a:defRPr sz="850" b="1">
                <a:solidFill>
                  <a:srgbClr val="B45309"/>
                </a:solidFill>
                <a:latin typeface="Segoe UI"/>
              </a:defRPr>
            </a:pPr>
            <a:r>
              <a:t>Check Cooldown</a:t>
            </a:r>
            <a:br/>
            <a:r>
              <a:t>(24h Active?)</a:t>
            </a:r>
          </a:p>
        </p:txBody>
      </p:sp>
      <p:sp>
        <p:nvSpPr>
          <p:cNvPr id="10" name="Rounded Rectangle 9"/>
          <p:cNvSpPr/>
          <p:nvPr/>
        </p:nvSpPr>
        <p:spPr>
          <a:xfrm>
            <a:off x="9144000" y="1828800"/>
            <a:ext cx="2011680" cy="594360"/>
          </a:xfrm>
          <a:prstGeom prst="roundRect">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Block Challenge</a:t>
            </a:r>
            <a:br/>
            <a:r>
              <a:t>(429 Cooldown Active)</a:t>
            </a:r>
          </a:p>
        </p:txBody>
      </p:sp>
      <p:sp>
        <p:nvSpPr>
          <p:cNvPr id="11" name="Rounded Rectangle 10"/>
          <p:cNvSpPr/>
          <p:nvPr/>
        </p:nvSpPr>
        <p:spPr>
          <a:xfrm>
            <a:off x="6400800" y="2834640"/>
            <a:ext cx="2743200" cy="5943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Start Challenge &amp;</a:t>
            </a:r>
            <a:br/>
            <a:r>
              <a:t>Deliver Questions (20/25-30/40q)</a:t>
            </a:r>
          </a:p>
        </p:txBody>
      </p:sp>
      <p:sp>
        <p:nvSpPr>
          <p:cNvPr id="12" name="Rounded Rectangle 11"/>
          <p:cNvSpPr/>
          <p:nvPr/>
        </p:nvSpPr>
        <p:spPr>
          <a:xfrm>
            <a:off x="1097280" y="2834640"/>
            <a:ext cx="2560320" cy="5943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Answer Challenge</a:t>
            </a:r>
            <a:br/>
            <a:r>
              <a:t>Questions</a:t>
            </a:r>
          </a:p>
        </p:txBody>
      </p:sp>
      <p:sp>
        <p:nvSpPr>
          <p:cNvPr id="13" name="Rounded Rectangle 12"/>
          <p:cNvSpPr/>
          <p:nvPr/>
        </p:nvSpPr>
        <p:spPr>
          <a:xfrm>
            <a:off x="6400800" y="3749039"/>
            <a:ext cx="2743200" cy="5943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Calculate Challenge Score</a:t>
            </a:r>
            <a:br/>
            <a:r>
              <a:t>(So khớp đáp án máy chủ)</a:t>
            </a:r>
          </a:p>
        </p:txBody>
      </p:sp>
      <p:sp>
        <p:nvSpPr>
          <p:cNvPr id="14" name="Diamond 13"/>
          <p:cNvSpPr/>
          <p:nvPr/>
        </p:nvSpPr>
        <p:spPr>
          <a:xfrm>
            <a:off x="6858000" y="4617720"/>
            <a:ext cx="1828800" cy="685800"/>
          </a:xfrm>
          <a:prstGeom prst="diamond">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lIns="18288" rIns="18288"/>
          <a:lstStyle/>
          <a:p>
            <a:pPr algn="ctr">
              <a:defRPr sz="850" b="1">
                <a:solidFill>
                  <a:srgbClr val="B45309"/>
                </a:solidFill>
                <a:latin typeface="Segoe UI"/>
              </a:defRPr>
            </a:pPr>
            <a:r>
              <a:t>Score ≥ 95.0%?</a:t>
            </a:r>
          </a:p>
        </p:txBody>
      </p:sp>
      <p:sp>
        <p:nvSpPr>
          <p:cNvPr id="15" name="Rounded Rectangle 14"/>
          <p:cNvSpPr/>
          <p:nvPr/>
        </p:nvSpPr>
        <p:spPr>
          <a:xfrm>
            <a:off x="914400" y="4572000"/>
            <a:ext cx="4389120" cy="77724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JUMP SUCCESS: Unlock Target Unit &amp; Lesson 1</a:t>
            </a:r>
            <a:br/>
            <a:r>
              <a:t>Record Provenance: by_jump = true &amp; SKIPPED_BY_JUMP</a:t>
            </a:r>
            <a:br/>
            <a:r>
              <a:t>(Áp dụng cho các Unit &amp; Lesson bị nhảy qua)</a:t>
            </a:r>
          </a:p>
        </p:txBody>
      </p:sp>
      <p:sp>
        <p:nvSpPr>
          <p:cNvPr id="16" name="Rounded Rectangle 15"/>
          <p:cNvSpPr/>
          <p:nvPr/>
        </p:nvSpPr>
        <p:spPr>
          <a:xfrm>
            <a:off x="8961120" y="4617720"/>
            <a:ext cx="2194560" cy="685800"/>
          </a:xfrm>
          <a:prstGeom prst="roundRect">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JUMP FAILED:</a:t>
            </a:r>
            <a:br/>
            <a:r>
              <a:t>Set 24h Server Cooldown</a:t>
            </a:r>
            <a:br/>
            <a:r>
              <a:t>(Giữ nguyên vị trí học cũ)</a:t>
            </a:r>
          </a:p>
        </p:txBody>
      </p:sp>
      <p:sp>
        <p:nvSpPr>
          <p:cNvPr id="17" name="Rounded Rectangle 16"/>
          <p:cNvSpPr/>
          <p:nvPr/>
        </p:nvSpPr>
        <p:spPr>
          <a:xfrm>
            <a:off x="731520" y="5623560"/>
            <a:ext cx="10698480" cy="7315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a:solidFill>
                  <a:srgbClr val="1E293B"/>
                </a:solidFill>
                <a:latin typeface="Segoe UI"/>
              </a:defRPr>
            </a:pPr>
            <a:r>
              <a:t>ĐẶC TẢ NGỮ NGHĨA JUMP CHUẨN TẮC (DOCS/09 §3 &amp; M2.2):</a:t>
            </a:r>
            <a:br/>
            <a:r>
              <a:t>• Khi Đạt (≥95%): Toàn bộ bài học thuộc các Unit bị nhảy qua nhận trạng thái SKIPPED_BY_JUMP (by_jump = true). Unit đích được mở khóa để học bình thường.</a:t>
            </a:r>
            <a:br/>
            <a:r>
              <a:t>• Bất biến: Tuyệt đối CẤM gán COMPLETED_BY_JUMP. Vượt cấp Jump không phải là hoàn thành học phần và không cấp chứng chỉ.</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0284C7"/>
                </a:solidFill>
                <a:latin typeface="Segoe UI"/>
              </a:defRPr>
            </a:pPr>
            <a:r>
              <a:t>PHÂN TÍCH &amp; MÔ HÌNH HÓA HỆ THỐNG</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000" b="1">
                <a:solidFill>
                  <a:srgbClr val="1E293B"/>
                </a:solidFill>
                <a:latin typeface="Segoe UI"/>
              </a:defRPr>
            </a:pPr>
            <a:r>
              <a:t>Activity Diagram: Vòng đời Quản trị, Kiểm duyệt &amp; Xuất bản Nội dung</a:t>
            </a:r>
          </a:p>
        </p:txBody>
      </p:sp>
      <p:sp>
        <p:nvSpPr>
          <p:cNvPr id="4" name="Rectangle 3"/>
          <p:cNvSpPr/>
          <p:nvPr/>
        </p:nvSpPr>
        <p:spPr>
          <a:xfrm>
            <a:off x="731520" y="1280160"/>
            <a:ext cx="2468880" cy="4297680"/>
          </a:xfrm>
          <a:prstGeom prst="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25880"/>
            <a:ext cx="2468880" cy="320040"/>
          </a:xfrm>
          <a:prstGeom prst="rect">
            <a:avLst/>
          </a:prstGeom>
          <a:noFill/>
        </p:spPr>
        <p:txBody>
          <a:bodyPr wrap="none">
            <a:spAutoFit/>
          </a:bodyPr>
          <a:lstStyle/>
          <a:p>
            <a:pPr algn="ctr">
              <a:defRPr b="1">
                <a:solidFill>
                  <a:srgbClr val="7C3AED"/>
                </a:solidFill>
              </a:defRPr>
            </a:pPr>
            <a:r>
              <a:t>ORG MANAGER</a:t>
            </a:r>
          </a:p>
        </p:txBody>
      </p:sp>
      <p:sp>
        <p:nvSpPr>
          <p:cNvPr id="6" name="Rectangle 5"/>
          <p:cNvSpPr/>
          <p:nvPr/>
        </p:nvSpPr>
        <p:spPr>
          <a:xfrm>
            <a:off x="3200400" y="1280160"/>
            <a:ext cx="2468880" cy="4297680"/>
          </a:xfrm>
          <a:prstGeom prst="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0" y="1325880"/>
            <a:ext cx="2468880" cy="320040"/>
          </a:xfrm>
          <a:prstGeom prst="rect">
            <a:avLst/>
          </a:prstGeom>
          <a:noFill/>
        </p:spPr>
        <p:txBody>
          <a:bodyPr wrap="none">
            <a:spAutoFit/>
          </a:bodyPr>
          <a:lstStyle/>
          <a:p>
            <a:pPr algn="ctr">
              <a:defRPr b="1">
                <a:solidFill>
                  <a:srgbClr val="EA580C"/>
                </a:solidFill>
              </a:defRPr>
            </a:pPr>
            <a:r>
              <a:t>LESSON CREATOR</a:t>
            </a:r>
          </a:p>
        </p:txBody>
      </p:sp>
      <p:sp>
        <p:nvSpPr>
          <p:cNvPr id="8" name="Rectangle 7"/>
          <p:cNvSpPr/>
          <p:nvPr/>
        </p:nvSpPr>
        <p:spPr>
          <a:xfrm>
            <a:off x="5669280" y="1280160"/>
            <a:ext cx="2468880" cy="4297680"/>
          </a:xfrm>
          <a:prstGeom prst="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0" y="1325880"/>
            <a:ext cx="2468880" cy="320040"/>
          </a:xfrm>
          <a:prstGeom prst="rect">
            <a:avLst/>
          </a:prstGeom>
          <a:noFill/>
        </p:spPr>
        <p:txBody>
          <a:bodyPr wrap="none">
            <a:spAutoFit/>
          </a:bodyPr>
          <a:lstStyle/>
          <a:p>
            <a:pPr algn="ctr">
              <a:defRPr b="1">
                <a:solidFill>
                  <a:srgbClr val="16A34A"/>
                </a:solidFill>
              </a:defRPr>
            </a:pPr>
            <a:r>
              <a:t>MODERATOR</a:t>
            </a:r>
          </a:p>
        </p:txBody>
      </p:sp>
      <p:sp>
        <p:nvSpPr>
          <p:cNvPr id="10" name="Rectangle 9"/>
          <p:cNvSpPr/>
          <p:nvPr/>
        </p:nvSpPr>
        <p:spPr>
          <a:xfrm>
            <a:off x="8138160" y="1280160"/>
            <a:ext cx="3291840" cy="4297680"/>
          </a:xfrm>
          <a:prstGeom prst="rect">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325880"/>
            <a:ext cx="3291840" cy="320040"/>
          </a:xfrm>
          <a:prstGeom prst="rect">
            <a:avLst/>
          </a:prstGeom>
          <a:noFill/>
        </p:spPr>
        <p:txBody>
          <a:bodyPr wrap="none">
            <a:spAutoFit/>
          </a:bodyPr>
          <a:lstStyle/>
          <a:p>
            <a:pPr algn="ctr">
              <a:defRPr b="1">
                <a:solidFill>
                  <a:srgbClr val="9F1239"/>
                </a:solidFill>
              </a:defRPr>
            </a:pPr>
            <a:r>
              <a:t>ADMINISTRATOR</a:t>
            </a:r>
          </a:p>
        </p:txBody>
      </p:sp>
      <p:sp>
        <p:nvSpPr>
          <p:cNvPr id="12" name="Rounded Rectangle 11"/>
          <p:cNvSpPr/>
          <p:nvPr/>
        </p:nvSpPr>
        <p:spPr>
          <a:xfrm>
            <a:off x="914400" y="1737360"/>
            <a:ext cx="2103120" cy="50292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Assign Lesson</a:t>
            </a:r>
            <a:br/>
            <a:r>
              <a:t>(assigned_creator_id)</a:t>
            </a:r>
          </a:p>
        </p:txBody>
      </p:sp>
      <p:sp>
        <p:nvSpPr>
          <p:cNvPr id="13" name="Rounded Rectangle 12"/>
          <p:cNvSpPr/>
          <p:nvPr/>
        </p:nvSpPr>
        <p:spPr>
          <a:xfrm>
            <a:off x="3383280" y="1737360"/>
            <a:ext cx="2103120" cy="5029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Author Draft</a:t>
            </a:r>
            <a:br/>
            <a:r>
              <a:t>(Vocab &amp; 5 Exercises)</a:t>
            </a:r>
          </a:p>
        </p:txBody>
      </p:sp>
      <p:sp>
        <p:nvSpPr>
          <p:cNvPr id="14" name="Rounded Rectangle 13"/>
          <p:cNvSpPr/>
          <p:nvPr/>
        </p:nvSpPr>
        <p:spPr>
          <a:xfrm>
            <a:off x="3383280" y="2468880"/>
            <a:ext cx="2103120" cy="5029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Submit for Review</a:t>
            </a:r>
            <a:br/>
            <a:r>
              <a:t>(status: IN_REVIEW)</a:t>
            </a:r>
          </a:p>
        </p:txBody>
      </p:sp>
      <p:sp>
        <p:nvSpPr>
          <p:cNvPr id="15" name="Rounded Rectangle 14"/>
          <p:cNvSpPr/>
          <p:nvPr/>
        </p:nvSpPr>
        <p:spPr>
          <a:xfrm>
            <a:off x="5852160" y="2468880"/>
            <a:ext cx="2103120" cy="50292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Review Content</a:t>
            </a:r>
            <a:br/>
            <a:r>
              <a:t>(Evaluate Quality)</a:t>
            </a:r>
          </a:p>
        </p:txBody>
      </p:sp>
      <p:sp>
        <p:nvSpPr>
          <p:cNvPr id="16" name="Diamond 15"/>
          <p:cNvSpPr/>
          <p:nvPr/>
        </p:nvSpPr>
        <p:spPr>
          <a:xfrm>
            <a:off x="6035040" y="3200400"/>
            <a:ext cx="1737360" cy="640080"/>
          </a:xfrm>
          <a:prstGeom prst="diamond">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lIns="18288" rIns="18288"/>
          <a:lstStyle/>
          <a:p>
            <a:pPr algn="ctr">
              <a:defRPr sz="850" b="1">
                <a:solidFill>
                  <a:srgbClr val="B45309"/>
                </a:solidFill>
                <a:latin typeface="Segoe UI"/>
              </a:defRPr>
            </a:pPr>
            <a:r>
              <a:t>Approve or</a:t>
            </a:r>
            <a:br/>
            <a:r>
              <a:t>Request Changes?</a:t>
            </a:r>
          </a:p>
        </p:txBody>
      </p:sp>
      <p:sp>
        <p:nvSpPr>
          <p:cNvPr id="17" name="Rounded Rectangle 16"/>
          <p:cNvSpPr/>
          <p:nvPr/>
        </p:nvSpPr>
        <p:spPr>
          <a:xfrm>
            <a:off x="3383280" y="3246120"/>
            <a:ext cx="2103120" cy="54864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Edit Revisions</a:t>
            </a:r>
            <a:br/>
            <a:r>
              <a:t>(CHANGES_REQUESTED)</a:t>
            </a:r>
          </a:p>
        </p:txBody>
      </p:sp>
      <p:sp>
        <p:nvSpPr>
          <p:cNvPr id="18" name="Rounded Rectangle 17"/>
          <p:cNvSpPr/>
          <p:nvPr/>
        </p:nvSpPr>
        <p:spPr>
          <a:xfrm>
            <a:off x="914400" y="4023360"/>
            <a:ext cx="2103120" cy="5486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Publish Lesson</a:t>
            </a:r>
            <a:br/>
            <a:r>
              <a:t>(APPROVED → PUBLISHED)</a:t>
            </a:r>
          </a:p>
        </p:txBody>
      </p:sp>
      <p:sp>
        <p:nvSpPr>
          <p:cNvPr id="19" name="Rounded Rectangle 18"/>
          <p:cNvSpPr/>
          <p:nvPr/>
        </p:nvSpPr>
        <p:spPr>
          <a:xfrm>
            <a:off x="914400" y="4754880"/>
            <a:ext cx="4389120" cy="5486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Clone-to-Draft v2: Published v1 → Clone Draft v2 (supersedes_id)</a:t>
            </a:r>
            <a:br/>
            <a:r>
              <a:t>Edit v2 → Review/Approve → Publish v2 → Archive v1</a:t>
            </a:r>
          </a:p>
        </p:txBody>
      </p:sp>
      <p:sp>
        <p:nvSpPr>
          <p:cNvPr id="20" name="Rounded Rectangle 19"/>
          <p:cNvSpPr/>
          <p:nvPr/>
        </p:nvSpPr>
        <p:spPr>
          <a:xfrm>
            <a:off x="8321040" y="2468880"/>
            <a:ext cx="2926080" cy="685800"/>
          </a:xfrm>
          <a:prstGeom prst="roundRect">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36576" rIns="36576"/>
          <a:lstStyle/>
          <a:p>
            <a:pPr algn="ctr">
              <a:defRPr sz="950" b="1">
                <a:solidFill>
                  <a:srgbClr val="1E293B"/>
                </a:solidFill>
                <a:latin typeface="Segoe UI"/>
              </a:defRPr>
            </a:pPr>
            <a:r>
              <a:t>Emergency Publish:</a:t>
            </a:r>
            <a:br/>
            <a:r>
              <a:t>Chỉ áp dụng bài đã APPROVED</a:t>
            </a:r>
            <a:br/>
            <a:r>
              <a:t>Bắt buộc lý do + Ghi AuditLog</a:t>
            </a:r>
          </a:p>
        </p:txBody>
      </p:sp>
      <p:sp>
        <p:nvSpPr>
          <p:cNvPr id="21" name="Rounded Rectangle 20"/>
          <p:cNvSpPr/>
          <p:nvPr/>
        </p:nvSpPr>
        <p:spPr>
          <a:xfrm>
            <a:off x="731520" y="5669280"/>
            <a:ext cx="10698480" cy="731520"/>
          </a:xfrm>
          <a:prstGeom prst="roundRect">
            <a:avLst/>
          </a:prstGeom>
          <a:solidFill>
            <a:srgbClr val="FEF2F2"/>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9F1239"/>
                </a:solidFill>
              </a:defRPr>
            </a:pPr>
            <a:r>
              <a:t>NGUYÊN TẮC BẢO MẬT &amp; PHÂN TÁCH NHIỆM VỤ CỐT LÕI (SOD):</a:t>
            </a:r>
            <a:br/>
            <a:r>
              <a:t>Creator ≠ Moderator ≠ Publisher  |  Unit hiển thị khi và chỉ khi đủ 4/4 bài ở trạng thái PUBLISHED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0284C7"/>
                </a:solidFill>
                <a:latin typeface="Segoe UI"/>
              </a:defRPr>
            </a:pPr>
            <a:r>
              <a:t>PHÂN TÍCH &amp; MÔ HÌNH HÓA HỆ THỐNG</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000" b="1">
                <a:solidFill>
                  <a:srgbClr val="1E293B"/>
                </a:solidFill>
                <a:latin typeface="Segoe UI"/>
              </a:defRPr>
            </a:pPr>
            <a:r>
              <a:t>Class Diagram: Miền Quản trị Nội dung Giáo trình (Content Domain)</a:t>
            </a:r>
          </a:p>
        </p:txBody>
      </p:sp>
      <p:sp>
        <p:nvSpPr>
          <p:cNvPr id="4" name="Rounded Rectangle 3"/>
          <p:cNvSpPr/>
          <p:nvPr/>
        </p:nvSpPr>
        <p:spPr>
          <a:xfrm>
            <a:off x="731520" y="1371600"/>
            <a:ext cx="2377440" cy="1828800"/>
          </a:xfrm>
          <a:prstGeom prst="roundRect">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475569"/>
                </a:solidFill>
                <a:latin typeface="Segoe UI"/>
              </a:defRPr>
            </a:pPr>
            <a:r>
              <a:t>«CURRENT»</a:t>
            </a:r>
            <a:br/>
            <a:r>
              <a:t>Course</a:t>
            </a:r>
          </a:p>
          <a:p>
            <a:pPr>
              <a:spcAft>
                <a:spcPts val="100"/>
              </a:spcAft>
              <a:defRPr sz="850">
                <a:solidFill>
                  <a:srgbClr val="1E293B"/>
                </a:solidFill>
                <a:latin typeface="Segoe UI"/>
              </a:defRPr>
            </a:pPr>
            <a:r>
              <a:t>+ id: UUID</a:t>
            </a:r>
          </a:p>
          <a:p>
            <a:pPr>
              <a:spcAft>
                <a:spcPts val="100"/>
              </a:spcAft>
              <a:defRPr sz="850">
                <a:solidFill>
                  <a:srgbClr val="1E293B"/>
                </a:solidFill>
                <a:latin typeface="Segoe UI"/>
              </a:defRPr>
            </a:pPr>
            <a:r>
              <a:t>+ languageCode: String</a:t>
            </a:r>
          </a:p>
          <a:p>
            <a:pPr>
              <a:spcAft>
                <a:spcPts val="100"/>
              </a:spcAft>
              <a:defRPr sz="850">
                <a:solidFill>
                  <a:srgbClr val="1E293B"/>
                </a:solidFill>
                <a:latin typeface="Segoe UI"/>
              </a:defRPr>
            </a:pPr>
            <a:r>
              <a:t>+ cefr: Cefr</a:t>
            </a:r>
          </a:p>
          <a:p>
            <a:pPr>
              <a:spcAft>
                <a:spcPts val="100"/>
              </a:spcAft>
              <a:defRPr sz="850">
                <a:solidFill>
                  <a:srgbClr val="1E293B"/>
                </a:solidFill>
                <a:latin typeface="Segoe UI"/>
              </a:defRPr>
            </a:pPr>
            <a:r>
              <a:t>+ orderIndex: Int</a:t>
            </a:r>
          </a:p>
          <a:p>
            <a:pPr>
              <a:spcAft>
                <a:spcPts val="100"/>
              </a:spcAft>
              <a:defRPr sz="850">
                <a:solidFill>
                  <a:srgbClr val="1E293B"/>
                </a:solidFill>
                <a:latin typeface="Segoe UI"/>
              </a:defRPr>
            </a:pPr>
            <a:r>
              <a:t>+ status: ContentStatus</a:t>
            </a:r>
          </a:p>
          <a:p>
            <a:pPr>
              <a:spcAft>
                <a:spcPts val="100"/>
              </a:spcAft>
              <a:defRPr sz="850">
                <a:solidFill>
                  <a:srgbClr val="1E293B"/>
                </a:solidFill>
                <a:latin typeface="Segoe UI"/>
              </a:defRPr>
            </a:pPr>
            <a:r>
              <a:t>+ isPublished: Boolean</a:t>
            </a:r>
          </a:p>
        </p:txBody>
      </p:sp>
      <p:sp>
        <p:nvSpPr>
          <p:cNvPr id="5" name="Rounded Rectangle 4"/>
          <p:cNvSpPr/>
          <p:nvPr/>
        </p:nvSpPr>
        <p:spPr>
          <a:xfrm>
            <a:off x="3657600" y="1371600"/>
            <a:ext cx="2377440" cy="1828800"/>
          </a:xfrm>
          <a:prstGeom prst="roundRect">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475569"/>
                </a:solidFill>
                <a:latin typeface="Segoe UI"/>
              </a:defRPr>
            </a:pPr>
            <a:r>
              <a:t>«CURRENT»</a:t>
            </a:r>
            <a:br/>
            <a:r>
              <a:t>Unit</a:t>
            </a:r>
          </a:p>
          <a:p>
            <a:pPr>
              <a:spcAft>
                <a:spcPts val="100"/>
              </a:spcAft>
              <a:defRPr sz="850">
                <a:solidFill>
                  <a:srgbClr val="1E293B"/>
                </a:solidFill>
                <a:latin typeface="Segoe UI"/>
              </a:defRPr>
            </a:pPr>
            <a:r>
              <a:t>+ id: UUID</a:t>
            </a:r>
          </a:p>
          <a:p>
            <a:pPr>
              <a:spcAft>
                <a:spcPts val="100"/>
              </a:spcAft>
              <a:defRPr sz="850">
                <a:solidFill>
                  <a:srgbClr val="1E293B"/>
                </a:solidFill>
                <a:latin typeface="Segoe UI"/>
              </a:defRPr>
            </a:pPr>
            <a:r>
              <a:t>+ courseId: UUID</a:t>
            </a:r>
          </a:p>
          <a:p>
            <a:pPr>
              <a:spcAft>
                <a:spcPts val="100"/>
              </a:spcAft>
              <a:defRPr sz="850">
                <a:solidFill>
                  <a:srgbClr val="1E293B"/>
                </a:solidFill>
                <a:latin typeface="Segoe UI"/>
              </a:defRPr>
            </a:pPr>
            <a:r>
              <a:t>+ orderIndex: Int</a:t>
            </a:r>
          </a:p>
          <a:p>
            <a:pPr>
              <a:spcAft>
                <a:spcPts val="100"/>
              </a:spcAft>
              <a:defRPr sz="850">
                <a:solidFill>
                  <a:srgbClr val="1E293B"/>
                </a:solidFill>
                <a:latin typeface="Segoe UI"/>
              </a:defRPr>
            </a:pPr>
            <a:r>
              <a:t>+ createdAt: DateTime</a:t>
            </a:r>
          </a:p>
        </p:txBody>
      </p:sp>
      <p:sp>
        <p:nvSpPr>
          <p:cNvPr id="6" name="Rounded Rectangle 5"/>
          <p:cNvSpPr/>
          <p:nvPr/>
        </p:nvSpPr>
        <p:spPr>
          <a:xfrm>
            <a:off x="6583680" y="1371600"/>
            <a:ext cx="2377440" cy="1828800"/>
          </a:xfrm>
          <a:prstGeom prst="roundRect">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475569"/>
                </a:solidFill>
                <a:latin typeface="Segoe UI"/>
              </a:defRPr>
            </a:pPr>
            <a:r>
              <a:t>«CURRENT»</a:t>
            </a:r>
            <a:br/>
            <a:r>
              <a:t>Lesson</a:t>
            </a:r>
          </a:p>
          <a:p>
            <a:pPr>
              <a:spcAft>
                <a:spcPts val="100"/>
              </a:spcAft>
              <a:defRPr sz="850">
                <a:solidFill>
                  <a:srgbClr val="1E293B"/>
                </a:solidFill>
                <a:latin typeface="Segoe UI"/>
              </a:defRPr>
            </a:pPr>
            <a:r>
              <a:t>+ id: UUID</a:t>
            </a:r>
          </a:p>
          <a:p>
            <a:pPr>
              <a:spcAft>
                <a:spcPts val="100"/>
              </a:spcAft>
              <a:defRPr sz="850">
                <a:solidFill>
                  <a:srgbClr val="1E293B"/>
                </a:solidFill>
                <a:latin typeface="Segoe UI"/>
              </a:defRPr>
            </a:pPr>
            <a:r>
              <a:t>+ courseId: UUID</a:t>
            </a:r>
          </a:p>
          <a:p>
            <a:pPr>
              <a:spcAft>
                <a:spcPts val="100"/>
              </a:spcAft>
              <a:defRPr sz="850">
                <a:solidFill>
                  <a:srgbClr val="1E293B"/>
                </a:solidFill>
                <a:latin typeface="Segoe UI"/>
              </a:defRPr>
            </a:pPr>
            <a:r>
              <a:t>+ unitId: UUID [TARGET FK]</a:t>
            </a:r>
          </a:p>
          <a:p>
            <a:pPr>
              <a:spcAft>
                <a:spcPts val="100"/>
              </a:spcAft>
              <a:defRPr sz="850">
                <a:solidFill>
                  <a:srgbClr val="1E293B"/>
                </a:solidFill>
                <a:latin typeface="Segoe UI"/>
              </a:defRPr>
            </a:pPr>
            <a:r>
              <a:t>+ orderIndex: Int</a:t>
            </a:r>
          </a:p>
          <a:p>
            <a:pPr>
              <a:spcAft>
                <a:spcPts val="100"/>
              </a:spcAft>
              <a:defRPr sz="850">
                <a:solidFill>
                  <a:srgbClr val="1E293B"/>
                </a:solidFill>
                <a:latin typeface="Segoe UI"/>
              </a:defRPr>
            </a:pPr>
            <a:r>
              <a:t>+ status: ContentStatus</a:t>
            </a:r>
          </a:p>
        </p:txBody>
      </p:sp>
      <p:sp>
        <p:nvSpPr>
          <p:cNvPr id="7" name="Rounded Rectangle 6"/>
          <p:cNvSpPr/>
          <p:nvPr/>
        </p:nvSpPr>
        <p:spPr>
          <a:xfrm>
            <a:off x="9326880" y="1371600"/>
            <a:ext cx="2194560" cy="201168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EA580C"/>
                </a:solidFill>
                <a:latin typeface="Segoe UI"/>
              </a:defRPr>
            </a:pPr>
            <a:r>
              <a:t>«TARGET (PHASE 2)»</a:t>
            </a:r>
            <a:br/>
            <a:r>
              <a:t>LessonRevision</a:t>
            </a:r>
          </a:p>
          <a:p>
            <a:pPr>
              <a:spcAft>
                <a:spcPts val="100"/>
              </a:spcAft>
              <a:defRPr sz="850">
                <a:solidFill>
                  <a:srgbClr val="1E293B"/>
                </a:solidFill>
                <a:latin typeface="Segoe UI"/>
              </a:defRPr>
            </a:pPr>
            <a:r>
              <a:t>+ id: UUID</a:t>
            </a:r>
          </a:p>
          <a:p>
            <a:pPr>
              <a:spcAft>
                <a:spcPts val="100"/>
              </a:spcAft>
              <a:defRPr sz="850">
                <a:solidFill>
                  <a:srgbClr val="1E293B"/>
                </a:solidFill>
                <a:latin typeface="Segoe UI"/>
              </a:defRPr>
            </a:pPr>
            <a:r>
              <a:t>+ lessonId: UUID</a:t>
            </a:r>
          </a:p>
          <a:p>
            <a:pPr>
              <a:spcAft>
                <a:spcPts val="100"/>
              </a:spcAft>
              <a:defRPr sz="850">
                <a:solidFill>
                  <a:srgbClr val="1E293B"/>
                </a:solidFill>
                <a:latin typeface="Segoe UI"/>
              </a:defRPr>
            </a:pPr>
            <a:r>
              <a:t>+ version: Int</a:t>
            </a:r>
          </a:p>
          <a:p>
            <a:pPr>
              <a:spcAft>
                <a:spcPts val="100"/>
              </a:spcAft>
              <a:defRPr sz="850">
                <a:solidFill>
                  <a:srgbClr val="1E293B"/>
                </a:solidFill>
                <a:latin typeface="Segoe UI"/>
              </a:defRPr>
            </a:pPr>
            <a:r>
              <a:t>+ status: ContentStatus</a:t>
            </a:r>
          </a:p>
          <a:p>
            <a:pPr>
              <a:spcAft>
                <a:spcPts val="100"/>
              </a:spcAft>
              <a:defRPr sz="850">
                <a:solidFill>
                  <a:srgbClr val="1E293B"/>
                </a:solidFill>
                <a:latin typeface="Segoe UI"/>
              </a:defRPr>
            </a:pPr>
            <a:r>
              <a:t>+ supersedesId: UUID?</a:t>
            </a:r>
          </a:p>
          <a:p>
            <a:pPr>
              <a:spcAft>
                <a:spcPts val="100"/>
              </a:spcAft>
              <a:defRPr sz="850">
                <a:solidFill>
                  <a:srgbClr val="1E293B"/>
                </a:solidFill>
                <a:latin typeface="Segoe UI"/>
              </a:defRPr>
            </a:pPr>
            <a:r>
              <a:t>+ assignedCreatorId: UUID</a:t>
            </a:r>
          </a:p>
        </p:txBody>
      </p:sp>
      <p:sp>
        <p:nvSpPr>
          <p:cNvPr id="8" name="Rounded Rectangle 7"/>
          <p:cNvSpPr/>
          <p:nvPr/>
        </p:nvSpPr>
        <p:spPr>
          <a:xfrm>
            <a:off x="731520" y="3931920"/>
            <a:ext cx="2377440" cy="1920240"/>
          </a:xfrm>
          <a:prstGeom prst="roundRect">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475569"/>
                </a:solidFill>
                <a:latin typeface="Segoe UI"/>
              </a:defRPr>
            </a:pPr>
            <a:r>
              <a:t>«CURRENT»</a:t>
            </a:r>
            <a:br/>
            <a:r>
              <a:t>Vocabulary</a:t>
            </a:r>
          </a:p>
          <a:p>
            <a:pPr>
              <a:spcAft>
                <a:spcPts val="100"/>
              </a:spcAft>
              <a:defRPr sz="850">
                <a:solidFill>
                  <a:srgbClr val="1E293B"/>
                </a:solidFill>
                <a:latin typeface="Segoe UI"/>
              </a:defRPr>
            </a:pPr>
            <a:r>
              <a:t>+ id: UUID</a:t>
            </a:r>
          </a:p>
          <a:p>
            <a:pPr>
              <a:spcAft>
                <a:spcPts val="100"/>
              </a:spcAft>
              <a:defRPr sz="850">
                <a:solidFill>
                  <a:srgbClr val="1E293B"/>
                </a:solidFill>
                <a:latin typeface="Segoe UI"/>
              </a:defRPr>
            </a:pPr>
            <a:r>
              <a:t>+ languageCode: String</a:t>
            </a:r>
          </a:p>
          <a:p>
            <a:pPr>
              <a:spcAft>
                <a:spcPts val="100"/>
              </a:spcAft>
              <a:defRPr sz="850">
                <a:solidFill>
                  <a:srgbClr val="1E293B"/>
                </a:solidFill>
                <a:latin typeface="Segoe UI"/>
              </a:defRPr>
            </a:pPr>
            <a:r>
              <a:t>+ term: String</a:t>
            </a:r>
          </a:p>
          <a:p>
            <a:pPr>
              <a:spcAft>
                <a:spcPts val="100"/>
              </a:spcAft>
              <a:defRPr sz="850">
                <a:solidFill>
                  <a:srgbClr val="1E293B"/>
                </a:solidFill>
                <a:latin typeface="Segoe UI"/>
              </a:defRPr>
            </a:pPr>
            <a:r>
              <a:t>+ normalizedTerm: String</a:t>
            </a:r>
          </a:p>
          <a:p>
            <a:pPr>
              <a:spcAft>
                <a:spcPts val="100"/>
              </a:spcAft>
              <a:defRPr sz="850">
                <a:solidFill>
                  <a:srgbClr val="1E293B"/>
                </a:solidFill>
                <a:latin typeface="Segoe UI"/>
              </a:defRPr>
            </a:pPr>
            <a:r>
              <a:t>+ audioUrl: String?</a:t>
            </a:r>
          </a:p>
          <a:p>
            <a:pPr>
              <a:spcAft>
                <a:spcPts val="100"/>
              </a:spcAft>
              <a:defRPr sz="850">
                <a:solidFill>
                  <a:srgbClr val="1E293B"/>
                </a:solidFill>
                <a:latin typeface="Segoe UI"/>
              </a:defRPr>
            </a:pPr>
            <a:r>
              <a:t>+ cefr: Cefr?</a:t>
            </a:r>
          </a:p>
        </p:txBody>
      </p:sp>
      <p:sp>
        <p:nvSpPr>
          <p:cNvPr id="9" name="Rounded Rectangle 8"/>
          <p:cNvSpPr/>
          <p:nvPr/>
        </p:nvSpPr>
        <p:spPr>
          <a:xfrm>
            <a:off x="3657600" y="3931920"/>
            <a:ext cx="2377440" cy="1645920"/>
          </a:xfrm>
          <a:prstGeom prst="roundRect">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475569"/>
                </a:solidFill>
                <a:latin typeface="Segoe UI"/>
              </a:defRPr>
            </a:pPr>
            <a:r>
              <a:t>«CURRENT»</a:t>
            </a:r>
            <a:br/>
            <a:r>
              <a:t>LessonVocabulary</a:t>
            </a:r>
          </a:p>
          <a:p>
            <a:pPr>
              <a:spcAft>
                <a:spcPts val="100"/>
              </a:spcAft>
              <a:defRPr sz="850">
                <a:solidFill>
                  <a:srgbClr val="1E293B"/>
                </a:solidFill>
                <a:latin typeface="Segoe UI"/>
              </a:defRPr>
            </a:pPr>
            <a:r>
              <a:t>+ lessonId: UUID</a:t>
            </a:r>
          </a:p>
          <a:p>
            <a:pPr>
              <a:spcAft>
                <a:spcPts val="100"/>
              </a:spcAft>
              <a:defRPr sz="850">
                <a:solidFill>
                  <a:srgbClr val="1E293B"/>
                </a:solidFill>
                <a:latin typeface="Segoe UI"/>
              </a:defRPr>
            </a:pPr>
            <a:r>
              <a:t>+ vocabularyId: UUID</a:t>
            </a:r>
          </a:p>
          <a:p>
            <a:pPr>
              <a:spcAft>
                <a:spcPts val="100"/>
              </a:spcAft>
              <a:defRPr sz="850">
                <a:solidFill>
                  <a:srgbClr val="1E293B"/>
                </a:solidFill>
                <a:latin typeface="Segoe UI"/>
              </a:defRPr>
            </a:pPr>
            <a:r>
              <a:t>+ orderIndex: Int</a:t>
            </a:r>
          </a:p>
        </p:txBody>
      </p:sp>
      <p:sp>
        <p:nvSpPr>
          <p:cNvPr id="10" name="Rounded Rectangle 9"/>
          <p:cNvSpPr/>
          <p:nvPr/>
        </p:nvSpPr>
        <p:spPr>
          <a:xfrm>
            <a:off x="6583680" y="3931920"/>
            <a:ext cx="2560320" cy="1920240"/>
          </a:xfrm>
          <a:prstGeom prst="roundRect">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475569"/>
                </a:solidFill>
                <a:latin typeface="Segoe UI"/>
              </a:defRPr>
            </a:pPr>
            <a:r>
              <a:t>«CURRENT (SCHEMA)»</a:t>
            </a:r>
            <a:br/>
            <a:r>
              <a:t>Exercise</a:t>
            </a:r>
          </a:p>
          <a:p>
            <a:pPr>
              <a:spcAft>
                <a:spcPts val="100"/>
              </a:spcAft>
              <a:defRPr sz="850">
                <a:solidFill>
                  <a:srgbClr val="1E293B"/>
                </a:solidFill>
                <a:latin typeface="Segoe UI"/>
              </a:defRPr>
            </a:pPr>
            <a:r>
              <a:t>+ id: UUID</a:t>
            </a:r>
          </a:p>
          <a:p>
            <a:pPr>
              <a:spcAft>
                <a:spcPts val="100"/>
              </a:spcAft>
              <a:defRPr sz="850">
                <a:solidFill>
                  <a:srgbClr val="1E293B"/>
                </a:solidFill>
                <a:latin typeface="Segoe UI"/>
              </a:defRPr>
            </a:pPr>
            <a:r>
              <a:t>+ lessonRevisionId: UUID [TARGET]</a:t>
            </a:r>
          </a:p>
          <a:p>
            <a:pPr>
              <a:spcAft>
                <a:spcPts val="100"/>
              </a:spcAft>
              <a:defRPr sz="850">
                <a:solidFill>
                  <a:srgbClr val="1E293B"/>
                </a:solidFill>
                <a:latin typeface="Segoe UI"/>
              </a:defRPr>
            </a:pPr>
            <a:r>
              <a:t>+ type: ExerciseType (5 types)</a:t>
            </a:r>
          </a:p>
          <a:p>
            <a:pPr>
              <a:spcAft>
                <a:spcPts val="100"/>
              </a:spcAft>
              <a:defRPr sz="850">
                <a:solidFill>
                  <a:srgbClr val="1E293B"/>
                </a:solidFill>
                <a:latin typeface="Segoe UI"/>
              </a:defRPr>
            </a:pPr>
            <a:r>
              <a:t>+ payload: Json (no answer secret)</a:t>
            </a:r>
          </a:p>
          <a:p>
            <a:pPr>
              <a:spcAft>
                <a:spcPts val="100"/>
              </a:spcAft>
              <a:defRPr sz="850">
                <a:solidFill>
                  <a:srgbClr val="1E293B"/>
                </a:solidFill>
                <a:latin typeface="Segoe UI"/>
              </a:defRPr>
            </a:pPr>
            <a:r>
              <a:t>+ orderIndex: Int</a:t>
            </a:r>
          </a:p>
        </p:txBody>
      </p:sp>
      <p:sp>
        <p:nvSpPr>
          <p:cNvPr id="11" name="Rounded Rectangle 10"/>
          <p:cNvSpPr/>
          <p:nvPr/>
        </p:nvSpPr>
        <p:spPr>
          <a:xfrm>
            <a:off x="9326880" y="3931920"/>
            <a:ext cx="2194560" cy="19202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50">
                <a:solidFill>
                  <a:srgbClr val="1E293B"/>
                </a:solidFill>
                <a:latin typeface="Segoe UI"/>
              </a:defRPr>
            </a:pPr>
            <a:r>
              <a:t>QUAN HỆ BẮT BUỘC:</a:t>
            </a:r>
            <a:br/>
            <a:r>
              <a:t>• Course 1 ── 1..* Unit</a:t>
            </a:r>
            <a:br/>
            <a:r>
              <a:t>• Unit 1 ── 4 Lesson (exactly)</a:t>
            </a:r>
            <a:br/>
            <a:r>
              <a:t>• Lesson 1 ── 1..* Revision</a:t>
            </a:r>
            <a:br/>
            <a:r>
              <a:t>• Lesson * ── * Vocabulary (qua LessonVocabulary)</a:t>
            </a:r>
            <a:br/>
            <a:r>
              <a:t>• Revision 1 ── 1..* Exercise [TARGET]</a:t>
            </a:r>
            <a:br/>
            <a:r>
              <a:t>• KHÔNG nối Lesson ── Exercise trực tiếp trong Phase 2.</a:t>
            </a:r>
          </a:p>
        </p:txBody>
      </p:sp>
      <p:sp>
        <p:nvSpPr>
          <p:cNvPr id="12" name="TextBox 11"/>
          <p:cNvSpPr txBox="1"/>
          <p:nvPr/>
        </p:nvSpPr>
        <p:spPr>
          <a:xfrm>
            <a:off x="731520" y="6035040"/>
            <a:ext cx="10698480" cy="365760"/>
          </a:xfrm>
          <a:prstGeom prst="rect">
            <a:avLst/>
          </a:prstGeom>
          <a:noFill/>
        </p:spPr>
        <p:txBody>
          <a:bodyPr wrap="none">
            <a:spAutoFit/>
          </a:bodyPr>
          <a:lstStyle/>
          <a:p>
            <a:pPr>
              <a:defRPr sz="950" b="1">
                <a:solidFill>
                  <a:srgbClr val="7C3AED"/>
                </a:solidFill>
              </a:defRPr>
            </a:pPr>
            <a:r>
              <a:t>Ràng buộc cấu trúc giáo trình A1: {Unit = exactly 4 Lessons} và {Unit visible only when all 4 Lessons are Published}.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0284C7"/>
                </a:solidFill>
                <a:latin typeface="Segoe UI"/>
              </a:defRPr>
            </a:pPr>
            <a:r>
              <a:t>PHÂN TÍCH &amp; MÔ HÌNH HÓA HỆ THỐNG</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000" b="1">
                <a:solidFill>
                  <a:srgbClr val="1E293B"/>
                </a:solidFill>
                <a:latin typeface="Segoe UI"/>
              </a:defRPr>
            </a:pPr>
            <a:r>
              <a:t>Class Diagram: Trạng thái Học viên &amp; Động cơ Đánh giá (Learner &amp; Assessment State)</a:t>
            </a:r>
          </a:p>
        </p:txBody>
      </p:sp>
      <p:sp>
        <p:nvSpPr>
          <p:cNvPr id="4" name="Rounded Rectangle 3"/>
          <p:cNvSpPr/>
          <p:nvPr/>
        </p:nvSpPr>
        <p:spPr>
          <a:xfrm>
            <a:off x="731520" y="1371600"/>
            <a:ext cx="2468880" cy="2194560"/>
          </a:xfrm>
          <a:prstGeom prst="roundRect">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475569"/>
                </a:solidFill>
                <a:latin typeface="Segoe UI"/>
              </a:defRPr>
            </a:pPr>
            <a:r>
              <a:t>«CURRENT»</a:t>
            </a:r>
            <a:br/>
            <a:r>
              <a:t>Profile</a:t>
            </a:r>
          </a:p>
          <a:p>
            <a:pPr>
              <a:spcAft>
                <a:spcPts val="100"/>
              </a:spcAft>
              <a:defRPr sz="850">
                <a:solidFill>
                  <a:srgbClr val="1E293B"/>
                </a:solidFill>
                <a:latin typeface="Segoe UI"/>
              </a:defRPr>
            </a:pPr>
            <a:r>
              <a:t>+ id: UUID</a:t>
            </a:r>
          </a:p>
          <a:p>
            <a:pPr>
              <a:spcAft>
                <a:spcPts val="100"/>
              </a:spcAft>
              <a:defRPr sz="850">
                <a:solidFill>
                  <a:srgbClr val="1E293B"/>
                </a:solidFill>
                <a:latin typeface="Segoe UI"/>
              </a:defRPr>
            </a:pPr>
            <a:r>
              <a:t>+ email: String</a:t>
            </a:r>
          </a:p>
          <a:p>
            <a:pPr>
              <a:spcAft>
                <a:spcPts val="100"/>
              </a:spcAft>
              <a:defRPr sz="850">
                <a:solidFill>
                  <a:srgbClr val="1E293B"/>
                </a:solidFill>
                <a:latin typeface="Segoe UI"/>
              </a:defRPr>
            </a:pPr>
            <a:r>
              <a:t>+ role: Role (Single Role)</a:t>
            </a:r>
          </a:p>
          <a:p>
            <a:pPr>
              <a:spcAft>
                <a:spcPts val="100"/>
              </a:spcAft>
              <a:defRPr sz="850">
                <a:solidFill>
                  <a:srgbClr val="1E293B"/>
                </a:solidFill>
                <a:latin typeface="Segoe UI"/>
              </a:defRPr>
            </a:pPr>
            <a:r>
              <a:t>+ streakCount: Int</a:t>
            </a:r>
          </a:p>
          <a:p>
            <a:pPr>
              <a:spcAft>
                <a:spcPts val="100"/>
              </a:spcAft>
              <a:defRPr sz="850">
                <a:solidFill>
                  <a:srgbClr val="1E293B"/>
                </a:solidFill>
                <a:latin typeface="Segoe UI"/>
              </a:defRPr>
            </a:pPr>
            <a:r>
              <a:t>+ lastQualifyingDate: Date?</a:t>
            </a:r>
          </a:p>
          <a:p>
            <a:pPr>
              <a:spcAft>
                <a:spcPts val="100"/>
              </a:spcAft>
              <a:defRPr sz="850">
                <a:solidFill>
                  <a:srgbClr val="1E293B"/>
                </a:solidFill>
                <a:latin typeface="Segoe UI"/>
              </a:defRPr>
            </a:pPr>
            <a:r>
              <a:t>+ timezone: String</a:t>
            </a:r>
          </a:p>
          <a:p>
            <a:pPr>
              <a:spcAft>
                <a:spcPts val="100"/>
              </a:spcAft>
              <a:defRPr sz="850">
                <a:solidFill>
                  <a:srgbClr val="1E293B"/>
                </a:solidFill>
                <a:latin typeface="Segoe UI"/>
              </a:defRPr>
            </a:pPr>
            <a:r>
              <a:t>+ verified_starting_unit: Int [TARGET]</a:t>
            </a:r>
          </a:p>
        </p:txBody>
      </p:sp>
      <p:sp>
        <p:nvSpPr>
          <p:cNvPr id="5" name="Rounded Rectangle 4"/>
          <p:cNvSpPr/>
          <p:nvPr/>
        </p:nvSpPr>
        <p:spPr>
          <a:xfrm>
            <a:off x="3474720" y="1371600"/>
            <a:ext cx="2468880" cy="2194560"/>
          </a:xfrm>
          <a:prstGeom prst="roundRect">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475569"/>
                </a:solidFill>
                <a:latin typeface="Segoe UI"/>
              </a:defRPr>
            </a:pPr>
            <a:r>
              <a:t>«CURRENT»</a:t>
            </a:r>
            <a:br/>
            <a:r>
              <a:t>UserProgress</a:t>
            </a:r>
          </a:p>
          <a:p>
            <a:pPr>
              <a:spcAft>
                <a:spcPts val="100"/>
              </a:spcAft>
              <a:defRPr sz="850">
                <a:solidFill>
                  <a:srgbClr val="1E293B"/>
                </a:solidFill>
                <a:latin typeface="Segoe UI"/>
              </a:defRPr>
            </a:pPr>
            <a:r>
              <a:t>+ id: UUID</a:t>
            </a:r>
          </a:p>
          <a:p>
            <a:pPr>
              <a:spcAft>
                <a:spcPts val="100"/>
              </a:spcAft>
              <a:defRPr sz="850">
                <a:solidFill>
                  <a:srgbClr val="1E293B"/>
                </a:solidFill>
                <a:latin typeface="Segoe UI"/>
              </a:defRPr>
            </a:pPr>
            <a:r>
              <a:t>+ userId: UUID</a:t>
            </a:r>
          </a:p>
          <a:p>
            <a:pPr>
              <a:spcAft>
                <a:spcPts val="100"/>
              </a:spcAft>
              <a:defRPr sz="850">
                <a:solidFill>
                  <a:srgbClr val="1E293B"/>
                </a:solidFill>
                <a:latin typeface="Segoe UI"/>
              </a:defRPr>
            </a:pPr>
            <a:r>
              <a:t>+ lessonId: UUID</a:t>
            </a:r>
          </a:p>
          <a:p>
            <a:pPr>
              <a:spcAft>
                <a:spcPts val="100"/>
              </a:spcAft>
              <a:defRPr sz="850">
                <a:solidFill>
                  <a:srgbClr val="1E293B"/>
                </a:solidFill>
                <a:latin typeface="Segoe UI"/>
              </a:defRPr>
            </a:pPr>
            <a:r>
              <a:t>+ status: ProgressStatus</a:t>
            </a:r>
          </a:p>
          <a:p>
            <a:pPr>
              <a:spcAft>
                <a:spcPts val="100"/>
              </a:spcAft>
              <a:defRPr sz="850">
                <a:solidFill>
                  <a:srgbClr val="1E293B"/>
                </a:solidFill>
                <a:latin typeface="Segoe UI"/>
              </a:defRPr>
            </a:pPr>
            <a:r>
              <a:t>+ score: Int?</a:t>
            </a:r>
          </a:p>
          <a:p>
            <a:pPr>
              <a:spcAft>
                <a:spcPts val="100"/>
              </a:spcAft>
              <a:defRPr sz="850">
                <a:solidFill>
                  <a:srgbClr val="1E293B"/>
                </a:solidFill>
                <a:latin typeface="Segoe UI"/>
              </a:defRPr>
            </a:pPr>
            <a:r>
              <a:t>+ completedAt: DateTime?</a:t>
            </a:r>
          </a:p>
          <a:p>
            <a:pPr>
              <a:spcAft>
                <a:spcPts val="100"/>
              </a:spcAft>
              <a:defRPr sz="850">
                <a:solidFill>
                  <a:srgbClr val="1E293B"/>
                </a:solidFill>
                <a:latin typeface="Segoe UI"/>
              </a:defRPr>
            </a:pPr>
            <a:r>
              <a:t>note: «state» Retry usage</a:t>
            </a:r>
          </a:p>
          <a:p>
            <a:pPr>
              <a:spcAft>
                <a:spcPts val="100"/>
              </a:spcAft>
              <a:defRPr sz="850">
                <a:solidFill>
                  <a:srgbClr val="1E293B"/>
                </a:solidFill>
                <a:latin typeface="Segoe UI"/>
              </a:defRPr>
            </a:pPr>
            <a:r>
              <a:t>note: «state» Jump cooldown</a:t>
            </a:r>
          </a:p>
        </p:txBody>
      </p:sp>
      <p:sp>
        <p:nvSpPr>
          <p:cNvPr id="6" name="Rounded Rectangle 5"/>
          <p:cNvSpPr/>
          <p:nvPr/>
        </p:nvSpPr>
        <p:spPr>
          <a:xfrm>
            <a:off x="6217920" y="1371600"/>
            <a:ext cx="2468880" cy="2194560"/>
          </a:xfrm>
          <a:prstGeom prst="roundRect">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475569"/>
                </a:solidFill>
                <a:latin typeface="Segoe UI"/>
              </a:defRPr>
            </a:pPr>
            <a:r>
              <a:t>«CURRENT»</a:t>
            </a:r>
            <a:br/>
            <a:r>
              <a:t>UserVocabSrs</a:t>
            </a:r>
          </a:p>
          <a:p>
            <a:pPr>
              <a:spcAft>
                <a:spcPts val="100"/>
              </a:spcAft>
              <a:defRPr sz="850">
                <a:solidFill>
                  <a:srgbClr val="1E293B"/>
                </a:solidFill>
                <a:latin typeface="Segoe UI"/>
              </a:defRPr>
            </a:pPr>
            <a:r>
              <a:t>+ id: UUID</a:t>
            </a:r>
          </a:p>
          <a:p>
            <a:pPr>
              <a:spcAft>
                <a:spcPts val="100"/>
              </a:spcAft>
              <a:defRPr sz="850">
                <a:solidFill>
                  <a:srgbClr val="1E293B"/>
                </a:solidFill>
                <a:latin typeface="Segoe UI"/>
              </a:defRPr>
            </a:pPr>
            <a:r>
              <a:t>+ userId: UUID</a:t>
            </a:r>
          </a:p>
          <a:p>
            <a:pPr>
              <a:spcAft>
                <a:spcPts val="100"/>
              </a:spcAft>
              <a:defRPr sz="850">
                <a:solidFill>
                  <a:srgbClr val="1E293B"/>
                </a:solidFill>
                <a:latin typeface="Segoe UI"/>
              </a:defRPr>
            </a:pPr>
            <a:r>
              <a:t>+ vocabularyId: UUID</a:t>
            </a:r>
          </a:p>
          <a:p>
            <a:pPr>
              <a:spcAft>
                <a:spcPts val="100"/>
              </a:spcAft>
              <a:defRPr sz="850">
                <a:solidFill>
                  <a:srgbClr val="1E293B"/>
                </a:solidFill>
                <a:latin typeface="Segoe UI"/>
              </a:defRPr>
            </a:pPr>
            <a:r>
              <a:t>+ intervalDays: Float</a:t>
            </a:r>
          </a:p>
          <a:p>
            <a:pPr>
              <a:spcAft>
                <a:spcPts val="100"/>
              </a:spcAft>
              <a:defRPr sz="850">
                <a:solidFill>
                  <a:srgbClr val="1E293B"/>
                </a:solidFill>
                <a:latin typeface="Segoe UI"/>
              </a:defRPr>
            </a:pPr>
            <a:r>
              <a:t>+ nextReviewAt: DateTime</a:t>
            </a:r>
          </a:p>
          <a:p>
            <a:pPr>
              <a:spcAft>
                <a:spcPts val="100"/>
              </a:spcAft>
              <a:defRPr sz="850">
                <a:solidFill>
                  <a:srgbClr val="1E293B"/>
                </a:solidFill>
                <a:latin typeface="Segoe UI"/>
              </a:defRPr>
            </a:pPr>
            <a:r>
              <a:t>+ reviewCount: Int</a:t>
            </a:r>
          </a:p>
        </p:txBody>
      </p:sp>
      <p:sp>
        <p:nvSpPr>
          <p:cNvPr id="7" name="Rounded Rectangle 6"/>
          <p:cNvSpPr/>
          <p:nvPr/>
        </p:nvSpPr>
        <p:spPr>
          <a:xfrm>
            <a:off x="8961120" y="1371600"/>
            <a:ext cx="2468880" cy="1828800"/>
          </a:xfrm>
          <a:prstGeom prst="roundRect">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475569"/>
                </a:solidFill>
                <a:latin typeface="Segoe UI"/>
              </a:defRPr>
            </a:pPr>
            <a:r>
              <a:t>«CURRENT»</a:t>
            </a:r>
            <a:br/>
            <a:r>
              <a:t>ReviewLog</a:t>
            </a:r>
          </a:p>
          <a:p>
            <a:pPr>
              <a:spcAft>
                <a:spcPts val="100"/>
              </a:spcAft>
              <a:defRPr sz="850">
                <a:solidFill>
                  <a:srgbClr val="1E293B"/>
                </a:solidFill>
                <a:latin typeface="Segoe UI"/>
              </a:defRPr>
            </a:pPr>
            <a:r>
              <a:t>+ id: UUID</a:t>
            </a:r>
          </a:p>
          <a:p>
            <a:pPr>
              <a:spcAft>
                <a:spcPts val="100"/>
              </a:spcAft>
              <a:defRPr sz="850">
                <a:solidFill>
                  <a:srgbClr val="1E293B"/>
                </a:solidFill>
                <a:latin typeface="Segoe UI"/>
              </a:defRPr>
            </a:pPr>
            <a:r>
              <a:t>+ srsCardId: UUID</a:t>
            </a:r>
          </a:p>
          <a:p>
            <a:pPr>
              <a:spcAft>
                <a:spcPts val="100"/>
              </a:spcAft>
              <a:defRPr sz="850">
                <a:solidFill>
                  <a:srgbClr val="1E293B"/>
                </a:solidFill>
                <a:latin typeface="Segoe UI"/>
              </a:defRPr>
            </a:pPr>
            <a:r>
              <a:t>+ isCorrect: Boolean</a:t>
            </a:r>
          </a:p>
          <a:p>
            <a:pPr>
              <a:spcAft>
                <a:spcPts val="100"/>
              </a:spcAft>
              <a:defRPr sz="850">
                <a:solidFill>
                  <a:srgbClr val="1E293B"/>
                </a:solidFill>
                <a:latin typeface="Segoe UI"/>
              </a:defRPr>
            </a:pPr>
            <a:r>
              <a:t>+ intervalDays: Float</a:t>
            </a:r>
          </a:p>
          <a:p>
            <a:pPr>
              <a:spcAft>
                <a:spcPts val="100"/>
              </a:spcAft>
              <a:defRPr sz="850">
                <a:solidFill>
                  <a:srgbClr val="1E293B"/>
                </a:solidFill>
                <a:latin typeface="Segoe UI"/>
              </a:defRPr>
            </a:pPr>
            <a:r>
              <a:t>+ reviewedAt: DateTime</a:t>
            </a:r>
          </a:p>
        </p:txBody>
      </p:sp>
      <p:sp>
        <p:nvSpPr>
          <p:cNvPr id="8" name="Rounded Rectangle 7"/>
          <p:cNvSpPr/>
          <p:nvPr/>
        </p:nvSpPr>
        <p:spPr>
          <a:xfrm>
            <a:off x="731520" y="3840480"/>
            <a:ext cx="2926080" cy="192024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EA580C"/>
                </a:solidFill>
                <a:latin typeface="Segoe UI"/>
              </a:defRPr>
            </a:pPr>
            <a:r>
              <a:t>«TARGET (PHASE 2)»</a:t>
            </a:r>
            <a:br/>
            <a:r>
              <a:t>AssessmentResult</a:t>
            </a:r>
          </a:p>
          <a:p>
            <a:pPr>
              <a:spcAft>
                <a:spcPts val="100"/>
              </a:spcAft>
              <a:defRPr sz="850">
                <a:solidFill>
                  <a:srgbClr val="1E293B"/>
                </a:solidFill>
                <a:latin typeface="Segoe UI"/>
              </a:defRPr>
            </a:pPr>
            <a:r>
              <a:t>+ id: UUID</a:t>
            </a:r>
          </a:p>
          <a:p>
            <a:pPr>
              <a:spcAft>
                <a:spcPts val="100"/>
              </a:spcAft>
              <a:defRPr sz="850">
                <a:solidFill>
                  <a:srgbClr val="1E293B"/>
                </a:solidFill>
                <a:latin typeface="Segoe UI"/>
              </a:defRPr>
            </a:pPr>
            <a:r>
              <a:t>+ userId: UUID</a:t>
            </a:r>
          </a:p>
          <a:p>
            <a:pPr>
              <a:spcAft>
                <a:spcPts val="100"/>
              </a:spcAft>
              <a:defRPr sz="850">
                <a:solidFill>
                  <a:srgbClr val="1E293B"/>
                </a:solidFill>
                <a:latin typeface="Segoe UI"/>
              </a:defRPr>
            </a:pPr>
            <a:r>
              <a:t>+ assessmentType: Diagnostic/Jump</a:t>
            </a:r>
          </a:p>
          <a:p>
            <a:pPr>
              <a:spcAft>
                <a:spcPts val="100"/>
              </a:spcAft>
              <a:defRPr sz="850">
                <a:solidFill>
                  <a:srgbClr val="1E293B"/>
                </a:solidFill>
                <a:latin typeface="Segoe UI"/>
              </a:defRPr>
            </a:pPr>
            <a:r>
              <a:t>+ rawScore: Int (0..30)</a:t>
            </a:r>
          </a:p>
          <a:p>
            <a:pPr>
              <a:spcAft>
                <a:spcPts val="100"/>
              </a:spcAft>
              <a:defRPr sz="850">
                <a:solidFill>
                  <a:srgbClr val="1E293B"/>
                </a:solidFill>
                <a:latin typeface="Segoe UI"/>
              </a:defRPr>
            </a:pPr>
            <a:r>
              <a:t>+ dimensions: Json</a:t>
            </a:r>
          </a:p>
          <a:p>
            <a:pPr>
              <a:spcAft>
                <a:spcPts val="100"/>
              </a:spcAft>
              <a:defRPr sz="850">
                <a:solidFill>
                  <a:srgbClr val="1E293B"/>
                </a:solidFill>
                <a:latin typeface="Segoe UI"/>
              </a:defRPr>
            </a:pPr>
            <a:r>
              <a:t>+ completedAt: DateTime (Immutable)</a:t>
            </a:r>
          </a:p>
        </p:txBody>
      </p:sp>
      <p:sp>
        <p:nvSpPr>
          <p:cNvPr id="9" name="Rounded Rectangle 8"/>
          <p:cNvSpPr/>
          <p:nvPr/>
        </p:nvSpPr>
        <p:spPr>
          <a:xfrm>
            <a:off x="3931920" y="3840480"/>
            <a:ext cx="2743200" cy="192024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EA580C"/>
                </a:solidFill>
                <a:latin typeface="Segoe UI"/>
              </a:defRPr>
            </a:pPr>
            <a:r>
              <a:t>«TARGET (PHASE 2)»</a:t>
            </a:r>
            <a:br/>
            <a:r>
              <a:t>SkillProfile</a:t>
            </a:r>
          </a:p>
          <a:p>
            <a:pPr>
              <a:spcAft>
                <a:spcPts val="100"/>
              </a:spcAft>
              <a:defRPr sz="850">
                <a:solidFill>
                  <a:srgbClr val="1E293B"/>
                </a:solidFill>
                <a:latin typeface="Segoe UI"/>
              </a:defRPr>
            </a:pPr>
            <a:r>
              <a:t>+ id: UUID</a:t>
            </a:r>
          </a:p>
          <a:p>
            <a:pPr>
              <a:spcAft>
                <a:spcPts val="100"/>
              </a:spcAft>
              <a:defRPr sz="850">
                <a:solidFill>
                  <a:srgbClr val="1E293B"/>
                </a:solidFill>
                <a:latin typeface="Segoe UI"/>
              </a:defRPr>
            </a:pPr>
            <a:r>
              <a:t>+ userId: UUID</a:t>
            </a:r>
          </a:p>
          <a:p>
            <a:pPr>
              <a:spcAft>
                <a:spcPts val="100"/>
              </a:spcAft>
              <a:defRPr sz="850">
                <a:solidFill>
                  <a:srgbClr val="1E293B"/>
                </a:solidFill>
                <a:latin typeface="Segoe UI"/>
              </a:defRPr>
            </a:pPr>
            <a:r>
              <a:t>+ vocabLevel: Float</a:t>
            </a:r>
          </a:p>
          <a:p>
            <a:pPr>
              <a:spcAft>
                <a:spcPts val="100"/>
              </a:spcAft>
              <a:defRPr sz="850">
                <a:solidFill>
                  <a:srgbClr val="1E293B"/>
                </a:solidFill>
                <a:latin typeface="Segoe UI"/>
              </a:defRPr>
            </a:pPr>
            <a:r>
              <a:t>+ grammarLevel: Float</a:t>
            </a:r>
          </a:p>
          <a:p>
            <a:pPr>
              <a:spcAft>
                <a:spcPts val="100"/>
              </a:spcAft>
              <a:defRPr sz="850">
                <a:solidFill>
                  <a:srgbClr val="1E293B"/>
                </a:solidFill>
                <a:latin typeface="Segoe UI"/>
              </a:defRPr>
            </a:pPr>
            <a:r>
              <a:t>+ readingLevel: Float</a:t>
            </a:r>
          </a:p>
          <a:p>
            <a:pPr>
              <a:spcAft>
                <a:spcPts val="100"/>
              </a:spcAft>
              <a:defRPr sz="850">
                <a:solidFill>
                  <a:srgbClr val="1E293B"/>
                </a:solidFill>
                <a:latin typeface="Segoe UI"/>
              </a:defRPr>
            </a:pPr>
            <a:r>
              <a:t>+ listeningLevel: Float</a:t>
            </a:r>
          </a:p>
        </p:txBody>
      </p:sp>
      <p:sp>
        <p:nvSpPr>
          <p:cNvPr id="10" name="Rounded Rectangle 9"/>
          <p:cNvSpPr/>
          <p:nvPr/>
        </p:nvSpPr>
        <p:spPr>
          <a:xfrm>
            <a:off x="6949440" y="3840480"/>
            <a:ext cx="2377440" cy="1920240"/>
          </a:xfrm>
          <a:prstGeom prst="roundRect">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475569"/>
                </a:solidFill>
                <a:latin typeface="Segoe UI"/>
              </a:defRPr>
            </a:pPr>
            <a:r>
              <a:t>«CURRENT»</a:t>
            </a:r>
            <a:br/>
            <a:r>
              <a:t>AuditLog</a:t>
            </a:r>
          </a:p>
          <a:p>
            <a:pPr>
              <a:spcAft>
                <a:spcPts val="100"/>
              </a:spcAft>
              <a:defRPr sz="850">
                <a:solidFill>
                  <a:srgbClr val="1E293B"/>
                </a:solidFill>
                <a:latin typeface="Segoe UI"/>
              </a:defRPr>
            </a:pPr>
            <a:r>
              <a:t>+ id: UUID</a:t>
            </a:r>
          </a:p>
          <a:p>
            <a:pPr>
              <a:spcAft>
                <a:spcPts val="100"/>
              </a:spcAft>
              <a:defRPr sz="850">
                <a:solidFill>
                  <a:srgbClr val="1E293B"/>
                </a:solidFill>
                <a:latin typeface="Segoe UI"/>
              </a:defRPr>
            </a:pPr>
            <a:r>
              <a:t>+ actorId: UUID</a:t>
            </a:r>
          </a:p>
          <a:p>
            <a:pPr>
              <a:spcAft>
                <a:spcPts val="100"/>
              </a:spcAft>
              <a:defRPr sz="850">
                <a:solidFill>
                  <a:srgbClr val="1E293B"/>
                </a:solidFill>
                <a:latin typeface="Segoe UI"/>
              </a:defRPr>
            </a:pPr>
            <a:r>
              <a:t>+ action: String (11 events)</a:t>
            </a:r>
          </a:p>
          <a:p>
            <a:pPr>
              <a:spcAft>
                <a:spcPts val="100"/>
              </a:spcAft>
              <a:defRPr sz="850">
                <a:solidFill>
                  <a:srgbClr val="1E293B"/>
                </a:solidFill>
                <a:latin typeface="Segoe UI"/>
              </a:defRPr>
            </a:pPr>
            <a:r>
              <a:t>+ entityType: String</a:t>
            </a:r>
          </a:p>
          <a:p>
            <a:pPr>
              <a:spcAft>
                <a:spcPts val="100"/>
              </a:spcAft>
              <a:defRPr sz="850">
                <a:solidFill>
                  <a:srgbClr val="1E293B"/>
                </a:solidFill>
                <a:latin typeface="Segoe UI"/>
              </a:defRPr>
            </a:pPr>
            <a:r>
              <a:t>+ entityId: String</a:t>
            </a:r>
          </a:p>
          <a:p>
            <a:pPr>
              <a:spcAft>
                <a:spcPts val="100"/>
              </a:spcAft>
              <a:defRPr sz="850">
                <a:solidFill>
                  <a:srgbClr val="1E293B"/>
                </a:solidFill>
                <a:latin typeface="Segoe UI"/>
              </a:defRPr>
            </a:pPr>
            <a:r>
              <a:t>+ createdAt: DateTime</a:t>
            </a:r>
          </a:p>
        </p:txBody>
      </p:sp>
      <p:sp>
        <p:nvSpPr>
          <p:cNvPr id="11" name="Rounded Rectangle 10"/>
          <p:cNvSpPr/>
          <p:nvPr/>
        </p:nvSpPr>
        <p:spPr>
          <a:xfrm>
            <a:off x="9601200" y="3840480"/>
            <a:ext cx="1828800" cy="1920240"/>
          </a:xfrm>
          <a:prstGeom prst="roundRect">
            <a:avLst/>
          </a:prstGeom>
          <a:solidFill>
            <a:srgbClr val="FFFFFF"/>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tIns="36576" lIns="36576" rIns="36576" bIns="36576"/>
          <a:lstStyle/>
          <a:p>
            <a:pPr algn="ctr">
              <a:spcAft>
                <a:spcPts val="200"/>
              </a:spcAft>
              <a:defRPr sz="950" b="1">
                <a:solidFill>
                  <a:srgbClr val="475569"/>
                </a:solidFill>
                <a:latin typeface="Segoe UI"/>
              </a:defRPr>
            </a:pPr>
            <a:r>
              <a:t>«CURRENT»</a:t>
            </a:r>
            <a:br/>
            <a:r>
              <a:t>«enum» Role</a:t>
            </a:r>
          </a:p>
          <a:p>
            <a:pPr>
              <a:spcAft>
                <a:spcPts val="100"/>
              </a:spcAft>
              <a:defRPr sz="850">
                <a:solidFill>
                  <a:srgbClr val="1E293B"/>
                </a:solidFill>
                <a:latin typeface="Segoe UI"/>
              </a:defRPr>
            </a:pPr>
            <a:r>
              <a:t>LEARNER</a:t>
            </a:r>
          </a:p>
          <a:p>
            <a:pPr>
              <a:spcAft>
                <a:spcPts val="100"/>
              </a:spcAft>
              <a:defRPr sz="850">
                <a:solidFill>
                  <a:srgbClr val="1E293B"/>
                </a:solidFill>
                <a:latin typeface="Segoe UI"/>
              </a:defRPr>
            </a:pPr>
            <a:r>
              <a:t>LESSON_CREATOR</a:t>
            </a:r>
          </a:p>
          <a:p>
            <a:pPr>
              <a:spcAft>
                <a:spcPts val="100"/>
              </a:spcAft>
              <a:defRPr sz="850">
                <a:solidFill>
                  <a:srgbClr val="1E293B"/>
                </a:solidFill>
                <a:latin typeface="Segoe UI"/>
              </a:defRPr>
            </a:pPr>
            <a:r>
              <a:t>MODERATOR</a:t>
            </a:r>
          </a:p>
          <a:p>
            <a:pPr>
              <a:spcAft>
                <a:spcPts val="100"/>
              </a:spcAft>
              <a:defRPr sz="850">
                <a:solidFill>
                  <a:srgbClr val="1E293B"/>
                </a:solidFill>
                <a:latin typeface="Segoe UI"/>
              </a:defRPr>
            </a:pPr>
            <a:r>
              <a:t>ORG_MANAGER</a:t>
            </a:r>
          </a:p>
          <a:p>
            <a:pPr>
              <a:spcAft>
                <a:spcPts val="100"/>
              </a:spcAft>
              <a:defRPr sz="850">
                <a:solidFill>
                  <a:srgbClr val="1E293B"/>
                </a:solidFill>
                <a:latin typeface="Segoe UI"/>
              </a:defRPr>
            </a:pPr>
            <a:r>
              <a:t>OPERATIONS_STAFF</a:t>
            </a:r>
          </a:p>
          <a:p>
            <a:pPr>
              <a:spcAft>
                <a:spcPts val="100"/>
              </a:spcAft>
              <a:defRPr sz="850">
                <a:solidFill>
                  <a:srgbClr val="1E293B"/>
                </a:solidFill>
                <a:latin typeface="Segoe UI"/>
              </a:defRPr>
            </a:pPr>
            <a:r>
              <a:t>ADMINISTRATOR</a:t>
            </a:r>
          </a:p>
        </p:txBody>
      </p:sp>
      <p:sp>
        <p:nvSpPr>
          <p:cNvPr id="12" name="Rounded Rectangle 11"/>
          <p:cNvSpPr/>
          <p:nvPr/>
        </p:nvSpPr>
        <p:spPr>
          <a:xfrm>
            <a:off x="731520" y="5897880"/>
            <a:ext cx="10698480" cy="594360"/>
          </a:xfrm>
          <a:prstGeom prst="roundRect">
            <a:avLst/>
          </a:prstGeom>
          <a:solidFill>
            <a:srgbClr val="EEF2FF"/>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4338CA"/>
                </a:solidFill>
              </a:defRPr>
            </a:pPr>
            <a:r>
              <a:t>BẤT BIẾN TOÀN VẸN SƯ PHẠM &amp; DỮ LIỆU:  UserProgress ≠ verified proficiency (SkillProfile)  và  AssessmentResult ≠ UserProgress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lIns="0" tIns="0" rIns="0" bIns="0">
            <a:spAutoFit/>
          </a:bodyPr>
          <a:lstStyle/>
          <a:p>
            <a:pPr>
              <a:defRPr sz="950" b="1">
                <a:solidFill>
                  <a:srgbClr val="0284C7"/>
                </a:solidFill>
                <a:latin typeface="Segoe UI"/>
              </a:defRPr>
            </a:pPr>
            <a:r>
              <a:t>PHÂN TÍCH &amp; MÔ HÌNH HÓA HỆ THỐNG</a:t>
            </a:r>
          </a:p>
        </p:txBody>
      </p:sp>
      <p:sp>
        <p:nvSpPr>
          <p:cNvPr id="3" name="TextBox 2"/>
          <p:cNvSpPr txBox="1"/>
          <p:nvPr/>
        </p:nvSpPr>
        <p:spPr>
          <a:xfrm>
            <a:off x="731520" y="640080"/>
            <a:ext cx="10515600" cy="548640"/>
          </a:xfrm>
          <a:prstGeom prst="rect">
            <a:avLst/>
          </a:prstGeom>
          <a:noFill/>
        </p:spPr>
        <p:txBody>
          <a:bodyPr wrap="square" lIns="0" tIns="0" rIns="0" bIns="0">
            <a:spAutoFit/>
          </a:bodyPr>
          <a:lstStyle/>
          <a:p>
            <a:pPr>
              <a:defRPr sz="2000" b="1">
                <a:solidFill>
                  <a:srgbClr val="1E293B"/>
                </a:solidFill>
                <a:latin typeface="Segoe UI"/>
              </a:defRPr>
            </a:pPr>
            <a:r>
              <a:t>Traceability Matrix: Ma trận Truy vết từ Ca Sử dụng đến Lớp Nghiệp vụ</a:t>
            </a:r>
          </a:p>
        </p:txBody>
      </p:sp>
      <p:graphicFrame>
        <p:nvGraphicFramePr>
          <p:cNvPr id="4" name="Table 3"/>
          <p:cNvGraphicFramePr>
            <a:graphicFrameLocks noGrp="1"/>
          </p:cNvGraphicFramePr>
          <p:nvPr/>
        </p:nvGraphicFramePr>
        <p:xfrm>
          <a:off x="731520" y="1371600"/>
          <a:ext cx="10698480" cy="4023360"/>
        </p:xfrm>
        <a:graphic>
          <a:graphicData uri="http://schemas.openxmlformats.org/drawingml/2006/table">
            <a:tbl>
              <a:tblPr firstRow="1" bandRow="1">
                <a:tableStyleId>{5C22544A-7EE6-4342-B048-85BDC9FD1C3A}</a:tableStyleId>
              </a:tblPr>
              <a:tblGrid>
                <a:gridCol w="1645920"/>
                <a:gridCol w="2377440"/>
                <a:gridCol w="2377440"/>
                <a:gridCol w="4297680"/>
              </a:tblGrid>
              <a:tr h="447040">
                <a:tc>
                  <a:txBody>
                    <a:bodyPr/>
                    <a:lstStyle/>
                    <a:p>
                      <a:pPr>
                        <a:defRPr b="1" sz="1000">
                          <a:solidFill>
                            <a:srgbClr val="FFFFFF"/>
                          </a:solidFill>
                          <a:latin typeface="Segoe UI"/>
                        </a:defRPr>
                      </a:pPr>
                      <a:r>
                        <a:t>UC ID (M2.2)</a:t>
                      </a:r>
                    </a:p>
                  </a:txBody>
                  <a:tcPr>
                    <a:solidFill>
                      <a:srgbClr val="1E293B"/>
                    </a:solidFill>
                  </a:tcPr>
                </a:tc>
                <a:tc>
                  <a:txBody>
                    <a:bodyPr/>
                    <a:lstStyle/>
                    <a:p>
                      <a:pPr>
                        <a:defRPr b="1" sz="1000">
                          <a:solidFill>
                            <a:srgbClr val="FFFFFF"/>
                          </a:solidFill>
                          <a:latin typeface="Segoe UI"/>
                        </a:defRPr>
                      </a:pPr>
                      <a:r>
                        <a:t>Use Case Name</a:t>
                      </a:r>
                    </a:p>
                  </a:txBody>
                  <a:tcPr>
                    <a:solidFill>
                      <a:srgbClr val="1E293B"/>
                    </a:solidFill>
                  </a:tcPr>
                </a:tc>
                <a:tc>
                  <a:txBody>
                    <a:bodyPr/>
                    <a:lstStyle/>
                    <a:p>
                      <a:pPr>
                        <a:defRPr b="1" sz="1000">
                          <a:solidFill>
                            <a:srgbClr val="FFFFFF"/>
                          </a:solidFill>
                          <a:latin typeface="Segoe UI"/>
                        </a:defRPr>
                      </a:pPr>
                      <a:r>
                        <a:t>Activity Diagram</a:t>
                      </a:r>
                    </a:p>
                  </a:txBody>
                  <a:tcPr>
                    <a:solidFill>
                      <a:srgbClr val="1E293B"/>
                    </a:solidFill>
                  </a:tcPr>
                </a:tc>
                <a:tc>
                  <a:txBody>
                    <a:bodyPr/>
                    <a:lstStyle/>
                    <a:p>
                      <a:pPr>
                        <a:defRPr b="1" sz="1000">
                          <a:solidFill>
                            <a:srgbClr val="FFFFFF"/>
                          </a:solidFill>
                          <a:latin typeface="Segoe UI"/>
                        </a:defRPr>
                      </a:pPr>
                      <a:r>
                        <a:t>Main Domain Classes</a:t>
                      </a:r>
                    </a:p>
                  </a:txBody>
                  <a:tcPr>
                    <a:solidFill>
                      <a:srgbClr val="1E293B"/>
                    </a:solidFill>
                  </a:tcPr>
                </a:tc>
              </a:tr>
              <a:tr h="447040">
                <a:tc>
                  <a:txBody>
                    <a:bodyPr/>
                    <a:lstStyle/>
                    <a:p>
                      <a:pPr>
                        <a:defRPr sz="900" b="1">
                          <a:solidFill>
                            <a:srgbClr val="2563EB"/>
                          </a:solidFill>
                          <a:latin typeface="Segoe UI"/>
                        </a:defRPr>
                      </a:pPr>
                      <a:r>
                        <a:t>UC-03</a:t>
                      </a:r>
                    </a:p>
                  </a:txBody>
                  <a:tcPr>
                    <a:solidFill>
                      <a:srgbClr val="FFFFFF"/>
                    </a:solidFill>
                  </a:tcPr>
                </a:tc>
                <a:tc>
                  <a:txBody>
                    <a:bodyPr/>
                    <a:lstStyle/>
                    <a:p>
                      <a:pPr>
                        <a:defRPr sz="900">
                          <a:solidFill>
                            <a:srgbClr val="1E293B"/>
                          </a:solidFill>
                          <a:latin typeface="Segoe UI"/>
                        </a:defRPr>
                      </a:pPr>
                      <a:r>
                        <a:t>Placement Assessment</a:t>
                      </a:r>
                    </a:p>
                  </a:txBody>
                  <a:tcPr>
                    <a:solidFill>
                      <a:srgbClr val="FFFFFF"/>
                    </a:solidFill>
                  </a:tcPr>
                </a:tc>
                <a:tc>
                  <a:txBody>
                    <a:bodyPr/>
                    <a:lstStyle/>
                    <a:p>
                      <a:pPr>
                        <a:defRPr sz="900">
                          <a:solidFill>
                            <a:srgbClr val="1E293B"/>
                          </a:solidFill>
                          <a:latin typeface="Segoe UI"/>
                        </a:defRPr>
                      </a:pPr>
                      <a:r>
                        <a:t>Placement Activity</a:t>
                      </a:r>
                    </a:p>
                  </a:txBody>
                  <a:tcPr>
                    <a:solidFill>
                      <a:srgbClr val="FFFFFF"/>
                    </a:solidFill>
                  </a:tcPr>
                </a:tc>
                <a:tc>
                  <a:txBody>
                    <a:bodyPr/>
                    <a:lstStyle/>
                    <a:p>
                      <a:pPr>
                        <a:defRPr sz="900">
                          <a:solidFill>
                            <a:srgbClr val="1E293B"/>
                          </a:solidFill>
                          <a:latin typeface="Segoe UI"/>
                        </a:defRPr>
                      </a:pPr>
                      <a:r>
                        <a:t>Profile, AssessmentResult, SkillProfile (chẩn đoán/retake)</a:t>
                      </a:r>
                    </a:p>
                  </a:txBody>
                  <a:tcPr>
                    <a:solidFill>
                      <a:srgbClr val="FFFFFF"/>
                    </a:solidFill>
                  </a:tcPr>
                </a:tc>
              </a:tr>
              <a:tr h="447040">
                <a:tc>
                  <a:txBody>
                    <a:bodyPr/>
                    <a:lstStyle/>
                    <a:p>
                      <a:pPr>
                        <a:defRPr sz="900" b="1">
                          <a:solidFill>
                            <a:srgbClr val="2563EB"/>
                          </a:solidFill>
                          <a:latin typeface="Segoe UI"/>
                        </a:defRPr>
                      </a:pPr>
                      <a:r>
                        <a:t>UC-04</a:t>
                      </a:r>
                    </a:p>
                  </a:txBody>
                  <a:tcPr>
                    <a:solidFill>
                      <a:srgbClr val="F8FAFC"/>
                    </a:solidFill>
                  </a:tcPr>
                </a:tc>
                <a:tc>
                  <a:txBody>
                    <a:bodyPr/>
                    <a:lstStyle/>
                    <a:p>
                      <a:pPr>
                        <a:defRPr sz="900">
                          <a:solidFill>
                            <a:srgbClr val="1E293B"/>
                          </a:solidFill>
                          <a:latin typeface="Segoe UI"/>
                        </a:defRPr>
                      </a:pPr>
                      <a:r>
                        <a:t>Browse Learning Path</a:t>
                      </a:r>
                    </a:p>
                  </a:txBody>
                  <a:tcPr>
                    <a:solidFill>
                      <a:srgbClr val="F8FAFC"/>
                    </a:solidFill>
                  </a:tcPr>
                </a:tc>
                <a:tc>
                  <a:txBody>
                    <a:bodyPr/>
                    <a:lstStyle/>
                    <a:p>
                      <a:pPr>
                        <a:defRPr sz="900">
                          <a:solidFill>
                            <a:srgbClr val="1E293B"/>
                          </a:solidFill>
                          <a:latin typeface="Segoe UI"/>
                        </a:defRPr>
                      </a:pPr>
                      <a:r>
                        <a:t>Learning Activity</a:t>
                      </a:r>
                    </a:p>
                  </a:txBody>
                  <a:tcPr>
                    <a:solidFill>
                      <a:srgbClr val="F8FAFC"/>
                    </a:solidFill>
                  </a:tcPr>
                </a:tc>
                <a:tc>
                  <a:txBody>
                    <a:bodyPr/>
                    <a:lstStyle/>
                    <a:p>
                      <a:pPr>
                        <a:defRPr sz="900">
                          <a:solidFill>
                            <a:srgbClr val="1E293B"/>
                          </a:solidFill>
                          <a:latin typeface="Segoe UI"/>
                        </a:defRPr>
                      </a:pPr>
                      <a:r>
                        <a:t>Course, Unit, Lesson, LessonRevision, Vocabulary</a:t>
                      </a:r>
                    </a:p>
                  </a:txBody>
                  <a:tcPr>
                    <a:solidFill>
                      <a:srgbClr val="F8FAFC"/>
                    </a:solidFill>
                  </a:tcPr>
                </a:tc>
              </a:tr>
              <a:tr h="447040">
                <a:tc>
                  <a:txBody>
                    <a:bodyPr/>
                    <a:lstStyle/>
                    <a:p>
                      <a:pPr>
                        <a:defRPr sz="900" b="1">
                          <a:solidFill>
                            <a:srgbClr val="2563EB"/>
                          </a:solidFill>
                          <a:latin typeface="Segoe UI"/>
                        </a:defRPr>
                      </a:pPr>
                      <a:r>
                        <a:t>UC-05</a:t>
                      </a:r>
                    </a:p>
                  </a:txBody>
                  <a:tcPr>
                    <a:solidFill>
                      <a:srgbClr val="FFFFFF"/>
                    </a:solidFill>
                  </a:tcPr>
                </a:tc>
                <a:tc>
                  <a:txBody>
                    <a:bodyPr/>
                    <a:lstStyle/>
                    <a:p>
                      <a:pPr>
                        <a:defRPr sz="900">
                          <a:solidFill>
                            <a:srgbClr val="1E293B"/>
                          </a:solidFill>
                          <a:latin typeface="Segoe UI"/>
                        </a:defRPr>
                      </a:pPr>
                      <a:r>
                        <a:t>Complete Lesson Exercises</a:t>
                      </a:r>
                    </a:p>
                  </a:txBody>
                  <a:tcPr>
                    <a:solidFill>
                      <a:srgbClr val="FFFFFF"/>
                    </a:solidFill>
                  </a:tcPr>
                </a:tc>
                <a:tc>
                  <a:txBody>
                    <a:bodyPr/>
                    <a:lstStyle/>
                    <a:p>
                      <a:pPr>
                        <a:defRPr sz="900">
                          <a:solidFill>
                            <a:srgbClr val="1E293B"/>
                          </a:solidFill>
                          <a:latin typeface="Segoe UI"/>
                        </a:defRPr>
                      </a:pPr>
                      <a:r>
                        <a:t>Learning Activity</a:t>
                      </a:r>
                    </a:p>
                  </a:txBody>
                  <a:tcPr>
                    <a:solidFill>
                      <a:srgbClr val="FFFFFF"/>
                    </a:solidFill>
                  </a:tcPr>
                </a:tc>
                <a:tc>
                  <a:txBody>
                    <a:bodyPr/>
                    <a:lstStyle/>
                    <a:p>
                      <a:pPr>
                        <a:defRPr sz="900">
                          <a:solidFill>
                            <a:srgbClr val="1E293B"/>
                          </a:solidFill>
                          <a:latin typeface="Segoe UI"/>
                        </a:defRPr>
                      </a:pPr>
                      <a:r>
                        <a:t>LessonRevision, Exercise (5 types), UserProgress</a:t>
                      </a:r>
                    </a:p>
                  </a:txBody>
                  <a:tcPr>
                    <a:solidFill>
                      <a:srgbClr val="FFFFFF"/>
                    </a:solidFill>
                  </a:tcPr>
                </a:tc>
              </a:tr>
              <a:tr h="447040">
                <a:tc>
                  <a:txBody>
                    <a:bodyPr/>
                    <a:lstStyle/>
                    <a:p>
                      <a:pPr>
                        <a:defRPr sz="900" b="1">
                          <a:solidFill>
                            <a:srgbClr val="2563EB"/>
                          </a:solidFill>
                          <a:latin typeface="Segoe UI"/>
                        </a:defRPr>
                      </a:pPr>
                      <a:r>
                        <a:t>UC-06</a:t>
                      </a:r>
                    </a:p>
                  </a:txBody>
                  <a:tcPr>
                    <a:solidFill>
                      <a:srgbClr val="F8FAFC"/>
                    </a:solidFill>
                  </a:tcPr>
                </a:tc>
                <a:tc>
                  <a:txBody>
                    <a:bodyPr/>
                    <a:lstStyle/>
                    <a:p>
                      <a:pPr>
                        <a:defRPr sz="900">
                          <a:solidFill>
                            <a:srgbClr val="1E293B"/>
                          </a:solidFill>
                          <a:latin typeface="Segoe UI"/>
                        </a:defRPr>
                      </a:pPr>
                      <a:r>
                        <a:t>Spaced Repetition Review (SRS)</a:t>
                      </a:r>
                    </a:p>
                  </a:txBody>
                  <a:tcPr>
                    <a:solidFill>
                      <a:srgbClr val="F8FAFC"/>
                    </a:solidFill>
                  </a:tcPr>
                </a:tc>
                <a:tc>
                  <a:txBody>
                    <a:bodyPr/>
                    <a:lstStyle/>
                    <a:p>
                      <a:pPr>
                        <a:defRPr sz="900">
                          <a:solidFill>
                            <a:srgbClr val="1E293B"/>
                          </a:solidFill>
                          <a:latin typeface="Segoe UI"/>
                        </a:defRPr>
                      </a:pPr>
                      <a:r>
                        <a:t>Learning Activity</a:t>
                      </a:r>
                    </a:p>
                  </a:txBody>
                  <a:tcPr>
                    <a:solidFill>
                      <a:srgbClr val="F8FAFC"/>
                    </a:solidFill>
                  </a:tcPr>
                </a:tc>
                <a:tc>
                  <a:txBody>
                    <a:bodyPr/>
                    <a:lstStyle/>
                    <a:p>
                      <a:pPr>
                        <a:defRPr sz="900">
                          <a:solidFill>
                            <a:srgbClr val="1E293B"/>
                          </a:solidFill>
                          <a:latin typeface="Segoe UI"/>
                        </a:defRPr>
                      </a:pPr>
                      <a:r>
                        <a:t>UserVocabSrs, Vocabulary, ReviewLog, UserProgress</a:t>
                      </a:r>
                    </a:p>
                  </a:txBody>
                  <a:tcPr>
                    <a:solidFill>
                      <a:srgbClr val="F8FAFC"/>
                    </a:solidFill>
                  </a:tcPr>
                </a:tc>
              </a:tr>
              <a:tr h="447040">
                <a:tc>
                  <a:txBody>
                    <a:bodyPr/>
                    <a:lstStyle/>
                    <a:p>
                      <a:pPr>
                        <a:defRPr sz="900" b="1">
                          <a:solidFill>
                            <a:srgbClr val="2563EB"/>
                          </a:solidFill>
                          <a:latin typeface="Segoe UI"/>
                        </a:defRPr>
                      </a:pPr>
                      <a:r>
                        <a:t>UC-07</a:t>
                      </a:r>
                    </a:p>
                  </a:txBody>
                  <a:tcPr>
                    <a:solidFill>
                      <a:srgbClr val="FFFFFF"/>
                    </a:solidFill>
                  </a:tcPr>
                </a:tc>
                <a:tc>
                  <a:txBody>
                    <a:bodyPr/>
                    <a:lstStyle/>
                    <a:p>
                      <a:pPr>
                        <a:defRPr sz="900">
                          <a:solidFill>
                            <a:srgbClr val="1E293B"/>
                          </a:solidFill>
                          <a:latin typeface="Segoe UI"/>
                        </a:defRPr>
                      </a:pPr>
                      <a:r>
                        <a:t>Track Progress &amp; Streak</a:t>
                      </a:r>
                    </a:p>
                  </a:txBody>
                  <a:tcPr>
                    <a:solidFill>
                      <a:srgbClr val="FFFFFF"/>
                    </a:solidFill>
                  </a:tcPr>
                </a:tc>
                <a:tc>
                  <a:txBody>
                    <a:bodyPr/>
                    <a:lstStyle/>
                    <a:p>
                      <a:pPr>
                        <a:defRPr sz="900">
                          <a:solidFill>
                            <a:srgbClr val="1E293B"/>
                          </a:solidFill>
                          <a:latin typeface="Segoe UI"/>
                        </a:defRPr>
                      </a:pPr>
                      <a:r>
                        <a:t>Learning Activity</a:t>
                      </a:r>
                    </a:p>
                  </a:txBody>
                  <a:tcPr>
                    <a:solidFill>
                      <a:srgbClr val="FFFFFF"/>
                    </a:solidFill>
                  </a:tcPr>
                </a:tc>
                <a:tc>
                  <a:txBody>
                    <a:bodyPr/>
                    <a:lstStyle/>
                    <a:p>
                      <a:pPr>
                        <a:defRPr sz="900">
                          <a:solidFill>
                            <a:srgbClr val="1E293B"/>
                          </a:solidFill>
                          <a:latin typeface="Segoe UI"/>
                        </a:defRPr>
                      </a:pPr>
                      <a:r>
                        <a:t>Profile (streak_count, lastQualifyingActivityDate, timezone)</a:t>
                      </a:r>
                    </a:p>
                  </a:txBody>
                  <a:tcPr>
                    <a:solidFill>
                      <a:srgbClr val="FFFFFF"/>
                    </a:solidFill>
                  </a:tcPr>
                </a:tc>
              </a:tr>
              <a:tr h="447040">
                <a:tc>
                  <a:txBody>
                    <a:bodyPr/>
                    <a:lstStyle/>
                    <a:p>
                      <a:pPr>
                        <a:defRPr sz="900" b="1">
                          <a:solidFill>
                            <a:srgbClr val="7C3AED"/>
                          </a:solidFill>
                          <a:latin typeface="Segoe UI"/>
                        </a:defRPr>
                      </a:pPr>
                      <a:r>
                        <a:t>— (sub-flow)</a:t>
                      </a:r>
                    </a:p>
                  </a:txBody>
                  <a:tcPr>
                    <a:solidFill>
                      <a:srgbClr val="F8FAFC"/>
                    </a:solidFill>
                  </a:tcPr>
                </a:tc>
                <a:tc>
                  <a:txBody>
                    <a:bodyPr/>
                    <a:lstStyle/>
                    <a:p>
                      <a:pPr>
                        <a:defRPr sz="900">
                          <a:solidFill>
                            <a:srgbClr val="1E293B"/>
                          </a:solidFill>
                          <a:latin typeface="Segoe UI"/>
                        </a:defRPr>
                      </a:pPr>
                      <a:r>
                        <a:t>Conditional Jump Challenge</a:t>
                      </a:r>
                    </a:p>
                  </a:txBody>
                  <a:tcPr>
                    <a:solidFill>
                      <a:srgbClr val="F8FAFC"/>
                    </a:solidFill>
                  </a:tcPr>
                </a:tc>
                <a:tc>
                  <a:txBody>
                    <a:bodyPr/>
                    <a:lstStyle/>
                    <a:p>
                      <a:pPr>
                        <a:defRPr sz="900">
                          <a:solidFill>
                            <a:srgbClr val="1E293B"/>
                          </a:solidFill>
                          <a:latin typeface="Segoe UI"/>
                        </a:defRPr>
                      </a:pPr>
                      <a:r>
                        <a:t>Jump Activity</a:t>
                      </a:r>
                    </a:p>
                  </a:txBody>
                  <a:tcPr>
                    <a:solidFill>
                      <a:srgbClr val="F8FAFC"/>
                    </a:solidFill>
                  </a:tcPr>
                </a:tc>
                <a:tc>
                  <a:txBody>
                    <a:bodyPr/>
                    <a:lstStyle/>
                    <a:p>
                      <a:pPr>
                        <a:defRPr sz="900">
                          <a:solidFill>
                            <a:srgbClr val="1E293B"/>
                          </a:solidFill>
                          <a:latin typeface="Segoe UI"/>
                        </a:defRPr>
                      </a:pPr>
                      <a:r>
                        <a:t>UserProgress (by_jump, SKIPPED_BY_JUMP), Unit, AssessmentResult</a:t>
                      </a:r>
                    </a:p>
                  </a:txBody>
                  <a:tcPr>
                    <a:solidFill>
                      <a:srgbClr val="F8FAFC"/>
                    </a:solidFill>
                  </a:tcPr>
                </a:tc>
              </a:tr>
              <a:tr h="447040">
                <a:tc>
                  <a:txBody>
                    <a:bodyPr/>
                    <a:lstStyle/>
                    <a:p>
                      <a:pPr>
                        <a:defRPr sz="900" b="1">
                          <a:solidFill>
                            <a:srgbClr val="2563EB"/>
                          </a:solidFill>
                          <a:latin typeface="Segoe UI"/>
                        </a:defRPr>
                      </a:pPr>
                      <a:r>
                        <a:t>UC-08</a:t>
                      </a:r>
                    </a:p>
                  </a:txBody>
                  <a:tcPr>
                    <a:solidFill>
                      <a:srgbClr val="FFFFFF"/>
                    </a:solidFill>
                  </a:tcPr>
                </a:tc>
                <a:tc>
                  <a:txBody>
                    <a:bodyPr/>
                    <a:lstStyle/>
                    <a:p>
                      <a:pPr>
                        <a:defRPr sz="900">
                          <a:solidFill>
                            <a:srgbClr val="1E293B"/>
                          </a:solidFill>
                          <a:latin typeface="Segoe UI"/>
                        </a:defRPr>
                      </a:pPr>
                      <a:r>
                        <a:t>Author Lesson Draft</a:t>
                      </a:r>
                    </a:p>
                  </a:txBody>
                  <a:tcPr>
                    <a:solidFill>
                      <a:srgbClr val="FFFFFF"/>
                    </a:solidFill>
                  </a:tcPr>
                </a:tc>
                <a:tc>
                  <a:txBody>
                    <a:bodyPr/>
                    <a:lstStyle/>
                    <a:p>
                      <a:pPr>
                        <a:defRPr sz="900">
                          <a:solidFill>
                            <a:srgbClr val="1E293B"/>
                          </a:solidFill>
                          <a:latin typeface="Segoe UI"/>
                        </a:defRPr>
                      </a:pPr>
                      <a:r>
                        <a:t>Governance Activity</a:t>
                      </a:r>
                    </a:p>
                  </a:txBody>
                  <a:tcPr>
                    <a:solidFill>
                      <a:srgbClr val="FFFFFF"/>
                    </a:solidFill>
                  </a:tcPr>
                </a:tc>
                <a:tc>
                  <a:txBody>
                    <a:bodyPr/>
                    <a:lstStyle/>
                    <a:p>
                      <a:pPr>
                        <a:defRPr sz="900">
                          <a:solidFill>
                            <a:srgbClr val="1E293B"/>
                          </a:solidFill>
                          <a:latin typeface="Segoe UI"/>
                        </a:defRPr>
                      </a:pPr>
                      <a:r>
                        <a:t>Lesson, LessonRevision, Exercise, Profile</a:t>
                      </a:r>
                    </a:p>
                  </a:txBody>
                  <a:tcPr>
                    <a:solidFill>
                      <a:srgbClr val="FFFFFF"/>
                    </a:solidFill>
                  </a:tcPr>
                </a:tc>
              </a:tr>
              <a:tr h="447040">
                <a:tc>
                  <a:txBody>
                    <a:bodyPr/>
                    <a:lstStyle/>
                    <a:p>
                      <a:pPr>
                        <a:defRPr sz="900" b="1">
                          <a:solidFill>
                            <a:srgbClr val="2563EB"/>
                          </a:solidFill>
                          <a:latin typeface="Segoe UI"/>
                        </a:defRPr>
                      </a:pPr>
                      <a:r>
                        <a:t>UC-09, 10</a:t>
                      </a:r>
                    </a:p>
                  </a:txBody>
                  <a:tcPr>
                    <a:solidFill>
                      <a:srgbClr val="F8FAFC"/>
                    </a:solidFill>
                  </a:tcPr>
                </a:tc>
                <a:tc>
                  <a:txBody>
                    <a:bodyPr/>
                    <a:lstStyle/>
                    <a:p>
                      <a:pPr>
                        <a:defRPr sz="900">
                          <a:solidFill>
                            <a:srgbClr val="1E293B"/>
                          </a:solidFill>
                          <a:latin typeface="Segoe UI"/>
                        </a:defRPr>
                      </a:pPr>
                      <a:r>
                        <a:t>Review &amp; Publish Content</a:t>
                      </a:r>
                    </a:p>
                  </a:txBody>
                  <a:tcPr>
                    <a:solidFill>
                      <a:srgbClr val="F8FAFC"/>
                    </a:solidFill>
                  </a:tcPr>
                </a:tc>
                <a:tc>
                  <a:txBody>
                    <a:bodyPr/>
                    <a:lstStyle/>
                    <a:p>
                      <a:pPr>
                        <a:defRPr sz="900">
                          <a:solidFill>
                            <a:srgbClr val="1E293B"/>
                          </a:solidFill>
                          <a:latin typeface="Segoe UI"/>
                        </a:defRPr>
                      </a:pPr>
                      <a:r>
                        <a:t>Governance Activity</a:t>
                      </a:r>
                    </a:p>
                  </a:txBody>
                  <a:tcPr>
                    <a:solidFill>
                      <a:srgbClr val="F8FAFC"/>
                    </a:solidFill>
                  </a:tcPr>
                </a:tc>
                <a:tc>
                  <a:txBody>
                    <a:bodyPr/>
                    <a:lstStyle/>
                    <a:p>
                      <a:pPr>
                        <a:defRPr sz="900">
                          <a:solidFill>
                            <a:srgbClr val="1E293B"/>
                          </a:solidFill>
                          <a:latin typeface="Segoe UI"/>
                        </a:defRPr>
                      </a:pPr>
                      <a:r>
                        <a:t>LessonRevision, Profile, AuditLog, Unit</a:t>
                      </a:r>
                    </a:p>
                  </a:txBody>
                  <a:tcPr>
                    <a:solidFill>
                      <a:srgbClr val="F8FAFC"/>
                    </a:solidFill>
                  </a:tcPr>
                </a:tc>
              </a:tr>
            </a:tbl>
          </a:graphicData>
        </a:graphic>
      </p:graphicFrame>
      <p:sp>
        <p:nvSpPr>
          <p:cNvPr id="5" name="TextBox 4"/>
          <p:cNvSpPr txBox="1"/>
          <p:nvPr/>
        </p:nvSpPr>
        <p:spPr>
          <a:xfrm>
            <a:off x="731520" y="5486400"/>
            <a:ext cx="10698480" cy="365760"/>
          </a:xfrm>
          <a:prstGeom prst="rect">
            <a:avLst/>
          </a:prstGeom>
          <a:noFill/>
        </p:spPr>
        <p:txBody>
          <a:bodyPr wrap="none">
            <a:spAutoFit/>
          </a:bodyPr>
          <a:lstStyle/>
          <a:p>
            <a:pPr>
              <a:defRPr sz="850" i="1">
                <a:solidFill>
                  <a:srgbClr val="64748B"/>
                </a:solidFill>
              </a:defRPr>
            </a:pPr>
            <a:r>
              <a:t>Ghi chú kỹ thuật: Cooldown là design-level state được kiểm soát từ máy chủ; biểu diễn vật lý tuân thủ thiết kế triển khai đã phê duyệt.</a:t>
            </a:r>
          </a:p>
        </p:txBody>
      </p:sp>
      <p:sp>
        <p:nvSpPr>
          <p:cNvPr id="6" name="Rounded Rectangle 5"/>
          <p:cNvSpPr/>
          <p:nvPr/>
        </p:nvSpPr>
        <p:spPr>
          <a:xfrm>
            <a:off x="731520" y="5806440"/>
            <a:ext cx="10698480" cy="731520"/>
          </a:xfrm>
          <a:prstGeom prst="round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50">
                <a:solidFill>
                  <a:srgbClr val="38BDF8"/>
                </a:solidFill>
              </a:defRPr>
            </a:pPr>
            <a:r>
              <a:t>KẾT LUẬN MÔ HÌNH HÓA KỸ NGHỆ PHẦN MỀM</a:t>
            </a:r>
          </a:p>
          <a:p>
            <a:pPr algn="ctr">
              <a:defRPr b="1" sz="1050">
                <a:solidFill>
                  <a:srgbClr val="FFFFFF"/>
                </a:solidFill>
              </a:defRPr>
            </a:pPr>
            <a:r>
              <a:t>Use Case xác định hệ thống phải làm gì.  ·  Activity xác định hành động diễn ra như thế nào.  ·  Class Diagram xác định các đối tượng và quan hệ hỗ trợ những hành động đó.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